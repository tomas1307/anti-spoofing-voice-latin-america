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TTS SYSTEMS INVESTIGATION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240280"/>
            <a:ext cx="76169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CA3AF"/>
                </a:solidFill>
              </a:rPr>
              <a:t>Voice Anti-Spoofing Research · Latin American Spanish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Tomas Acosta
Master's Thesis — Universidad de los Andes, Colombia
February 2026  |  ml-server03: 4x NVIDIA A40 (46 GB VRAM each, CUDA 12.6)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CA3AF"/>
                </a:solidFill>
              </a:rPr>
              <a:t>Evaluating 6 state-of-the-art TTS systems for synthetic Spanish voice attack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Purpose</a:t>
            </a:r>
          </a:p>
          <a:p>
            <a:r>
              <a:rPr sz="1500">
                <a:solidFill>
                  <a:srgbClr val="111827"/>
                </a:solidFill>
              </a:rPr>
              <a:t>• Evaluate 6 modern TTS systems for generating synthetic Spanish voice attacks</a:t>
            </a:r>
          </a:p>
          <a:p>
            <a:r>
              <a:rPr sz="1500">
                <a:solidFill>
                  <a:srgbClr val="111827"/>
                </a:solidFill>
              </a:rPr>
              <a:t>• Goal: create diverse training data for anti-spoofing detectors targeting Latin American speech</a:t>
            </a:r>
          </a:p>
          <a:p>
            <a:r>
              <a:rPr sz="600"/>
              <a:t> 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Three Evaluation Criteria</a:t>
            </a:r>
          </a:p>
          <a:p>
            <a:r>
              <a:rPr sz="1500">
                <a:solidFill>
                  <a:srgbClr val="111827"/>
                </a:solidFill>
              </a:rPr>
              <a:t>• Spanish Language Quality  —  non-negotiable for Latin America scope</a:t>
            </a:r>
          </a:p>
          <a:p>
            <a:r>
              <a:rPr sz="1500">
                <a:solidFill>
                  <a:srgbClr val="111827"/>
                </a:solidFill>
              </a:rPr>
              <a:t>• Implementation Feasibility  —  calendar timeline at 6 hrs/week, biweekly stakeholder meetings</a:t>
            </a:r>
          </a:p>
          <a:p>
            <a:r>
              <a:rPr sz="1500">
                <a:solidFill>
                  <a:srgbClr val="111827"/>
                </a:solidFill>
              </a:rPr>
              <a:t>• Research Usefulness  —  attack sophistication, codec architecture diversity</a:t>
            </a:r>
          </a:p>
          <a:p>
            <a:r>
              <a:rPr sz="600"/>
              <a:t> 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Approach</a:t>
            </a:r>
          </a:p>
          <a:p>
            <a:r>
              <a:rPr sz="1500">
                <a:solidFill>
                  <a:srgbClr val="111827"/>
                </a:solidFill>
              </a:rPr>
              <a:t>• No system is discarded for complexity alone — each is tiered by role and constraint</a:t>
            </a:r>
          </a:p>
          <a:p>
            <a:r>
              <a:rPr sz="1500">
                <a:solidFill>
                  <a:srgbClr val="111827"/>
                </a:solidFill>
              </a:rPr>
              <a:t>• Complexity is a disadvantage that widens the timeline buffer, not a disqualifier</a:t>
            </a:r>
          </a:p>
          <a:p>
            <a:r>
              <a:rPr sz="1500">
                <a:solidFill>
                  <a:srgbClr val="111827"/>
                </a:solidFill>
              </a:rPr>
              <a:t>• Hard restriction: English-only systems are repurposed for English baseline experiments</a:t>
            </a:r>
          </a:p>
          <a:p>
            <a:r>
              <a:rPr sz="600"/>
              <a:t> 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Key Finding</a:t>
            </a:r>
          </a:p>
          <a:p>
            <a:r>
              <a:rPr sz="1500">
                <a:solidFill>
                  <a:srgbClr val="111827"/>
                </a:solidFill>
              </a:rPr>
              <a:t>• Fish Speech: Tier 1 (primary Spanish TTS)  |  Qwen3-TTS: Tier 2 (codec diversity)</a:t>
            </a:r>
          </a:p>
          <a:p>
            <a:r>
              <a:rPr sz="1500">
                <a:solidFill>
                  <a:srgbClr val="111827"/>
                </a:solidFill>
              </a:rPr>
              <a:t>• Four additional systems assigned to Tiers 3–6 with specific roles and disclosed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6035040"/>
            <a:ext cx="320040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61081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 systems evaluated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5303520"/>
          </a:xfrm>
          <a:prstGeom prst="rect">
            <a:avLst/>
          </a:prstGeom>
          <a:solidFill>
            <a:srgbClr val="F3F4F6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7315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D4ED8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</a:rPr>
              <a:t>Spanish Language
Quality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329184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MANDATORY
Latin American phonetics,
accent adaptability,
training data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657600" cy="5303520"/>
          </a:xfrm>
          <a:prstGeom prst="rect">
            <a:avLst/>
          </a:prstGeom>
          <a:solidFill>
            <a:srgbClr val="F3F4F6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6A34A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</a:rPr>
              <a:t>Implementation
Feasibility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017520"/>
            <a:ext cx="329184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31546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Calendar budget: 6 hrs/week
Biweekly milestone meetings
Buffer: min. 1.5 weeks
per phase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188720"/>
            <a:ext cx="3657600" cy="5303520"/>
          </a:xfrm>
          <a:prstGeom prst="rect">
            <a:avLst/>
          </a:prstGeom>
          <a:solidFill>
            <a:srgbClr val="F3F4F6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6576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DC2626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11827"/>
                </a:solidFill>
              </a:rPr>
              <a:t>Research
Usefulness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3017520"/>
            <a:ext cx="329184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31546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Attack sophistication
Codec architecture diversity
Academic license compliance
Reproducibility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Six Systems — Tiered by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3566160" cy="23774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35661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Fish Speech
(OpenAudio-S1)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4B params · RLHF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320040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8712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1 — Primary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234440"/>
            <a:ext cx="3566160" cy="23774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234440"/>
            <a:ext cx="356616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13441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Qwen3-TTS
(Alibaba)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1.7B params · Dual-Track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834640"/>
            <a:ext cx="32004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28712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2 — Secondary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3566160" cy="237744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234440"/>
            <a:ext cx="35661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34416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CosyVoice 3.0
(Alibaba)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40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1.5B params · CFM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834640"/>
            <a:ext cx="320040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87121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6 — Deferred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40480"/>
            <a:ext cx="3566160" cy="2377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840480"/>
            <a:ext cx="35661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95020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Chatterbox
(Resemble.ai)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350M params · 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440680"/>
            <a:ext cx="320040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4772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3 — Disclose Watermark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0520" y="3840480"/>
            <a:ext cx="3566160" cy="23774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60520" y="3840480"/>
            <a:ext cx="356616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3400" y="395020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OuteTTS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0.6B–1B · LLM-based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5440680"/>
            <a:ext cx="320040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43400" y="54772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4 — Small Batch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840480"/>
            <a:ext cx="3566160" cy="23774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3840480"/>
            <a:ext cx="356616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395020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Nari Dia 1.6B
(Nari Labs)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1.6B params · Dialogue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5440680"/>
            <a:ext cx="32004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54772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Tier 5 — English Baseline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Fish Speech (OpenAudio-S1) — Tier 1: Primary Spanish TTS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What Is It?</a:t>
            </a:r>
          </a:p>
          <a:p>
            <a:r>
              <a:rPr sz="1500">
                <a:solidFill>
                  <a:srgbClr val="111827"/>
                </a:solidFill>
              </a:rPr>
              <a:t>• 4 billion parameter open-source TTS system by Fish Audio</a:t>
            </a:r>
          </a:p>
          <a:p>
            <a:r>
              <a:rPr sz="1500">
                <a:solidFill>
                  <a:srgbClr val="111827"/>
                </a:solidFill>
              </a:rPr>
              <a:t>• Trained with RLHF — optimises for human-perceived naturalness (not just technical accuracy)</a:t>
            </a:r>
          </a:p>
          <a:p>
            <a:r>
              <a:rPr sz="1500">
                <a:solidFill>
                  <a:srgbClr val="111827"/>
                </a:solidFill>
              </a:rPr>
              <a:t>• Architecture: Dual Autoregressive (Dual-AR) + Firefly-GAN vocoder</a:t>
            </a:r>
          </a:p>
          <a:p>
            <a:r>
              <a:rPr sz="600"/>
              <a:t> 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Why It Ranks First</a:t>
            </a:r>
          </a:p>
          <a:p>
            <a:r>
              <a:rPr sz="1500">
                <a:solidFill>
                  <a:srgbClr val="111827"/>
                </a:solidFill>
              </a:rPr>
              <a:t>• 20,000 hours of Spanish training data — same 'high-tier' as English and Chinese</a:t>
            </a:r>
          </a:p>
          <a:p>
            <a:r>
              <a:rPr sz="1500">
                <a:solidFill>
                  <a:srgbClr val="111827"/>
                </a:solidFill>
              </a:rPr>
              <a:t>• Zero-shot voice cloning from 10–30 s reference audio (adapts to Latin American accents)</a:t>
            </a:r>
          </a:p>
          <a:p>
            <a:r>
              <a:rPr sz="1500">
                <a:solidFill>
                  <a:srgbClr val="111827"/>
                </a:solidFill>
              </a:rPr>
              <a:t>• 24,906 GitHub stars · active maintenance · arXiv:2411.01156 · official Docker Compose</a:t>
            </a:r>
          </a:p>
          <a:p>
            <a:r>
              <a:rPr sz="1500">
                <a:solidFill>
                  <a:srgbClr val="111827"/>
                </a:solidFill>
              </a:rPr>
              <a:t>• CC-BY-NC-SA-4.0 license explicitly permits academic / thesis research</a:t>
            </a:r>
          </a:p>
          <a:p>
            <a:r>
              <a:rPr sz="600"/>
              <a:t> 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Hardware on ml-server03</a:t>
            </a:r>
          </a:p>
          <a:p>
            <a:r>
              <a:rPr sz="1500">
                <a:solidFill>
                  <a:srgbClr val="111827"/>
                </a:solidFill>
              </a:rPr>
              <a:t>• Requires 12 GB VRAM — we have 46 GB per A40 (26% utilisation per GPU)</a:t>
            </a:r>
          </a:p>
          <a:p>
            <a:r>
              <a:rPr sz="1500">
                <a:solidFill>
                  <a:srgbClr val="111827"/>
                </a:solidFill>
              </a:rPr>
              <a:t>• Generation: ~2–3 s per 10-second sample  →  1,000 samples in ~33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0" y="6035040"/>
            <a:ext cx="310896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0" y="61081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Tier 1 — Primary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Fish Speech — Advantages vs. Disadvantages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86400" cy="5394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Best validated Spanish quality in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RLHF training: harder to detect than GAN-based TTS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8094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Cross-lingual voice cloning for LatAm accent adaptation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57015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Docker Compose: reproducible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3308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Academic licence: no commercialisation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5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Batch performance: 1,000 samples in ~33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5806440" cy="5394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5806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20700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Disadvantages / Caveats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28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12 GB VRAM minimum (not a problem on A40, worth monitoring)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49631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No streaming: full audio generated before delivery (irrelevant for batch use)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6382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Voice cloning inconsistency on unusual accents — run validation tests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3133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No specific LatAm sub-dialect benchmarks published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Linux recommended — ml-server03 satisfies this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6035040"/>
            <a:ext cx="3108960" cy="5669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61081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Tier 1 — Primary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Qwen3-TTS (Alibaba) — Tier 2: Codec Diversity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86400" cy="5394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Fastest inference: ~0.8 s per 10-second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Apache 2.0 — unrestricted, no attribution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8094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Easy install: pip install qwen-tts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57015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Different codec architecture from Fish Speech (diversity)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3308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FlashAttention 2 support: 30–40% speedup on A40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5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1,000 samples in ~20–30 minutes (fastest of all systems)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5806440" cy="5394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58064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207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Disadvantages / Restrictions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2880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Spanish is second-tier (paper: 'competitive' = not top-performing)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49631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Fine-tuning broken — cannot adapt to LatAm accents; base quality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16382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Audio artifacts: truncated outputs, silent failures on long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31335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Hard pin: transformers==4.57.3 — isolated conda environment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498848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Dependency conflict with qwen-asr and similar ecosystem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151"/>
                </a:solidFill>
              </a:rPr>
              <a:t>Role: Secondary (20% of samples).  Adds codec diversity; use Fish Speech for primary Spanish quality.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6035040"/>
            <a:ext cx="3108960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61081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Tier 2 — Secondary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CosyVoice 3.0 (Alibaba) — Tier 6: Deferred (High Complexity)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86400" cy="5394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Largest training corpus: 1 million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Apache 2.0 — unrestricted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Highest published speaker similarity: 77.4%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TensorRT-LLM: up to 4x speedup on A40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Strong research backing (Alibaba Tongyi Lab)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5806440" cy="53949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58064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207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Disadvantages / Restrictions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vLLM version lock: only 0.9.0 OR 0.11.x+ — NOT 0.10.x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377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     Users report environment corruption requiring fresh installs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880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Deployment: 1–2 days (experienced engineer); buffer 2–3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429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Zero Spanish benchmarks — quality is completely unvalidated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977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Quality regression: community reports CosyVoice 2 sounds better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526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Python 3.10 required; Matcha-TTS submodule dependency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074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Go/no-go rule: if vLLM install &gt;4 hours, defer indefinitely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6035040"/>
            <a:ext cx="3200400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61081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Tier 6 — Deferred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Chatterbox (Resemble.ai) — Tier 3: Use with Disclosed Watermark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486400" cy="53949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Easiest setup: pip install chatterbox-tts (2–4 hours total)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MIT license — truly open, no restrictions whatsoever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8094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Smallest VRAM: 8 GB (run 5+ instances in parallel on one A40)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57015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Outperformed ElevenLabs Turbo in blind tests (63.75% preference)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3308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Paralinguistic features: [laugh], [sigh], [hesitation] — adds realism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5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Fastest path to first synthetic sample (prototyping)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143000"/>
            <a:ext cx="5806440" cy="53949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5806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207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</a:rPr>
              <a:t>Hard Restriction + Disadvantages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HARD RESTRICTION: Mandatory Perth watermark on all outputs.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0428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Must be disclosed in thesis methodology.
Use Chatterbox samples as isolated experimental group — detector must NOT mix watermarked + non-watermarked samples without flagging.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429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 Latency: claims &lt;200 ms; delivers 300–600 ms (batch use: irrelevant)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99592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 224 open issues / 34 commits — high bug density; test before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562856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 CPU inference broken despite being documented as supported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12978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 No validated Latin American Spanish quality benchmarks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6035040"/>
            <a:ext cx="3749039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610819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Tier 3 — Disclose Watermark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OuteTTS — Tier 4: Small-Scale Batch Only (Overnight Generation)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10972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C2626"/>
                </a:solidFill>
              </a:rPr>
              <a:t>Performance constraint: 3 min to generate 14 s on RTX 4090  |  1,000 samples = 1.5–2.5 days on A40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374151"/>
                </a:solidFill>
              </a:rPr>
              <a:t>Solution: schedule as overnight / weekend server job — do not block any sprint on this.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23160"/>
            <a:ext cx="5486400" cy="41148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2423160"/>
            <a:ext cx="5486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Spanish in 'high training data' tier (20–60 k hours)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LLM-based architecture: maximum codec diversity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Apache 2.0 license (0.6B variant)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Speaker profiles stored as JSON — versionable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Hosted API for small experiments ($0.0006/s)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423160"/>
            <a:ext cx="5806440" cy="4114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2423160"/>
            <a:ext cx="580644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4871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Disadvantages / Restrictions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632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76x slower than Fish Speech for batch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685032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100 samples/day API limit; $360 per 1,000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306824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Sampling config fragility (64-token repetition window must be exact)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9286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Audio truncation mid-word; DAC codec sensitive to input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5550407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Context limit: ~32 s effective generation per 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6035040"/>
            <a:ext cx="3566160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610819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Tier 4 — Small Batch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Nari Dia 1.6B — Tier 5: English Baseline (Hard Restriction: No Spanish)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9144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Hard Restriction: English language generation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Cannot produce Spanish or Latin American Spanish. Repurposed for English baseline experiments.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240280"/>
            <a:ext cx="5486400" cy="42976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2240280"/>
            <a:ext cx="5486400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Advantages (for English experiments)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Ultra-realistic dialogue synthesis (ElevenLabs quality)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1071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Apache 2.0 — fully unrestricted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41063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Zero-shot cloning from 5 s reference 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71416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Active development (April 2025, regularly updated)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01768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Paralinguistic: [laugh], [sigh], [cough]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32120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Easy access: Hugging Face ZeroGPU (free demo)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62472"/>
            <a:ext cx="5212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~10 GB VRAM — well within A40 capacity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240280"/>
            <a:ext cx="5806440" cy="429768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35040" y="2240280"/>
            <a:ext cx="580644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30428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Hard Restriction + Disadvantages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8803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English only — no Spanish, no roadmap for Spanish.
Next language targets: Asian languages (not Latin).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94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Dialogue format ([S1]/[S2] tags) needs adaptation for single-speaker batch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445312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Optimised for 5–20 s dialogue chunks, not long-form reading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5111496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   Cannot contribute to core Latin American Spanish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53492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151"/>
                </a:solidFill>
              </a:rPr>
              <a:t>Thesis framing: 'Nari Dia used for English-language synthetic speech only — cross-lingual baseline.'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6035040"/>
            <a:ext cx="3566160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21040" y="610819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Tier 5 — English Baseline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Comparative Summary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097280"/>
          <a:ext cx="11823192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9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0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0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90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90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90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Spanish Quality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 Hours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Calendar
(6 hrs/wk)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VRAM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License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</a:rPr>
                        <a:t>Fish Speech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★★★★ Good
(20 k hrs, validated)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50–80 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10–15 wks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12 GB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CC-BY-NC-SA-4.0
(Academic OK)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D4ED8"/>
                          </a:solidFill>
                        </a:rPr>
                        <a:t>Tier 1 — Primary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</a:rPr>
                        <a:t>Qwen3-TTS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★★★ Mediocre
(not top-tier)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30–50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7–10 wks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4–8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Apache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6A34A"/>
                          </a:solidFill>
                        </a:rPr>
                        <a:t>Tier 2 — Secondary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</a:rPr>
                        <a:t>Chatterbox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★★★ Unvalidated
(23 languages)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20–35 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5–8 wks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8 GB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MIT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97706"/>
                          </a:solidFill>
                        </a:rPr>
                        <a:t>Tier 3 — Watermark
Disclosed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</a:rPr>
                        <a:t>OuteTTS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★★★ Adequate
(20–60 k hrs)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15–30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4–7 wks
+gen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6–12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Apache 2.0 (0.6B)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97706"/>
                          </a:solidFill>
                        </a:rPr>
                        <a:t>Tier 4 — Small
Batch Only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</a:rPr>
                        <a:t>Nari Dia 1.6B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English only
(No Spanish)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15–25 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4–6 wks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10 GB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Apache 2.0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DC2626"/>
                          </a:solidFill>
                        </a:rPr>
                        <a:t>Tier 5 — English
Baseline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11827"/>
                          </a:solidFill>
                        </a:rPr>
                        <a:t>CosyVoice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★★ Unknown
(no benchmarks)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40–80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10–18 wks
(high variance)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8–16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11827"/>
                          </a:solidFill>
                        </a:rPr>
                        <a:t>Apache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C3AED"/>
                          </a:solidFill>
                        </a:rPr>
                        <a:t>Tier 6 — Deferred</a:t>
                      </a:r>
                    </a:p>
                  </a:txBody>
                  <a:tcPr>
                    <a:solidFill>
                      <a:srgbClr val="EDE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Batch Generation Performance — 1,000 Samples (10 s each)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44752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</a:rPr>
              <a:t>Qwen3-TTS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63040"/>
            <a:ext cx="544068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18788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20–30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68296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3865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</a:rPr>
              <a:t>Fish Speech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386584"/>
            <a:ext cx="699516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4236" y="2386584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~33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91840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101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</a:rPr>
              <a:t>CosyVoice 3.0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310128"/>
            <a:ext cx="777240" cy="54864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3310128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~35 min*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15384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2336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</a:rPr>
              <a:t>Chatterbox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233672"/>
            <a:ext cx="233172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06440" y="423367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1.5–2 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38928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15721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11827"/>
                </a:solidFill>
              </a:rPr>
              <a:t>OuteTTS (GPU)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5157216"/>
            <a:ext cx="77724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19" y="515721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1.5–2.5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996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* CosyVoice timing assumes vLLM environment installs cleanly (high uncertainty — verify before relying on this figure).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261872"/>
            <a:ext cx="1179576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Spanish Language Support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52144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73152" cy="7498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17319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1st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1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</a:rPr>
              <a:t>Fish Speech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41731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4ED8"/>
                </a:solidFill>
              </a:rPr>
              <a:t>★★★★ 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417319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20 k hrs · validated · high-tier alongside English &amp; Chinese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30552"/>
            <a:ext cx="11521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130552"/>
            <a:ext cx="73152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26771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2nd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677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</a:rPr>
              <a:t>Qwen3-TTS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6771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A34A"/>
                </a:solidFill>
              </a:rPr>
              <a:t>★★★ Mediocre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267712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Paper: 'competitive' — not listed in top-performing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980944"/>
            <a:ext cx="1152144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2980944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18103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3rd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118103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</a:rPr>
              <a:t>OuteTTS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11810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★★★ Adequate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118103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20–60 k hrs, high-tier — practical constraints are limiting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831335"/>
            <a:ext cx="11521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3831335"/>
            <a:ext cx="73152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9684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4th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684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</a:rPr>
              <a:t>Chatterbox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96849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706"/>
                </a:solidFill>
              </a:rPr>
              <a:t>★★★ Unknown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968496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23 languages listed — no benchmarks, no audio samples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81728"/>
            <a:ext cx="11521440" cy="749808"/>
          </a:xfrm>
          <a:prstGeom prst="rect">
            <a:avLst/>
          </a:prstGeom>
          <a:solidFill>
            <a:srgbClr val="F3F4F6"/>
          </a:solidFill>
          <a:ln w="1016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4681728"/>
            <a:ext cx="73152" cy="74980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81888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5th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8188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</a:rPr>
              <a:t>CosyVoice 3.0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81888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</a:rPr>
              <a:t>★★ Unknown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818888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No benchmarks at all — completely unvalidated for Spanish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532120"/>
            <a:ext cx="115214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5532120"/>
            <a:ext cx="73152" cy="7498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---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669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827"/>
                </a:solidFill>
              </a:rPr>
              <a:t>Nari 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6692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English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5669280"/>
            <a:ext cx="5852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Hard restriction — cannot produce Spanish in current release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Recommended Integration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173736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91440" cy="17373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</a:rPr>
              <a:t>Tier 1 — Fish Speech (Primary)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Best validated Spanish quality (20 k training hours). RLHF-trained 4B-parameter synthesis. Anchor of the augmentation pipeline. 33 minutes for 1,000 samples on A40.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017520"/>
            <a:ext cx="11521440" cy="137160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9144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0815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Tier 2 — Qwen3-TTS (Secondary, 20% of samples)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11827"/>
                </a:solidFill>
              </a:rPr>
              <a:t>Different codec architecture = improved detector generalisation. Fastest inference (0.8 s/sample). Contributes architectural diversity. Start only after Fish Speech is stable.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572000"/>
            <a:ext cx="2743200" cy="1691640"/>
          </a:xfrm>
          <a:prstGeom prst="rect">
            <a:avLst/>
          </a:prstGeom>
          <a:solidFill>
            <a:srgbClr val="F3F4F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4572000"/>
            <a:ext cx="274320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79" y="4645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Tier 3 — Chatterbox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52120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Disclose watermark,
then integrate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4572000"/>
            <a:ext cx="2743200" cy="1691640"/>
          </a:xfrm>
          <a:prstGeom prst="rect">
            <a:avLst/>
          </a:prstGeom>
          <a:solidFill>
            <a:srgbClr val="F3F4F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46120" y="4572000"/>
            <a:ext cx="274320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37560" y="4645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Tier 4 — OuteTTS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52120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Overnight batch
(100–200 samples)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4572000"/>
            <a:ext cx="2743200" cy="1691640"/>
          </a:xfrm>
          <a:prstGeom prst="rect">
            <a:avLst/>
          </a:prstGeom>
          <a:solidFill>
            <a:srgbClr val="F3F4F6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572000"/>
            <a:ext cx="274320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4645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Tier 5 — Nari 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2120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English baseline
experiments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572000"/>
            <a:ext cx="2743200" cy="1691640"/>
          </a:xfrm>
          <a:prstGeom prst="rect">
            <a:avLst/>
          </a:prstGeom>
          <a:solidFill>
            <a:srgbClr val="F3F4F6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4572000"/>
            <a:ext cx="27432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19" y="46451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Tier 6 — CosyVoice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5212080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Defer until vLLM
installs cleanly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Realistic Timeline — 6 hrs/week, Biweekly Stakeholder Meetings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3749039" cy="2662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749039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4ED8"/>
                </a:solidFill>
              </a:rPr>
              <a:t>Working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Hours/week: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128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Meeting cadence: every 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9689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Buffer (low complexity): 1.5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8094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Buffer (high complexity): 2–3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64991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  Buffer (very high): 3+ weeks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51960" y="1143000"/>
          <a:ext cx="7726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1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Meeting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Work Hours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6–10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Fish Speech Docker running, 5 Spanish test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6–10 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LatAm speaker profiles, quality validated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6–8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FishSpeechAugmenter class + Qwen3 env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6–8 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End-to-end pipeline integrated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Buffer week (1.5-wk minimum)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6–8 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</a:rPr>
                        <a:t>1,000+ samples generated + validated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11827"/>
                          </a:solidFill>
                        </a:rPr>
                        <a:t>M7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11827"/>
                          </a:solidFill>
                        </a:rPr>
                        <a:t>4–6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11827"/>
                          </a:solidFill>
                        </a:rPr>
                        <a:t>Thesis methodology section drafted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5376672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74151"/>
                </a:solidFill>
              </a:rPr>
              <a:t>Tiers 1 &amp; 2 combined: ~14 calendar weeks | Tiers 3–5 can overlap starting Week 17 | Tier 6 deferred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TTS Augmentation Matters for Anti-Spoofing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11521440" cy="1280160"/>
          </a:xfrm>
          <a:prstGeom prst="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4ED8"/>
                </a:solidFill>
              </a:rPr>
              <a:t>Detectors trained only on traditional GAN-vocoder artifacts show 41.4% performance degradation
against modern codec-based attacks — the dominant attack vector in 2025–2026.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112471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Current Augmentation Pipeline (scientifically valid baseline)</a:t>
            </a:r>
          </a:p>
          <a:p>
            <a:r>
              <a:rPr sz="1500">
                <a:solidFill>
                  <a:srgbClr val="111827"/>
                </a:solidFill>
              </a:rPr>
              <a:t>• 60% — Room Impulse Response + Background Noise</a:t>
            </a:r>
          </a:p>
          <a:p>
            <a:r>
              <a:rPr sz="1500">
                <a:solidFill>
                  <a:srgbClr val="111827"/>
                </a:solidFill>
              </a:rPr>
              <a:t>• 30% — Codec Augmentation (MP3, AAC, Opus)</a:t>
            </a:r>
          </a:p>
          <a:p>
            <a:r>
              <a:rPr sz="1500">
                <a:solidFill>
                  <a:srgbClr val="111827"/>
                </a:solidFill>
              </a:rPr>
              <a:t>• 10% — RawBoost signal perturbation</a:t>
            </a:r>
          </a:p>
          <a:p>
            <a:r>
              <a:rPr sz="600"/>
              <a:t> 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D4ED8"/>
                </a:solidFill>
              </a:rPr>
              <a:t>What TTS Adds</a:t>
            </a:r>
          </a:p>
          <a:p>
            <a:r>
              <a:rPr sz="1500">
                <a:solidFill>
                  <a:srgbClr val="111827"/>
                </a:solidFill>
              </a:rPr>
              <a:t>• RLHF-trained synthesis (Fish Speech) is optimised for human perception — harder to detect</a:t>
            </a:r>
          </a:p>
          <a:p>
            <a:r>
              <a:rPr sz="1500">
                <a:solidFill>
                  <a:srgbClr val="111827"/>
                </a:solidFill>
              </a:rPr>
              <a:t>• Diverse codec architectures (Dual-AR, Dual-Track, CFM) train a more generalisable detector</a:t>
            </a:r>
          </a:p>
          <a:p>
            <a:r>
              <a:rPr sz="1500">
                <a:solidFill>
                  <a:srgbClr val="111827"/>
                </a:solidFill>
              </a:rPr>
              <a:t>• Cross-lingual experiments (Nari Dia in English) reveal language sensitivity of the detector</a:t>
            </a:r>
          </a:p>
          <a:p>
            <a:r>
              <a:rPr sz="600"/>
              <a:t> </a:t>
            </a:r>
          </a:p>
          <a:p>
            <a:r>
              <a:rPr sz="1500">
                <a:solidFill>
                  <a:srgbClr val="111827"/>
                </a:solidFill>
              </a:rPr>
              <a:t>• TTS is an enhancement that strengthens the research contribution</a:t>
            </a:r>
          </a:p>
          <a:p>
            <a:pPr lvl="1"/>
            <a:r>
              <a:rPr sz="1400">
                <a:solidFill>
                  <a:srgbClr val="374151"/>
                </a:solidFill>
              </a:rPr>
              <a:t>Existing pipeline remains the scientifically valid baseline if any TTS tier fails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Anticipated 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521440" cy="1234440"/>
          </a:xfrm>
          <a:prstGeom prst="rect">
            <a:avLst/>
          </a:prstGeom>
          <a:solidFill>
            <a:srgbClr val="F3F4F6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731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Q: Why Fish Speech and not CosyVoice with 1M training hours?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A: CosyVoice has zero Spanish benchmarks — an unknown quality is not a better choice than a known good one. vLLM complexity is not a disqualifier but does demand a buffer; we defer CosyVoice to Tier 6 for that reason.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11521440" cy="1234440"/>
          </a:xfrm>
          <a:prstGeom prst="rect">
            <a:avLst/>
          </a:prstGeom>
          <a:solidFill>
            <a:srgbClr val="F9FAFB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514600"/>
            <a:ext cx="731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7860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Q: Why include Chatterbox if it watermarks all outputs?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A: Mandatory watermarking is disclosed as a methodological restriction, not hidden. Chatterbox samples form an isolated experimental group; the thesis explicitly documents their watermark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11521440" cy="1234440"/>
          </a:xfrm>
          <a:prstGeom prst="rect">
            <a:avLst/>
          </a:prstGeom>
          <a:solidFill>
            <a:srgbClr val="F3F4F6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731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9044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Q: How does this fit a 6-hour-per-week work schedule?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0740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A: Every tier has calendar timelines calculated at 6 hrs/week with biweekly meeting deliverables and minimum 1.5-week buffers per phase. Tiers 1 + 2 span ~14 weeks; other tiers run in parallel or overlap.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166359"/>
            <a:ext cx="11521440" cy="1234440"/>
          </a:xfrm>
          <a:prstGeom prst="rect">
            <a:avLst/>
          </a:prstGeom>
          <a:solidFill>
            <a:srgbClr val="F9FAFB"/>
          </a:solidFill>
          <a:ln w="63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5166359"/>
            <a:ext cx="73152" cy="12344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Q: What if Fish Speech Spanish quality is insufficient?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33288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</a:rPr>
              <a:t>A: Week 1-2 validation gate: 10–20 Spanish test samples evaluated before committing. If quality is inadequate, the existing pipeline (RIR + Codec + RawBoost) remains the primary baseline.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109728"/>
            <a:ext cx="54864" cy="66385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814048" y="109728"/>
            <a:ext cx="54864" cy="663854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234440"/>
            <a:ext cx="6702552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99616"/>
            <a:ext cx="164592" cy="1645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Fish Speech is the primary TTS — best validated Spanish quality, stable codebase, 33 min/1k samples.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0665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Qwen3-TTS is the secondary contributor — codec diversity at fastest inference speed.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Chatterbox adds rapid prototyping capacity — watermark disclosed as a methodological note.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64992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310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OuteTTS is viable at small scale — schedule generation as overnight server jobs.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86784"/>
            <a:ext cx="164592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Nari Dia enables English cross-lingual baseline experiments — hard restriction documented.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08576"/>
            <a:ext cx="164592" cy="16459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5537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CosyVoice deferred — no Spanish benchmarks; pursue only if vLLM installs in under 4 hours.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30368"/>
            <a:ext cx="16459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1755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All timelines calibrated to 6 hrs/week with minimum 1.5-week buffers and biweekly milestones.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CA3AF"/>
                </a:solidFill>
              </a:rPr>
              <a:t>Tomas Acosta  |  Universidad de los Andes  |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2507</Words>
  <Application>Microsoft Office PowerPoint</Application>
  <PresentationFormat>Personalizado</PresentationFormat>
  <Paragraphs>337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Tomas Acosta Bernal</cp:lastModifiedBy>
  <cp:revision>2</cp:revision>
  <dcterms:created xsi:type="dcterms:W3CDTF">2013-01-27T09:14:16Z</dcterms:created>
  <dcterms:modified xsi:type="dcterms:W3CDTF">2026-02-20T00:39:19Z</dcterms:modified>
  <cp:category/>
</cp:coreProperties>
</file>