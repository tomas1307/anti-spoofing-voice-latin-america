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64592"/>
            <a:ext cx="54864" cy="65288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14048" y="164592"/>
            <a:ext cx="54864" cy="65288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D4AF37"/>
                </a:solidFill>
              </a:rPr>
              <a:t>TTS SYSTEMS INVESTIGATION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Voice Anti-Spoofing Research · Latin American Spanish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3063240"/>
            <a:ext cx="67025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C4DE"/>
                </a:solidFill>
              </a:rPr>
              <a:t>Tomás Acosta
Master's Thesis — Universidad de los Andes, Colombia
February 2026  ·  Hardware: ml-server03 (4× NVIDIA A40, 46 GB VRAM)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377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B0C4DE"/>
                </a:solidFill>
              </a:rPr>
              <a:t>Evaluating 6 state-of-the-art TTS systems for synthetic Spanish voice attack generation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88952" cy="96012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4AF37"/>
                </a:solidFill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800" b="1">
                <a:solidFill>
                  <a:srgbClr val="D4AF37"/>
                </a:solidFill>
              </a:rPr>
              <a:t>Purpose</a:t>
            </a:r>
          </a:p>
          <a:p>
            <a:r>
              <a:rPr sz="1600">
                <a:solidFill>
                  <a:srgbClr val="FFFFFF"/>
                </a:solidFill>
              </a:rPr>
              <a:t>• Evaluate 6 modern TTS systems for generating synthetic Spanish voice attacks</a:t>
            </a:r>
          </a:p>
          <a:p>
            <a:r>
              <a:rPr sz="1600">
                <a:solidFill>
                  <a:srgbClr val="FFFFFF"/>
                </a:solidFill>
              </a:rPr>
              <a:t>• Focus: training data for anti-spoofing detectors targeting Latin American speech</a:t>
            </a:r>
          </a:p>
          <a:p>
            <a:r>
              <a:rPr sz="16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D4AF37"/>
                </a:solidFill>
              </a:rPr>
              <a:t>Three Mandatory Evaluation Criteria</a:t>
            </a:r>
          </a:p>
          <a:p>
            <a:r>
              <a:rPr sz="1600">
                <a:solidFill>
                  <a:srgbClr val="FFFFFF"/>
                </a:solidFill>
              </a:rPr>
              <a:t>• Spanish Language Quality  — non-negotiable for Latin America focus</a:t>
            </a:r>
          </a:p>
          <a:p>
            <a:r>
              <a:rPr sz="1600">
                <a:solidFill>
                  <a:srgbClr val="FFFFFF"/>
                </a:solidFill>
              </a:rPr>
              <a:t>• Implementation Feasibility  — timeline, stability, dependency complexity</a:t>
            </a:r>
          </a:p>
          <a:p>
            <a:r>
              <a:rPr sz="1600">
                <a:solidFill>
                  <a:srgbClr val="FFFFFF"/>
                </a:solidFill>
              </a:rPr>
              <a:t>• Research Usefulness  — attack sophistication, codec diversity</a:t>
            </a:r>
          </a:p>
          <a:p>
            <a:r>
              <a:rPr sz="16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D4AF37"/>
                </a:solidFill>
              </a:rPr>
              <a:t>Key Finding</a:t>
            </a:r>
          </a:p>
          <a:p>
            <a:r>
              <a:rPr sz="1600">
                <a:solidFill>
                  <a:srgbClr val="FFFFFF"/>
                </a:solidFill>
              </a:rPr>
              <a:t>• Fish Speech (OpenAudio-S1) is the ONLY system meeting all requirements</a:t>
            </a:r>
          </a:p>
          <a:p>
            <a:r>
              <a:rPr sz="1600">
                <a:solidFill>
                  <a:srgbClr val="FFFFFF"/>
                </a:solidFill>
              </a:rPr>
              <a:t>• One system recommended as optional secondary (Qwen3-TTS for diversity)</a:t>
            </a:r>
          </a:p>
          <a:p>
            <a:r>
              <a:rPr sz="1600">
                <a:solidFill>
                  <a:srgbClr val="FFFFFF"/>
                </a:solidFill>
              </a:rPr>
              <a:t>• Four systems disqualified due to critical flaws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0" y="5989320"/>
            <a:ext cx="2834640" cy="6400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0" y="6025896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VERDICT: FISH SPEECH WINS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88952" cy="96012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4AF37"/>
                </a:solidFill>
              </a:rPr>
              <a:t>Evaluation Criteria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566160" cy="50292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356616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D4AF37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Spanish Language
Quality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108960"/>
            <a:ext cx="32004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MANDATORY — Latin American phonetics,
accent adaptability, training data hours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3566160" cy="50292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280160"/>
            <a:ext cx="356616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41732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D4AF37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1488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Implementation
Feasibility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3108960"/>
            <a:ext cx="32004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20040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Setup time, dependency stability,
docker support, community trust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280160"/>
            <a:ext cx="3566160" cy="50292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280160"/>
            <a:ext cx="3566160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41732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D4AF37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1488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Research
Usefulness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3108960"/>
            <a:ext cx="32004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320040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Attack sophistication, codec diversity,
license for academic 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88952" cy="96012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4AF37"/>
                </a:solidFill>
              </a:rPr>
              <a:t>Six Systems Evaluated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3520440" cy="22860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3520440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19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Fish Speech
(OpenAudio-S1)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4B params · RLHF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324612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953512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RECOMMENDED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280160"/>
            <a:ext cx="3520440" cy="22860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1280160"/>
            <a:ext cx="3520440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417319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Qwen3-TTS
(Alibaba)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33172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1.7B params · Dual-Track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926080"/>
            <a:ext cx="3246120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2953512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CONDITIONAL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1280160"/>
            <a:ext cx="3520440" cy="22860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280160"/>
            <a:ext cx="3520440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1417319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CosyVoice 3.0
(Alibaba)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33172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1.5B params · CFM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2926080"/>
            <a:ext cx="3246120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2953512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REJECTED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840480"/>
            <a:ext cx="3520440" cy="22860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3840480"/>
            <a:ext cx="3520440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97764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Chatterbox
(Resemble.ai)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89204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350M params · MIT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486400"/>
            <a:ext cx="3246120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513832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REJECTED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60520" y="3840480"/>
            <a:ext cx="3520440" cy="22860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60520" y="3840480"/>
            <a:ext cx="3520440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0" y="397764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OuteTTS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489204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0.6B–1B · LLM-based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0" y="5486400"/>
            <a:ext cx="3246120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80" y="5513832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REJECTED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01000" y="3840480"/>
            <a:ext cx="3520440" cy="22860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01000" y="3840480"/>
            <a:ext cx="3520440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38160" y="397764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Nari Dia 1.6B
(Nari Labs)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4892040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1.6B params · Dialogue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38160" y="5486400"/>
            <a:ext cx="3246120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38160" y="5513832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REJECTED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88952" cy="96012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4AF37"/>
                </a:solidFill>
              </a:rPr>
              <a:t>Fish Speech (OpenAudio-S1) — System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800" b="1">
                <a:solidFill>
                  <a:srgbClr val="D4AF37"/>
                </a:solidFill>
              </a:rPr>
              <a:t>What Is It?</a:t>
            </a:r>
          </a:p>
          <a:p>
            <a:r>
              <a:rPr sz="1600">
                <a:solidFill>
                  <a:srgbClr val="FFFFFF"/>
                </a:solidFill>
              </a:rPr>
              <a:t>• Open-source TTS by Fish Audio — 4 billion parameters</a:t>
            </a:r>
          </a:p>
          <a:p>
            <a:r>
              <a:rPr sz="1600">
                <a:solidFill>
                  <a:srgbClr val="FFFFFF"/>
                </a:solidFill>
              </a:rPr>
              <a:t>• Trained with RLHF (same technique as ChatGPT) for human-perceived naturalness</a:t>
            </a:r>
          </a:p>
          <a:p>
            <a:r>
              <a:rPr sz="1600">
                <a:solidFill>
                  <a:srgbClr val="FFFFFF"/>
                </a:solidFill>
              </a:rPr>
              <a:t>• Architecture: Dual-AR + Firefly-GAN vocoder</a:t>
            </a:r>
          </a:p>
          <a:p>
            <a:r>
              <a:rPr sz="16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D4AF37"/>
                </a:solidFill>
              </a:rPr>
              <a:t>Key Facts</a:t>
            </a:r>
          </a:p>
          <a:p>
            <a:r>
              <a:rPr sz="1600">
                <a:solidFill>
                  <a:srgbClr val="FFFFFF"/>
                </a:solidFill>
              </a:rPr>
              <a:t>• 24,906 GitHub stars   ·   Active maintenance (updated Feb 2026)</a:t>
            </a:r>
          </a:p>
          <a:p>
            <a:r>
              <a:rPr sz="1600">
                <a:solidFill>
                  <a:srgbClr val="FFFFFF"/>
                </a:solidFill>
              </a:rPr>
              <a:t>• Published research paper: arXiv:2411.01156</a:t>
            </a:r>
          </a:p>
          <a:p>
            <a:r>
              <a:rPr sz="1600">
                <a:solidFill>
                  <a:srgbClr val="FFFFFF"/>
                </a:solidFill>
              </a:rPr>
              <a:t>• Official Docker Compose available</a:t>
            </a:r>
          </a:p>
          <a:p>
            <a:r>
              <a:rPr sz="1600">
                <a:solidFill>
                  <a:srgbClr val="FFFFFF"/>
                </a:solidFill>
              </a:rPr>
              <a:t>• License: CC-BY-NC-SA-4.0  →  explicitly allows academic / thesis research</a:t>
            </a:r>
          </a:p>
          <a:p>
            <a:r>
              <a:rPr sz="16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D4AF37"/>
                </a:solidFill>
              </a:rPr>
              <a:t>Hardware on ml-server03</a:t>
            </a:r>
          </a:p>
          <a:p>
            <a:r>
              <a:rPr sz="1600">
                <a:solidFill>
                  <a:srgbClr val="FFFFFF"/>
                </a:solidFill>
              </a:rPr>
              <a:t>• Requires 12 GB VRAM minimum  →  we have 46 GB per A40  (uses only 26%)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0" y="5989320"/>
            <a:ext cx="2834640" cy="6400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0" y="6025896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VERDICT: PRIMARY CHOICE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88952" cy="96012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4AF37"/>
                </a:solidFill>
              </a:rPr>
              <a:t>Fish Speech — Key Strengths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800" b="1">
                <a:solidFill>
                  <a:srgbClr val="D4AF37"/>
                </a:solidFill>
              </a:rPr>
              <a:t>Spanish Language Support  (VALIDATED)</a:t>
            </a:r>
          </a:p>
          <a:p>
            <a:r>
              <a:rPr sz="1600">
                <a:solidFill>
                  <a:srgbClr val="FFFFFF"/>
                </a:solidFill>
              </a:rPr>
              <a:t>• 20,000 hours of Spanish training data</a:t>
            </a:r>
          </a:p>
          <a:p>
            <a:r>
              <a:rPr sz="1600">
                <a:solidFill>
                  <a:srgbClr val="FFFFFF"/>
                </a:solidFill>
              </a:rPr>
              <a:t>• Listed in 'high training data' tier alongside English and Chinese</a:t>
            </a:r>
          </a:p>
          <a:p>
            <a:r>
              <a:rPr sz="1600">
                <a:solidFill>
                  <a:srgbClr val="FFFFFF"/>
                </a:solidFill>
              </a:rPr>
              <a:t>• Emotion markers and prosody control work natively in Spanish</a:t>
            </a:r>
          </a:p>
          <a:p>
            <a:r>
              <a:rPr sz="16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D4AF37"/>
                </a:solidFill>
              </a:rPr>
              <a:t>Cross-Lingual Voice Cloning</a:t>
            </a:r>
          </a:p>
          <a:p>
            <a:r>
              <a:rPr sz="1600">
                <a:solidFill>
                  <a:srgbClr val="FFFFFF"/>
                </a:solidFill>
              </a:rPr>
              <a:t>• Clone a Latin American Spanish voice from 10–30 seconds of reference audio</a:t>
            </a:r>
          </a:p>
          <a:p>
            <a:r>
              <a:rPr sz="1600">
                <a:solidFill>
                  <a:srgbClr val="FFFFFF"/>
                </a:solidFill>
              </a:rPr>
              <a:t>• Preserves accent, emotion, and speaker characteristics</a:t>
            </a:r>
          </a:p>
          <a:p>
            <a:r>
              <a:rPr sz="16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D4AF37"/>
                </a:solidFill>
              </a:rPr>
              <a:t>Attack Sophistication</a:t>
            </a:r>
          </a:p>
          <a:p>
            <a:r>
              <a:rPr sz="1600">
                <a:solidFill>
                  <a:srgbClr val="FFFFFF"/>
                </a:solidFill>
              </a:rPr>
              <a:t>• RLHF training optimizes for human perception → harder to detect</a:t>
            </a:r>
          </a:p>
          <a:p>
            <a:r>
              <a:rPr sz="1600">
                <a:solidFill>
                  <a:srgbClr val="FFFFFF"/>
                </a:solidFill>
              </a:rPr>
              <a:t>• Captures subtle speech features (breathing, pauses, prosody) simpler TTS misses</a:t>
            </a:r>
          </a:p>
          <a:p>
            <a:r>
              <a:rPr sz="16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D4AF37"/>
                </a:solidFill>
              </a:rPr>
              <a:t>Batch Generation Speed</a:t>
            </a:r>
          </a:p>
          <a:p>
            <a:r>
              <a:rPr sz="1600">
                <a:solidFill>
                  <a:srgbClr val="FFFFFF"/>
                </a:solidFill>
              </a:rPr>
              <a:t>• RTF ≈ 0.14 on RTX 4090  →  ~2–3 s per 10-second sample on A40</a:t>
            </a:r>
          </a:p>
          <a:p>
            <a:r>
              <a:rPr sz="1600">
                <a:solidFill>
                  <a:srgbClr val="FFFFFF"/>
                </a:solidFill>
              </a:rPr>
              <a:t>• 1,000 samples (10 s each) ≈ 33 minutes total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0" y="5989320"/>
            <a:ext cx="2834640" cy="6400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0" y="6025896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VERDICT: STRONGLY RECOMMENDED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88952" cy="96012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4AF37"/>
                </a:solidFill>
              </a:rPr>
              <a:t>Fish Speech — Problems &amp; Why They Don't Matter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5394960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0700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Reported 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188720"/>
            <a:ext cx="5394960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89320" y="120700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Impact on This Research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37360"/>
            <a:ext cx="5394960" cy="100584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737360"/>
            <a:ext cx="64008" cy="10058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74519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12 GB VRAM minimum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1737360"/>
            <a:ext cx="5394960" cy="100584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1737360"/>
            <a:ext cx="64008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874519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A40 has 46 GB — uses only 26%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852928"/>
            <a:ext cx="5394960" cy="100584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852928"/>
            <a:ext cx="64008" cy="10058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99008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No true streaming (latency)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2852928"/>
            <a:ext cx="5394960" cy="100584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89320" y="2852928"/>
            <a:ext cx="64008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299008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Irrelevant: batch generation, offline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968496"/>
            <a:ext cx="5394960" cy="100584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968496"/>
            <a:ext cx="64008" cy="10058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105656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Voice cloning inconsistency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3968496"/>
            <a:ext cx="5394960" cy="100584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3968496"/>
            <a:ext cx="64008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4105656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Beneficial: variability = realistic training data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084064"/>
            <a:ext cx="5394960" cy="100584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5084064"/>
            <a:ext cx="64008" cy="10058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221224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Linux preferred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5084064"/>
            <a:ext cx="5394960" cy="100584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89320" y="5084064"/>
            <a:ext cx="64008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5221224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ml-server03 runs Linux 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6080760"/>
            <a:ext cx="11521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4DE"/>
                </a:solidFill>
              </a:rPr>
              <a:t>Conclusion: no problem disqualifies Fish Speech for this research context.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88952" cy="96012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4AF37"/>
                </a:solidFill>
              </a:rPr>
              <a:t>Qwen3-TTS (Alibaba) —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 b="1">
                <a:solidFill>
                  <a:srgbClr val="D4AF37"/>
                </a:solidFill>
              </a:rPr>
              <a:t>Strengths</a:t>
            </a:r>
          </a:p>
          <a:p>
            <a:r>
              <a:rPr sz="1500">
                <a:solidFill>
                  <a:srgbClr val="FFFFFF"/>
                </a:solidFill>
              </a:rPr>
              <a:t>• Ultra-fast inference: ~0.8 s per 10-second audio sample</a:t>
            </a:r>
          </a:p>
          <a:p>
            <a:r>
              <a:rPr sz="1500">
                <a:solidFill>
                  <a:srgbClr val="FFFFFF"/>
                </a:solidFill>
              </a:rPr>
              <a:t>• Apache 2.0 license — unrestricted</a:t>
            </a:r>
          </a:p>
          <a:p>
            <a:r>
              <a:rPr sz="1500">
                <a:solidFill>
                  <a:srgbClr val="FFFFFF"/>
                </a:solidFill>
              </a:rPr>
              <a:t>• 1.7 B parameters, FlashAttention 2 support (30–40 % speedup)</a:t>
            </a:r>
          </a:p>
          <a:p>
            <a:r>
              <a:rPr sz="1500">
                <a:solidFill>
                  <a:srgbClr val="FFFFFF"/>
                </a:solidFill>
              </a:rPr>
              <a:t>• Easy install: pip install qwen-tts</a:t>
            </a:r>
          </a:p>
          <a:p>
            <a:r>
              <a:rPr sz="15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D4AF37"/>
                </a:solidFill>
              </a:rPr>
              <a:t>Critical Problems</a:t>
            </a:r>
          </a:p>
          <a:p>
            <a:r>
              <a:rPr sz="1500">
                <a:solidFill>
                  <a:srgbClr val="FFFFFF"/>
                </a:solidFill>
              </a:rPr>
              <a:t>• Spanish explicitly NOT in top-performing language group (paper: 'competitive' = mediocre)</a:t>
            </a:r>
          </a:p>
          <a:p>
            <a:r>
              <a:rPr sz="1500">
                <a:solidFill>
                  <a:srgbClr val="FFFFFF"/>
                </a:solidFill>
              </a:rPr>
              <a:t>• Fine-tuning completely broken: progressive speech speedup, checkpoint corruption</a:t>
            </a:r>
          </a:p>
          <a:p>
            <a:r>
              <a:rPr sz="1500">
                <a:solidFill>
                  <a:srgbClr val="FFFFFF"/>
                </a:solidFill>
              </a:rPr>
              <a:t>• Cannot adapt to Latin American accents via fine-tuning</a:t>
            </a:r>
          </a:p>
          <a:p>
            <a:r>
              <a:rPr sz="1500">
                <a:solidFill>
                  <a:srgbClr val="FFFFFF"/>
                </a:solidFill>
              </a:rPr>
              <a:t>• Audio artifacts: truncated outputs, silent failures on long text</a:t>
            </a:r>
          </a:p>
          <a:p>
            <a:r>
              <a:rPr sz="1500">
                <a:solidFill>
                  <a:srgbClr val="FFFFFF"/>
                </a:solidFill>
              </a:rPr>
              <a:t>• Hard pin: transformers==4.57.3 — conflicts with rest of ecosystem</a:t>
            </a:r>
          </a:p>
          <a:p>
            <a:r>
              <a:rPr sz="15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D4AF37"/>
                </a:solidFill>
              </a:rPr>
              <a:t>Recommended Role</a:t>
            </a:r>
          </a:p>
          <a:p>
            <a:r>
              <a:rPr sz="1500">
                <a:solidFill>
                  <a:srgbClr val="FFFFFF"/>
                </a:solidFill>
              </a:rPr>
              <a:t>• Secondary TTS only — contributes codec diversity (20 % of synthetic samples)</a:t>
            </a:r>
          </a:p>
          <a:p>
            <a:r>
              <a:rPr sz="1500">
                <a:solidFill>
                  <a:srgbClr val="FFFFFF"/>
                </a:solidFill>
              </a:rPr>
              <a:t>• Do NOT use as primary Spanish TTS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0" y="5989320"/>
            <a:ext cx="2834640" cy="640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0" y="6025896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VERDICT: CONDITIONAL — Diversity Only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88952" cy="96012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4AF37"/>
                </a:solidFill>
              </a:rPr>
              <a:t>CosyVoice 3.0 (Alibaba) — Rejected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 b="1">
                <a:solidFill>
                  <a:srgbClr val="D4AF37"/>
                </a:solidFill>
              </a:rPr>
              <a:t>Impressive Credentials</a:t>
            </a:r>
          </a:p>
          <a:p>
            <a:r>
              <a:rPr sz="1500">
                <a:solidFill>
                  <a:srgbClr val="FFFFFF"/>
                </a:solidFill>
              </a:rPr>
              <a:t>• 1 million hours training data  ·  Apache 2.0  ·  19,600 GitHub stars</a:t>
            </a:r>
          </a:p>
          <a:p>
            <a:r>
              <a:rPr sz="1500">
                <a:solidFill>
                  <a:srgbClr val="FFFFFF"/>
                </a:solidFill>
              </a:rPr>
              <a:t>• High speaker similarity scores (77.4 %)  ·  TensorRT-LLM acceleration</a:t>
            </a:r>
          </a:p>
          <a:p>
            <a:r>
              <a:rPr sz="15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D4AF37"/>
                </a:solidFill>
              </a:rPr>
              <a:t>Why It Was Rejected</a:t>
            </a:r>
          </a:p>
          <a:p>
            <a:r>
              <a:rPr sz="1500">
                <a:solidFill>
                  <a:srgbClr val="FFFFFF"/>
                </a:solidFill>
              </a:rPr>
              <a:t>• vLLM dependency hell: only works with vLLM 0.9.0 OR 0.11.x+ (NOT 0.10.x)</a:t>
            </a:r>
          </a:p>
          <a:p>
            <a:pPr lvl="1"/>
            <a:r>
              <a:rPr sz="1300">
                <a:solidFill>
                  <a:srgbClr val="B0C4DE"/>
                </a:solidFill>
              </a:rPr>
              <a:t>  Users report 'environment corruption requiring fresh installs'</a:t>
            </a:r>
          </a:p>
          <a:p>
            <a:r>
              <a:rPr sz="1500">
                <a:solidFill>
                  <a:srgbClr val="FFFFFF"/>
                </a:solidFill>
              </a:rPr>
              <a:t>• 1–2 day deployment time vs 4–8 hours for Fish Speech</a:t>
            </a:r>
          </a:p>
          <a:p>
            <a:r>
              <a:rPr sz="1500">
                <a:solidFill>
                  <a:srgbClr val="FFFFFF"/>
                </a:solidFill>
              </a:rPr>
              <a:t>• Quality regression: community reports CosyVoice 2 sounded better</a:t>
            </a:r>
          </a:p>
          <a:p>
            <a:r>
              <a:rPr sz="1500">
                <a:solidFill>
                  <a:srgbClr val="FFFFFF"/>
                </a:solidFill>
              </a:rPr>
              <a:t>• ZERO Spanish benchmarks — all metrics are Chinese and English only</a:t>
            </a:r>
          </a:p>
          <a:p>
            <a:pPr lvl="1"/>
            <a:r>
              <a:rPr sz="1300">
                <a:solidFill>
                  <a:srgbClr val="B0C4DE"/>
                </a:solidFill>
              </a:rPr>
              <a:t>  Cannot validate quality before committing thesis timeline</a:t>
            </a:r>
          </a:p>
          <a:p>
            <a:r>
              <a:rPr sz="1500">
                <a:solidFill>
                  <a:srgbClr val="FFFFFF"/>
                </a:solidFill>
              </a:rPr>
              <a:t>• Matcha-TTS submodule complexity adds fragility</a:t>
            </a:r>
          </a:p>
          <a:p>
            <a:r>
              <a:rPr sz="15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D4AF37"/>
                </a:solidFill>
              </a:rPr>
              <a:t>Bottom Line</a:t>
            </a:r>
          </a:p>
          <a:p>
            <a:r>
              <a:rPr sz="1500">
                <a:solidFill>
                  <a:srgbClr val="FFFFFF"/>
                </a:solidFill>
              </a:rPr>
              <a:t>• A blind bet on unvalidated Spanish quality + 1–2 weeks of vLLM risk</a:t>
            </a:r>
          </a:p>
          <a:p>
            <a:r>
              <a:rPr sz="1500">
                <a:solidFill>
                  <a:srgbClr val="FFFFFF"/>
                </a:solidFill>
              </a:rPr>
              <a:t>• Better alternatives exist with proven Spanish support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0" y="5989320"/>
            <a:ext cx="2834640" cy="6400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0" y="6025896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VERDICT: REJECTED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88952" cy="96012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4AF37"/>
                </a:solidFill>
              </a:rPr>
              <a:t>Chatterbox (Resemble.ai) — Rejected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 b="1">
                <a:solidFill>
                  <a:srgbClr val="D4AF37"/>
                </a:solidFill>
              </a:rPr>
              <a:t>Attractive Features</a:t>
            </a:r>
          </a:p>
          <a:p>
            <a:r>
              <a:rPr sz="1500">
                <a:solidFill>
                  <a:srgbClr val="FFFFFF"/>
                </a:solidFill>
              </a:rPr>
              <a:t>• MIT license (truly open)  ·  pip install chatterbox-tts</a:t>
            </a:r>
          </a:p>
          <a:p>
            <a:r>
              <a:rPr sz="1500">
                <a:solidFill>
                  <a:srgbClr val="FFFFFF"/>
                </a:solidFill>
              </a:rPr>
              <a:t>• 350 M params — smallest footprint (8 GB VRAM)</a:t>
            </a:r>
          </a:p>
          <a:p>
            <a:r>
              <a:rPr sz="1500">
                <a:solidFill>
                  <a:srgbClr val="FFFFFF"/>
                </a:solidFill>
              </a:rPr>
              <a:t>• Outperformed ElevenLabs Turbo in blind tests (63.75 % preference)</a:t>
            </a:r>
          </a:p>
          <a:p>
            <a:r>
              <a:rPr sz="15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D4AF37"/>
                </a:solidFill>
              </a:rPr>
              <a:t>Why It Was Rejected</a:t>
            </a:r>
          </a:p>
          <a:p>
            <a:r>
              <a:rPr sz="1500">
                <a:solidFill>
                  <a:srgbClr val="FFFFFF"/>
                </a:solidFill>
              </a:rPr>
              <a:t>• Latency fraud: claims &lt;200 ms — official docs show 472 ms on RTX 4090</a:t>
            </a:r>
          </a:p>
          <a:p>
            <a:pPr lvl="1"/>
            <a:r>
              <a:rPr sz="1300">
                <a:solidFill>
                  <a:srgbClr val="B0C4DE"/>
                </a:solidFill>
              </a:rPr>
              <a:t>  Pattern of dishonest marketing raises trust concerns</a:t>
            </a:r>
          </a:p>
          <a:p>
            <a:r>
              <a:rPr sz="1500">
                <a:solidFill>
                  <a:srgbClr val="FFFFFF"/>
                </a:solidFill>
              </a:rPr>
              <a:t>• Mandatory Perth neural watermarking on ALL outputs — cannot disable</a:t>
            </a:r>
          </a:p>
          <a:p>
            <a:pPr lvl="1"/>
            <a:r>
              <a:rPr sz="1300">
                <a:solidFill>
                  <a:srgbClr val="B0C4DE"/>
                </a:solidFill>
              </a:rPr>
              <a:t>  Risk: detector learns to identify watermark pattern, not TTS artifacts</a:t>
            </a:r>
          </a:p>
          <a:p>
            <a:pPr lvl="1"/>
            <a:r>
              <a:rPr sz="1300">
                <a:solidFill>
                  <a:srgbClr val="B0C4DE"/>
                </a:solidFill>
              </a:rPr>
              <a:t>  Confounding variable in thesis research — academic integrity issue</a:t>
            </a:r>
          </a:p>
          <a:p>
            <a:r>
              <a:rPr sz="1500">
                <a:solidFill>
                  <a:srgbClr val="FFFFFF"/>
                </a:solidFill>
              </a:rPr>
              <a:t>• 224 open issues vs 34 total commits (6.6 issues/commit — very high bug density)</a:t>
            </a:r>
          </a:p>
          <a:p>
            <a:r>
              <a:rPr sz="1500">
                <a:solidFill>
                  <a:srgbClr val="FFFFFF"/>
                </a:solidFill>
              </a:rPr>
              <a:t>• No Latin American Spanish validation whatsoever</a:t>
            </a:r>
          </a:p>
          <a:p>
            <a:r>
              <a:rPr sz="15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D4AF37"/>
                </a:solidFill>
              </a:rPr>
              <a:t>Bottom Line</a:t>
            </a:r>
          </a:p>
          <a:p>
            <a:r>
              <a:rPr sz="1500">
                <a:solidFill>
                  <a:srgbClr val="FFFFFF"/>
                </a:solidFill>
              </a:rPr>
              <a:t>• Watermark contamination is a research validity risk that cannot be accepted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0" y="5989320"/>
            <a:ext cx="2834640" cy="6400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0" y="6025896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VERDICT: REJECTED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88952" cy="96012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4AF37"/>
                </a:solidFill>
              </a:rPr>
              <a:t>OuteTTS — Rejected (Performance Disaster)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11521440" cy="196596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11521440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C2626"/>
                </a:solidFill>
              </a:rPr>
              <a:t>3 MINUTES to generate 14 seconds of audio on an RTX 4090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1,000 samples (10 s each) = 1.7 DAYS    vs.    Fish Speech: 33 MINUTES  (76× slower)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600" b="1">
                <a:solidFill>
                  <a:srgbClr val="D4AF37"/>
                </a:solidFill>
              </a:rPr>
              <a:t>Additional Problems</a:t>
            </a:r>
          </a:p>
          <a:p>
            <a:r>
              <a:rPr sz="1400">
                <a:solidFill>
                  <a:srgbClr val="FFFFFF"/>
                </a:solidFill>
              </a:rPr>
              <a:t>• LLM-based architecture: generates 25× more tokens than text LLMs → fundamentally slow</a:t>
            </a:r>
          </a:p>
          <a:p>
            <a:r>
              <a:rPr sz="1400">
                <a:solidFill>
                  <a:srgbClr val="FFFFFF"/>
                </a:solidFill>
              </a:rPr>
              <a:t>• DAC codec quality issues: lossy reconstruction, sensitive to recording conditions</a:t>
            </a:r>
          </a:p>
          <a:p>
            <a:r>
              <a:rPr sz="1400">
                <a:solidFill>
                  <a:srgbClr val="FFFFFF"/>
                </a:solidFill>
              </a:rPr>
              <a:t>• Sampling config fragility: wrong repetition_penalty window → garbled output</a:t>
            </a:r>
          </a:p>
          <a:p>
            <a:r>
              <a:rPr sz="1400">
                <a:solidFill>
                  <a:srgbClr val="FFFFFF"/>
                </a:solidFill>
              </a:rPr>
              <a:t>• Audio truncation mid-word (Issue #45), attention mask warnings (Issue #3)</a:t>
            </a:r>
          </a:p>
          <a:p>
            <a:r>
              <a:rPr sz="1400">
                <a:solidFill>
                  <a:srgbClr val="FFFFFF"/>
                </a:solidFill>
              </a:rPr>
              <a:t>• CPU inference claimed 'real-time' — actually 2.5–7.5× slower than real-time</a:t>
            </a:r>
          </a:p>
          <a:p>
            <a:r>
              <a:rPr sz="1400">
                <a:solidFill>
                  <a:srgbClr val="FFFFFF"/>
                </a:solidFill>
              </a:rPr>
              <a:t>• Maintainer deflects: 'Try alternative backends' = core implementation is broken</a:t>
            </a:r>
          </a:p>
          <a:p>
            <a:r>
              <a:rPr sz="14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D4AF37"/>
                </a:solidFill>
              </a:rPr>
              <a:t>Even the API alternative is impractical</a:t>
            </a:r>
          </a:p>
          <a:p>
            <a:r>
              <a:rPr sz="1400">
                <a:solidFill>
                  <a:srgbClr val="FFFFFF"/>
                </a:solidFill>
              </a:rPr>
              <a:t>• $360 per 1,000 samples  ·  100 requests/day limit = 10 days to generate them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5989320"/>
            <a:ext cx="2834640" cy="6400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6025896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VERDICT: REJECTED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88952" cy="96012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4AF37"/>
                </a:solidFill>
              </a:rPr>
              <a:t>Nari Dia 1.6B — Rejected (Fatal Incompatibility)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280160"/>
            <a:ext cx="9418320" cy="1645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37160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NO SPANISH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116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</a:rPr>
              <a:t>Official statement: 'Dia currently supports English language generation ONLY'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5468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 b="1">
                <a:solidFill>
                  <a:srgbClr val="D4AF37"/>
                </a:solidFill>
              </a:rPr>
              <a:t>Research Context</a:t>
            </a:r>
          </a:p>
          <a:p>
            <a:r>
              <a:rPr sz="1500">
                <a:solidFill>
                  <a:srgbClr val="FFFFFF"/>
                </a:solidFill>
              </a:rPr>
              <a:t>• Thesis: Anti-Spoofing Voice System for Latin America</a:t>
            </a:r>
          </a:p>
          <a:p>
            <a:r>
              <a:rPr sz="1500">
                <a:solidFill>
                  <a:srgbClr val="FFFFFF"/>
                </a:solidFill>
              </a:rPr>
              <a:t>• Requirement: Latin American Spanish synthesis</a:t>
            </a:r>
          </a:p>
          <a:p>
            <a:r>
              <a:rPr sz="1500">
                <a:solidFill>
                  <a:srgbClr val="FFFFFF"/>
                </a:solidFill>
              </a:rPr>
              <a:t>• Nari Dia output: English only</a:t>
            </a:r>
          </a:p>
          <a:p>
            <a:r>
              <a:rPr sz="15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D4AF37"/>
                </a:solidFill>
              </a:rPr>
              <a:t>Future Roadmap (No Hope Short-Term)</a:t>
            </a:r>
          </a:p>
          <a:p>
            <a:r>
              <a:rPr sz="1500">
                <a:solidFill>
                  <a:srgbClr val="FFFFFF"/>
                </a:solidFill>
              </a:rPr>
              <a:t>• Next target languages: Asian languages — NOT Spanish or Latin</a:t>
            </a:r>
          </a:p>
          <a:p>
            <a:r>
              <a:rPr sz="1500">
                <a:solidFill>
                  <a:srgbClr val="FFFFFF"/>
                </a:solidFill>
              </a:rPr>
              <a:t>• No timeline commitment for Spanish support</a:t>
            </a:r>
          </a:p>
          <a:p>
            <a:r>
              <a:rPr sz="15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D4AF37"/>
                </a:solidFill>
              </a:rPr>
              <a:t>Secondary Issues (Irrelevant Given Fatal Flaw)</a:t>
            </a:r>
          </a:p>
          <a:p>
            <a:r>
              <a:rPr sz="1500">
                <a:solidFill>
                  <a:srgbClr val="FFFFFF"/>
                </a:solidFill>
              </a:rPr>
              <a:t>• Purpose mismatch: dialogue-focused, not single-speaker batch augmentation</a:t>
            </a:r>
          </a:p>
          <a:p>
            <a:r>
              <a:rPr sz="1500">
                <a:solidFill>
                  <a:srgbClr val="FFFFFF"/>
                </a:solidFill>
              </a:rPr>
              <a:t>• Integration overhead: [S1] / [S2] tag format not suited to our pipeline</a:t>
            </a:r>
          </a:p>
          <a:p>
            <a:r>
              <a:rPr sz="1500">
                <a:solidFill>
                  <a:srgbClr val="FFFFFF"/>
                </a:solidFill>
              </a:rPr>
              <a:t/>
            </a:r>
          </a:p>
          <a:p>
            <a:r>
              <a:rPr sz="1500">
                <a:solidFill>
                  <a:srgbClr val="FFFFFF"/>
                </a:solidFill>
              </a:rPr>
              <a:t>• Included for due diligence; outcome confirms initial assessment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5989320"/>
            <a:ext cx="2834640" cy="6400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6025896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VERDICT: REJECTED — Incompatible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88952" cy="96012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4AF37"/>
                </a:solidFill>
              </a:rPr>
              <a:t>Comparative Summary Matrix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188720"/>
          <a:ext cx="11823192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0532"/>
                <a:gridCol w="1970532"/>
                <a:gridCol w="1970532"/>
                <a:gridCol w="1970532"/>
                <a:gridCol w="1970532"/>
                <a:gridCol w="1970532"/>
              </a:tblGrid>
              <a:tr h="67437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>
                    <a:solidFill>
                      <a:srgbClr val="0E76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Spanish Quality</a:t>
                      </a:r>
                    </a:p>
                  </a:txBody>
                  <a:tcPr>
                    <a:solidFill>
                      <a:srgbClr val="0E76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Deploy Time</a:t>
                      </a:r>
                    </a:p>
                  </a:txBody>
                  <a:tcPr>
                    <a:solidFill>
                      <a:srgbClr val="0E76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VRAM Need</a:t>
                      </a:r>
                    </a:p>
                  </a:txBody>
                  <a:tcPr>
                    <a:solidFill>
                      <a:srgbClr val="0E76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Performance</a:t>
                      </a:r>
                    </a:p>
                  </a:txBody>
                  <a:tcPr>
                    <a:solidFill>
                      <a:srgbClr val="0E76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Verdict</a:t>
                      </a:r>
                    </a:p>
                  </a:txBody>
                  <a:tcPr>
                    <a:solidFill>
                      <a:srgbClr val="0E767A"/>
                    </a:solidFill>
                  </a:tcPr>
                </a:tc>
              </a:tr>
              <a:tr h="67437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</a:rPr>
                        <a:t>Fish Speech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★★★★ Good
(20 k hrs)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4–8 h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12 GB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2 s / 10 s sample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RECOMMENDED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  <a:tr h="67437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</a:rPr>
                        <a:t>Qwen3-TTS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★★★ Mediocre
(not top-tier)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2–6 h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4–8 GB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0.8 s / 10 s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CONDITIONAL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</a:tr>
              <a:tr h="67437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</a:rPr>
                        <a:t>CosyVoice 3.0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★★ Unknown
(no benchmarks)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1–2 days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8–16 GB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1.5 s / 10 s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REJECTED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</a:tr>
              <a:tr h="67437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</a:rPr>
                        <a:t>Chatterbox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★★★ Unvalidated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2–4 h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8 GB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4–6 s / 10 s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REJECTED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</a:tr>
              <a:tr h="67437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</a:rPr>
                        <a:t>OuteTTS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★★★ Adequate
(on paper)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4–7 days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6–12 GB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2–4 MIN / 10 s</a:t>
                      </a:r>
                    </a:p>
                  </a:txBody>
                  <a:tcPr>
                    <a:solidFill>
                      <a:srgbClr val="17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REJECTED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</a:tr>
              <a:tr h="67437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</a:rPr>
                        <a:t>Nari Dia 1.6B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✗ NONE
(English only)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10 GB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1224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REJECTED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88952" cy="96012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4AF37"/>
                </a:solidFill>
              </a:rPr>
              <a:t>Batch Generation Performance — 1,000 Samples (10 s each)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Qwen3-TTS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463040"/>
            <a:ext cx="82296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400" y="141732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</a:rPr>
              <a:t>20–30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76272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Fish Speech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267712"/>
            <a:ext cx="905256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5696" y="2221991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</a:rPr>
              <a:t>~33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80944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CosyVoice 3.0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3072384"/>
            <a:ext cx="987552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3026663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~35 min*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785616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Chatterbox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3877056"/>
            <a:ext cx="370332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3831336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1.5–2 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590288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OuteTTS (GPU)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4681727"/>
            <a:ext cx="822960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50040" y="4636007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1.5–2.5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3949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OuteTTS (API)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5486400"/>
            <a:ext cx="822960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50040" y="54406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10 days + $360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2179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C4DE"/>
                </a:solidFill>
              </a:rPr>
              <a:t>* CosyVoice timing assumes successful vLLM environment (high uncertainty)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1234440"/>
            <a:ext cx="1179576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88952" cy="96012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4AF37"/>
                </a:solidFill>
              </a:rPr>
              <a:t>Spanish Language Support Ranking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11521440" cy="749808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64008" cy="7498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99032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</a:rPr>
              <a:t>🥇 1st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399032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Fish Speech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399032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A34A"/>
                </a:solidFill>
              </a:rPr>
              <a:t>★★★★ Good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399032"/>
            <a:ext cx="5852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20 k hours · validated · high-tier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148840"/>
            <a:ext cx="11521440" cy="749808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148840"/>
            <a:ext cx="64008" cy="7498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221992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🥈 2nd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221992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Qwen3-TTS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221992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97706"/>
                </a:solidFill>
              </a:rPr>
              <a:t>★★★ Mediocre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2221992"/>
            <a:ext cx="5852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Paper: 'competitive' (not top-tier)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71800"/>
            <a:ext cx="11521440" cy="749808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71800"/>
            <a:ext cx="64008" cy="7498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044952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🥉 3rd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044952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OuteTTS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044952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97706"/>
                </a:solidFill>
              </a:rPr>
              <a:t>★★★ Adequate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3044952"/>
            <a:ext cx="5852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20–60 k hours (performance negates)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794760"/>
            <a:ext cx="11521440" cy="749808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3794760"/>
            <a:ext cx="64008" cy="7498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867912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  4th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3867912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Chatterbox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3867912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97706"/>
                </a:solidFill>
              </a:rPr>
              <a:t>★★★ Unknown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3867912"/>
            <a:ext cx="5852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23 languages listed · zero validation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617720"/>
            <a:ext cx="11521440" cy="749808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617720"/>
            <a:ext cx="64008" cy="7498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690872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  5th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690872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CosyVoice 3.0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4690872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C2626"/>
                </a:solidFill>
              </a:rPr>
              <a:t>★★ Unknown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4690872"/>
            <a:ext cx="5852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No benchmarks · no samples · blind bet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440680"/>
            <a:ext cx="11521440" cy="749808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5440680"/>
            <a:ext cx="64008" cy="7498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5513832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  6th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34440" y="5513832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Nari Dia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0440" y="5513832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C2626"/>
                </a:solidFill>
              </a:rPr>
              <a:t>✗ NONE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0720" y="5513832"/>
            <a:ext cx="5852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English only · no Spanish roadmap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88952" cy="96012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4AF37"/>
                </a:solidFill>
              </a:rPr>
              <a:t>Final Recommendation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11521440" cy="246888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11521440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73152" cy="2468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527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6A34A"/>
                </a:solidFill>
              </a:rPr>
              <a:t>PRIMARY: Fish Speech (OpenAudio-S1)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933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Only system with validated Spanish quality (20 k training hours)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Best attack sophistication: 4 B parameters + RLHF 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76148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Hardware fully satisfied: 12 GB needed / 46 GB available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14553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Academic license: CC-BY-NC-SA-4.0 explicitly allows thesis research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52958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Cross-lingual voice cloning for Latin American accent adaptation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840480"/>
            <a:ext cx="11521440" cy="173736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840480"/>
            <a:ext cx="11521440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840480"/>
            <a:ext cx="73152" cy="1737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904487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97706"/>
                </a:solidFill>
              </a:rPr>
              <a:t>OPTIONAL SECONDARY: Qwen3-TTS — Codec Diversity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52628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Deploy alongside Fish Speech for architectural diversity.
Fish Speech: 80 % of synthetic samples  ·  Qwen3-TTS: 20 %
Enables ablation study — compare detector performance across TTS architectures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88952" cy="96012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4AF37"/>
                </a:solidFill>
              </a:rPr>
              <a:t>3-Week Implementation Plan — Fish Speech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3749039" cy="530352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3749039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5272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6A34A"/>
                </a:solidFill>
              </a:rP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6479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</a:rPr>
              <a:t>Setup &amp; Validation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31720"/>
            <a:ext cx="3474720" cy="36576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41448"/>
            <a:ext cx="3456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Days 1–2:  Deploy Fish Speech on ml-server03 via Docker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54680"/>
            <a:ext cx="3456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Days 3–4:  Test Spanish synthesis with 10–20 sample sentences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67912"/>
            <a:ext cx="3456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Day 5:      Create speaker profiles from Latin American reference audio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81144"/>
            <a:ext cx="3456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Days 6–7:  Document baseline performance + quality validation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188720"/>
            <a:ext cx="3749039" cy="530352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240" y="1188720"/>
            <a:ext cx="3749039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25272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6A34A"/>
                </a:solidFill>
              </a:rPr>
              <a:t>Week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176479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</a:rPr>
              <a:t>Pipeline Integration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2331720"/>
            <a:ext cx="3474720" cy="36576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2441448"/>
            <a:ext cx="3456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Days 8–10:  Develop FishSpeechAugmenter class (inherits BaseAugmenter)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154680"/>
            <a:ext cx="3456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Days 11–12: Create Pydantic schemas for Fish Speech parameters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867912"/>
            <a:ext cx="3456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Days 13–14: End-to-end integration + testing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1188720"/>
            <a:ext cx="3749039" cy="530352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2440" y="1188720"/>
            <a:ext cx="3749039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25272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6A34A"/>
                </a:solidFill>
              </a:rPr>
              <a:t>Week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176479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</a:rPr>
              <a:t>Production Generation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2331720"/>
            <a:ext cx="3474720" cy="36576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2441448"/>
            <a:ext cx="3456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Days 15–17: Generate synthetic Latin American Spanish samples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154680"/>
            <a:ext cx="3456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Days 18–19: Validate sample quality, filter artifacts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867912"/>
            <a:ext cx="345643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Days 20–21: Document methodology for thesis, prepare augmentation protocols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B0C4DE"/>
                </a:solidFill>
              </a:rPr>
              <a:t>Total timeline: 3 weeks   ·   Expected output: 1,000+ high-quality Spanish synthetic samples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88952" cy="96012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4AF37"/>
                </a:solidFill>
              </a:rPr>
              <a:t>Why TTS Augmentation Matters for Anti-Spoofing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11521440" cy="137160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11521440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Detectors trained only on traditional GAN-vocoder artifacts
experience 41.4 % performance degradation against codec-based attacks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 b="1">
                <a:solidFill>
                  <a:srgbClr val="D4AF37"/>
                </a:solidFill>
              </a:rPr>
              <a:t>Current Augmentation Pipeline (scientifically sound baseline)</a:t>
            </a:r>
          </a:p>
          <a:p>
            <a:r>
              <a:rPr sz="1500">
                <a:solidFill>
                  <a:srgbClr val="FFFFFF"/>
                </a:solidFill>
              </a:rPr>
              <a:t>• 60 % — Room Impulse Response + Background Noise</a:t>
            </a:r>
          </a:p>
          <a:p>
            <a:r>
              <a:rPr sz="1500">
                <a:solidFill>
                  <a:srgbClr val="FFFFFF"/>
                </a:solidFill>
              </a:rPr>
              <a:t>• 30 % — Codec Augmentation (MP3, AAC, Opus compression)</a:t>
            </a:r>
          </a:p>
          <a:p>
            <a:r>
              <a:rPr sz="1500">
                <a:solidFill>
                  <a:srgbClr val="FFFFFF"/>
                </a:solidFill>
              </a:rPr>
              <a:t>• 10 % — RawBoost signal perturbation</a:t>
            </a:r>
          </a:p>
          <a:p>
            <a:r>
              <a:rPr sz="15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D4AF37"/>
                </a:solidFill>
              </a:rPr>
              <a:t>What TTS Adds</a:t>
            </a:r>
          </a:p>
          <a:p>
            <a:r>
              <a:rPr sz="1500">
                <a:solidFill>
                  <a:srgbClr val="FFFFFF"/>
                </a:solidFill>
              </a:rPr>
              <a:t>• Neural codec-based synthetic voices — state-of-the-art attack vector</a:t>
            </a:r>
          </a:p>
          <a:p>
            <a:r>
              <a:rPr sz="1500">
                <a:solidFill>
                  <a:srgbClr val="FFFFFF"/>
                </a:solidFill>
              </a:rPr>
              <a:t>• RLHF-trained speech is harder to detect with conventional feature analysis</a:t>
            </a:r>
          </a:p>
          <a:p>
            <a:r>
              <a:rPr sz="1500">
                <a:solidFill>
                  <a:srgbClr val="FFFFFF"/>
                </a:solidFill>
              </a:rPr>
              <a:t>• Diverse training data = more generalizable detector</a:t>
            </a:r>
          </a:p>
          <a:p>
            <a:r>
              <a:rPr sz="1500">
                <a:solidFill>
                  <a:srgbClr val="FFFFFF"/>
                </a:solidFill>
              </a:rPr>
              <a:t/>
            </a:r>
          </a:p>
          <a:p>
            <a:r>
              <a:rPr sz="1500">
                <a:solidFill>
                  <a:srgbClr val="FFFFFF"/>
                </a:solidFill>
              </a:rPr>
              <a:t>• Fish Speech is treated as enhancement, NOT a dependency</a:t>
            </a:r>
          </a:p>
          <a:p>
            <a:pPr lvl="1"/>
            <a:r>
              <a:rPr sz="1300">
                <a:solidFill>
                  <a:srgbClr val="B0C4DE"/>
                </a:solidFill>
              </a:rPr>
              <a:t>  Existing pipeline remains the scientifically valid baseline if TTS fails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88952" cy="96012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4AF37"/>
                </a:solidFill>
              </a:rPr>
              <a:t>Risk Mitigation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 b="1">
                <a:solidFill>
                  <a:srgbClr val="D4AF37"/>
                </a:solidFill>
              </a:rPr>
              <a:t>Validation Gate — Week 1</a:t>
            </a:r>
          </a:p>
          <a:p>
            <a:r>
              <a:rPr sz="1500">
                <a:solidFill>
                  <a:srgbClr val="FFFFFF"/>
                </a:solidFill>
              </a:rPr>
              <a:t>• Generate 10–20 Spanish test samples before committing to full integration</a:t>
            </a:r>
          </a:p>
          <a:p>
            <a:r>
              <a:rPr sz="1500">
                <a:solidFill>
                  <a:srgbClr val="FFFFFF"/>
                </a:solidFill>
              </a:rPr>
              <a:t>• If Spanish quality is inadequate → abort TTS branch, continue with existing pipeline</a:t>
            </a:r>
          </a:p>
          <a:p>
            <a:r>
              <a:rPr sz="1500">
                <a:solidFill>
                  <a:srgbClr val="FFFFFF"/>
                </a:solidFill>
              </a:rPr>
              <a:t>• Decision checkpoint: Day 5 of implementation</a:t>
            </a:r>
          </a:p>
          <a:p>
            <a:r>
              <a:rPr sz="15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D4AF37"/>
                </a:solidFill>
              </a:rPr>
              <a:t>Hardware Safety</a:t>
            </a:r>
          </a:p>
          <a:p>
            <a:r>
              <a:rPr sz="1500">
                <a:solidFill>
                  <a:srgbClr val="FFFFFF"/>
                </a:solidFill>
              </a:rPr>
              <a:t>• A40 GPUs far exceed Fish Speech requirements — no hardware risk</a:t>
            </a:r>
          </a:p>
          <a:p>
            <a:r>
              <a:rPr sz="1500">
                <a:solidFill>
                  <a:srgbClr val="FFFFFF"/>
                </a:solidFill>
              </a:rPr>
              <a:t>• Docker containerisation ensures reproducible environment</a:t>
            </a:r>
          </a:p>
          <a:p>
            <a:r>
              <a:rPr sz="1500">
                <a:solidFill>
                  <a:srgbClr val="FFFFFF"/>
                </a:solidFill>
              </a:rPr>
              <a:t>• Multiple GPUs available if parallelism is needed</a:t>
            </a:r>
          </a:p>
          <a:p>
            <a:r>
              <a:rPr sz="15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D4AF37"/>
                </a:solidFill>
              </a:rPr>
              <a:t>Thesis Timeline Protection</a:t>
            </a:r>
          </a:p>
          <a:p>
            <a:r>
              <a:rPr sz="1500">
                <a:solidFill>
                  <a:srgbClr val="FFFFFF"/>
                </a:solidFill>
              </a:rPr>
              <a:t>• Existing RIR + Codec + RawBoost pipeline is complete and scientifically valid</a:t>
            </a:r>
          </a:p>
          <a:p>
            <a:r>
              <a:rPr sz="1500">
                <a:solidFill>
                  <a:srgbClr val="FFFFFF"/>
                </a:solidFill>
              </a:rPr>
              <a:t>• TTS is an enhancement that strengthens the contribution</a:t>
            </a:r>
          </a:p>
          <a:p>
            <a:r>
              <a:rPr sz="1500">
                <a:solidFill>
                  <a:srgbClr val="FFFFFF"/>
                </a:solidFill>
              </a:rPr>
              <a:t>• 3-week plan can be compressed to 2 weeks if time pressure arises</a:t>
            </a:r>
          </a:p>
          <a:p>
            <a:r>
              <a:rPr sz="15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1000"/>
              </a:spcBef>
            </a:pPr>
            <a:r>
              <a:rPr sz="1700" b="1">
                <a:solidFill>
                  <a:srgbClr val="D4AF37"/>
                </a:solidFill>
              </a:rPr>
              <a:t>Academic Integrity</a:t>
            </a:r>
          </a:p>
          <a:p>
            <a:r>
              <a:rPr sz="1500">
                <a:solidFill>
                  <a:srgbClr val="FFFFFF"/>
                </a:solidFill>
              </a:rPr>
              <a:t>• CC-BY-NC-SA-4.0 fully covers thesis research — no licensing risk</a:t>
            </a:r>
          </a:p>
          <a:p>
            <a:r>
              <a:rPr sz="1500">
                <a:solidFill>
                  <a:srgbClr val="FFFFFF"/>
                </a:solidFill>
              </a:rPr>
              <a:t>• No watermarking artifacts (Chatterbox rejected for this reason)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88952" cy="96012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4AF37"/>
                </a:solidFill>
              </a:rPr>
              <a:t>Hardware Advantage — ml-server03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2743200" cy="105156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0C4DE"/>
                </a:solidFill>
              </a:rPr>
              <a:t>VRAM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6A34A"/>
                </a:solidFill>
              </a:rPr>
              <a:t>46 GB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325880"/>
            <a:ext cx="2743200" cy="105156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4173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0C4DE"/>
                </a:solidFill>
              </a:rPr>
              <a:t>Requirement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828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97706"/>
                </a:solidFill>
              </a:rPr>
              <a:t>12 GB req.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325880"/>
            <a:ext cx="5669280" cy="105156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325880"/>
            <a:ext cx="64008" cy="1051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60020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6A34A"/>
                </a:solidFill>
              </a:rPr>
              <a:t>383 % headroom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560320"/>
            <a:ext cx="2743200" cy="105156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6517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0C4DE"/>
                </a:solidFill>
              </a:rPr>
              <a:t>Compute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06323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6A34A"/>
                </a:solidFill>
              </a:rPr>
              <a:t>A40 GPU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2560320"/>
            <a:ext cx="2743200" cy="105156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26517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0C4DE"/>
                </a:solidFill>
              </a:rPr>
              <a:t>Requirement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06323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97706"/>
                </a:solidFill>
              </a:rPr>
              <a:t>Consumer GPU req.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2560320"/>
            <a:ext cx="5669280" cy="105156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2560320"/>
            <a:ext cx="64008" cy="1051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834639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6A34A"/>
                </a:solidFill>
              </a:rPr>
              <a:t>Datacenter-grade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794760"/>
            <a:ext cx="2743200" cy="105156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8862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0C4DE"/>
                </a:solidFill>
              </a:rPr>
              <a:t>CUDA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297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6A34A"/>
                </a:solidFill>
              </a:rPr>
              <a:t>12.6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6120" y="3794760"/>
            <a:ext cx="2743200" cy="105156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0" y="38862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0C4DE"/>
                </a:solidFill>
              </a:rPr>
              <a:t>Requirement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4297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97706"/>
                </a:solidFill>
              </a:rPr>
              <a:t>11.x minimum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3794760"/>
            <a:ext cx="5669280" cy="105156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2200" y="3794760"/>
            <a:ext cx="64008" cy="1051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40690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6A34A"/>
                </a:solidFill>
              </a:rPr>
              <a:t>FlashAttention 2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5029200"/>
            <a:ext cx="2743200" cy="105156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120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0C4DE"/>
                </a:solidFill>
              </a:rPr>
              <a:t>Count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532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6A34A"/>
                </a:solidFill>
              </a:rPr>
              <a:t>4× A40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46120" y="5029200"/>
            <a:ext cx="2743200" cy="105156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83280" y="51206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0C4DE"/>
                </a:solidFill>
              </a:rPr>
              <a:t>Requirement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0" y="5532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97706"/>
                </a:solidFill>
              </a:rPr>
              <a:t>1 GPU req.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5029200"/>
            <a:ext cx="5669280" cy="105156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72200" y="5029200"/>
            <a:ext cx="64008" cy="1051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530352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6A34A"/>
                </a:solidFill>
              </a:rPr>
              <a:t>Parallelism ready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" y="640080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B0C4DE"/>
                </a:solidFill>
              </a:rPr>
              <a:t>All hardware requirements for every evaluated TTS system are fully satisfied.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88952" cy="96012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4AF37"/>
                </a:solidFill>
              </a:rPr>
              <a:t>Anticipated Questions &amp; Answers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11521440" cy="123444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64008" cy="1234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9844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</a:rPr>
              <a:t>Q: Why not CosyVoice with 1M training hours?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013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A: 1–2 day deployment risk, vLLM dependency hell, zero Spanish benchmarks — a blind bet on an unvalidated language with a fragile infrastructure.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560320"/>
            <a:ext cx="11521440" cy="123444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560320"/>
            <a:ext cx="64008" cy="1234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624327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</a:rPr>
              <a:t>Q: What if Fish Speech Spanish quality is poor?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2724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A: Week 1 validation gate: 10–20 test samples evaluated before full integration. If inadequate, abort TTS branch — existing pipeline is fully valid.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886200"/>
            <a:ext cx="11521440" cy="123444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886200"/>
            <a:ext cx="64008" cy="1234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9502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</a:rPr>
              <a:t>Q: Will TTS delay the thesis?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5312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A: 3-week plan with clear milestones. Hardware advantages compress setup time. Fallback plan means no thesis risk.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212079"/>
            <a:ext cx="11521440" cy="1234440"/>
          </a:xfrm>
          <a:prstGeom prst="rect">
            <a:avLst/>
          </a:prstGeom>
          <a:solidFill>
            <a:srgbClr val="12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5212079"/>
            <a:ext cx="64008" cy="1234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2760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</a:rPr>
              <a:t>Q: Is the CC-BY-NC-SA-4.0 license a problem?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779007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A: No. It explicitly permits academic / thesis research. Non-commercial only applies to commercialisation of derivatives, which is not our intent.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64592"/>
            <a:ext cx="54864" cy="65288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14048" y="164592"/>
            <a:ext cx="54864" cy="652881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D4AF37"/>
                </a:solidFill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371600"/>
            <a:ext cx="67025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72768"/>
            <a:ext cx="201168" cy="20116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36192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Fish Speech is the only TTS system meeting all three mandatory criteria.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31136"/>
            <a:ext cx="201168" cy="20116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Spanish language quality is validated; hardware requirements are trivially satisfied.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89504"/>
            <a:ext cx="201168" cy="20116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RLHF-trained 4B-parameter synthesis represents the most sophisticated open-source attack vector.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547872"/>
            <a:ext cx="201168" cy="20116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5112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Qwen3-TTS may be added as a secondary source for codec diversity.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206240"/>
            <a:ext cx="201168" cy="20116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169663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The implementation plan includes a validation gate that protects the thesis timeline.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864607"/>
            <a:ext cx="201168" cy="20116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828031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Existing augmentation pipeline (RIR + Codec + RawBoost) remains the scientifically valid baseline.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21792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B0C4DE"/>
                </a:solidFill>
              </a:rPr>
              <a:t>Tomás Acosta · Universidad de los Andes · February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