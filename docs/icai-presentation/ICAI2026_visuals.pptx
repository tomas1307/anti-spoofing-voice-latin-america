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collapse in one picture. Point at the black dots: 'that is every detector we built, in English.' Then at the yellow band: 'same detectors, Spanish.' Say nothing for two seconds. The gap between the two clouds is the argument - no numbers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earn the right to say 'we tested everything'. Do not read cells aloud. One gesture across the grid, one sentence, move on. If someone asks why no winner: the top eight are inseparable under seed-matched Wilcoxon.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explanatory slide for a non-speech audience. Build it in two clicks: TTS row, then VC row. The one sentence they must leave with: in voice conversion a person really spoke - only the identity was swapped.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of the picture is the finding: three lines point one way, two point the other. Say 'in Colombia the system is twenty times worse on men; in Chile and Peru it is the opposite.' A single global bias could not produce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VISUAL 1 · FOR BLOCK 6 — THE COLLAPSE</a:t>
            </a:r>
            <a:endParaRPr lang="en-US" sz="1000" dirty="0"/>
          </a:p>
        </p:txBody>
      </p:sp>
      <p:sp>
        <p:nvSpPr>
          <p:cNvPr id="3" name="Text 1"/>
          <p:cNvSpPr txBox="1"/>
          <p:nvPr/>
        </p:nvSpPr>
        <p:spPr>
          <a:xfrm>
            <a:off x="731520" y="749808"/>
            <a:ext cx="10728655" cy="822960"/>
          </a:xfrm>
          <a:prstGeom prst="rect">
            <a:avLst/>
          </a:prstGeom>
          <a:noFill/>
          <a:ln/>
        </p:spPr>
        <p:txBody>
          <a:bodyPr wrap="square" lIns="0" tIns="0" rIns="0" bIns="0" rtlCol="0" anchor="ctr"/>
          <a:lstStyle/>
          <a:p>
            <a:pPr indent="0" marL="0">
              <a:buNone/>
            </a:pPr>
            <a:r>
              <a:rPr lang="en-US" sz="3200" b="1" dirty="0">
                <a:solidFill>
                  <a:srgbClr val="0D0D0D"/>
                </a:solidFill>
                <a:latin typeface="Inter" pitchFamily="34" charset="0"/>
                <a:ea typeface="Inter" pitchFamily="34" charset="-122"/>
                <a:cs typeface="Inter" pitchFamily="34" charset="-120"/>
              </a:rPr>
              <a:t>Every dot is one detector.</a:t>
            </a:r>
            <a:pPr indent="0" marL="0">
              <a:buNone/>
            </a:pPr>
            <a:r>
              <a:rPr lang="en-US" sz="3200" b="1" dirty="0">
                <a:solidFill>
                  <a:srgbClr val="BDBDBD"/>
                </a:solidFill>
                <a:latin typeface="Inter" pitchFamily="34" charset="0"/>
                <a:ea typeface="Inter" pitchFamily="34" charset="-122"/>
                <a:cs typeface="Inter" pitchFamily="34" charset="-120"/>
              </a:rPr>
              <a:t> Now change the language.</a:t>
            </a:r>
            <a:endParaRPr lang="en-US" sz="3200" dirty="0"/>
          </a:p>
        </p:txBody>
      </p:sp>
      <p:sp>
        <p:nvSpPr>
          <p:cNvPr id="4" name="Shape 2"/>
          <p:cNvSpPr/>
          <p:nvPr/>
        </p:nvSpPr>
        <p:spPr>
          <a:xfrm>
            <a:off x="8806325" y="1783080"/>
            <a:ext cx="0" cy="3291840"/>
          </a:xfrm>
          <a:prstGeom prst="line">
            <a:avLst/>
          </a:prstGeom>
          <a:noFill/>
          <a:ln w="15875">
            <a:solidFill>
              <a:srgbClr val="0D0D0D"/>
            </a:solidFill>
            <a:prstDash val="dash"/>
          </a:ln>
        </p:spPr>
      </p:sp>
      <p:sp>
        <p:nvSpPr>
          <p:cNvPr id="5" name="Text 3"/>
          <p:cNvSpPr txBox="1"/>
          <p:nvPr/>
        </p:nvSpPr>
        <p:spPr>
          <a:xfrm>
            <a:off x="7343285" y="1481328"/>
            <a:ext cx="2926080" cy="274320"/>
          </a:xfrm>
          <a:prstGeom prst="rect">
            <a:avLst/>
          </a:prstGeom>
          <a:noFill/>
          <a:ln/>
        </p:spPr>
        <p:txBody>
          <a:bodyPr wrap="square" lIns="0" tIns="0" rIns="0" bIns="0" rtlCol="0" anchor="ctr"/>
          <a:lstStyle/>
          <a:p>
            <a:pPr algn="ctr" indent="0" marL="0">
              <a:buNone/>
            </a:pPr>
            <a:r>
              <a:rPr lang="en-US" sz="1050" b="1" dirty="0">
                <a:solidFill>
                  <a:srgbClr val="0D0D0D"/>
                </a:solidFill>
                <a:latin typeface="Inter" pitchFamily="34" charset="0"/>
                <a:ea typeface="Inter" pitchFamily="34" charset="-122"/>
                <a:cs typeface="Inter" pitchFamily="34" charset="-120"/>
              </a:rPr>
              <a:t>50 % = coin flip</a:t>
            </a:r>
            <a:endParaRPr lang="en-US" sz="1050" dirty="0"/>
          </a:p>
        </p:txBody>
      </p:sp>
      <p:sp>
        <p:nvSpPr>
          <p:cNvPr id="6" name="Text 4"/>
          <p:cNvSpPr txBox="1"/>
          <p:nvPr/>
        </p:nvSpPr>
        <p:spPr>
          <a:xfrm>
            <a:off x="731520" y="2148840"/>
            <a:ext cx="2103120" cy="640080"/>
          </a:xfrm>
          <a:prstGeom prst="rect">
            <a:avLst/>
          </a:prstGeom>
          <a:noFill/>
          <a:ln/>
        </p:spPr>
        <p:txBody>
          <a:bodyPr wrap="square" lIns="0" tIns="0" rIns="0" bIns="0" rtlCol="0" anchor="ctr"/>
          <a:lstStyle/>
          <a:p>
            <a:pPr indent="0" marL="0">
              <a:lnSpc>
                <a:spcPct val="120000"/>
              </a:lnSpc>
              <a:buNone/>
            </a:pPr>
            <a:r>
              <a:rPr lang="en-US" sz="950" b="1" spc="120" kern="0" dirty="0">
                <a:solidFill>
                  <a:srgbClr val="0D0D0D"/>
                </a:solidFill>
                <a:latin typeface="Inter" pitchFamily="34" charset="0"/>
                <a:ea typeface="Inter" pitchFamily="34" charset="-122"/>
                <a:cs typeface="Inter" pitchFamily="34" charset="-120"/>
              </a:rPr>
              <a:t>TRAINED ON ENGLISH</a:t>
            </a:r>
            <a:endParaRPr lang="en-US" sz="950" dirty="0"/>
          </a:p>
          <a:p>
            <a:pPr indent="0" marL="0">
              <a:lnSpc>
                <a:spcPct val="120000"/>
              </a:lnSpc>
              <a:buNone/>
            </a:pPr>
            <a:r>
              <a:rPr lang="en-US" sz="950" b="1" spc="120" kern="0" dirty="0">
                <a:solidFill>
                  <a:srgbClr val="0D0D0D"/>
                </a:solidFill>
                <a:latin typeface="Inter" pitchFamily="34" charset="0"/>
                <a:ea typeface="Inter" pitchFamily="34" charset="-122"/>
                <a:cs typeface="Inter" pitchFamily="34" charset="-120"/>
              </a:rPr>
              <a:t>TESTED ON SPANISH</a:t>
            </a:r>
            <a:endParaRPr lang="en-US" sz="950" dirty="0"/>
          </a:p>
        </p:txBody>
      </p:sp>
      <p:sp>
        <p:nvSpPr>
          <p:cNvPr id="7" name="Shape 5"/>
          <p:cNvSpPr/>
          <p:nvPr/>
        </p:nvSpPr>
        <p:spPr>
          <a:xfrm>
            <a:off x="6939277" y="2103120"/>
            <a:ext cx="2450501" cy="914400"/>
          </a:xfrm>
          <a:prstGeom prst="rect">
            <a:avLst/>
          </a:prstGeom>
          <a:solidFill>
            <a:srgbClr val="FFE800"/>
          </a:solidFill>
          <a:ln w="12700">
            <a:solidFill>
              <a:srgbClr val="FFE800"/>
            </a:solidFill>
            <a:prstDash val="solid"/>
          </a:ln>
        </p:spPr>
      </p:sp>
      <p:sp>
        <p:nvSpPr>
          <p:cNvPr id="8" name="Text 6"/>
          <p:cNvSpPr txBox="1"/>
          <p:nvPr/>
        </p:nvSpPr>
        <p:spPr>
          <a:xfrm>
            <a:off x="6939277" y="2240280"/>
            <a:ext cx="2450501" cy="256032"/>
          </a:xfrm>
          <a:prstGeom prst="rect">
            <a:avLst/>
          </a:prstGeom>
          <a:noFill/>
          <a:ln/>
        </p:spPr>
        <p:txBody>
          <a:bodyPr wrap="square" lIns="0" tIns="0" rIns="0" bIns="0" rtlCol="0" anchor="ctr"/>
          <a:lstStyle/>
          <a:p>
            <a:pPr algn="ctr" indent="0" marL="0">
              <a:buNone/>
            </a:pPr>
            <a:r>
              <a:rPr lang="en-US" sz="1150" b="1" dirty="0">
                <a:solidFill>
                  <a:srgbClr val="0D0D0D"/>
                </a:solidFill>
                <a:latin typeface="Inter" pitchFamily="34" charset="0"/>
                <a:ea typeface="Inter" pitchFamily="34" charset="-122"/>
                <a:cs typeface="Inter" pitchFamily="34" charset="-120"/>
              </a:rPr>
              <a:t>all 48 configurations</a:t>
            </a:r>
            <a:endParaRPr lang="en-US" sz="1150" dirty="0"/>
          </a:p>
        </p:txBody>
      </p:sp>
      <p:sp>
        <p:nvSpPr>
          <p:cNvPr id="9" name="Text 7"/>
          <p:cNvSpPr txBox="1"/>
          <p:nvPr/>
        </p:nvSpPr>
        <p:spPr>
          <a:xfrm>
            <a:off x="6939277" y="2523744"/>
            <a:ext cx="2450501" cy="384048"/>
          </a:xfrm>
          <a:prstGeom prst="rect">
            <a:avLst/>
          </a:prstGeom>
          <a:noFill/>
          <a:ln/>
        </p:spPr>
        <p:txBody>
          <a:bodyPr wrap="square" lIns="0" tIns="0" rIns="0" bIns="0" rtlCol="0" anchor="ctr"/>
          <a:lstStyle/>
          <a:p>
            <a:pPr algn="ctr" indent="0" marL="0">
              <a:buNone/>
            </a:pPr>
            <a:r>
              <a:rPr lang="en-US" sz="2100" b="1" dirty="0">
                <a:solidFill>
                  <a:srgbClr val="0D0D0D"/>
                </a:solidFill>
                <a:latin typeface="Inter" pitchFamily="34" charset="0"/>
                <a:ea typeface="Inter" pitchFamily="34" charset="-122"/>
                <a:cs typeface="Inter" pitchFamily="34" charset="-120"/>
              </a:rPr>
              <a:t>34 – 55 %</a:t>
            </a:r>
            <a:endParaRPr lang="en-US" sz="2100" dirty="0"/>
          </a:p>
        </p:txBody>
      </p:sp>
      <p:sp>
        <p:nvSpPr>
          <p:cNvPr id="10" name="Text 8"/>
          <p:cNvSpPr txBox="1"/>
          <p:nvPr/>
        </p:nvSpPr>
        <p:spPr>
          <a:xfrm>
            <a:off x="731520" y="3703320"/>
            <a:ext cx="2103120" cy="640080"/>
          </a:xfrm>
          <a:prstGeom prst="rect">
            <a:avLst/>
          </a:prstGeom>
          <a:noFill/>
          <a:ln/>
        </p:spPr>
        <p:txBody>
          <a:bodyPr wrap="square" lIns="0" tIns="0" rIns="0" bIns="0" rtlCol="0" anchor="ctr"/>
          <a:lstStyle/>
          <a:p>
            <a:pPr indent="0" marL="0">
              <a:lnSpc>
                <a:spcPct val="120000"/>
              </a:lnSpc>
              <a:buNone/>
            </a:pPr>
            <a:r>
              <a:rPr lang="en-US" sz="950" b="1" spc="120" kern="0" dirty="0">
                <a:solidFill>
                  <a:srgbClr val="0D0D0D"/>
                </a:solidFill>
                <a:latin typeface="Inter" pitchFamily="34" charset="0"/>
                <a:ea typeface="Inter" pitchFamily="34" charset="-122"/>
                <a:cs typeface="Inter" pitchFamily="34" charset="-120"/>
              </a:rPr>
              <a:t>TRAINED ON ENGLISH</a:t>
            </a:r>
            <a:endParaRPr lang="en-US" sz="950" dirty="0"/>
          </a:p>
          <a:p>
            <a:pPr indent="0" marL="0">
              <a:lnSpc>
                <a:spcPct val="120000"/>
              </a:lnSpc>
              <a:buNone/>
            </a:pPr>
            <a:r>
              <a:rPr lang="en-US" sz="950" b="1" spc="120" kern="0" dirty="0">
                <a:solidFill>
                  <a:srgbClr val="0D0D0D"/>
                </a:solidFill>
                <a:latin typeface="Inter" pitchFamily="34" charset="0"/>
                <a:ea typeface="Inter" pitchFamily="34" charset="-122"/>
                <a:cs typeface="Inter" pitchFamily="34" charset="-120"/>
              </a:rPr>
              <a:t>TESTED ON ENGLISH</a:t>
            </a:r>
            <a:endParaRPr lang="en-US" sz="950" dirty="0"/>
          </a:p>
        </p:txBody>
      </p:sp>
      <p:sp>
        <p:nvSpPr>
          <p:cNvPr id="11" name="Shape 9"/>
          <p:cNvSpPr/>
          <p:nvPr/>
        </p:nvSpPr>
        <p:spPr>
          <a:xfrm>
            <a:off x="3801450" y="4864608"/>
            <a:ext cx="109728" cy="109728"/>
          </a:xfrm>
          <a:prstGeom prst="ellipse">
            <a:avLst/>
          </a:prstGeom>
          <a:solidFill>
            <a:srgbClr val="0D0D0D"/>
          </a:solidFill>
          <a:ln w="9525">
            <a:solidFill>
              <a:srgbClr val="FFFFFF"/>
            </a:solidFill>
            <a:prstDash val="solid"/>
          </a:ln>
        </p:spPr>
      </p:sp>
      <p:sp>
        <p:nvSpPr>
          <p:cNvPr id="12" name="Shape 10"/>
          <p:cNvSpPr/>
          <p:nvPr/>
        </p:nvSpPr>
        <p:spPr>
          <a:xfrm>
            <a:off x="3790948" y="4864608"/>
            <a:ext cx="109728" cy="109728"/>
          </a:xfrm>
          <a:prstGeom prst="ellipse">
            <a:avLst/>
          </a:prstGeom>
          <a:solidFill>
            <a:srgbClr val="0D0D0D"/>
          </a:solidFill>
          <a:ln w="9525">
            <a:solidFill>
              <a:srgbClr val="FFFFFF"/>
            </a:solidFill>
            <a:prstDash val="solid"/>
          </a:ln>
        </p:spPr>
      </p:sp>
      <p:sp>
        <p:nvSpPr>
          <p:cNvPr id="13" name="Shape 11"/>
          <p:cNvSpPr/>
          <p:nvPr/>
        </p:nvSpPr>
        <p:spPr>
          <a:xfrm>
            <a:off x="3828289" y="4727448"/>
            <a:ext cx="109728" cy="109728"/>
          </a:xfrm>
          <a:prstGeom prst="ellipse">
            <a:avLst/>
          </a:prstGeom>
          <a:solidFill>
            <a:srgbClr val="0D0D0D"/>
          </a:solidFill>
          <a:ln w="9525">
            <a:solidFill>
              <a:srgbClr val="FFFFFF"/>
            </a:solidFill>
            <a:prstDash val="solid"/>
          </a:ln>
        </p:spPr>
      </p:sp>
      <p:sp>
        <p:nvSpPr>
          <p:cNvPr id="14" name="Shape 12"/>
          <p:cNvSpPr/>
          <p:nvPr/>
        </p:nvSpPr>
        <p:spPr>
          <a:xfrm>
            <a:off x="3692928" y="4864608"/>
            <a:ext cx="109728" cy="109728"/>
          </a:xfrm>
          <a:prstGeom prst="ellipse">
            <a:avLst/>
          </a:prstGeom>
          <a:solidFill>
            <a:srgbClr val="0D0D0D"/>
          </a:solidFill>
          <a:ln w="9525">
            <a:solidFill>
              <a:srgbClr val="FFFFFF"/>
            </a:solidFill>
            <a:prstDash val="solid"/>
          </a:ln>
        </p:spPr>
      </p:sp>
      <p:sp>
        <p:nvSpPr>
          <p:cNvPr id="15" name="Shape 13"/>
          <p:cNvSpPr/>
          <p:nvPr/>
        </p:nvSpPr>
        <p:spPr>
          <a:xfrm>
            <a:off x="3617079" y="4864608"/>
            <a:ext cx="109728" cy="109728"/>
          </a:xfrm>
          <a:prstGeom prst="ellipse">
            <a:avLst/>
          </a:prstGeom>
          <a:solidFill>
            <a:srgbClr val="0D0D0D"/>
          </a:solidFill>
          <a:ln w="9525">
            <a:solidFill>
              <a:srgbClr val="FFFFFF"/>
            </a:solidFill>
            <a:prstDash val="solid"/>
          </a:ln>
        </p:spPr>
      </p:sp>
      <p:sp>
        <p:nvSpPr>
          <p:cNvPr id="16" name="Shape 14"/>
          <p:cNvSpPr/>
          <p:nvPr/>
        </p:nvSpPr>
        <p:spPr>
          <a:xfrm>
            <a:off x="3640417" y="4864608"/>
            <a:ext cx="109728" cy="109728"/>
          </a:xfrm>
          <a:prstGeom prst="ellipse">
            <a:avLst/>
          </a:prstGeom>
          <a:solidFill>
            <a:srgbClr val="0D0D0D"/>
          </a:solidFill>
          <a:ln w="9525">
            <a:solidFill>
              <a:srgbClr val="FFFFFF"/>
            </a:solidFill>
            <a:prstDash val="solid"/>
          </a:ln>
        </p:spPr>
      </p:sp>
      <p:sp>
        <p:nvSpPr>
          <p:cNvPr id="17" name="Shape 15"/>
          <p:cNvSpPr/>
          <p:nvPr/>
        </p:nvSpPr>
        <p:spPr>
          <a:xfrm>
            <a:off x="3663755" y="4727448"/>
            <a:ext cx="109728" cy="109728"/>
          </a:xfrm>
          <a:prstGeom prst="ellipse">
            <a:avLst/>
          </a:prstGeom>
          <a:solidFill>
            <a:srgbClr val="0D0D0D"/>
          </a:solidFill>
          <a:ln w="9525">
            <a:solidFill>
              <a:srgbClr val="FFFFFF"/>
            </a:solidFill>
            <a:prstDash val="solid"/>
          </a:ln>
        </p:spPr>
      </p:sp>
      <p:sp>
        <p:nvSpPr>
          <p:cNvPr id="18" name="Shape 16"/>
          <p:cNvSpPr/>
          <p:nvPr/>
        </p:nvSpPr>
        <p:spPr>
          <a:xfrm>
            <a:off x="3631082" y="4727448"/>
            <a:ext cx="109728" cy="109728"/>
          </a:xfrm>
          <a:prstGeom prst="ellipse">
            <a:avLst/>
          </a:prstGeom>
          <a:solidFill>
            <a:srgbClr val="0D0D0D"/>
          </a:solidFill>
          <a:ln w="9525">
            <a:solidFill>
              <a:srgbClr val="FFFFFF"/>
            </a:solidFill>
            <a:prstDash val="solid"/>
          </a:ln>
        </p:spPr>
      </p:sp>
      <p:sp>
        <p:nvSpPr>
          <p:cNvPr id="19" name="Shape 17"/>
          <p:cNvSpPr/>
          <p:nvPr/>
        </p:nvSpPr>
        <p:spPr>
          <a:xfrm>
            <a:off x="3690594" y="4727448"/>
            <a:ext cx="109728" cy="109728"/>
          </a:xfrm>
          <a:prstGeom prst="ellipse">
            <a:avLst/>
          </a:prstGeom>
          <a:solidFill>
            <a:srgbClr val="0D0D0D"/>
          </a:solidFill>
          <a:ln w="9525">
            <a:solidFill>
              <a:srgbClr val="FFFFFF"/>
            </a:solidFill>
            <a:prstDash val="solid"/>
          </a:ln>
        </p:spPr>
      </p:sp>
      <p:sp>
        <p:nvSpPr>
          <p:cNvPr id="20" name="Shape 18"/>
          <p:cNvSpPr/>
          <p:nvPr/>
        </p:nvSpPr>
        <p:spPr>
          <a:xfrm>
            <a:off x="3859795" y="4864608"/>
            <a:ext cx="109728" cy="109728"/>
          </a:xfrm>
          <a:prstGeom prst="ellipse">
            <a:avLst/>
          </a:prstGeom>
          <a:solidFill>
            <a:srgbClr val="0D0D0D"/>
          </a:solidFill>
          <a:ln w="9525">
            <a:solidFill>
              <a:srgbClr val="FFFFFF"/>
            </a:solidFill>
            <a:prstDash val="solid"/>
          </a:ln>
        </p:spPr>
      </p:sp>
      <p:sp>
        <p:nvSpPr>
          <p:cNvPr id="21" name="Shape 19"/>
          <p:cNvSpPr/>
          <p:nvPr/>
        </p:nvSpPr>
        <p:spPr>
          <a:xfrm>
            <a:off x="3643918" y="4590288"/>
            <a:ext cx="109728" cy="109728"/>
          </a:xfrm>
          <a:prstGeom prst="ellipse">
            <a:avLst/>
          </a:prstGeom>
          <a:solidFill>
            <a:srgbClr val="0D0D0D"/>
          </a:solidFill>
          <a:ln w="9525">
            <a:solidFill>
              <a:srgbClr val="FFFFFF"/>
            </a:solidFill>
            <a:prstDash val="solid"/>
          </a:ln>
        </p:spPr>
      </p:sp>
      <p:sp>
        <p:nvSpPr>
          <p:cNvPr id="22" name="Shape 20"/>
          <p:cNvSpPr/>
          <p:nvPr/>
        </p:nvSpPr>
        <p:spPr>
          <a:xfrm>
            <a:off x="3633416" y="4590288"/>
            <a:ext cx="109728" cy="109728"/>
          </a:xfrm>
          <a:prstGeom prst="ellipse">
            <a:avLst/>
          </a:prstGeom>
          <a:solidFill>
            <a:srgbClr val="0D0D0D"/>
          </a:solidFill>
          <a:ln w="9525">
            <a:solidFill>
              <a:srgbClr val="FFFFFF"/>
            </a:solidFill>
            <a:prstDash val="solid"/>
          </a:ln>
        </p:spPr>
      </p:sp>
      <p:sp>
        <p:nvSpPr>
          <p:cNvPr id="23" name="Shape 21"/>
          <p:cNvSpPr/>
          <p:nvPr/>
        </p:nvSpPr>
        <p:spPr>
          <a:xfrm>
            <a:off x="3541230" y="4864608"/>
            <a:ext cx="109728" cy="109728"/>
          </a:xfrm>
          <a:prstGeom prst="ellipse">
            <a:avLst/>
          </a:prstGeom>
          <a:solidFill>
            <a:srgbClr val="0D0D0D"/>
          </a:solidFill>
          <a:ln w="9525">
            <a:solidFill>
              <a:srgbClr val="FFFFFF"/>
            </a:solidFill>
            <a:prstDash val="solid"/>
          </a:ln>
        </p:spPr>
      </p:sp>
      <p:sp>
        <p:nvSpPr>
          <p:cNvPr id="24" name="Shape 22"/>
          <p:cNvSpPr/>
          <p:nvPr/>
        </p:nvSpPr>
        <p:spPr>
          <a:xfrm>
            <a:off x="3561068" y="4864608"/>
            <a:ext cx="109728" cy="109728"/>
          </a:xfrm>
          <a:prstGeom prst="ellipse">
            <a:avLst/>
          </a:prstGeom>
          <a:solidFill>
            <a:srgbClr val="0D0D0D"/>
          </a:solidFill>
          <a:ln w="9525">
            <a:solidFill>
              <a:srgbClr val="FFFFFF"/>
            </a:solidFill>
            <a:prstDash val="solid"/>
          </a:ln>
        </p:spPr>
      </p:sp>
      <p:sp>
        <p:nvSpPr>
          <p:cNvPr id="25" name="Shape 23"/>
          <p:cNvSpPr/>
          <p:nvPr/>
        </p:nvSpPr>
        <p:spPr>
          <a:xfrm>
            <a:off x="3461881" y="4864608"/>
            <a:ext cx="109728" cy="109728"/>
          </a:xfrm>
          <a:prstGeom prst="ellipse">
            <a:avLst/>
          </a:prstGeom>
          <a:solidFill>
            <a:srgbClr val="0D0D0D"/>
          </a:solidFill>
          <a:ln w="9525">
            <a:solidFill>
              <a:srgbClr val="FFFFFF"/>
            </a:solidFill>
            <a:prstDash val="solid"/>
          </a:ln>
        </p:spPr>
      </p:sp>
      <p:sp>
        <p:nvSpPr>
          <p:cNvPr id="26" name="Shape 24"/>
          <p:cNvSpPr/>
          <p:nvPr/>
        </p:nvSpPr>
        <p:spPr>
          <a:xfrm>
            <a:off x="3579738" y="4727448"/>
            <a:ext cx="109728" cy="109728"/>
          </a:xfrm>
          <a:prstGeom prst="ellipse">
            <a:avLst/>
          </a:prstGeom>
          <a:solidFill>
            <a:srgbClr val="0D0D0D"/>
          </a:solidFill>
          <a:ln w="9525">
            <a:solidFill>
              <a:srgbClr val="FFFFFF"/>
            </a:solidFill>
            <a:prstDash val="solid"/>
          </a:ln>
        </p:spPr>
      </p:sp>
      <p:sp>
        <p:nvSpPr>
          <p:cNvPr id="27" name="Shape 25"/>
          <p:cNvSpPr/>
          <p:nvPr/>
        </p:nvSpPr>
        <p:spPr>
          <a:xfrm>
            <a:off x="3359193" y="4864608"/>
            <a:ext cx="109728" cy="109728"/>
          </a:xfrm>
          <a:prstGeom prst="ellipse">
            <a:avLst/>
          </a:prstGeom>
          <a:solidFill>
            <a:srgbClr val="0D0D0D"/>
          </a:solidFill>
          <a:ln w="9525">
            <a:solidFill>
              <a:srgbClr val="FFFFFF"/>
            </a:solidFill>
            <a:prstDash val="solid"/>
          </a:ln>
        </p:spPr>
      </p:sp>
      <p:sp>
        <p:nvSpPr>
          <p:cNvPr id="28" name="Shape 26"/>
          <p:cNvSpPr/>
          <p:nvPr/>
        </p:nvSpPr>
        <p:spPr>
          <a:xfrm>
            <a:off x="3323019" y="4864608"/>
            <a:ext cx="109728" cy="109728"/>
          </a:xfrm>
          <a:prstGeom prst="ellipse">
            <a:avLst/>
          </a:prstGeom>
          <a:solidFill>
            <a:srgbClr val="0D0D0D"/>
          </a:solidFill>
          <a:ln w="9525">
            <a:solidFill>
              <a:srgbClr val="FFFFFF"/>
            </a:solidFill>
            <a:prstDash val="solid"/>
          </a:ln>
        </p:spPr>
      </p:sp>
      <p:sp>
        <p:nvSpPr>
          <p:cNvPr id="29" name="Shape 27"/>
          <p:cNvSpPr/>
          <p:nvPr/>
        </p:nvSpPr>
        <p:spPr>
          <a:xfrm>
            <a:off x="3578571" y="4590288"/>
            <a:ext cx="109728" cy="109728"/>
          </a:xfrm>
          <a:prstGeom prst="ellipse">
            <a:avLst/>
          </a:prstGeom>
          <a:solidFill>
            <a:srgbClr val="0D0D0D"/>
          </a:solidFill>
          <a:ln w="9525">
            <a:solidFill>
              <a:srgbClr val="FFFFFF"/>
            </a:solidFill>
            <a:prstDash val="solid"/>
          </a:ln>
        </p:spPr>
      </p:sp>
      <p:sp>
        <p:nvSpPr>
          <p:cNvPr id="30" name="Shape 28"/>
          <p:cNvSpPr/>
          <p:nvPr/>
        </p:nvSpPr>
        <p:spPr>
          <a:xfrm>
            <a:off x="3512058" y="4864608"/>
            <a:ext cx="109728" cy="109728"/>
          </a:xfrm>
          <a:prstGeom prst="ellipse">
            <a:avLst/>
          </a:prstGeom>
          <a:solidFill>
            <a:srgbClr val="0D0D0D"/>
          </a:solidFill>
          <a:ln w="9525">
            <a:solidFill>
              <a:srgbClr val="FFFFFF"/>
            </a:solidFill>
            <a:prstDash val="solid"/>
          </a:ln>
        </p:spPr>
      </p:sp>
      <p:sp>
        <p:nvSpPr>
          <p:cNvPr id="31" name="Shape 29"/>
          <p:cNvSpPr/>
          <p:nvPr/>
        </p:nvSpPr>
        <p:spPr>
          <a:xfrm>
            <a:off x="3398868" y="4864608"/>
            <a:ext cx="109728" cy="109728"/>
          </a:xfrm>
          <a:prstGeom prst="ellipse">
            <a:avLst/>
          </a:prstGeom>
          <a:solidFill>
            <a:srgbClr val="0D0D0D"/>
          </a:solidFill>
          <a:ln w="9525">
            <a:solidFill>
              <a:srgbClr val="FFFFFF"/>
            </a:solidFill>
            <a:prstDash val="solid"/>
          </a:ln>
        </p:spPr>
      </p:sp>
      <p:sp>
        <p:nvSpPr>
          <p:cNvPr id="32" name="Shape 30"/>
          <p:cNvSpPr/>
          <p:nvPr/>
        </p:nvSpPr>
        <p:spPr>
          <a:xfrm>
            <a:off x="3478217" y="4727448"/>
            <a:ext cx="109728" cy="109728"/>
          </a:xfrm>
          <a:prstGeom prst="ellipse">
            <a:avLst/>
          </a:prstGeom>
          <a:solidFill>
            <a:srgbClr val="0D0D0D"/>
          </a:solidFill>
          <a:ln w="9525">
            <a:solidFill>
              <a:srgbClr val="FFFFFF"/>
            </a:solidFill>
            <a:prstDash val="solid"/>
          </a:ln>
        </p:spPr>
      </p:sp>
      <p:sp>
        <p:nvSpPr>
          <p:cNvPr id="33" name="Shape 31"/>
          <p:cNvSpPr/>
          <p:nvPr/>
        </p:nvSpPr>
        <p:spPr>
          <a:xfrm>
            <a:off x="3442043" y="4590288"/>
            <a:ext cx="109728" cy="109728"/>
          </a:xfrm>
          <a:prstGeom prst="ellipse">
            <a:avLst/>
          </a:prstGeom>
          <a:solidFill>
            <a:srgbClr val="0D0D0D"/>
          </a:solidFill>
          <a:ln w="9525">
            <a:solidFill>
              <a:srgbClr val="FFFFFF"/>
            </a:solidFill>
            <a:prstDash val="solid"/>
          </a:ln>
        </p:spPr>
      </p:sp>
      <p:sp>
        <p:nvSpPr>
          <p:cNvPr id="34" name="Shape 32"/>
          <p:cNvSpPr/>
          <p:nvPr/>
        </p:nvSpPr>
        <p:spPr>
          <a:xfrm>
            <a:off x="3405869" y="4864608"/>
            <a:ext cx="109728" cy="109728"/>
          </a:xfrm>
          <a:prstGeom prst="ellipse">
            <a:avLst/>
          </a:prstGeom>
          <a:solidFill>
            <a:srgbClr val="0D0D0D"/>
          </a:solidFill>
          <a:ln w="9525">
            <a:solidFill>
              <a:srgbClr val="FFFFFF"/>
            </a:solidFill>
            <a:prstDash val="solid"/>
          </a:ln>
        </p:spPr>
      </p:sp>
      <p:sp>
        <p:nvSpPr>
          <p:cNvPr id="35" name="Shape 33"/>
          <p:cNvSpPr/>
          <p:nvPr/>
        </p:nvSpPr>
        <p:spPr>
          <a:xfrm>
            <a:off x="3437376" y="4727448"/>
            <a:ext cx="109728" cy="109728"/>
          </a:xfrm>
          <a:prstGeom prst="ellipse">
            <a:avLst/>
          </a:prstGeom>
          <a:solidFill>
            <a:srgbClr val="0D0D0D"/>
          </a:solidFill>
          <a:ln w="9525">
            <a:solidFill>
              <a:srgbClr val="FFFFFF"/>
            </a:solidFill>
            <a:prstDash val="solid"/>
          </a:ln>
        </p:spPr>
      </p:sp>
      <p:sp>
        <p:nvSpPr>
          <p:cNvPr id="36" name="Shape 34"/>
          <p:cNvSpPr/>
          <p:nvPr/>
        </p:nvSpPr>
        <p:spPr>
          <a:xfrm>
            <a:off x="3730269" y="4864608"/>
            <a:ext cx="109728" cy="109728"/>
          </a:xfrm>
          <a:prstGeom prst="ellipse">
            <a:avLst/>
          </a:prstGeom>
          <a:solidFill>
            <a:srgbClr val="0D0D0D"/>
          </a:solidFill>
          <a:ln w="9525">
            <a:solidFill>
              <a:srgbClr val="FFFFFF"/>
            </a:solidFill>
            <a:prstDash val="solid"/>
          </a:ln>
        </p:spPr>
      </p:sp>
      <p:sp>
        <p:nvSpPr>
          <p:cNvPr id="37" name="Shape 35"/>
          <p:cNvSpPr/>
          <p:nvPr/>
        </p:nvSpPr>
        <p:spPr>
          <a:xfrm>
            <a:off x="3468882" y="4453128"/>
            <a:ext cx="109728" cy="109728"/>
          </a:xfrm>
          <a:prstGeom prst="ellipse">
            <a:avLst/>
          </a:prstGeom>
          <a:solidFill>
            <a:srgbClr val="0D0D0D"/>
          </a:solidFill>
          <a:ln w="9525">
            <a:solidFill>
              <a:srgbClr val="FFFFFF"/>
            </a:solidFill>
            <a:prstDash val="solid"/>
          </a:ln>
        </p:spPr>
      </p:sp>
      <p:sp>
        <p:nvSpPr>
          <p:cNvPr id="38" name="Shape 36"/>
          <p:cNvSpPr/>
          <p:nvPr/>
        </p:nvSpPr>
        <p:spPr>
          <a:xfrm>
            <a:off x="3271675" y="4864608"/>
            <a:ext cx="109728" cy="109728"/>
          </a:xfrm>
          <a:prstGeom prst="ellipse">
            <a:avLst/>
          </a:prstGeom>
          <a:solidFill>
            <a:srgbClr val="0D0D0D"/>
          </a:solidFill>
          <a:ln w="9525">
            <a:solidFill>
              <a:srgbClr val="FFFFFF"/>
            </a:solidFill>
            <a:prstDash val="solid"/>
          </a:ln>
        </p:spPr>
      </p:sp>
      <p:sp>
        <p:nvSpPr>
          <p:cNvPr id="39" name="Shape 37"/>
          <p:cNvSpPr/>
          <p:nvPr/>
        </p:nvSpPr>
        <p:spPr>
          <a:xfrm>
            <a:off x="3253005" y="4727448"/>
            <a:ext cx="109728" cy="109728"/>
          </a:xfrm>
          <a:prstGeom prst="ellipse">
            <a:avLst/>
          </a:prstGeom>
          <a:solidFill>
            <a:srgbClr val="0D0D0D"/>
          </a:solidFill>
          <a:ln w="9525">
            <a:solidFill>
              <a:srgbClr val="FFFFFF"/>
            </a:solidFill>
            <a:prstDash val="solid"/>
          </a:ln>
        </p:spPr>
      </p:sp>
      <p:sp>
        <p:nvSpPr>
          <p:cNvPr id="40" name="Shape 38"/>
          <p:cNvSpPr/>
          <p:nvPr/>
        </p:nvSpPr>
        <p:spPr>
          <a:xfrm>
            <a:off x="3247170" y="4864608"/>
            <a:ext cx="109728" cy="109728"/>
          </a:xfrm>
          <a:prstGeom prst="ellipse">
            <a:avLst/>
          </a:prstGeom>
          <a:solidFill>
            <a:srgbClr val="0D0D0D"/>
          </a:solidFill>
          <a:ln w="9525">
            <a:solidFill>
              <a:srgbClr val="FFFFFF"/>
            </a:solidFill>
            <a:prstDash val="solid"/>
          </a:ln>
        </p:spPr>
      </p:sp>
      <p:sp>
        <p:nvSpPr>
          <p:cNvPr id="41" name="Shape 39"/>
          <p:cNvSpPr/>
          <p:nvPr/>
        </p:nvSpPr>
        <p:spPr>
          <a:xfrm>
            <a:off x="3349858" y="4727448"/>
            <a:ext cx="109728" cy="109728"/>
          </a:xfrm>
          <a:prstGeom prst="ellipse">
            <a:avLst/>
          </a:prstGeom>
          <a:solidFill>
            <a:srgbClr val="0D0D0D"/>
          </a:solidFill>
          <a:ln w="9525">
            <a:solidFill>
              <a:srgbClr val="FFFFFF"/>
            </a:solidFill>
            <a:prstDash val="solid"/>
          </a:ln>
        </p:spPr>
      </p:sp>
      <p:sp>
        <p:nvSpPr>
          <p:cNvPr id="42" name="Shape 40"/>
          <p:cNvSpPr/>
          <p:nvPr/>
        </p:nvSpPr>
        <p:spPr>
          <a:xfrm>
            <a:off x="3440876" y="4590288"/>
            <a:ext cx="109728" cy="109728"/>
          </a:xfrm>
          <a:prstGeom prst="ellipse">
            <a:avLst/>
          </a:prstGeom>
          <a:solidFill>
            <a:srgbClr val="0D0D0D"/>
          </a:solidFill>
          <a:ln w="9525">
            <a:solidFill>
              <a:srgbClr val="FFFFFF"/>
            </a:solidFill>
            <a:prstDash val="solid"/>
          </a:ln>
        </p:spPr>
      </p:sp>
      <p:sp>
        <p:nvSpPr>
          <p:cNvPr id="43" name="Shape 41"/>
          <p:cNvSpPr/>
          <p:nvPr/>
        </p:nvSpPr>
        <p:spPr>
          <a:xfrm>
            <a:off x="3326520" y="4590288"/>
            <a:ext cx="109728" cy="109728"/>
          </a:xfrm>
          <a:prstGeom prst="ellipse">
            <a:avLst/>
          </a:prstGeom>
          <a:solidFill>
            <a:srgbClr val="0D0D0D"/>
          </a:solidFill>
          <a:ln w="9525">
            <a:solidFill>
              <a:srgbClr val="FFFFFF"/>
            </a:solidFill>
            <a:prstDash val="solid"/>
          </a:ln>
        </p:spPr>
      </p:sp>
      <p:sp>
        <p:nvSpPr>
          <p:cNvPr id="44" name="Shape 42"/>
          <p:cNvSpPr/>
          <p:nvPr/>
        </p:nvSpPr>
        <p:spPr>
          <a:xfrm>
            <a:off x="3325353" y="4453128"/>
            <a:ext cx="109728" cy="109728"/>
          </a:xfrm>
          <a:prstGeom prst="ellipse">
            <a:avLst/>
          </a:prstGeom>
          <a:solidFill>
            <a:srgbClr val="0D0D0D"/>
          </a:solidFill>
          <a:ln w="9525">
            <a:solidFill>
              <a:srgbClr val="FFFFFF"/>
            </a:solidFill>
            <a:prstDash val="solid"/>
          </a:ln>
        </p:spPr>
      </p:sp>
      <p:sp>
        <p:nvSpPr>
          <p:cNvPr id="45" name="Shape 43"/>
          <p:cNvSpPr/>
          <p:nvPr/>
        </p:nvSpPr>
        <p:spPr>
          <a:xfrm>
            <a:off x="3327687" y="4315968"/>
            <a:ext cx="109728" cy="109728"/>
          </a:xfrm>
          <a:prstGeom prst="ellipse">
            <a:avLst/>
          </a:prstGeom>
          <a:solidFill>
            <a:srgbClr val="0D0D0D"/>
          </a:solidFill>
          <a:ln w="9525">
            <a:solidFill>
              <a:srgbClr val="FFFFFF"/>
            </a:solidFill>
            <a:prstDash val="solid"/>
          </a:ln>
        </p:spPr>
      </p:sp>
      <p:sp>
        <p:nvSpPr>
          <p:cNvPr id="46" name="Shape 44"/>
          <p:cNvSpPr/>
          <p:nvPr/>
        </p:nvSpPr>
        <p:spPr>
          <a:xfrm>
            <a:off x="3321852" y="4727448"/>
            <a:ext cx="109728" cy="109728"/>
          </a:xfrm>
          <a:prstGeom prst="ellipse">
            <a:avLst/>
          </a:prstGeom>
          <a:solidFill>
            <a:srgbClr val="0D0D0D"/>
          </a:solidFill>
          <a:ln w="9525">
            <a:solidFill>
              <a:srgbClr val="FFFFFF"/>
            </a:solidFill>
            <a:prstDash val="solid"/>
          </a:ln>
        </p:spPr>
      </p:sp>
      <p:sp>
        <p:nvSpPr>
          <p:cNvPr id="47" name="Shape 45"/>
          <p:cNvSpPr/>
          <p:nvPr/>
        </p:nvSpPr>
        <p:spPr>
          <a:xfrm>
            <a:off x="3383698" y="4727448"/>
            <a:ext cx="109728" cy="109728"/>
          </a:xfrm>
          <a:prstGeom prst="ellipse">
            <a:avLst/>
          </a:prstGeom>
          <a:solidFill>
            <a:srgbClr val="0D0D0D"/>
          </a:solidFill>
          <a:ln w="9525">
            <a:solidFill>
              <a:srgbClr val="FFFFFF"/>
            </a:solidFill>
            <a:prstDash val="solid"/>
          </a:ln>
        </p:spPr>
      </p:sp>
      <p:sp>
        <p:nvSpPr>
          <p:cNvPr id="48" name="Shape 46"/>
          <p:cNvSpPr/>
          <p:nvPr/>
        </p:nvSpPr>
        <p:spPr>
          <a:xfrm>
            <a:off x="3568069" y="4453128"/>
            <a:ext cx="109728" cy="109728"/>
          </a:xfrm>
          <a:prstGeom prst="ellipse">
            <a:avLst/>
          </a:prstGeom>
          <a:solidFill>
            <a:srgbClr val="0D0D0D"/>
          </a:solidFill>
          <a:ln w="9525">
            <a:solidFill>
              <a:srgbClr val="FFFFFF"/>
            </a:solidFill>
            <a:prstDash val="solid"/>
          </a:ln>
        </p:spPr>
      </p:sp>
      <p:sp>
        <p:nvSpPr>
          <p:cNvPr id="49" name="Shape 47"/>
          <p:cNvSpPr/>
          <p:nvPr/>
        </p:nvSpPr>
        <p:spPr>
          <a:xfrm>
            <a:off x="3433875" y="4453128"/>
            <a:ext cx="109728" cy="109728"/>
          </a:xfrm>
          <a:prstGeom prst="ellipse">
            <a:avLst/>
          </a:prstGeom>
          <a:solidFill>
            <a:srgbClr val="0D0D0D"/>
          </a:solidFill>
          <a:ln w="9525">
            <a:solidFill>
              <a:srgbClr val="FFFFFF"/>
            </a:solidFill>
            <a:prstDash val="solid"/>
          </a:ln>
        </p:spPr>
      </p:sp>
      <p:sp>
        <p:nvSpPr>
          <p:cNvPr id="50" name="Shape 48"/>
          <p:cNvSpPr/>
          <p:nvPr/>
        </p:nvSpPr>
        <p:spPr>
          <a:xfrm>
            <a:off x="3323019" y="4590288"/>
            <a:ext cx="109728" cy="109728"/>
          </a:xfrm>
          <a:prstGeom prst="ellipse">
            <a:avLst/>
          </a:prstGeom>
          <a:solidFill>
            <a:srgbClr val="0D0D0D"/>
          </a:solidFill>
          <a:ln w="9525">
            <a:solidFill>
              <a:srgbClr val="FFFFFF"/>
            </a:solidFill>
            <a:prstDash val="solid"/>
          </a:ln>
        </p:spPr>
      </p:sp>
      <p:sp>
        <p:nvSpPr>
          <p:cNvPr id="51" name="Shape 49"/>
          <p:cNvSpPr/>
          <p:nvPr/>
        </p:nvSpPr>
        <p:spPr>
          <a:xfrm>
            <a:off x="3253005" y="4590288"/>
            <a:ext cx="109728" cy="109728"/>
          </a:xfrm>
          <a:prstGeom prst="ellipse">
            <a:avLst/>
          </a:prstGeom>
          <a:solidFill>
            <a:srgbClr val="0D0D0D"/>
          </a:solidFill>
          <a:ln w="9525">
            <a:solidFill>
              <a:srgbClr val="FFFFFF"/>
            </a:solidFill>
            <a:prstDash val="solid"/>
          </a:ln>
        </p:spPr>
      </p:sp>
      <p:sp>
        <p:nvSpPr>
          <p:cNvPr id="52" name="Shape 50"/>
          <p:cNvSpPr/>
          <p:nvPr/>
        </p:nvSpPr>
        <p:spPr>
          <a:xfrm>
            <a:off x="3228500" y="4727448"/>
            <a:ext cx="109728" cy="109728"/>
          </a:xfrm>
          <a:prstGeom prst="ellipse">
            <a:avLst/>
          </a:prstGeom>
          <a:solidFill>
            <a:srgbClr val="0D0D0D"/>
          </a:solidFill>
          <a:ln w="9525">
            <a:solidFill>
              <a:srgbClr val="FFFFFF"/>
            </a:solidFill>
            <a:prstDash val="solid"/>
          </a:ln>
        </p:spPr>
      </p:sp>
      <p:sp>
        <p:nvSpPr>
          <p:cNvPr id="53" name="Shape 51"/>
          <p:cNvSpPr/>
          <p:nvPr/>
        </p:nvSpPr>
        <p:spPr>
          <a:xfrm>
            <a:off x="3262340" y="4453128"/>
            <a:ext cx="109728" cy="109728"/>
          </a:xfrm>
          <a:prstGeom prst="ellipse">
            <a:avLst/>
          </a:prstGeom>
          <a:solidFill>
            <a:srgbClr val="0D0D0D"/>
          </a:solidFill>
          <a:ln w="9525">
            <a:solidFill>
              <a:srgbClr val="FFFFFF"/>
            </a:solidFill>
            <a:prstDash val="solid"/>
          </a:ln>
        </p:spPr>
      </p:sp>
      <p:sp>
        <p:nvSpPr>
          <p:cNvPr id="54" name="Shape 52"/>
          <p:cNvSpPr/>
          <p:nvPr/>
        </p:nvSpPr>
        <p:spPr>
          <a:xfrm>
            <a:off x="3253005" y="4315968"/>
            <a:ext cx="109728" cy="109728"/>
          </a:xfrm>
          <a:prstGeom prst="ellipse">
            <a:avLst/>
          </a:prstGeom>
          <a:solidFill>
            <a:srgbClr val="0D0D0D"/>
          </a:solidFill>
          <a:ln w="9525">
            <a:solidFill>
              <a:srgbClr val="FFFFFF"/>
            </a:solidFill>
            <a:prstDash val="solid"/>
          </a:ln>
        </p:spPr>
      </p:sp>
      <p:sp>
        <p:nvSpPr>
          <p:cNvPr id="55" name="Shape 53"/>
          <p:cNvSpPr/>
          <p:nvPr/>
        </p:nvSpPr>
        <p:spPr>
          <a:xfrm>
            <a:off x="3243669" y="4590288"/>
            <a:ext cx="109728" cy="109728"/>
          </a:xfrm>
          <a:prstGeom prst="ellipse">
            <a:avLst/>
          </a:prstGeom>
          <a:solidFill>
            <a:srgbClr val="0D0D0D"/>
          </a:solidFill>
          <a:ln w="9525">
            <a:solidFill>
              <a:srgbClr val="FFFFFF"/>
            </a:solidFill>
            <a:prstDash val="solid"/>
          </a:ln>
        </p:spPr>
      </p:sp>
      <p:sp>
        <p:nvSpPr>
          <p:cNvPr id="56" name="Shape 54"/>
          <p:cNvSpPr/>
          <p:nvPr/>
        </p:nvSpPr>
        <p:spPr>
          <a:xfrm>
            <a:off x="3352192" y="4178808"/>
            <a:ext cx="109728" cy="109728"/>
          </a:xfrm>
          <a:prstGeom prst="ellipse">
            <a:avLst/>
          </a:prstGeom>
          <a:solidFill>
            <a:srgbClr val="0D0D0D"/>
          </a:solidFill>
          <a:ln w="9525">
            <a:solidFill>
              <a:srgbClr val="FFFFFF"/>
            </a:solidFill>
            <a:prstDash val="solid"/>
          </a:ln>
        </p:spPr>
      </p:sp>
      <p:sp>
        <p:nvSpPr>
          <p:cNvPr id="57" name="Shape 55"/>
          <p:cNvSpPr/>
          <p:nvPr/>
        </p:nvSpPr>
        <p:spPr>
          <a:xfrm>
            <a:off x="3271675" y="4178808"/>
            <a:ext cx="109728" cy="109728"/>
          </a:xfrm>
          <a:prstGeom prst="ellipse">
            <a:avLst/>
          </a:prstGeom>
          <a:solidFill>
            <a:srgbClr val="0D0D0D"/>
          </a:solidFill>
          <a:ln w="9525">
            <a:solidFill>
              <a:srgbClr val="FFFFFF"/>
            </a:solidFill>
            <a:prstDash val="solid"/>
          </a:ln>
        </p:spPr>
      </p:sp>
      <p:sp>
        <p:nvSpPr>
          <p:cNvPr id="58" name="Shape 56"/>
          <p:cNvSpPr/>
          <p:nvPr/>
        </p:nvSpPr>
        <p:spPr>
          <a:xfrm>
            <a:off x="3305515" y="4453128"/>
            <a:ext cx="109728" cy="109728"/>
          </a:xfrm>
          <a:prstGeom prst="ellipse">
            <a:avLst/>
          </a:prstGeom>
          <a:solidFill>
            <a:srgbClr val="0D0D0D"/>
          </a:solidFill>
          <a:ln w="9525">
            <a:solidFill>
              <a:srgbClr val="FFFFFF"/>
            </a:solidFill>
            <a:prstDash val="solid"/>
          </a:ln>
        </p:spPr>
      </p:sp>
      <p:sp>
        <p:nvSpPr>
          <p:cNvPr id="59" name="Text 57"/>
          <p:cNvSpPr txBox="1"/>
          <p:nvPr/>
        </p:nvSpPr>
        <p:spPr>
          <a:xfrm>
            <a:off x="2971800" y="3703320"/>
            <a:ext cx="2194560" cy="320040"/>
          </a:xfrm>
          <a:prstGeom prst="rect">
            <a:avLst/>
          </a:prstGeom>
          <a:noFill/>
          <a:ln/>
        </p:spPr>
        <p:txBody>
          <a:bodyPr wrap="square" lIns="0" tIns="0" rIns="0" bIns="0" rtlCol="0" anchor="ctr"/>
          <a:lstStyle/>
          <a:p>
            <a:pPr indent="0" marL="0">
              <a:buNone/>
            </a:pPr>
            <a:r>
              <a:rPr lang="en-US" sz="1600" b="1" dirty="0">
                <a:solidFill>
                  <a:srgbClr val="3F3F3F"/>
                </a:solidFill>
                <a:latin typeface="Inter" pitchFamily="34" charset="0"/>
                <a:ea typeface="Inter" pitchFamily="34" charset="-122"/>
                <a:cs typeface="Inter" pitchFamily="34" charset="-120"/>
              </a:rPr>
              <a:t>2.67 – 8.08 %</a:t>
            </a:r>
            <a:endParaRPr lang="en-US" sz="1600" dirty="0"/>
          </a:p>
        </p:txBody>
      </p:sp>
      <p:sp>
        <p:nvSpPr>
          <p:cNvPr id="60" name="Shape 58"/>
          <p:cNvSpPr/>
          <p:nvPr/>
        </p:nvSpPr>
        <p:spPr>
          <a:xfrm>
            <a:off x="2971800" y="5074920"/>
            <a:ext cx="8168335" cy="0"/>
          </a:xfrm>
          <a:prstGeom prst="line">
            <a:avLst/>
          </a:prstGeom>
          <a:noFill/>
          <a:ln w="19050">
            <a:solidFill>
              <a:srgbClr val="E6E6E6"/>
            </a:solidFill>
            <a:prstDash val="solid"/>
          </a:ln>
        </p:spPr>
      </p:sp>
      <p:sp>
        <p:nvSpPr>
          <p:cNvPr id="61" name="Shape 59"/>
          <p:cNvSpPr/>
          <p:nvPr/>
        </p:nvSpPr>
        <p:spPr>
          <a:xfrm>
            <a:off x="2971800" y="5074920"/>
            <a:ext cx="0" cy="109728"/>
          </a:xfrm>
          <a:prstGeom prst="line">
            <a:avLst/>
          </a:prstGeom>
          <a:noFill/>
          <a:ln w="12700">
            <a:solidFill>
              <a:srgbClr val="E6E6E6"/>
            </a:solidFill>
            <a:prstDash val="solid"/>
          </a:ln>
        </p:spPr>
      </p:sp>
      <p:sp>
        <p:nvSpPr>
          <p:cNvPr id="62" name="Text 60"/>
          <p:cNvSpPr txBox="1"/>
          <p:nvPr/>
        </p:nvSpPr>
        <p:spPr>
          <a:xfrm>
            <a:off x="2697480" y="5221224"/>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0</a:t>
            </a:r>
            <a:endParaRPr lang="en-US" sz="950" dirty="0"/>
          </a:p>
        </p:txBody>
      </p:sp>
      <p:sp>
        <p:nvSpPr>
          <p:cNvPr id="63" name="Shape 61"/>
          <p:cNvSpPr/>
          <p:nvPr/>
        </p:nvSpPr>
        <p:spPr>
          <a:xfrm>
            <a:off x="4138705" y="5074920"/>
            <a:ext cx="0" cy="109728"/>
          </a:xfrm>
          <a:prstGeom prst="line">
            <a:avLst/>
          </a:prstGeom>
          <a:noFill/>
          <a:ln w="12700">
            <a:solidFill>
              <a:srgbClr val="E6E6E6"/>
            </a:solidFill>
            <a:prstDash val="solid"/>
          </a:ln>
        </p:spPr>
      </p:sp>
      <p:sp>
        <p:nvSpPr>
          <p:cNvPr id="64" name="Text 62"/>
          <p:cNvSpPr txBox="1"/>
          <p:nvPr/>
        </p:nvSpPr>
        <p:spPr>
          <a:xfrm>
            <a:off x="3864385" y="5221224"/>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10</a:t>
            </a:r>
            <a:endParaRPr lang="en-US" sz="950" dirty="0"/>
          </a:p>
        </p:txBody>
      </p:sp>
      <p:sp>
        <p:nvSpPr>
          <p:cNvPr id="65" name="Shape 63"/>
          <p:cNvSpPr/>
          <p:nvPr/>
        </p:nvSpPr>
        <p:spPr>
          <a:xfrm>
            <a:off x="5305610" y="5074920"/>
            <a:ext cx="0" cy="109728"/>
          </a:xfrm>
          <a:prstGeom prst="line">
            <a:avLst/>
          </a:prstGeom>
          <a:noFill/>
          <a:ln w="12700">
            <a:solidFill>
              <a:srgbClr val="E6E6E6"/>
            </a:solidFill>
            <a:prstDash val="solid"/>
          </a:ln>
        </p:spPr>
      </p:sp>
      <p:sp>
        <p:nvSpPr>
          <p:cNvPr id="66" name="Text 64"/>
          <p:cNvSpPr txBox="1"/>
          <p:nvPr/>
        </p:nvSpPr>
        <p:spPr>
          <a:xfrm>
            <a:off x="5031290" y="5221224"/>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20</a:t>
            </a:r>
            <a:endParaRPr lang="en-US" sz="950" dirty="0"/>
          </a:p>
        </p:txBody>
      </p:sp>
      <p:sp>
        <p:nvSpPr>
          <p:cNvPr id="67" name="Shape 65"/>
          <p:cNvSpPr/>
          <p:nvPr/>
        </p:nvSpPr>
        <p:spPr>
          <a:xfrm>
            <a:off x="6472515" y="5074920"/>
            <a:ext cx="0" cy="109728"/>
          </a:xfrm>
          <a:prstGeom prst="line">
            <a:avLst/>
          </a:prstGeom>
          <a:noFill/>
          <a:ln w="12700">
            <a:solidFill>
              <a:srgbClr val="E6E6E6"/>
            </a:solidFill>
            <a:prstDash val="solid"/>
          </a:ln>
        </p:spPr>
      </p:sp>
      <p:sp>
        <p:nvSpPr>
          <p:cNvPr id="68" name="Text 66"/>
          <p:cNvSpPr txBox="1"/>
          <p:nvPr/>
        </p:nvSpPr>
        <p:spPr>
          <a:xfrm>
            <a:off x="6198195" y="5221224"/>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30</a:t>
            </a:r>
            <a:endParaRPr lang="en-US" sz="950" dirty="0"/>
          </a:p>
        </p:txBody>
      </p:sp>
      <p:sp>
        <p:nvSpPr>
          <p:cNvPr id="69" name="Shape 67"/>
          <p:cNvSpPr/>
          <p:nvPr/>
        </p:nvSpPr>
        <p:spPr>
          <a:xfrm>
            <a:off x="7639420" y="5074920"/>
            <a:ext cx="0" cy="109728"/>
          </a:xfrm>
          <a:prstGeom prst="line">
            <a:avLst/>
          </a:prstGeom>
          <a:noFill/>
          <a:ln w="12700">
            <a:solidFill>
              <a:srgbClr val="E6E6E6"/>
            </a:solidFill>
            <a:prstDash val="solid"/>
          </a:ln>
        </p:spPr>
      </p:sp>
      <p:sp>
        <p:nvSpPr>
          <p:cNvPr id="70" name="Text 68"/>
          <p:cNvSpPr txBox="1"/>
          <p:nvPr/>
        </p:nvSpPr>
        <p:spPr>
          <a:xfrm>
            <a:off x="7365100" y="5221224"/>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40</a:t>
            </a:r>
            <a:endParaRPr lang="en-US" sz="950" dirty="0"/>
          </a:p>
        </p:txBody>
      </p:sp>
      <p:sp>
        <p:nvSpPr>
          <p:cNvPr id="71" name="Shape 69"/>
          <p:cNvSpPr/>
          <p:nvPr/>
        </p:nvSpPr>
        <p:spPr>
          <a:xfrm>
            <a:off x="8806325" y="5074920"/>
            <a:ext cx="0" cy="109728"/>
          </a:xfrm>
          <a:prstGeom prst="line">
            <a:avLst/>
          </a:prstGeom>
          <a:noFill/>
          <a:ln w="12700">
            <a:solidFill>
              <a:srgbClr val="E6E6E6"/>
            </a:solidFill>
            <a:prstDash val="solid"/>
          </a:ln>
        </p:spPr>
      </p:sp>
      <p:sp>
        <p:nvSpPr>
          <p:cNvPr id="72" name="Text 70"/>
          <p:cNvSpPr txBox="1"/>
          <p:nvPr/>
        </p:nvSpPr>
        <p:spPr>
          <a:xfrm>
            <a:off x="8532005" y="5221224"/>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50</a:t>
            </a:r>
            <a:endParaRPr lang="en-US" sz="950" dirty="0"/>
          </a:p>
        </p:txBody>
      </p:sp>
      <p:sp>
        <p:nvSpPr>
          <p:cNvPr id="73" name="Shape 71"/>
          <p:cNvSpPr/>
          <p:nvPr/>
        </p:nvSpPr>
        <p:spPr>
          <a:xfrm>
            <a:off x="9973230" y="5074920"/>
            <a:ext cx="0" cy="109728"/>
          </a:xfrm>
          <a:prstGeom prst="line">
            <a:avLst/>
          </a:prstGeom>
          <a:noFill/>
          <a:ln w="12700">
            <a:solidFill>
              <a:srgbClr val="E6E6E6"/>
            </a:solidFill>
            <a:prstDash val="solid"/>
          </a:ln>
        </p:spPr>
      </p:sp>
      <p:sp>
        <p:nvSpPr>
          <p:cNvPr id="74" name="Text 72"/>
          <p:cNvSpPr txBox="1"/>
          <p:nvPr/>
        </p:nvSpPr>
        <p:spPr>
          <a:xfrm>
            <a:off x="9698910" y="5221224"/>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60</a:t>
            </a:r>
            <a:endParaRPr lang="en-US" sz="950" dirty="0"/>
          </a:p>
        </p:txBody>
      </p:sp>
      <p:sp>
        <p:nvSpPr>
          <p:cNvPr id="75" name="Shape 73"/>
          <p:cNvSpPr/>
          <p:nvPr/>
        </p:nvSpPr>
        <p:spPr>
          <a:xfrm>
            <a:off x="11140135" y="5074920"/>
            <a:ext cx="0" cy="109728"/>
          </a:xfrm>
          <a:prstGeom prst="line">
            <a:avLst/>
          </a:prstGeom>
          <a:noFill/>
          <a:ln w="12700">
            <a:solidFill>
              <a:srgbClr val="E6E6E6"/>
            </a:solidFill>
            <a:prstDash val="solid"/>
          </a:ln>
        </p:spPr>
      </p:sp>
      <p:sp>
        <p:nvSpPr>
          <p:cNvPr id="76" name="Text 74"/>
          <p:cNvSpPr txBox="1"/>
          <p:nvPr/>
        </p:nvSpPr>
        <p:spPr>
          <a:xfrm>
            <a:off x="10865815" y="5221224"/>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70</a:t>
            </a:r>
            <a:endParaRPr lang="en-US" sz="950" dirty="0"/>
          </a:p>
        </p:txBody>
      </p:sp>
      <p:sp>
        <p:nvSpPr>
          <p:cNvPr id="77" name="Text 75"/>
          <p:cNvSpPr txBox="1"/>
          <p:nvPr/>
        </p:nvSpPr>
        <p:spPr>
          <a:xfrm>
            <a:off x="8762695" y="5458968"/>
            <a:ext cx="2377440" cy="237744"/>
          </a:xfrm>
          <a:prstGeom prst="rect">
            <a:avLst/>
          </a:prstGeom>
          <a:noFill/>
          <a:ln/>
        </p:spPr>
        <p:txBody>
          <a:bodyPr wrap="square" lIns="0" tIns="0" rIns="0" bIns="0" rtlCol="0" anchor="ctr"/>
          <a:lstStyle/>
          <a:p>
            <a:pPr algn="r" indent="0" marL="0">
              <a:buNone/>
            </a:pPr>
            <a:r>
              <a:rPr lang="en-US" sz="1000" dirty="0">
                <a:solidFill>
                  <a:srgbClr val="BDBDBD"/>
                </a:solidFill>
                <a:latin typeface="Inter" pitchFamily="34" charset="0"/>
                <a:ea typeface="Inter" pitchFamily="34" charset="-122"/>
                <a:cs typeface="Inter" pitchFamily="34" charset="-120"/>
              </a:rPr>
              <a:t>EER (%) · higher is worse</a:t>
            </a:r>
            <a:endParaRPr lang="en-US" sz="1000" dirty="0"/>
          </a:p>
        </p:txBody>
      </p:sp>
      <p:sp>
        <p:nvSpPr>
          <p:cNvPr id="78" name="Text 76"/>
          <p:cNvSpPr txBox="1"/>
          <p:nvPr/>
        </p:nvSpPr>
        <p:spPr>
          <a:xfrm>
            <a:off x="731520" y="5806440"/>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No architecture escapes it.</a:t>
            </a:r>
            <a:pPr indent="0" marL="0">
              <a:buNone/>
            </a:pPr>
            <a:r>
              <a:rPr lang="en-US" sz="1500" dirty="0">
                <a:solidFill>
                  <a:srgbClr val="8C8C8C"/>
                </a:solidFill>
                <a:latin typeface="Inter" pitchFamily="34" charset="0"/>
                <a:ea typeface="Inter" pitchFamily="34" charset="-122"/>
                <a:cs typeface="Inter" pitchFamily="34" charset="-120"/>
              </a:rPr>
              <a:t> The two clouds do not even come close to touching.</a:t>
            </a:r>
            <a:endParaRPr lang="en-US" sz="1500" dirty="0"/>
          </a:p>
        </p:txBody>
      </p:sp>
      <p:sp>
        <p:nvSpPr>
          <p:cNvPr id="79" name="Text 77"/>
          <p:cNvSpPr txBox="1"/>
          <p:nvPr/>
        </p:nvSpPr>
        <p:spPr>
          <a:xfrm>
            <a:off x="731520" y="6199632"/>
            <a:ext cx="10728655" cy="274320"/>
          </a:xfrm>
          <a:prstGeom prst="rect">
            <a:avLst/>
          </a:prstGeom>
          <a:noFill/>
          <a:ln/>
        </p:spPr>
        <p:txBody>
          <a:bodyPr wrap="square" lIns="0" tIns="0" rIns="0" bIns="0" rtlCol="0" anchor="ctr"/>
          <a:lstStyle/>
          <a:p>
            <a:pPr indent="0" marL="0">
              <a:buNone/>
            </a:pPr>
            <a:r>
              <a:rPr lang="en-US" sz="900" dirty="0">
                <a:solidFill>
                  <a:srgbClr val="BDBDBD"/>
                </a:solidFill>
                <a:latin typeface="Consolas" pitchFamily="34" charset="0"/>
                <a:ea typeface="Consolas" pitchFamily="34" charset="-122"/>
                <a:cs typeface="Consolas" pitchFamily="34" charset="-120"/>
              </a:rPr>
              <a:t>Lower lane: 48 mean EERs, Table 5. Upper lane: published range for English-trained models on Spanish (Sec. 4.2).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VISUAL 2 · FOR BLOCK 5 — WHAT 48 MEANS</a:t>
            </a:r>
            <a:endParaRPr lang="en-US" sz="1000" dirty="0"/>
          </a:p>
        </p:txBody>
      </p:sp>
      <p:sp>
        <p:nvSpPr>
          <p:cNvPr id="3" name="Text 1"/>
          <p:cNvSpPr txBox="1"/>
          <p:nvPr/>
        </p:nvSpPr>
        <p:spPr>
          <a:xfrm>
            <a:off x="731520" y="749808"/>
            <a:ext cx="10728655" cy="822960"/>
          </a:xfrm>
          <a:prstGeom prst="rect">
            <a:avLst/>
          </a:prstGeom>
          <a:noFill/>
          <a:ln/>
        </p:spPr>
        <p:txBody>
          <a:bodyPr wrap="square" lIns="0" tIns="0" rIns="0" bIns="0" rtlCol="0" anchor="ctr"/>
          <a:lstStyle/>
          <a:p>
            <a:pPr indent="0" marL="0">
              <a:buNone/>
            </a:pPr>
            <a:r>
              <a:rPr lang="en-US" sz="3600" b="1" dirty="0">
                <a:solidFill>
                  <a:srgbClr val="0D0D0D"/>
                </a:solidFill>
                <a:latin typeface="Inter" pitchFamily="34" charset="0"/>
                <a:ea typeface="Inter" pitchFamily="34" charset="-122"/>
                <a:cs typeface="Inter" pitchFamily="34" charset="-120"/>
              </a:rPr>
              <a:t>We did not pick a model.</a:t>
            </a:r>
            <a:pPr indent="0" marL="0">
              <a:buNone/>
            </a:pPr>
            <a:r>
              <a:rPr lang="en-US" sz="3600" b="1" dirty="0">
                <a:solidFill>
                  <a:srgbClr val="BDBDBD"/>
                </a:solidFill>
                <a:latin typeface="Inter" pitchFamily="34" charset="0"/>
                <a:ea typeface="Inter" pitchFamily="34" charset="-122"/>
                <a:cs typeface="Inter" pitchFamily="34" charset="-120"/>
              </a:rPr>
              <a:t> We built all of them.</a:t>
            </a:r>
            <a:endParaRPr lang="en-US" sz="3600" dirty="0"/>
          </a:p>
        </p:txBody>
      </p:sp>
      <p:sp>
        <p:nvSpPr>
          <p:cNvPr id="4" name="Text 2"/>
          <p:cNvSpPr txBox="1"/>
          <p:nvPr/>
        </p:nvSpPr>
        <p:spPr>
          <a:xfrm>
            <a:off x="2377440" y="1874520"/>
            <a:ext cx="914400" cy="256032"/>
          </a:xfrm>
          <a:prstGeom prst="rect">
            <a:avLst/>
          </a:prstGeom>
          <a:noFill/>
          <a:ln/>
        </p:spPr>
        <p:txBody>
          <a:bodyPr wrap="square" lIns="0" tIns="0" rIns="0" bIns="0" rtlCol="0" anchor="ctr"/>
          <a:lstStyle/>
          <a:p>
            <a:pPr algn="ctr" indent="0" marL="0">
              <a:buNone/>
            </a:pPr>
            <a:r>
              <a:rPr lang="en-US" sz="1050" b="1" dirty="0">
                <a:solidFill>
                  <a:srgbClr val="3F3F3F"/>
                </a:solidFill>
                <a:latin typeface="Inter" pitchFamily="34" charset="0"/>
                <a:ea typeface="Inter" pitchFamily="34" charset="-122"/>
                <a:cs typeface="Inter" pitchFamily="34" charset="-120"/>
              </a:rPr>
              <a:t>AM</a:t>
            </a:r>
            <a:endParaRPr lang="en-US" sz="1050" dirty="0"/>
          </a:p>
        </p:txBody>
      </p:sp>
      <p:sp>
        <p:nvSpPr>
          <p:cNvPr id="5" name="Text 3"/>
          <p:cNvSpPr txBox="1"/>
          <p:nvPr/>
        </p:nvSpPr>
        <p:spPr>
          <a:xfrm>
            <a:off x="4178808" y="1874520"/>
            <a:ext cx="914400" cy="256032"/>
          </a:xfrm>
          <a:prstGeom prst="rect">
            <a:avLst/>
          </a:prstGeom>
          <a:noFill/>
          <a:ln/>
        </p:spPr>
        <p:txBody>
          <a:bodyPr wrap="square" lIns="0" tIns="0" rIns="0" bIns="0" rtlCol="0" anchor="ctr"/>
          <a:lstStyle/>
          <a:p>
            <a:pPr algn="ctr" indent="0" marL="0">
              <a:buNone/>
            </a:pPr>
            <a:r>
              <a:rPr lang="en-US" sz="1050" b="1" dirty="0">
                <a:solidFill>
                  <a:srgbClr val="3F3F3F"/>
                </a:solidFill>
                <a:latin typeface="Inter" pitchFamily="34" charset="0"/>
                <a:ea typeface="Inter" pitchFamily="34" charset="-122"/>
                <a:cs typeface="Inter" pitchFamily="34" charset="-120"/>
              </a:rPr>
              <a:t>P2S</a:t>
            </a:r>
            <a:endParaRPr lang="en-US" sz="1050" dirty="0"/>
          </a:p>
        </p:txBody>
      </p:sp>
      <p:sp>
        <p:nvSpPr>
          <p:cNvPr id="6" name="Text 4"/>
          <p:cNvSpPr txBox="1"/>
          <p:nvPr/>
        </p:nvSpPr>
        <p:spPr>
          <a:xfrm>
            <a:off x="5980176" y="1874520"/>
            <a:ext cx="914400" cy="256032"/>
          </a:xfrm>
          <a:prstGeom prst="rect">
            <a:avLst/>
          </a:prstGeom>
          <a:noFill/>
          <a:ln/>
        </p:spPr>
        <p:txBody>
          <a:bodyPr wrap="square" lIns="0" tIns="0" rIns="0" bIns="0" rtlCol="0" anchor="ctr"/>
          <a:lstStyle/>
          <a:p>
            <a:pPr algn="ctr" indent="0" marL="0">
              <a:buNone/>
            </a:pPr>
            <a:r>
              <a:rPr lang="en-US" sz="1050" b="1" dirty="0">
                <a:solidFill>
                  <a:srgbClr val="3F3F3F"/>
                </a:solidFill>
                <a:latin typeface="Inter" pitchFamily="34" charset="0"/>
                <a:ea typeface="Inter" pitchFamily="34" charset="-122"/>
                <a:cs typeface="Inter" pitchFamily="34" charset="-120"/>
              </a:rPr>
              <a:t>OC</a:t>
            </a:r>
            <a:endParaRPr lang="en-US" sz="1050" dirty="0"/>
          </a:p>
        </p:txBody>
      </p:sp>
      <p:sp>
        <p:nvSpPr>
          <p:cNvPr id="7" name="Text 5"/>
          <p:cNvSpPr txBox="1"/>
          <p:nvPr/>
        </p:nvSpPr>
        <p:spPr>
          <a:xfrm>
            <a:off x="7781544" y="1874520"/>
            <a:ext cx="914400" cy="256032"/>
          </a:xfrm>
          <a:prstGeom prst="rect">
            <a:avLst/>
          </a:prstGeom>
          <a:noFill/>
          <a:ln/>
        </p:spPr>
        <p:txBody>
          <a:bodyPr wrap="square" lIns="0" tIns="0" rIns="0" bIns="0" rtlCol="0" anchor="ctr"/>
          <a:lstStyle/>
          <a:p>
            <a:pPr algn="ctr" indent="0" marL="0">
              <a:buNone/>
            </a:pPr>
            <a:r>
              <a:rPr lang="en-US" sz="1050" b="1" dirty="0">
                <a:solidFill>
                  <a:srgbClr val="3F3F3F"/>
                </a:solidFill>
                <a:latin typeface="Inter" pitchFamily="34" charset="0"/>
                <a:ea typeface="Inter" pitchFamily="34" charset="-122"/>
                <a:cs typeface="Inter" pitchFamily="34" charset="-120"/>
              </a:rPr>
              <a:t>Sig</a:t>
            </a:r>
            <a:endParaRPr lang="en-US" sz="1050" dirty="0"/>
          </a:p>
        </p:txBody>
      </p:sp>
      <p:sp>
        <p:nvSpPr>
          <p:cNvPr id="8" name="Text 6"/>
          <p:cNvSpPr txBox="1"/>
          <p:nvPr/>
        </p:nvSpPr>
        <p:spPr>
          <a:xfrm>
            <a:off x="731520" y="2386584"/>
            <a:ext cx="1280160" cy="274320"/>
          </a:xfrm>
          <a:prstGeom prst="rect">
            <a:avLst/>
          </a:prstGeom>
          <a:noFill/>
          <a:ln/>
        </p:spPr>
        <p:txBody>
          <a:bodyPr wrap="square" lIns="0" tIns="0" rIns="0" bIns="0" rtlCol="0" anchor="ctr"/>
          <a:lstStyle/>
          <a:p>
            <a:pPr indent="0" marL="0">
              <a:buNone/>
            </a:pPr>
            <a:r>
              <a:rPr lang="en-US" sz="1100" b="1" dirty="0">
                <a:solidFill>
                  <a:srgbClr val="0D0D0D"/>
                </a:solidFill>
                <a:latin typeface="Inter" pitchFamily="34" charset="0"/>
                <a:ea typeface="Inter" pitchFamily="34" charset="-122"/>
                <a:cs typeface="Inter" pitchFamily="34" charset="-120"/>
              </a:rPr>
              <a:t>CQCC</a:t>
            </a:r>
            <a:endParaRPr lang="en-US" sz="1100" dirty="0"/>
          </a:p>
        </p:txBody>
      </p:sp>
      <p:sp>
        <p:nvSpPr>
          <p:cNvPr id="9" name="Shape 7"/>
          <p:cNvSpPr/>
          <p:nvPr/>
        </p:nvSpPr>
        <p:spPr>
          <a:xfrm>
            <a:off x="2103120" y="2240280"/>
            <a:ext cx="457200" cy="457200"/>
          </a:xfrm>
          <a:prstGeom prst="rect">
            <a:avLst/>
          </a:prstGeom>
          <a:solidFill>
            <a:srgbClr val="959592"/>
          </a:solidFill>
          <a:ln w="9525">
            <a:solidFill>
              <a:srgbClr val="E6E6E6"/>
            </a:solidFill>
            <a:prstDash val="solid"/>
          </a:ln>
        </p:spPr>
      </p:sp>
      <p:sp>
        <p:nvSpPr>
          <p:cNvPr id="10" name="Text 8"/>
          <p:cNvSpPr txBox="1"/>
          <p:nvPr/>
        </p:nvSpPr>
        <p:spPr>
          <a:xfrm>
            <a:off x="2103120" y="235915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7.58</a:t>
            </a:r>
            <a:endParaRPr lang="en-US" sz="800" dirty="0"/>
          </a:p>
        </p:txBody>
      </p:sp>
      <p:sp>
        <p:nvSpPr>
          <p:cNvPr id="11" name="Shape 9"/>
          <p:cNvSpPr/>
          <p:nvPr/>
        </p:nvSpPr>
        <p:spPr>
          <a:xfrm>
            <a:off x="2606040" y="2240280"/>
            <a:ext cx="457200" cy="457200"/>
          </a:xfrm>
          <a:prstGeom prst="rect">
            <a:avLst/>
          </a:prstGeom>
          <a:solidFill>
            <a:srgbClr val="979793"/>
          </a:solidFill>
          <a:ln w="9525">
            <a:solidFill>
              <a:srgbClr val="E6E6E6"/>
            </a:solidFill>
            <a:prstDash val="solid"/>
          </a:ln>
        </p:spPr>
      </p:sp>
      <p:sp>
        <p:nvSpPr>
          <p:cNvPr id="12" name="Text 10"/>
          <p:cNvSpPr txBox="1"/>
          <p:nvPr/>
        </p:nvSpPr>
        <p:spPr>
          <a:xfrm>
            <a:off x="2606040" y="235915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7.49</a:t>
            </a:r>
            <a:endParaRPr lang="en-US" sz="800" dirty="0"/>
          </a:p>
        </p:txBody>
      </p:sp>
      <p:sp>
        <p:nvSpPr>
          <p:cNvPr id="13" name="Shape 11"/>
          <p:cNvSpPr/>
          <p:nvPr/>
        </p:nvSpPr>
        <p:spPr>
          <a:xfrm>
            <a:off x="3108960" y="2240280"/>
            <a:ext cx="457200" cy="457200"/>
          </a:xfrm>
          <a:prstGeom prst="rect">
            <a:avLst/>
          </a:prstGeom>
          <a:solidFill>
            <a:srgbClr val="91918D"/>
          </a:solidFill>
          <a:ln w="9525">
            <a:solidFill>
              <a:srgbClr val="E6E6E6"/>
            </a:solidFill>
            <a:prstDash val="solid"/>
          </a:ln>
        </p:spPr>
      </p:sp>
      <p:sp>
        <p:nvSpPr>
          <p:cNvPr id="14" name="Text 12"/>
          <p:cNvSpPr txBox="1"/>
          <p:nvPr/>
        </p:nvSpPr>
        <p:spPr>
          <a:xfrm>
            <a:off x="3108960" y="235915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7.81</a:t>
            </a:r>
            <a:endParaRPr lang="en-US" sz="800" dirty="0"/>
          </a:p>
        </p:txBody>
      </p:sp>
      <p:sp>
        <p:nvSpPr>
          <p:cNvPr id="15" name="Shape 13"/>
          <p:cNvSpPr/>
          <p:nvPr/>
        </p:nvSpPr>
        <p:spPr>
          <a:xfrm>
            <a:off x="3904488" y="2240280"/>
            <a:ext cx="457200" cy="457200"/>
          </a:xfrm>
          <a:prstGeom prst="rect">
            <a:avLst/>
          </a:prstGeom>
          <a:solidFill>
            <a:srgbClr val="A7A7A3"/>
          </a:solidFill>
          <a:ln w="9525">
            <a:solidFill>
              <a:srgbClr val="E6E6E6"/>
            </a:solidFill>
            <a:prstDash val="solid"/>
          </a:ln>
        </p:spPr>
      </p:sp>
      <p:sp>
        <p:nvSpPr>
          <p:cNvPr id="16" name="Text 14"/>
          <p:cNvSpPr txBox="1"/>
          <p:nvPr/>
        </p:nvSpPr>
        <p:spPr>
          <a:xfrm>
            <a:off x="3904488" y="235915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6.65</a:t>
            </a:r>
            <a:endParaRPr lang="en-US" sz="800" dirty="0"/>
          </a:p>
        </p:txBody>
      </p:sp>
      <p:sp>
        <p:nvSpPr>
          <p:cNvPr id="17" name="Shape 15"/>
          <p:cNvSpPr/>
          <p:nvPr/>
        </p:nvSpPr>
        <p:spPr>
          <a:xfrm>
            <a:off x="4407408" y="2240280"/>
            <a:ext cx="457200" cy="457200"/>
          </a:xfrm>
          <a:prstGeom prst="rect">
            <a:avLst/>
          </a:prstGeom>
          <a:solidFill>
            <a:srgbClr val="B3B3B0"/>
          </a:solidFill>
          <a:ln w="9525">
            <a:solidFill>
              <a:srgbClr val="E6E6E6"/>
            </a:solidFill>
            <a:prstDash val="solid"/>
          </a:ln>
        </p:spPr>
      </p:sp>
      <p:sp>
        <p:nvSpPr>
          <p:cNvPr id="18" name="Text 16"/>
          <p:cNvSpPr txBox="1"/>
          <p:nvPr/>
        </p:nvSpPr>
        <p:spPr>
          <a:xfrm>
            <a:off x="4407408" y="235915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6.00</a:t>
            </a:r>
            <a:endParaRPr lang="en-US" sz="800" dirty="0"/>
          </a:p>
        </p:txBody>
      </p:sp>
      <p:sp>
        <p:nvSpPr>
          <p:cNvPr id="19" name="Shape 17"/>
          <p:cNvSpPr/>
          <p:nvPr/>
        </p:nvSpPr>
        <p:spPr>
          <a:xfrm>
            <a:off x="4910328" y="2240280"/>
            <a:ext cx="457200" cy="457200"/>
          </a:xfrm>
          <a:prstGeom prst="rect">
            <a:avLst/>
          </a:prstGeom>
          <a:solidFill>
            <a:srgbClr val="AFAFAC"/>
          </a:solidFill>
          <a:ln w="9525">
            <a:solidFill>
              <a:srgbClr val="E6E6E6"/>
            </a:solidFill>
            <a:prstDash val="solid"/>
          </a:ln>
        </p:spPr>
      </p:sp>
      <p:sp>
        <p:nvSpPr>
          <p:cNvPr id="20" name="Text 18"/>
          <p:cNvSpPr txBox="1"/>
          <p:nvPr/>
        </p:nvSpPr>
        <p:spPr>
          <a:xfrm>
            <a:off x="4910328" y="235915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6.20</a:t>
            </a:r>
            <a:endParaRPr lang="en-US" sz="800" dirty="0"/>
          </a:p>
        </p:txBody>
      </p:sp>
      <p:sp>
        <p:nvSpPr>
          <p:cNvPr id="21" name="Shape 19"/>
          <p:cNvSpPr/>
          <p:nvPr/>
        </p:nvSpPr>
        <p:spPr>
          <a:xfrm>
            <a:off x="5705856" y="2240280"/>
            <a:ext cx="457200" cy="457200"/>
          </a:xfrm>
          <a:prstGeom prst="rect">
            <a:avLst/>
          </a:prstGeom>
          <a:solidFill>
            <a:srgbClr val="ABABA8"/>
          </a:solidFill>
          <a:ln w="9525">
            <a:solidFill>
              <a:srgbClr val="E6E6E6"/>
            </a:solidFill>
            <a:prstDash val="solid"/>
          </a:ln>
        </p:spPr>
      </p:sp>
      <p:sp>
        <p:nvSpPr>
          <p:cNvPr id="22" name="Text 20"/>
          <p:cNvSpPr txBox="1"/>
          <p:nvPr/>
        </p:nvSpPr>
        <p:spPr>
          <a:xfrm>
            <a:off x="5705856" y="235915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6.40</a:t>
            </a:r>
            <a:endParaRPr lang="en-US" sz="800" dirty="0"/>
          </a:p>
        </p:txBody>
      </p:sp>
      <p:sp>
        <p:nvSpPr>
          <p:cNvPr id="23" name="Shape 21"/>
          <p:cNvSpPr/>
          <p:nvPr/>
        </p:nvSpPr>
        <p:spPr>
          <a:xfrm>
            <a:off x="6208776" y="2240280"/>
            <a:ext cx="457200" cy="457200"/>
          </a:xfrm>
          <a:prstGeom prst="rect">
            <a:avLst/>
          </a:prstGeom>
          <a:solidFill>
            <a:srgbClr val="B1B1AD"/>
          </a:solidFill>
          <a:ln w="9525">
            <a:solidFill>
              <a:srgbClr val="E6E6E6"/>
            </a:solidFill>
            <a:prstDash val="solid"/>
          </a:ln>
        </p:spPr>
      </p:sp>
      <p:sp>
        <p:nvSpPr>
          <p:cNvPr id="24" name="Text 22"/>
          <p:cNvSpPr txBox="1"/>
          <p:nvPr/>
        </p:nvSpPr>
        <p:spPr>
          <a:xfrm>
            <a:off x="6208776" y="235915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6.12</a:t>
            </a:r>
            <a:endParaRPr lang="en-US" sz="800" dirty="0"/>
          </a:p>
        </p:txBody>
      </p:sp>
      <p:sp>
        <p:nvSpPr>
          <p:cNvPr id="25" name="Shape 23"/>
          <p:cNvSpPr/>
          <p:nvPr/>
        </p:nvSpPr>
        <p:spPr>
          <a:xfrm>
            <a:off x="6711696" y="2240280"/>
            <a:ext cx="457200" cy="457200"/>
          </a:xfrm>
          <a:prstGeom prst="rect">
            <a:avLst/>
          </a:prstGeom>
          <a:solidFill>
            <a:srgbClr val="A7A7A4"/>
          </a:solidFill>
          <a:ln w="9525">
            <a:solidFill>
              <a:srgbClr val="E6E6E6"/>
            </a:solidFill>
            <a:prstDash val="solid"/>
          </a:ln>
        </p:spPr>
      </p:sp>
      <p:sp>
        <p:nvSpPr>
          <p:cNvPr id="26" name="Text 24"/>
          <p:cNvSpPr txBox="1"/>
          <p:nvPr/>
        </p:nvSpPr>
        <p:spPr>
          <a:xfrm>
            <a:off x="6711696" y="235915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6.63</a:t>
            </a:r>
            <a:endParaRPr lang="en-US" sz="800" dirty="0"/>
          </a:p>
        </p:txBody>
      </p:sp>
      <p:sp>
        <p:nvSpPr>
          <p:cNvPr id="27" name="Shape 25"/>
          <p:cNvSpPr/>
          <p:nvPr/>
        </p:nvSpPr>
        <p:spPr>
          <a:xfrm>
            <a:off x="7507224" y="2240280"/>
            <a:ext cx="457200" cy="457200"/>
          </a:xfrm>
          <a:prstGeom prst="rect">
            <a:avLst/>
          </a:prstGeom>
          <a:solidFill>
            <a:srgbClr val="8C8C88"/>
          </a:solidFill>
          <a:ln w="9525">
            <a:solidFill>
              <a:srgbClr val="E6E6E6"/>
            </a:solidFill>
            <a:prstDash val="solid"/>
          </a:ln>
        </p:spPr>
      </p:sp>
      <p:sp>
        <p:nvSpPr>
          <p:cNvPr id="28" name="Text 26"/>
          <p:cNvSpPr txBox="1"/>
          <p:nvPr/>
        </p:nvSpPr>
        <p:spPr>
          <a:xfrm>
            <a:off x="7507224" y="235915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8.08</a:t>
            </a:r>
            <a:endParaRPr lang="en-US" sz="800" dirty="0"/>
          </a:p>
        </p:txBody>
      </p:sp>
      <p:sp>
        <p:nvSpPr>
          <p:cNvPr id="29" name="Shape 27"/>
          <p:cNvSpPr/>
          <p:nvPr/>
        </p:nvSpPr>
        <p:spPr>
          <a:xfrm>
            <a:off x="8010144" y="2240280"/>
            <a:ext cx="457200" cy="457200"/>
          </a:xfrm>
          <a:prstGeom prst="rect">
            <a:avLst/>
          </a:prstGeom>
          <a:solidFill>
            <a:srgbClr val="AFAFAB"/>
          </a:solidFill>
          <a:ln w="9525">
            <a:solidFill>
              <a:srgbClr val="E6E6E6"/>
            </a:solidFill>
            <a:prstDash val="solid"/>
          </a:ln>
        </p:spPr>
      </p:sp>
      <p:sp>
        <p:nvSpPr>
          <p:cNvPr id="30" name="Text 28"/>
          <p:cNvSpPr txBox="1"/>
          <p:nvPr/>
        </p:nvSpPr>
        <p:spPr>
          <a:xfrm>
            <a:off x="8010144" y="235915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6.23</a:t>
            </a:r>
            <a:endParaRPr lang="en-US" sz="800" dirty="0"/>
          </a:p>
        </p:txBody>
      </p:sp>
      <p:sp>
        <p:nvSpPr>
          <p:cNvPr id="31" name="Shape 29"/>
          <p:cNvSpPr/>
          <p:nvPr/>
        </p:nvSpPr>
        <p:spPr>
          <a:xfrm>
            <a:off x="8513064" y="2240280"/>
            <a:ext cx="457200" cy="457200"/>
          </a:xfrm>
          <a:prstGeom prst="rect">
            <a:avLst/>
          </a:prstGeom>
          <a:solidFill>
            <a:srgbClr val="B0B0AD"/>
          </a:solidFill>
          <a:ln w="9525">
            <a:solidFill>
              <a:srgbClr val="E6E6E6"/>
            </a:solidFill>
            <a:prstDash val="solid"/>
          </a:ln>
        </p:spPr>
      </p:sp>
      <p:sp>
        <p:nvSpPr>
          <p:cNvPr id="32" name="Text 30"/>
          <p:cNvSpPr txBox="1"/>
          <p:nvPr/>
        </p:nvSpPr>
        <p:spPr>
          <a:xfrm>
            <a:off x="8513064" y="235915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6.14</a:t>
            </a:r>
            <a:endParaRPr lang="en-US" sz="800" dirty="0"/>
          </a:p>
        </p:txBody>
      </p:sp>
      <p:sp>
        <p:nvSpPr>
          <p:cNvPr id="33" name="Text 31"/>
          <p:cNvSpPr txBox="1"/>
          <p:nvPr/>
        </p:nvSpPr>
        <p:spPr>
          <a:xfrm>
            <a:off x="731520" y="2889504"/>
            <a:ext cx="1280160" cy="274320"/>
          </a:xfrm>
          <a:prstGeom prst="rect">
            <a:avLst/>
          </a:prstGeom>
          <a:noFill/>
          <a:ln/>
        </p:spPr>
        <p:txBody>
          <a:bodyPr wrap="square" lIns="0" tIns="0" rIns="0" bIns="0" rtlCol="0" anchor="ctr"/>
          <a:lstStyle/>
          <a:p>
            <a:pPr indent="0" marL="0">
              <a:buNone/>
            </a:pPr>
            <a:r>
              <a:rPr lang="en-US" sz="1100" b="1" dirty="0">
                <a:solidFill>
                  <a:srgbClr val="0D0D0D"/>
                </a:solidFill>
                <a:latin typeface="Inter" pitchFamily="34" charset="0"/>
                <a:ea typeface="Inter" pitchFamily="34" charset="-122"/>
                <a:cs typeface="Inter" pitchFamily="34" charset="-120"/>
              </a:rPr>
              <a:t>Spectrogram</a:t>
            </a:r>
            <a:endParaRPr lang="en-US" sz="1100" dirty="0"/>
          </a:p>
        </p:txBody>
      </p:sp>
      <p:sp>
        <p:nvSpPr>
          <p:cNvPr id="34" name="Shape 32"/>
          <p:cNvSpPr/>
          <p:nvPr/>
        </p:nvSpPr>
        <p:spPr>
          <a:xfrm>
            <a:off x="2103120" y="2743200"/>
            <a:ext cx="457200" cy="457200"/>
          </a:xfrm>
          <a:prstGeom prst="rect">
            <a:avLst/>
          </a:prstGeom>
          <a:solidFill>
            <a:srgbClr val="BFBFBC"/>
          </a:solidFill>
          <a:ln w="9525">
            <a:solidFill>
              <a:srgbClr val="E6E6E6"/>
            </a:solidFill>
            <a:prstDash val="solid"/>
          </a:ln>
        </p:spPr>
      </p:sp>
      <p:sp>
        <p:nvSpPr>
          <p:cNvPr id="35" name="Text 33"/>
          <p:cNvSpPr txBox="1"/>
          <p:nvPr/>
        </p:nvSpPr>
        <p:spPr>
          <a:xfrm>
            <a:off x="2103120" y="286207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5.35</a:t>
            </a:r>
            <a:endParaRPr lang="en-US" sz="800" dirty="0"/>
          </a:p>
        </p:txBody>
      </p:sp>
      <p:sp>
        <p:nvSpPr>
          <p:cNvPr id="36" name="Shape 34"/>
          <p:cNvSpPr/>
          <p:nvPr/>
        </p:nvSpPr>
        <p:spPr>
          <a:xfrm>
            <a:off x="2606040" y="2743200"/>
            <a:ext cx="457200" cy="457200"/>
          </a:xfrm>
          <a:prstGeom prst="rect">
            <a:avLst/>
          </a:prstGeom>
          <a:solidFill>
            <a:srgbClr val="BCBCB9"/>
          </a:solidFill>
          <a:ln w="9525">
            <a:solidFill>
              <a:srgbClr val="E6E6E6"/>
            </a:solidFill>
            <a:prstDash val="solid"/>
          </a:ln>
        </p:spPr>
      </p:sp>
      <p:sp>
        <p:nvSpPr>
          <p:cNvPr id="37" name="Text 35"/>
          <p:cNvSpPr txBox="1"/>
          <p:nvPr/>
        </p:nvSpPr>
        <p:spPr>
          <a:xfrm>
            <a:off x="2606040" y="286207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5.52</a:t>
            </a:r>
            <a:endParaRPr lang="en-US" sz="800" dirty="0"/>
          </a:p>
        </p:txBody>
      </p:sp>
      <p:sp>
        <p:nvSpPr>
          <p:cNvPr id="38" name="Shape 36"/>
          <p:cNvSpPr/>
          <p:nvPr/>
        </p:nvSpPr>
        <p:spPr>
          <a:xfrm>
            <a:off x="3108960" y="2743200"/>
            <a:ext cx="457200" cy="457200"/>
          </a:xfrm>
          <a:prstGeom prst="rect">
            <a:avLst/>
          </a:prstGeom>
          <a:solidFill>
            <a:srgbClr val="CCCCC9"/>
          </a:solidFill>
          <a:ln w="9525">
            <a:solidFill>
              <a:srgbClr val="E6E6E6"/>
            </a:solidFill>
            <a:prstDash val="solid"/>
          </a:ln>
        </p:spPr>
      </p:sp>
      <p:sp>
        <p:nvSpPr>
          <p:cNvPr id="39" name="Text 37"/>
          <p:cNvSpPr txBox="1"/>
          <p:nvPr/>
        </p:nvSpPr>
        <p:spPr>
          <a:xfrm>
            <a:off x="3108960" y="286207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4.67</a:t>
            </a:r>
            <a:endParaRPr lang="en-US" sz="800" dirty="0"/>
          </a:p>
        </p:txBody>
      </p:sp>
      <p:sp>
        <p:nvSpPr>
          <p:cNvPr id="40" name="Shape 38"/>
          <p:cNvSpPr/>
          <p:nvPr/>
        </p:nvSpPr>
        <p:spPr>
          <a:xfrm>
            <a:off x="3904488" y="2743200"/>
            <a:ext cx="457200" cy="457200"/>
          </a:xfrm>
          <a:prstGeom prst="rect">
            <a:avLst/>
          </a:prstGeom>
          <a:solidFill>
            <a:srgbClr val="B9B9B6"/>
          </a:solidFill>
          <a:ln w="9525">
            <a:solidFill>
              <a:srgbClr val="E6E6E6"/>
            </a:solidFill>
            <a:prstDash val="solid"/>
          </a:ln>
        </p:spPr>
      </p:sp>
      <p:sp>
        <p:nvSpPr>
          <p:cNvPr id="41" name="Text 39"/>
          <p:cNvSpPr txBox="1"/>
          <p:nvPr/>
        </p:nvSpPr>
        <p:spPr>
          <a:xfrm>
            <a:off x="3904488" y="286207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5.68</a:t>
            </a:r>
            <a:endParaRPr lang="en-US" sz="800" dirty="0"/>
          </a:p>
        </p:txBody>
      </p:sp>
      <p:sp>
        <p:nvSpPr>
          <p:cNvPr id="42" name="Shape 40"/>
          <p:cNvSpPr/>
          <p:nvPr/>
        </p:nvSpPr>
        <p:spPr>
          <a:xfrm>
            <a:off x="4407408" y="2743200"/>
            <a:ext cx="457200" cy="457200"/>
          </a:xfrm>
          <a:prstGeom prst="rect">
            <a:avLst/>
          </a:prstGeom>
          <a:solidFill>
            <a:srgbClr val="DCDCDA"/>
          </a:solidFill>
          <a:ln w="9525">
            <a:solidFill>
              <a:srgbClr val="E6E6E6"/>
            </a:solidFill>
            <a:prstDash val="solid"/>
          </a:ln>
        </p:spPr>
      </p:sp>
      <p:sp>
        <p:nvSpPr>
          <p:cNvPr id="43" name="Text 41"/>
          <p:cNvSpPr txBox="1"/>
          <p:nvPr/>
        </p:nvSpPr>
        <p:spPr>
          <a:xfrm>
            <a:off x="4407408" y="286207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3.79</a:t>
            </a:r>
            <a:endParaRPr lang="en-US" sz="800" dirty="0"/>
          </a:p>
        </p:txBody>
      </p:sp>
      <p:sp>
        <p:nvSpPr>
          <p:cNvPr id="44" name="Shape 42"/>
          <p:cNvSpPr/>
          <p:nvPr/>
        </p:nvSpPr>
        <p:spPr>
          <a:xfrm>
            <a:off x="4910328" y="2743200"/>
            <a:ext cx="457200" cy="457200"/>
          </a:xfrm>
          <a:prstGeom prst="rect">
            <a:avLst/>
          </a:prstGeom>
          <a:solidFill>
            <a:srgbClr val="E2E2DF"/>
          </a:solidFill>
          <a:ln w="9525">
            <a:solidFill>
              <a:srgbClr val="E6E6E6"/>
            </a:solidFill>
            <a:prstDash val="solid"/>
          </a:ln>
        </p:spPr>
      </p:sp>
      <p:sp>
        <p:nvSpPr>
          <p:cNvPr id="45" name="Text 43"/>
          <p:cNvSpPr txBox="1"/>
          <p:nvPr/>
        </p:nvSpPr>
        <p:spPr>
          <a:xfrm>
            <a:off x="4910328" y="286207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3.48</a:t>
            </a:r>
            <a:endParaRPr lang="en-US" sz="800" dirty="0"/>
          </a:p>
        </p:txBody>
      </p:sp>
      <p:sp>
        <p:nvSpPr>
          <p:cNvPr id="46" name="Shape 44"/>
          <p:cNvSpPr/>
          <p:nvPr/>
        </p:nvSpPr>
        <p:spPr>
          <a:xfrm>
            <a:off x="5705856" y="2743200"/>
            <a:ext cx="457200" cy="457200"/>
          </a:xfrm>
          <a:prstGeom prst="rect">
            <a:avLst/>
          </a:prstGeom>
          <a:solidFill>
            <a:srgbClr val="B9B9B6"/>
          </a:solidFill>
          <a:ln w="9525">
            <a:solidFill>
              <a:srgbClr val="E6E6E6"/>
            </a:solidFill>
            <a:prstDash val="solid"/>
          </a:ln>
        </p:spPr>
      </p:sp>
      <p:sp>
        <p:nvSpPr>
          <p:cNvPr id="47" name="Text 45"/>
          <p:cNvSpPr txBox="1"/>
          <p:nvPr/>
        </p:nvSpPr>
        <p:spPr>
          <a:xfrm>
            <a:off x="5705856" y="286207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5.67</a:t>
            </a:r>
            <a:endParaRPr lang="en-US" sz="800" dirty="0"/>
          </a:p>
        </p:txBody>
      </p:sp>
      <p:sp>
        <p:nvSpPr>
          <p:cNvPr id="48" name="Shape 46"/>
          <p:cNvSpPr/>
          <p:nvPr/>
        </p:nvSpPr>
        <p:spPr>
          <a:xfrm>
            <a:off x="6208776" y="2743200"/>
            <a:ext cx="457200" cy="457200"/>
          </a:xfrm>
          <a:prstGeom prst="rect">
            <a:avLst/>
          </a:prstGeom>
          <a:solidFill>
            <a:srgbClr val="C4C4C1"/>
          </a:solidFill>
          <a:ln w="9525">
            <a:solidFill>
              <a:srgbClr val="E6E6E6"/>
            </a:solidFill>
            <a:prstDash val="solid"/>
          </a:ln>
        </p:spPr>
      </p:sp>
      <p:sp>
        <p:nvSpPr>
          <p:cNvPr id="49" name="Text 47"/>
          <p:cNvSpPr txBox="1"/>
          <p:nvPr/>
        </p:nvSpPr>
        <p:spPr>
          <a:xfrm>
            <a:off x="6208776" y="286207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5.10</a:t>
            </a:r>
            <a:endParaRPr lang="en-US" sz="800" dirty="0"/>
          </a:p>
        </p:txBody>
      </p:sp>
      <p:sp>
        <p:nvSpPr>
          <p:cNvPr id="50" name="Shape 48"/>
          <p:cNvSpPr/>
          <p:nvPr/>
        </p:nvSpPr>
        <p:spPr>
          <a:xfrm>
            <a:off x="6711696" y="2743200"/>
            <a:ext cx="457200" cy="457200"/>
          </a:xfrm>
          <a:prstGeom prst="rect">
            <a:avLst/>
          </a:prstGeom>
          <a:solidFill>
            <a:srgbClr val="D6D6D3"/>
          </a:solidFill>
          <a:ln w="9525">
            <a:solidFill>
              <a:srgbClr val="E6E6E6"/>
            </a:solidFill>
            <a:prstDash val="solid"/>
          </a:ln>
        </p:spPr>
      </p:sp>
      <p:sp>
        <p:nvSpPr>
          <p:cNvPr id="51" name="Text 49"/>
          <p:cNvSpPr txBox="1"/>
          <p:nvPr/>
        </p:nvSpPr>
        <p:spPr>
          <a:xfrm>
            <a:off x="6711696" y="286207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4.13</a:t>
            </a:r>
            <a:endParaRPr lang="en-US" sz="800" dirty="0"/>
          </a:p>
        </p:txBody>
      </p:sp>
      <p:sp>
        <p:nvSpPr>
          <p:cNvPr id="52" name="Shape 50"/>
          <p:cNvSpPr/>
          <p:nvPr/>
        </p:nvSpPr>
        <p:spPr>
          <a:xfrm>
            <a:off x="7507224" y="2743200"/>
            <a:ext cx="457200" cy="457200"/>
          </a:xfrm>
          <a:prstGeom prst="rect">
            <a:avLst/>
          </a:prstGeom>
          <a:solidFill>
            <a:srgbClr val="C9C9C6"/>
          </a:solidFill>
          <a:ln w="9525">
            <a:solidFill>
              <a:srgbClr val="E6E6E6"/>
            </a:solidFill>
            <a:prstDash val="solid"/>
          </a:ln>
        </p:spPr>
      </p:sp>
      <p:sp>
        <p:nvSpPr>
          <p:cNvPr id="53" name="Text 51"/>
          <p:cNvSpPr txBox="1"/>
          <p:nvPr/>
        </p:nvSpPr>
        <p:spPr>
          <a:xfrm>
            <a:off x="7507224" y="286207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4.81</a:t>
            </a:r>
            <a:endParaRPr lang="en-US" sz="800" dirty="0"/>
          </a:p>
        </p:txBody>
      </p:sp>
      <p:sp>
        <p:nvSpPr>
          <p:cNvPr id="54" name="Shape 52"/>
          <p:cNvSpPr/>
          <p:nvPr/>
        </p:nvSpPr>
        <p:spPr>
          <a:xfrm>
            <a:off x="8010144" y="2743200"/>
            <a:ext cx="457200" cy="457200"/>
          </a:xfrm>
          <a:prstGeom prst="rect">
            <a:avLst/>
          </a:prstGeom>
          <a:solidFill>
            <a:srgbClr val="CFCFCC"/>
          </a:solidFill>
          <a:ln w="9525">
            <a:solidFill>
              <a:srgbClr val="E6E6E6"/>
            </a:solidFill>
            <a:prstDash val="solid"/>
          </a:ln>
        </p:spPr>
      </p:sp>
      <p:sp>
        <p:nvSpPr>
          <p:cNvPr id="55" name="Text 53"/>
          <p:cNvSpPr txBox="1"/>
          <p:nvPr/>
        </p:nvSpPr>
        <p:spPr>
          <a:xfrm>
            <a:off x="8010144" y="286207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4.50</a:t>
            </a:r>
            <a:endParaRPr lang="en-US" sz="800" dirty="0"/>
          </a:p>
        </p:txBody>
      </p:sp>
      <p:sp>
        <p:nvSpPr>
          <p:cNvPr id="56" name="Shape 54"/>
          <p:cNvSpPr/>
          <p:nvPr/>
        </p:nvSpPr>
        <p:spPr>
          <a:xfrm>
            <a:off x="8513064" y="2743200"/>
            <a:ext cx="457200" cy="457200"/>
          </a:xfrm>
          <a:prstGeom prst="rect">
            <a:avLst/>
          </a:prstGeom>
          <a:solidFill>
            <a:srgbClr val="D5D5D2"/>
          </a:solidFill>
          <a:ln w="9525">
            <a:solidFill>
              <a:srgbClr val="E6E6E6"/>
            </a:solidFill>
            <a:prstDash val="solid"/>
          </a:ln>
        </p:spPr>
      </p:sp>
      <p:sp>
        <p:nvSpPr>
          <p:cNvPr id="57" name="Text 55"/>
          <p:cNvSpPr txBox="1"/>
          <p:nvPr/>
        </p:nvSpPr>
        <p:spPr>
          <a:xfrm>
            <a:off x="8513064" y="286207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4.19</a:t>
            </a:r>
            <a:endParaRPr lang="en-US" sz="800" dirty="0"/>
          </a:p>
        </p:txBody>
      </p:sp>
      <p:sp>
        <p:nvSpPr>
          <p:cNvPr id="58" name="Text 56"/>
          <p:cNvSpPr txBox="1"/>
          <p:nvPr/>
        </p:nvSpPr>
        <p:spPr>
          <a:xfrm>
            <a:off x="731520" y="3392424"/>
            <a:ext cx="1280160" cy="274320"/>
          </a:xfrm>
          <a:prstGeom prst="rect">
            <a:avLst/>
          </a:prstGeom>
          <a:noFill/>
          <a:ln/>
        </p:spPr>
        <p:txBody>
          <a:bodyPr wrap="square" lIns="0" tIns="0" rIns="0" bIns="0" rtlCol="0" anchor="ctr"/>
          <a:lstStyle/>
          <a:p>
            <a:pPr indent="0" marL="0">
              <a:buNone/>
            </a:pPr>
            <a:r>
              <a:rPr lang="en-US" sz="1100" b="1" dirty="0">
                <a:solidFill>
                  <a:srgbClr val="0D0D0D"/>
                </a:solidFill>
                <a:latin typeface="Inter" pitchFamily="34" charset="0"/>
                <a:ea typeface="Inter" pitchFamily="34" charset="-122"/>
                <a:cs typeface="Inter" pitchFamily="34" charset="-120"/>
              </a:rPr>
              <a:t>MFCC</a:t>
            </a:r>
            <a:endParaRPr lang="en-US" sz="1100" dirty="0"/>
          </a:p>
        </p:txBody>
      </p:sp>
      <p:sp>
        <p:nvSpPr>
          <p:cNvPr id="59" name="Shape 57"/>
          <p:cNvSpPr/>
          <p:nvPr/>
        </p:nvSpPr>
        <p:spPr>
          <a:xfrm>
            <a:off x="2103120" y="3246120"/>
            <a:ext cx="457200" cy="457200"/>
          </a:xfrm>
          <a:prstGeom prst="rect">
            <a:avLst/>
          </a:prstGeom>
          <a:solidFill>
            <a:srgbClr val="D0D0CD"/>
          </a:solidFill>
          <a:ln w="9525">
            <a:solidFill>
              <a:srgbClr val="E6E6E6"/>
            </a:solidFill>
            <a:prstDash val="solid"/>
          </a:ln>
        </p:spPr>
      </p:sp>
      <p:sp>
        <p:nvSpPr>
          <p:cNvPr id="60" name="Text 58"/>
          <p:cNvSpPr txBox="1"/>
          <p:nvPr/>
        </p:nvSpPr>
        <p:spPr>
          <a:xfrm>
            <a:off x="2103120" y="336499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4.46</a:t>
            </a:r>
            <a:endParaRPr lang="en-US" sz="800" dirty="0"/>
          </a:p>
        </p:txBody>
      </p:sp>
      <p:sp>
        <p:nvSpPr>
          <p:cNvPr id="61" name="Shape 59"/>
          <p:cNvSpPr/>
          <p:nvPr/>
        </p:nvSpPr>
        <p:spPr>
          <a:xfrm>
            <a:off x="2606040" y="3246120"/>
            <a:ext cx="457200" cy="457200"/>
          </a:xfrm>
          <a:prstGeom prst="rect">
            <a:avLst/>
          </a:prstGeom>
          <a:solidFill>
            <a:srgbClr val="A1A19D"/>
          </a:solidFill>
          <a:ln w="9525">
            <a:solidFill>
              <a:srgbClr val="E6E6E6"/>
            </a:solidFill>
            <a:prstDash val="solid"/>
          </a:ln>
        </p:spPr>
      </p:sp>
      <p:sp>
        <p:nvSpPr>
          <p:cNvPr id="62" name="Text 60"/>
          <p:cNvSpPr txBox="1"/>
          <p:nvPr/>
        </p:nvSpPr>
        <p:spPr>
          <a:xfrm>
            <a:off x="2606040" y="336499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6.97</a:t>
            </a:r>
            <a:endParaRPr lang="en-US" sz="800" dirty="0"/>
          </a:p>
        </p:txBody>
      </p:sp>
      <p:sp>
        <p:nvSpPr>
          <p:cNvPr id="63" name="Shape 61"/>
          <p:cNvSpPr/>
          <p:nvPr/>
        </p:nvSpPr>
        <p:spPr>
          <a:xfrm>
            <a:off x="3108960" y="3246120"/>
            <a:ext cx="457200" cy="457200"/>
          </a:xfrm>
          <a:prstGeom prst="rect">
            <a:avLst/>
          </a:prstGeom>
          <a:solidFill>
            <a:srgbClr val="CACAC8"/>
          </a:solidFill>
          <a:ln w="9525">
            <a:solidFill>
              <a:srgbClr val="E6E6E6"/>
            </a:solidFill>
            <a:prstDash val="solid"/>
          </a:ln>
        </p:spPr>
      </p:sp>
      <p:sp>
        <p:nvSpPr>
          <p:cNvPr id="64" name="Text 62"/>
          <p:cNvSpPr txBox="1"/>
          <p:nvPr/>
        </p:nvSpPr>
        <p:spPr>
          <a:xfrm>
            <a:off x="3108960" y="336499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4.73</a:t>
            </a:r>
            <a:endParaRPr lang="en-US" sz="800" dirty="0"/>
          </a:p>
        </p:txBody>
      </p:sp>
      <p:sp>
        <p:nvSpPr>
          <p:cNvPr id="65" name="Shape 63"/>
          <p:cNvSpPr/>
          <p:nvPr/>
        </p:nvSpPr>
        <p:spPr>
          <a:xfrm>
            <a:off x="3904488" y="3246120"/>
            <a:ext cx="457200" cy="457200"/>
          </a:xfrm>
          <a:prstGeom prst="rect">
            <a:avLst/>
          </a:prstGeom>
          <a:solidFill>
            <a:srgbClr val="EAEAE8"/>
          </a:solidFill>
          <a:ln w="9525">
            <a:solidFill>
              <a:srgbClr val="E6E6E6"/>
            </a:solidFill>
            <a:prstDash val="solid"/>
          </a:ln>
        </p:spPr>
      </p:sp>
      <p:sp>
        <p:nvSpPr>
          <p:cNvPr id="66" name="Text 64"/>
          <p:cNvSpPr txBox="1"/>
          <p:nvPr/>
        </p:nvSpPr>
        <p:spPr>
          <a:xfrm>
            <a:off x="3904488" y="336499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3.04</a:t>
            </a:r>
            <a:endParaRPr lang="en-US" sz="800" dirty="0"/>
          </a:p>
        </p:txBody>
      </p:sp>
      <p:sp>
        <p:nvSpPr>
          <p:cNvPr id="67" name="Shape 65"/>
          <p:cNvSpPr/>
          <p:nvPr/>
        </p:nvSpPr>
        <p:spPr>
          <a:xfrm>
            <a:off x="4407408" y="3246120"/>
            <a:ext cx="457200" cy="457200"/>
          </a:xfrm>
          <a:prstGeom prst="rect">
            <a:avLst/>
          </a:prstGeom>
          <a:solidFill>
            <a:srgbClr val="EDEDEB"/>
          </a:solidFill>
          <a:ln w="9525">
            <a:solidFill>
              <a:srgbClr val="E6E6E6"/>
            </a:solidFill>
            <a:prstDash val="solid"/>
          </a:ln>
        </p:spPr>
      </p:sp>
      <p:sp>
        <p:nvSpPr>
          <p:cNvPr id="68" name="Text 66"/>
          <p:cNvSpPr txBox="1"/>
          <p:nvPr/>
        </p:nvSpPr>
        <p:spPr>
          <a:xfrm>
            <a:off x="4407408" y="336499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2.88</a:t>
            </a:r>
            <a:endParaRPr lang="en-US" sz="800" dirty="0"/>
          </a:p>
        </p:txBody>
      </p:sp>
      <p:sp>
        <p:nvSpPr>
          <p:cNvPr id="69" name="Shape 67"/>
          <p:cNvSpPr/>
          <p:nvPr/>
        </p:nvSpPr>
        <p:spPr>
          <a:xfrm>
            <a:off x="4910328" y="3246120"/>
            <a:ext cx="457200" cy="457200"/>
          </a:xfrm>
          <a:prstGeom prst="rect">
            <a:avLst/>
          </a:prstGeom>
          <a:solidFill>
            <a:srgbClr val="EEEEEC"/>
          </a:solidFill>
          <a:ln w="9525">
            <a:solidFill>
              <a:srgbClr val="E6E6E6"/>
            </a:solidFill>
            <a:prstDash val="solid"/>
          </a:ln>
        </p:spPr>
      </p:sp>
      <p:sp>
        <p:nvSpPr>
          <p:cNvPr id="70" name="Text 68"/>
          <p:cNvSpPr txBox="1"/>
          <p:nvPr/>
        </p:nvSpPr>
        <p:spPr>
          <a:xfrm>
            <a:off x="4910328" y="336499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2.83</a:t>
            </a:r>
            <a:endParaRPr lang="en-US" sz="800" dirty="0"/>
          </a:p>
        </p:txBody>
      </p:sp>
      <p:sp>
        <p:nvSpPr>
          <p:cNvPr id="71" name="Shape 69"/>
          <p:cNvSpPr/>
          <p:nvPr/>
        </p:nvSpPr>
        <p:spPr>
          <a:xfrm>
            <a:off x="5705856" y="3246120"/>
            <a:ext cx="457200" cy="457200"/>
          </a:xfrm>
          <a:prstGeom prst="rect">
            <a:avLst/>
          </a:prstGeom>
          <a:solidFill>
            <a:srgbClr val="DDDDDB"/>
          </a:solidFill>
          <a:ln w="9525">
            <a:solidFill>
              <a:srgbClr val="E6E6E6"/>
            </a:solidFill>
            <a:prstDash val="solid"/>
          </a:ln>
        </p:spPr>
      </p:sp>
      <p:sp>
        <p:nvSpPr>
          <p:cNvPr id="72" name="Text 70"/>
          <p:cNvSpPr txBox="1"/>
          <p:nvPr/>
        </p:nvSpPr>
        <p:spPr>
          <a:xfrm>
            <a:off x="5705856" y="336499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3.71</a:t>
            </a:r>
            <a:endParaRPr lang="en-US" sz="800" dirty="0"/>
          </a:p>
        </p:txBody>
      </p:sp>
      <p:sp>
        <p:nvSpPr>
          <p:cNvPr id="73" name="Shape 71"/>
          <p:cNvSpPr/>
          <p:nvPr/>
        </p:nvSpPr>
        <p:spPr>
          <a:xfrm>
            <a:off x="6208776" y="3246120"/>
            <a:ext cx="457200" cy="457200"/>
          </a:xfrm>
          <a:prstGeom prst="rect">
            <a:avLst/>
          </a:prstGeom>
          <a:solidFill>
            <a:srgbClr val="CFCFCC"/>
          </a:solidFill>
          <a:ln w="9525">
            <a:solidFill>
              <a:srgbClr val="E6E6E6"/>
            </a:solidFill>
            <a:prstDash val="solid"/>
          </a:ln>
        </p:spPr>
      </p:sp>
      <p:sp>
        <p:nvSpPr>
          <p:cNvPr id="74" name="Text 72"/>
          <p:cNvSpPr txBox="1"/>
          <p:nvPr/>
        </p:nvSpPr>
        <p:spPr>
          <a:xfrm>
            <a:off x="6208776" y="336499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4.49</a:t>
            </a:r>
            <a:endParaRPr lang="en-US" sz="800" dirty="0"/>
          </a:p>
        </p:txBody>
      </p:sp>
      <p:sp>
        <p:nvSpPr>
          <p:cNvPr id="75" name="Shape 73"/>
          <p:cNvSpPr/>
          <p:nvPr/>
        </p:nvSpPr>
        <p:spPr>
          <a:xfrm>
            <a:off x="6711696" y="3246120"/>
            <a:ext cx="457200" cy="457200"/>
          </a:xfrm>
          <a:prstGeom prst="rect">
            <a:avLst/>
          </a:prstGeom>
          <a:solidFill>
            <a:srgbClr val="E1E1DF"/>
          </a:solidFill>
          <a:ln w="9525">
            <a:solidFill>
              <a:srgbClr val="E6E6E6"/>
            </a:solidFill>
            <a:prstDash val="solid"/>
          </a:ln>
        </p:spPr>
      </p:sp>
      <p:sp>
        <p:nvSpPr>
          <p:cNvPr id="76" name="Text 74"/>
          <p:cNvSpPr txBox="1"/>
          <p:nvPr/>
        </p:nvSpPr>
        <p:spPr>
          <a:xfrm>
            <a:off x="6711696" y="336499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3.51</a:t>
            </a:r>
            <a:endParaRPr lang="en-US" sz="800" dirty="0"/>
          </a:p>
        </p:txBody>
      </p:sp>
      <p:sp>
        <p:nvSpPr>
          <p:cNvPr id="77" name="Shape 75"/>
          <p:cNvSpPr/>
          <p:nvPr/>
        </p:nvSpPr>
        <p:spPr>
          <a:xfrm>
            <a:off x="7507224" y="3246120"/>
            <a:ext cx="457200" cy="457200"/>
          </a:xfrm>
          <a:prstGeom prst="rect">
            <a:avLst/>
          </a:prstGeom>
          <a:solidFill>
            <a:srgbClr val="E1E1DF"/>
          </a:solidFill>
          <a:ln w="9525">
            <a:solidFill>
              <a:srgbClr val="E6E6E6"/>
            </a:solidFill>
            <a:prstDash val="solid"/>
          </a:ln>
        </p:spPr>
      </p:sp>
      <p:sp>
        <p:nvSpPr>
          <p:cNvPr id="78" name="Text 76"/>
          <p:cNvSpPr txBox="1"/>
          <p:nvPr/>
        </p:nvSpPr>
        <p:spPr>
          <a:xfrm>
            <a:off x="7507224" y="336499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3.50</a:t>
            </a:r>
            <a:endParaRPr lang="en-US" sz="800" dirty="0"/>
          </a:p>
        </p:txBody>
      </p:sp>
      <p:sp>
        <p:nvSpPr>
          <p:cNvPr id="79" name="Shape 77"/>
          <p:cNvSpPr/>
          <p:nvPr/>
        </p:nvSpPr>
        <p:spPr>
          <a:xfrm>
            <a:off x="8010144" y="3246120"/>
            <a:ext cx="457200" cy="457200"/>
          </a:xfrm>
          <a:prstGeom prst="rect">
            <a:avLst/>
          </a:prstGeom>
          <a:solidFill>
            <a:srgbClr val="E1E1DF"/>
          </a:solidFill>
          <a:ln w="9525">
            <a:solidFill>
              <a:srgbClr val="E6E6E6"/>
            </a:solidFill>
            <a:prstDash val="solid"/>
          </a:ln>
        </p:spPr>
      </p:sp>
      <p:sp>
        <p:nvSpPr>
          <p:cNvPr id="80" name="Text 78"/>
          <p:cNvSpPr txBox="1"/>
          <p:nvPr/>
        </p:nvSpPr>
        <p:spPr>
          <a:xfrm>
            <a:off x="8010144" y="336499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3.52</a:t>
            </a:r>
            <a:endParaRPr lang="en-US" sz="800" dirty="0"/>
          </a:p>
        </p:txBody>
      </p:sp>
      <p:sp>
        <p:nvSpPr>
          <p:cNvPr id="81" name="Shape 79"/>
          <p:cNvSpPr/>
          <p:nvPr/>
        </p:nvSpPr>
        <p:spPr>
          <a:xfrm>
            <a:off x="8513064" y="3246120"/>
            <a:ext cx="457200" cy="457200"/>
          </a:xfrm>
          <a:prstGeom prst="rect">
            <a:avLst/>
          </a:prstGeom>
          <a:solidFill>
            <a:srgbClr val="E2E2E0"/>
          </a:solidFill>
          <a:ln w="9525">
            <a:solidFill>
              <a:srgbClr val="E6E6E6"/>
            </a:solidFill>
            <a:prstDash val="solid"/>
          </a:ln>
        </p:spPr>
      </p:sp>
      <p:sp>
        <p:nvSpPr>
          <p:cNvPr id="82" name="Text 80"/>
          <p:cNvSpPr txBox="1"/>
          <p:nvPr/>
        </p:nvSpPr>
        <p:spPr>
          <a:xfrm>
            <a:off x="8513064" y="336499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3.47</a:t>
            </a:r>
            <a:endParaRPr lang="en-US" sz="800" dirty="0"/>
          </a:p>
        </p:txBody>
      </p:sp>
      <p:sp>
        <p:nvSpPr>
          <p:cNvPr id="83" name="Text 81"/>
          <p:cNvSpPr txBox="1"/>
          <p:nvPr/>
        </p:nvSpPr>
        <p:spPr>
          <a:xfrm>
            <a:off x="731520" y="3895344"/>
            <a:ext cx="1280160" cy="274320"/>
          </a:xfrm>
          <a:prstGeom prst="rect">
            <a:avLst/>
          </a:prstGeom>
          <a:noFill/>
          <a:ln/>
        </p:spPr>
        <p:txBody>
          <a:bodyPr wrap="square" lIns="0" tIns="0" rIns="0" bIns="0" rtlCol="0" anchor="ctr"/>
          <a:lstStyle/>
          <a:p>
            <a:pPr indent="0" marL="0">
              <a:buNone/>
            </a:pPr>
            <a:r>
              <a:rPr lang="en-US" sz="1100" b="1" dirty="0">
                <a:solidFill>
                  <a:srgbClr val="0D0D0D"/>
                </a:solidFill>
                <a:latin typeface="Inter" pitchFamily="34" charset="0"/>
                <a:ea typeface="Inter" pitchFamily="34" charset="-122"/>
                <a:cs typeface="Inter" pitchFamily="34" charset="-120"/>
              </a:rPr>
              <a:t>LFCC</a:t>
            </a:r>
            <a:endParaRPr lang="en-US" sz="1100" dirty="0"/>
          </a:p>
        </p:txBody>
      </p:sp>
      <p:sp>
        <p:nvSpPr>
          <p:cNvPr id="84" name="Shape 82"/>
          <p:cNvSpPr/>
          <p:nvPr/>
        </p:nvSpPr>
        <p:spPr>
          <a:xfrm>
            <a:off x="2103120" y="3749040"/>
            <a:ext cx="457200" cy="457200"/>
          </a:xfrm>
          <a:prstGeom prst="rect">
            <a:avLst/>
          </a:prstGeom>
          <a:solidFill>
            <a:srgbClr val="D8D8D6"/>
          </a:solidFill>
          <a:ln w="9525">
            <a:solidFill>
              <a:srgbClr val="E6E6E6"/>
            </a:solidFill>
            <a:prstDash val="solid"/>
          </a:ln>
        </p:spPr>
      </p:sp>
      <p:sp>
        <p:nvSpPr>
          <p:cNvPr id="85" name="Text 83"/>
          <p:cNvSpPr txBox="1"/>
          <p:nvPr/>
        </p:nvSpPr>
        <p:spPr>
          <a:xfrm>
            <a:off x="2103120" y="386791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4.00</a:t>
            </a:r>
            <a:endParaRPr lang="en-US" sz="800" dirty="0"/>
          </a:p>
        </p:txBody>
      </p:sp>
      <p:sp>
        <p:nvSpPr>
          <p:cNvPr id="86" name="Shape 84"/>
          <p:cNvSpPr/>
          <p:nvPr/>
        </p:nvSpPr>
        <p:spPr>
          <a:xfrm>
            <a:off x="2606040" y="3749040"/>
            <a:ext cx="457200" cy="457200"/>
          </a:xfrm>
          <a:prstGeom prst="rect">
            <a:avLst/>
          </a:prstGeom>
          <a:solidFill>
            <a:srgbClr val="BBBBB8"/>
          </a:solidFill>
          <a:ln w="9525">
            <a:solidFill>
              <a:srgbClr val="E6E6E6"/>
            </a:solidFill>
            <a:prstDash val="solid"/>
          </a:ln>
        </p:spPr>
      </p:sp>
      <p:sp>
        <p:nvSpPr>
          <p:cNvPr id="87" name="Text 85"/>
          <p:cNvSpPr txBox="1"/>
          <p:nvPr/>
        </p:nvSpPr>
        <p:spPr>
          <a:xfrm>
            <a:off x="2606040" y="386791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5.58</a:t>
            </a:r>
            <a:endParaRPr lang="en-US" sz="800" dirty="0"/>
          </a:p>
        </p:txBody>
      </p:sp>
      <p:sp>
        <p:nvSpPr>
          <p:cNvPr id="88" name="Shape 86"/>
          <p:cNvSpPr/>
          <p:nvPr/>
        </p:nvSpPr>
        <p:spPr>
          <a:xfrm>
            <a:off x="3108960" y="3749040"/>
            <a:ext cx="457200" cy="457200"/>
          </a:xfrm>
          <a:prstGeom prst="rect">
            <a:avLst/>
          </a:prstGeom>
          <a:solidFill>
            <a:srgbClr val="D0D0CD"/>
          </a:solidFill>
          <a:ln w="9525">
            <a:solidFill>
              <a:srgbClr val="E6E6E6"/>
            </a:solidFill>
            <a:prstDash val="solid"/>
          </a:ln>
        </p:spPr>
      </p:sp>
      <p:sp>
        <p:nvSpPr>
          <p:cNvPr id="89" name="Text 87"/>
          <p:cNvSpPr txBox="1"/>
          <p:nvPr/>
        </p:nvSpPr>
        <p:spPr>
          <a:xfrm>
            <a:off x="3108960" y="386791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4.43</a:t>
            </a:r>
            <a:endParaRPr lang="en-US" sz="800" dirty="0"/>
          </a:p>
        </p:txBody>
      </p:sp>
      <p:sp>
        <p:nvSpPr>
          <p:cNvPr id="90" name="Shape 88"/>
          <p:cNvSpPr/>
          <p:nvPr/>
        </p:nvSpPr>
        <p:spPr>
          <a:xfrm>
            <a:off x="3904488" y="3749040"/>
            <a:ext cx="457200" cy="457200"/>
          </a:xfrm>
          <a:prstGeom prst="rect">
            <a:avLst/>
          </a:prstGeom>
          <a:solidFill>
            <a:srgbClr val="E2E2DF"/>
          </a:solidFill>
          <a:ln w="9525">
            <a:solidFill>
              <a:srgbClr val="E6E6E6"/>
            </a:solidFill>
            <a:prstDash val="solid"/>
          </a:ln>
        </p:spPr>
      </p:sp>
      <p:sp>
        <p:nvSpPr>
          <p:cNvPr id="91" name="Text 89"/>
          <p:cNvSpPr txBox="1"/>
          <p:nvPr/>
        </p:nvSpPr>
        <p:spPr>
          <a:xfrm>
            <a:off x="3904488" y="386791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3.48</a:t>
            </a:r>
            <a:endParaRPr lang="en-US" sz="800" dirty="0"/>
          </a:p>
        </p:txBody>
      </p:sp>
      <p:sp>
        <p:nvSpPr>
          <p:cNvPr id="92" name="Shape 90"/>
          <p:cNvSpPr/>
          <p:nvPr/>
        </p:nvSpPr>
        <p:spPr>
          <a:xfrm>
            <a:off x="4407408" y="3749040"/>
            <a:ext cx="457200" cy="457200"/>
          </a:xfrm>
          <a:prstGeom prst="rect">
            <a:avLst/>
          </a:prstGeom>
          <a:solidFill>
            <a:srgbClr val="EDEDEB"/>
          </a:solidFill>
          <a:ln w="9525">
            <a:solidFill>
              <a:srgbClr val="E6E6E6"/>
            </a:solidFill>
            <a:prstDash val="solid"/>
          </a:ln>
        </p:spPr>
      </p:sp>
      <p:sp>
        <p:nvSpPr>
          <p:cNvPr id="93" name="Text 91"/>
          <p:cNvSpPr txBox="1"/>
          <p:nvPr/>
        </p:nvSpPr>
        <p:spPr>
          <a:xfrm>
            <a:off x="4407408" y="386791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2.88</a:t>
            </a:r>
            <a:endParaRPr lang="en-US" sz="800" dirty="0"/>
          </a:p>
        </p:txBody>
      </p:sp>
      <p:sp>
        <p:nvSpPr>
          <p:cNvPr id="94" name="Shape 92"/>
          <p:cNvSpPr/>
          <p:nvPr/>
        </p:nvSpPr>
        <p:spPr>
          <a:xfrm>
            <a:off x="4910328" y="3749040"/>
            <a:ext cx="457200" cy="457200"/>
          </a:xfrm>
          <a:prstGeom prst="rect">
            <a:avLst/>
          </a:prstGeom>
          <a:solidFill>
            <a:srgbClr val="F1F1EF"/>
          </a:solidFill>
          <a:ln w="28575">
            <a:solidFill>
              <a:srgbClr val="8A6D00"/>
            </a:solidFill>
            <a:prstDash val="solid"/>
          </a:ln>
        </p:spPr>
      </p:sp>
      <p:sp>
        <p:nvSpPr>
          <p:cNvPr id="95" name="Text 93"/>
          <p:cNvSpPr txBox="1"/>
          <p:nvPr/>
        </p:nvSpPr>
        <p:spPr>
          <a:xfrm>
            <a:off x="4910328" y="386791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2.67</a:t>
            </a:r>
            <a:endParaRPr lang="en-US" sz="800" dirty="0"/>
          </a:p>
        </p:txBody>
      </p:sp>
      <p:sp>
        <p:nvSpPr>
          <p:cNvPr id="96" name="Shape 94"/>
          <p:cNvSpPr/>
          <p:nvPr/>
        </p:nvSpPr>
        <p:spPr>
          <a:xfrm>
            <a:off x="5705856" y="3749040"/>
            <a:ext cx="457200" cy="457200"/>
          </a:xfrm>
          <a:prstGeom prst="rect">
            <a:avLst/>
          </a:prstGeom>
          <a:solidFill>
            <a:srgbClr val="EBEBE9"/>
          </a:solidFill>
          <a:ln w="9525">
            <a:solidFill>
              <a:srgbClr val="E6E6E6"/>
            </a:solidFill>
            <a:prstDash val="solid"/>
          </a:ln>
        </p:spPr>
      </p:sp>
      <p:sp>
        <p:nvSpPr>
          <p:cNvPr id="97" name="Text 95"/>
          <p:cNvSpPr txBox="1"/>
          <p:nvPr/>
        </p:nvSpPr>
        <p:spPr>
          <a:xfrm>
            <a:off x="5705856" y="386791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2.96</a:t>
            </a:r>
            <a:endParaRPr lang="en-US" sz="800" dirty="0"/>
          </a:p>
        </p:txBody>
      </p:sp>
      <p:sp>
        <p:nvSpPr>
          <p:cNvPr id="98" name="Shape 96"/>
          <p:cNvSpPr/>
          <p:nvPr/>
        </p:nvSpPr>
        <p:spPr>
          <a:xfrm>
            <a:off x="6208776" y="3749040"/>
            <a:ext cx="457200" cy="457200"/>
          </a:xfrm>
          <a:prstGeom prst="rect">
            <a:avLst/>
          </a:prstGeom>
          <a:solidFill>
            <a:srgbClr val="EDEDEB"/>
          </a:solidFill>
          <a:ln w="9525">
            <a:solidFill>
              <a:srgbClr val="E6E6E6"/>
            </a:solidFill>
            <a:prstDash val="solid"/>
          </a:ln>
        </p:spPr>
      </p:sp>
      <p:sp>
        <p:nvSpPr>
          <p:cNvPr id="99" name="Text 97"/>
          <p:cNvSpPr txBox="1"/>
          <p:nvPr/>
        </p:nvSpPr>
        <p:spPr>
          <a:xfrm>
            <a:off x="6208776" y="386791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2.88</a:t>
            </a:r>
            <a:endParaRPr lang="en-US" sz="800" dirty="0"/>
          </a:p>
        </p:txBody>
      </p:sp>
      <p:sp>
        <p:nvSpPr>
          <p:cNvPr id="100" name="Shape 98"/>
          <p:cNvSpPr/>
          <p:nvPr/>
        </p:nvSpPr>
        <p:spPr>
          <a:xfrm>
            <a:off x="6711696" y="3749040"/>
            <a:ext cx="457200" cy="457200"/>
          </a:xfrm>
          <a:prstGeom prst="rect">
            <a:avLst/>
          </a:prstGeom>
          <a:solidFill>
            <a:srgbClr val="EEEEEC"/>
          </a:solidFill>
          <a:ln w="9525">
            <a:solidFill>
              <a:srgbClr val="E6E6E6"/>
            </a:solidFill>
            <a:prstDash val="solid"/>
          </a:ln>
        </p:spPr>
      </p:sp>
      <p:sp>
        <p:nvSpPr>
          <p:cNvPr id="101" name="Text 99"/>
          <p:cNvSpPr txBox="1"/>
          <p:nvPr/>
        </p:nvSpPr>
        <p:spPr>
          <a:xfrm>
            <a:off x="6711696" y="386791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2.80</a:t>
            </a:r>
            <a:endParaRPr lang="en-US" sz="800" dirty="0"/>
          </a:p>
        </p:txBody>
      </p:sp>
      <p:sp>
        <p:nvSpPr>
          <p:cNvPr id="102" name="Shape 100"/>
          <p:cNvSpPr/>
          <p:nvPr/>
        </p:nvSpPr>
        <p:spPr>
          <a:xfrm>
            <a:off x="7507224" y="3749040"/>
            <a:ext cx="457200" cy="457200"/>
          </a:xfrm>
          <a:prstGeom prst="rect">
            <a:avLst/>
          </a:prstGeom>
          <a:solidFill>
            <a:srgbClr val="DDDDDB"/>
          </a:solidFill>
          <a:ln w="9525">
            <a:solidFill>
              <a:srgbClr val="E6E6E6"/>
            </a:solidFill>
            <a:prstDash val="solid"/>
          </a:ln>
        </p:spPr>
      </p:sp>
      <p:sp>
        <p:nvSpPr>
          <p:cNvPr id="103" name="Text 101"/>
          <p:cNvSpPr txBox="1"/>
          <p:nvPr/>
        </p:nvSpPr>
        <p:spPr>
          <a:xfrm>
            <a:off x="7507224" y="386791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3.73</a:t>
            </a:r>
            <a:endParaRPr lang="en-US" sz="800" dirty="0"/>
          </a:p>
        </p:txBody>
      </p:sp>
      <p:sp>
        <p:nvSpPr>
          <p:cNvPr id="104" name="Shape 102"/>
          <p:cNvSpPr/>
          <p:nvPr/>
        </p:nvSpPr>
        <p:spPr>
          <a:xfrm>
            <a:off x="8010144" y="3749040"/>
            <a:ext cx="457200" cy="457200"/>
          </a:xfrm>
          <a:prstGeom prst="rect">
            <a:avLst/>
          </a:prstGeom>
          <a:solidFill>
            <a:srgbClr val="EAEAE8"/>
          </a:solidFill>
          <a:ln w="9525">
            <a:solidFill>
              <a:srgbClr val="E6E6E6"/>
            </a:solidFill>
            <a:prstDash val="solid"/>
          </a:ln>
        </p:spPr>
      </p:sp>
      <p:sp>
        <p:nvSpPr>
          <p:cNvPr id="105" name="Text 103"/>
          <p:cNvSpPr txBox="1"/>
          <p:nvPr/>
        </p:nvSpPr>
        <p:spPr>
          <a:xfrm>
            <a:off x="8010144" y="386791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3.04</a:t>
            </a:r>
            <a:endParaRPr lang="en-US" sz="800" dirty="0"/>
          </a:p>
        </p:txBody>
      </p:sp>
      <p:sp>
        <p:nvSpPr>
          <p:cNvPr id="106" name="Shape 104"/>
          <p:cNvSpPr/>
          <p:nvPr/>
        </p:nvSpPr>
        <p:spPr>
          <a:xfrm>
            <a:off x="8513064" y="3749040"/>
            <a:ext cx="457200" cy="457200"/>
          </a:xfrm>
          <a:prstGeom prst="rect">
            <a:avLst/>
          </a:prstGeom>
          <a:solidFill>
            <a:srgbClr val="E5E5E2"/>
          </a:solidFill>
          <a:ln w="9525">
            <a:solidFill>
              <a:srgbClr val="E6E6E6"/>
            </a:solidFill>
            <a:prstDash val="solid"/>
          </a:ln>
        </p:spPr>
      </p:sp>
      <p:sp>
        <p:nvSpPr>
          <p:cNvPr id="107" name="Text 105"/>
          <p:cNvSpPr txBox="1"/>
          <p:nvPr/>
        </p:nvSpPr>
        <p:spPr>
          <a:xfrm>
            <a:off x="8513064" y="3867912"/>
            <a:ext cx="457200" cy="237744"/>
          </a:xfrm>
          <a:prstGeom prst="rect">
            <a:avLst/>
          </a:prstGeom>
          <a:noFill/>
          <a:ln/>
        </p:spPr>
        <p:txBody>
          <a:bodyPr wrap="square" lIns="0" tIns="0" rIns="0" bIns="0" rtlCol="0" anchor="ctr"/>
          <a:lstStyle/>
          <a:p>
            <a:pPr algn="ctr" indent="0" marL="0">
              <a:buNone/>
            </a:pPr>
            <a:r>
              <a:rPr lang="en-US" sz="800" dirty="0">
                <a:solidFill>
                  <a:srgbClr val="0D0D0D"/>
                </a:solidFill>
                <a:latin typeface="Consolas" pitchFamily="34" charset="0"/>
                <a:ea typeface="Consolas" pitchFamily="34" charset="-122"/>
                <a:cs typeface="Consolas" pitchFamily="34" charset="-120"/>
              </a:rPr>
              <a:t>3.33</a:t>
            </a:r>
            <a:endParaRPr lang="en-US" sz="800" dirty="0"/>
          </a:p>
        </p:txBody>
      </p:sp>
      <p:sp>
        <p:nvSpPr>
          <p:cNvPr id="108" name="Text 106"/>
          <p:cNvSpPr txBox="1"/>
          <p:nvPr/>
        </p:nvSpPr>
        <p:spPr>
          <a:xfrm>
            <a:off x="2103120" y="4361688"/>
            <a:ext cx="7315200" cy="274320"/>
          </a:xfrm>
          <a:prstGeom prst="rect">
            <a:avLst/>
          </a:prstGeom>
          <a:noFill/>
          <a:ln/>
        </p:spPr>
        <p:txBody>
          <a:bodyPr wrap="square" lIns="0" tIns="0" rIns="0" bIns="0" rtlCol="0" anchor="ctr"/>
          <a:lstStyle/>
          <a:p>
            <a:pPr indent="0" marL="0">
              <a:buNone/>
            </a:pPr>
            <a:r>
              <a:rPr lang="en-US" sz="1000" dirty="0">
                <a:solidFill>
                  <a:srgbClr val="BDBDBD"/>
                </a:solidFill>
                <a:latin typeface="Inter" pitchFamily="34" charset="0"/>
                <a:ea typeface="Inter" pitchFamily="34" charset="-122"/>
                <a:cs typeface="Inter" pitchFamily="34" charset="-120"/>
              </a:rPr>
              <a:t>each square = one architecture, trained six times   ·   darker = worse</a:t>
            </a:r>
            <a:endParaRPr lang="en-US" sz="1000" dirty="0"/>
          </a:p>
        </p:txBody>
      </p:sp>
      <p:sp>
        <p:nvSpPr>
          <p:cNvPr id="109" name="Text 107"/>
          <p:cNvSpPr txBox="1"/>
          <p:nvPr/>
        </p:nvSpPr>
        <p:spPr>
          <a:xfrm>
            <a:off x="2103120" y="4599432"/>
            <a:ext cx="7315200" cy="274320"/>
          </a:xfrm>
          <a:prstGeom prst="rect">
            <a:avLst/>
          </a:prstGeom>
          <a:noFill/>
          <a:ln/>
        </p:spPr>
        <p:txBody>
          <a:bodyPr wrap="square" lIns="0" tIns="0" rIns="0" bIns="0" rtlCol="0" anchor="ctr"/>
          <a:lstStyle/>
          <a:p>
            <a:pPr indent="0" marL="0">
              <a:buNone/>
            </a:pPr>
            <a:r>
              <a:rPr lang="en-US" sz="1000" dirty="0">
                <a:solidFill>
                  <a:srgbClr val="BDBDBD"/>
                </a:solidFill>
                <a:latin typeface="Inter" pitchFamily="34" charset="0"/>
                <a:ea typeface="Inter" pitchFamily="34" charset="-122"/>
                <a:cs typeface="Inter" pitchFamily="34" charset="-120"/>
              </a:rPr>
              <a:t>Attention · Trim-pad · LSTM-sum, within each loss</a:t>
            </a:r>
            <a:endParaRPr lang="en-US" sz="1000" dirty="0"/>
          </a:p>
        </p:txBody>
      </p:sp>
      <p:sp>
        <p:nvSpPr>
          <p:cNvPr id="110" name="Shape 108"/>
          <p:cNvSpPr/>
          <p:nvPr/>
        </p:nvSpPr>
        <p:spPr>
          <a:xfrm>
            <a:off x="9219895" y="2240280"/>
            <a:ext cx="2240280" cy="1691640"/>
          </a:xfrm>
          <a:prstGeom prst="roundRect">
            <a:avLst>
              <a:gd name="adj" fmla="val 3243"/>
            </a:avLst>
          </a:prstGeom>
          <a:solidFill>
            <a:srgbClr val="FFFFFF"/>
          </a:solidFill>
          <a:ln w="12700">
            <a:solidFill>
              <a:srgbClr val="0D0D0D"/>
            </a:solidFill>
            <a:prstDash val="solid"/>
          </a:ln>
        </p:spPr>
      </p:sp>
      <p:sp>
        <p:nvSpPr>
          <p:cNvPr id="111" name="Text 109"/>
          <p:cNvSpPr txBox="1"/>
          <p:nvPr/>
        </p:nvSpPr>
        <p:spPr>
          <a:xfrm>
            <a:off x="9448495" y="2395728"/>
            <a:ext cx="1828800" cy="548640"/>
          </a:xfrm>
          <a:prstGeom prst="rect">
            <a:avLst/>
          </a:prstGeom>
          <a:noFill/>
          <a:ln/>
        </p:spPr>
        <p:txBody>
          <a:bodyPr wrap="square" lIns="0" tIns="0" rIns="0" bIns="0" rtlCol="0" anchor="ctr"/>
          <a:lstStyle/>
          <a:p>
            <a:pPr indent="0" marL="0">
              <a:buNone/>
            </a:pPr>
            <a:r>
              <a:rPr lang="en-US" sz="2800" b="1" dirty="0">
                <a:solidFill>
                  <a:srgbClr val="0D0D0D"/>
                </a:solidFill>
                <a:latin typeface="Inter" pitchFamily="34" charset="0"/>
                <a:ea typeface="Inter" pitchFamily="34" charset="-122"/>
                <a:cs typeface="Inter" pitchFamily="34" charset="-120"/>
              </a:rPr>
              <a:t>2.67 %</a:t>
            </a:r>
            <a:endParaRPr lang="en-US" sz="2800" dirty="0"/>
          </a:p>
        </p:txBody>
      </p:sp>
      <p:sp>
        <p:nvSpPr>
          <p:cNvPr id="112" name="Text 110"/>
          <p:cNvSpPr txBox="1"/>
          <p:nvPr/>
        </p:nvSpPr>
        <p:spPr>
          <a:xfrm>
            <a:off x="9448495" y="2962656"/>
            <a:ext cx="1828800" cy="868680"/>
          </a:xfrm>
          <a:prstGeom prst="rect">
            <a:avLst/>
          </a:prstGeom>
          <a:noFill/>
          <a:ln/>
        </p:spPr>
        <p:txBody>
          <a:bodyPr wrap="square" lIns="0" tIns="0" rIns="0" bIns="0" rtlCol="0" anchor="ctr"/>
          <a:lstStyle/>
          <a:p>
            <a:pPr indent="0" marL="0">
              <a:lnSpc>
                <a:spcPct val="125000"/>
              </a:lnSpc>
              <a:buNone/>
            </a:pPr>
            <a:r>
              <a:rPr lang="en-US" sz="1100" dirty="0">
                <a:solidFill>
                  <a:srgbClr val="3F3F3F"/>
                </a:solidFill>
                <a:latin typeface="Inter" pitchFamily="34" charset="0"/>
                <a:ea typeface="Inter" pitchFamily="34" charset="-122"/>
                <a:cs typeface="Inter" pitchFamily="34" charset="-120"/>
              </a:rPr>
              <a:t>the best cell — and seven others are statistically tied with it</a:t>
            </a:r>
            <a:endParaRPr lang="en-US" sz="1100" dirty="0"/>
          </a:p>
        </p:txBody>
      </p:sp>
      <p:sp>
        <p:nvSpPr>
          <p:cNvPr id="113" name="Text 111"/>
          <p:cNvSpPr txBox="1"/>
          <p:nvPr/>
        </p:nvSpPr>
        <p:spPr>
          <a:xfrm>
            <a:off x="731520" y="5669280"/>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864 trained models.</a:t>
            </a:r>
            <a:pPr indent="0" marL="0">
              <a:buNone/>
            </a:pPr>
            <a:r>
              <a:rPr lang="en-US" sz="1500" dirty="0">
                <a:solidFill>
                  <a:srgbClr val="8C8C8C"/>
                </a:solidFill>
                <a:latin typeface="Inter" pitchFamily="34" charset="0"/>
                <a:ea typeface="Inter" pitchFamily="34" charset="-122"/>
                <a:cs typeface="Inter" pitchFamily="34" charset="-120"/>
              </a:rPr>
              <a:t> No lucky run, and no single winner we are willing to crown.</a:t>
            </a:r>
            <a:endParaRPr lang="en-US" sz="1500" dirty="0"/>
          </a:p>
        </p:txBody>
      </p:sp>
      <p:sp>
        <p:nvSpPr>
          <p:cNvPr id="114" name="Text 112"/>
          <p:cNvSpPr txBox="1"/>
          <p:nvPr/>
        </p:nvSpPr>
        <p:spPr>
          <a:xfrm>
            <a:off x="731520" y="5989320"/>
            <a:ext cx="10728655" cy="274320"/>
          </a:xfrm>
          <a:prstGeom prst="rect">
            <a:avLst/>
          </a:prstGeom>
          <a:noFill/>
          <a:ln/>
        </p:spPr>
        <p:txBody>
          <a:bodyPr wrap="square" lIns="0" tIns="0" rIns="0" bIns="0" rtlCol="0" anchor="ctr"/>
          <a:lstStyle/>
          <a:p>
            <a:pPr indent="0" marL="0">
              <a:buNone/>
            </a:pPr>
            <a:r>
              <a:rPr lang="en-US" sz="900" dirty="0">
                <a:solidFill>
                  <a:srgbClr val="BDBDBD"/>
                </a:solidFill>
                <a:latin typeface="Consolas" pitchFamily="34" charset="0"/>
                <a:ea typeface="Consolas" pitchFamily="34" charset="-122"/>
                <a:cs typeface="Consolas" pitchFamily="34" charset="-120"/>
              </a:rPr>
              <a:t>Table 5 — mean EER (%), English train / English eval, six seeds per cell.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VISUAL 3 · FOR BLOCK 4 — THE TWO ATTACKS</a:t>
            </a:r>
            <a:endParaRPr lang="en-US" sz="1000" dirty="0"/>
          </a:p>
        </p:txBody>
      </p:sp>
      <p:sp>
        <p:nvSpPr>
          <p:cNvPr id="3" name="Text 1"/>
          <p:cNvSpPr txBox="1"/>
          <p:nvPr/>
        </p:nvSpPr>
        <p:spPr>
          <a:xfrm>
            <a:off x="731520" y="749808"/>
            <a:ext cx="10728655" cy="822960"/>
          </a:xfrm>
          <a:prstGeom prst="rect">
            <a:avLst/>
          </a:prstGeom>
          <a:noFill/>
          <a:ln/>
        </p:spPr>
        <p:txBody>
          <a:bodyPr wrap="square" lIns="0" tIns="0" rIns="0" bIns="0" rtlCol="0" anchor="ctr"/>
          <a:lstStyle/>
          <a:p>
            <a:pPr indent="0" marL="0">
              <a:buNone/>
            </a:pPr>
            <a:r>
              <a:rPr lang="en-US" sz="3600" b="1" dirty="0">
                <a:solidFill>
                  <a:srgbClr val="0D0D0D"/>
                </a:solidFill>
                <a:latin typeface="Inter" pitchFamily="34" charset="0"/>
                <a:ea typeface="Inter" pitchFamily="34" charset="-122"/>
                <a:cs typeface="Inter" pitchFamily="34" charset="-120"/>
              </a:rPr>
              <a:t>Two ways to fake a voice.</a:t>
            </a:r>
            <a:pPr indent="0" marL="0">
              <a:buNone/>
            </a:pPr>
            <a:r>
              <a:rPr lang="en-US" sz="3600" b="1" dirty="0">
                <a:solidFill>
                  <a:srgbClr val="BDBDBD"/>
                </a:solidFill>
                <a:latin typeface="Inter" pitchFamily="34" charset="0"/>
                <a:ea typeface="Inter" pitchFamily="34" charset="-122"/>
                <a:cs typeface="Inter" pitchFamily="34" charset="-120"/>
              </a:rPr>
              <a:t> Only one survives.</a:t>
            </a:r>
            <a:endParaRPr lang="en-US" sz="3600" dirty="0"/>
          </a:p>
        </p:txBody>
      </p:sp>
      <p:sp>
        <p:nvSpPr>
          <p:cNvPr id="4" name="Text 2"/>
          <p:cNvSpPr txBox="1"/>
          <p:nvPr/>
        </p:nvSpPr>
        <p:spPr>
          <a:xfrm>
            <a:off x="731520" y="1856232"/>
            <a:ext cx="3657600" cy="274320"/>
          </a:xfrm>
          <a:prstGeom prst="rect">
            <a:avLst/>
          </a:prstGeom>
          <a:noFill/>
          <a:ln/>
        </p:spPr>
        <p:txBody>
          <a:bodyPr wrap="square" lIns="0" tIns="0" rIns="0" bIns="0" rtlCol="0" anchor="ctr"/>
          <a:lstStyle/>
          <a:p>
            <a:pPr indent="0" marL="0">
              <a:buNone/>
            </a:pPr>
            <a:r>
              <a:rPr lang="en-US" sz="1100" b="1" spc="150" kern="0" dirty="0">
                <a:solidFill>
                  <a:srgbClr val="0D0D0D"/>
                </a:solidFill>
                <a:latin typeface="Inter" pitchFamily="34" charset="0"/>
                <a:ea typeface="Inter" pitchFamily="34" charset="-122"/>
                <a:cs typeface="Inter" pitchFamily="34" charset="-120"/>
              </a:rPr>
              <a:t>TEXT-TO-SPEECH</a:t>
            </a:r>
            <a:endParaRPr lang="en-US" sz="1100" dirty="0"/>
          </a:p>
        </p:txBody>
      </p:sp>
      <p:sp>
        <p:nvSpPr>
          <p:cNvPr id="5" name="Text 3"/>
          <p:cNvSpPr txBox="1"/>
          <p:nvPr/>
        </p:nvSpPr>
        <p:spPr>
          <a:xfrm>
            <a:off x="3108960" y="1874520"/>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Inter" pitchFamily="34" charset="0"/>
                <a:ea typeface="Inter" pitchFamily="34" charset="-122"/>
                <a:cs typeface="Inter" pitchFamily="34" charset="-120"/>
              </a:rPr>
              <a:t>nothing real goes in</a:t>
            </a:r>
            <a:endParaRPr lang="en-US" sz="1100" dirty="0"/>
          </a:p>
        </p:txBody>
      </p:sp>
      <p:sp>
        <p:nvSpPr>
          <p:cNvPr id="6" name="Shape 4"/>
          <p:cNvSpPr/>
          <p:nvPr/>
        </p:nvSpPr>
        <p:spPr>
          <a:xfrm>
            <a:off x="731520" y="2240280"/>
            <a:ext cx="2331720" cy="1143000"/>
          </a:xfrm>
          <a:prstGeom prst="roundRect">
            <a:avLst>
              <a:gd name="adj" fmla="val 4800"/>
            </a:avLst>
          </a:prstGeom>
          <a:solidFill>
            <a:srgbClr val="F7F7F5"/>
          </a:solidFill>
          <a:ln w="12700">
            <a:solidFill>
              <a:srgbClr val="E6E6E6"/>
            </a:solidFill>
            <a:prstDash val="solid"/>
          </a:ln>
        </p:spPr>
      </p:sp>
      <p:sp>
        <p:nvSpPr>
          <p:cNvPr id="7" name="Text 5"/>
          <p:cNvSpPr txBox="1"/>
          <p:nvPr/>
        </p:nvSpPr>
        <p:spPr>
          <a:xfrm>
            <a:off x="868680" y="2496312"/>
            <a:ext cx="2057400" cy="320040"/>
          </a:xfrm>
          <a:prstGeom prst="rect">
            <a:avLst/>
          </a:prstGeom>
          <a:noFill/>
          <a:ln/>
        </p:spPr>
        <p:txBody>
          <a:bodyPr wrap="square" lIns="0" tIns="0" rIns="0" bIns="0" rtlCol="0" anchor="ctr"/>
          <a:lstStyle/>
          <a:p>
            <a:pPr algn="ctr" indent="0" marL="0">
              <a:buNone/>
            </a:pPr>
            <a:r>
              <a:rPr lang="en-US" sz="1300" b="1" dirty="0">
                <a:solidFill>
                  <a:srgbClr val="0D0D0D"/>
                </a:solidFill>
                <a:latin typeface="Inter" pitchFamily="34" charset="0"/>
                <a:ea typeface="Inter" pitchFamily="34" charset="-122"/>
                <a:cs typeface="Inter" pitchFamily="34" charset="-120"/>
              </a:rPr>
              <a:t>“Send me $1,500”</a:t>
            </a:r>
            <a:endParaRPr lang="en-US" sz="1300" dirty="0"/>
          </a:p>
        </p:txBody>
      </p:sp>
      <p:sp>
        <p:nvSpPr>
          <p:cNvPr id="8" name="Text 6"/>
          <p:cNvSpPr txBox="1"/>
          <p:nvPr/>
        </p:nvSpPr>
        <p:spPr>
          <a:xfrm>
            <a:off x="841248" y="2843784"/>
            <a:ext cx="2112264" cy="320040"/>
          </a:xfrm>
          <a:prstGeom prst="rect">
            <a:avLst/>
          </a:prstGeom>
          <a:noFill/>
          <a:ln/>
        </p:spPr>
        <p:txBody>
          <a:bodyPr wrap="square" lIns="0" tIns="0" rIns="0" bIns="0" rtlCol="0" anchor="ctr"/>
          <a:lstStyle/>
          <a:p>
            <a:pPr algn="ctr" indent="0" marL="0">
              <a:buNone/>
            </a:pPr>
            <a:r>
              <a:rPr lang="en-US" sz="1050" dirty="0">
                <a:solidFill>
                  <a:srgbClr val="3F3F3F"/>
                </a:solidFill>
                <a:latin typeface="Inter" pitchFamily="34" charset="0"/>
                <a:ea typeface="Inter" pitchFamily="34" charset="-122"/>
                <a:cs typeface="Inter" pitchFamily="34" charset="-120"/>
              </a:rPr>
              <a:t>typed text</a:t>
            </a:r>
            <a:endParaRPr lang="en-US" sz="1050" dirty="0"/>
          </a:p>
        </p:txBody>
      </p:sp>
      <p:sp>
        <p:nvSpPr>
          <p:cNvPr id="9" name="Shape 7"/>
          <p:cNvSpPr/>
          <p:nvPr/>
        </p:nvSpPr>
        <p:spPr>
          <a:xfrm>
            <a:off x="3118104" y="2811780"/>
            <a:ext cx="347472" cy="0"/>
          </a:xfrm>
          <a:prstGeom prst="line">
            <a:avLst/>
          </a:prstGeom>
          <a:noFill/>
          <a:ln w="19050">
            <a:solidFill>
              <a:srgbClr val="BDBDBD"/>
            </a:solidFill>
            <a:prstDash val="solid"/>
            <a:tailEnd type="triangle"/>
          </a:ln>
        </p:spPr>
      </p:sp>
      <p:sp>
        <p:nvSpPr>
          <p:cNvPr id="10" name="Shape 8"/>
          <p:cNvSpPr/>
          <p:nvPr/>
        </p:nvSpPr>
        <p:spPr>
          <a:xfrm>
            <a:off x="3520440" y="2240280"/>
            <a:ext cx="2331720" cy="1143000"/>
          </a:xfrm>
          <a:prstGeom prst="roundRect">
            <a:avLst>
              <a:gd name="adj" fmla="val 4800"/>
            </a:avLst>
          </a:prstGeom>
          <a:solidFill>
            <a:srgbClr val="FFFFFF"/>
          </a:solidFill>
          <a:ln w="19050">
            <a:solidFill>
              <a:srgbClr val="0D0D0D"/>
            </a:solidFill>
            <a:prstDash val="solid"/>
          </a:ln>
        </p:spPr>
      </p:sp>
      <p:sp>
        <p:nvSpPr>
          <p:cNvPr id="11" name="Text 9"/>
          <p:cNvSpPr txBox="1"/>
          <p:nvPr/>
        </p:nvSpPr>
        <p:spPr>
          <a:xfrm>
            <a:off x="3657600" y="2496312"/>
            <a:ext cx="2057400" cy="320040"/>
          </a:xfrm>
          <a:prstGeom prst="rect">
            <a:avLst/>
          </a:prstGeom>
          <a:noFill/>
          <a:ln/>
        </p:spPr>
        <p:txBody>
          <a:bodyPr wrap="square" lIns="0" tIns="0" rIns="0" bIns="0" rtlCol="0" anchor="ctr"/>
          <a:lstStyle/>
          <a:p>
            <a:pPr algn="ctr" indent="0" marL="0">
              <a:buNone/>
            </a:pPr>
            <a:r>
              <a:rPr lang="en-US" sz="1300" b="1" dirty="0">
                <a:solidFill>
                  <a:srgbClr val="0D0D0D"/>
                </a:solidFill>
                <a:latin typeface="Inter" pitchFamily="34" charset="0"/>
                <a:ea typeface="Inter" pitchFamily="34" charset="-122"/>
                <a:cs typeface="Inter" pitchFamily="34" charset="-120"/>
              </a:rPr>
              <a:t>TTS model</a:t>
            </a:r>
            <a:endParaRPr lang="en-US" sz="1300" dirty="0"/>
          </a:p>
        </p:txBody>
      </p:sp>
      <p:sp>
        <p:nvSpPr>
          <p:cNvPr id="12" name="Text 10"/>
          <p:cNvSpPr txBox="1"/>
          <p:nvPr/>
        </p:nvSpPr>
        <p:spPr>
          <a:xfrm>
            <a:off x="3630168" y="2843784"/>
            <a:ext cx="2112264" cy="320040"/>
          </a:xfrm>
          <a:prstGeom prst="rect">
            <a:avLst/>
          </a:prstGeom>
          <a:noFill/>
          <a:ln/>
        </p:spPr>
        <p:txBody>
          <a:bodyPr wrap="square" lIns="0" tIns="0" rIns="0" bIns="0" rtlCol="0" anchor="ctr"/>
          <a:lstStyle/>
          <a:p>
            <a:pPr algn="ctr" indent="0" marL="0">
              <a:buNone/>
            </a:pPr>
            <a:r>
              <a:rPr lang="en-US" sz="1050" dirty="0">
                <a:solidFill>
                  <a:srgbClr val="3F3F3F"/>
                </a:solidFill>
                <a:latin typeface="Inter" pitchFamily="34" charset="0"/>
                <a:ea typeface="Inter" pitchFamily="34" charset="-122"/>
                <a:cs typeface="Inter" pitchFamily="34" charset="-120"/>
              </a:rPr>
              <a:t>vocoder</a:t>
            </a:r>
            <a:endParaRPr lang="en-US" sz="1050" dirty="0"/>
          </a:p>
        </p:txBody>
      </p:sp>
      <p:sp>
        <p:nvSpPr>
          <p:cNvPr id="13" name="Shape 11"/>
          <p:cNvSpPr/>
          <p:nvPr/>
        </p:nvSpPr>
        <p:spPr>
          <a:xfrm>
            <a:off x="5907024" y="2811780"/>
            <a:ext cx="347472" cy="0"/>
          </a:xfrm>
          <a:prstGeom prst="line">
            <a:avLst/>
          </a:prstGeom>
          <a:noFill/>
          <a:ln w="19050">
            <a:solidFill>
              <a:srgbClr val="BDBDBD"/>
            </a:solidFill>
            <a:prstDash val="solid"/>
            <a:tailEnd type="triangle"/>
          </a:ln>
        </p:spPr>
      </p:sp>
      <p:sp>
        <p:nvSpPr>
          <p:cNvPr id="14" name="Shape 12"/>
          <p:cNvSpPr/>
          <p:nvPr/>
        </p:nvSpPr>
        <p:spPr>
          <a:xfrm>
            <a:off x="6309360" y="2240280"/>
            <a:ext cx="2331720" cy="1143000"/>
          </a:xfrm>
          <a:prstGeom prst="roundRect">
            <a:avLst>
              <a:gd name="adj" fmla="val 4800"/>
            </a:avLst>
          </a:prstGeom>
          <a:solidFill>
            <a:srgbClr val="F7F7F5"/>
          </a:solidFill>
          <a:ln w="12700">
            <a:solidFill>
              <a:srgbClr val="E6E6E6"/>
            </a:solidFill>
            <a:prstDash val="solid"/>
          </a:ln>
        </p:spPr>
      </p:sp>
      <p:sp>
        <p:nvSpPr>
          <p:cNvPr id="15" name="Text 13"/>
          <p:cNvSpPr txBox="1"/>
          <p:nvPr/>
        </p:nvSpPr>
        <p:spPr>
          <a:xfrm>
            <a:off x="6446520" y="2496312"/>
            <a:ext cx="2057400" cy="320040"/>
          </a:xfrm>
          <a:prstGeom prst="rect">
            <a:avLst/>
          </a:prstGeom>
          <a:noFill/>
          <a:ln/>
        </p:spPr>
        <p:txBody>
          <a:bodyPr wrap="square" lIns="0" tIns="0" rIns="0" bIns="0" rtlCol="0" anchor="ctr"/>
          <a:lstStyle/>
          <a:p>
            <a:pPr algn="ctr" indent="0" marL="0">
              <a:buNone/>
            </a:pPr>
            <a:r>
              <a:rPr lang="en-US" sz="1300" b="1" dirty="0">
                <a:solidFill>
                  <a:srgbClr val="0D0D0D"/>
                </a:solidFill>
                <a:latin typeface="Inter" pitchFamily="34" charset="0"/>
                <a:ea typeface="Inter" pitchFamily="34" charset="-122"/>
                <a:cs typeface="Inter" pitchFamily="34" charset="-120"/>
              </a:rPr>
              <a:t>waveform</a:t>
            </a:r>
            <a:endParaRPr lang="en-US" sz="1300" dirty="0"/>
          </a:p>
        </p:txBody>
      </p:sp>
      <p:sp>
        <p:nvSpPr>
          <p:cNvPr id="16" name="Text 14"/>
          <p:cNvSpPr txBox="1"/>
          <p:nvPr/>
        </p:nvSpPr>
        <p:spPr>
          <a:xfrm>
            <a:off x="6419088" y="2843784"/>
            <a:ext cx="2112264" cy="320040"/>
          </a:xfrm>
          <a:prstGeom prst="rect">
            <a:avLst/>
          </a:prstGeom>
          <a:noFill/>
          <a:ln/>
        </p:spPr>
        <p:txBody>
          <a:bodyPr wrap="square" lIns="0" tIns="0" rIns="0" bIns="0" rtlCol="0" anchor="ctr"/>
          <a:lstStyle/>
          <a:p>
            <a:pPr algn="ctr" indent="0" marL="0">
              <a:buNone/>
            </a:pPr>
            <a:r>
              <a:rPr lang="en-US" sz="1050" dirty="0">
                <a:solidFill>
                  <a:srgbClr val="3F3F3F"/>
                </a:solidFill>
                <a:latin typeface="Inter" pitchFamily="34" charset="0"/>
                <a:ea typeface="Inter" pitchFamily="34" charset="-122"/>
                <a:cs typeface="Inter" pitchFamily="34" charset="-120"/>
              </a:rPr>
              <a:t>100 % synthetic</a:t>
            </a:r>
            <a:endParaRPr lang="en-US" sz="1050" dirty="0"/>
          </a:p>
        </p:txBody>
      </p:sp>
      <p:sp>
        <p:nvSpPr>
          <p:cNvPr id="17" name="Shape 15"/>
          <p:cNvSpPr/>
          <p:nvPr/>
        </p:nvSpPr>
        <p:spPr>
          <a:xfrm>
            <a:off x="9235440" y="2496312"/>
            <a:ext cx="2514600" cy="640080"/>
          </a:xfrm>
          <a:prstGeom prst="roundRect">
            <a:avLst>
              <a:gd name="adj" fmla="val 8571"/>
            </a:avLst>
          </a:prstGeom>
          <a:solidFill>
            <a:srgbClr val="F7F7F5"/>
          </a:solidFill>
          <a:ln w="12700">
            <a:solidFill>
              <a:srgbClr val="E6E6E6"/>
            </a:solidFill>
            <a:prstDash val="solid"/>
          </a:ln>
        </p:spPr>
      </p:sp>
      <p:sp>
        <p:nvSpPr>
          <p:cNvPr id="18" name="Text 16"/>
          <p:cNvSpPr txBox="1"/>
          <p:nvPr/>
        </p:nvSpPr>
        <p:spPr>
          <a:xfrm>
            <a:off x="9235440" y="2496312"/>
            <a:ext cx="2514600" cy="640080"/>
          </a:xfrm>
          <a:prstGeom prst="rect">
            <a:avLst/>
          </a:prstGeom>
          <a:noFill/>
          <a:ln/>
        </p:spPr>
        <p:txBody>
          <a:bodyPr wrap="square" lIns="0" tIns="0" rIns="0" bIns="0" rtlCol="0" anchor="ctr"/>
          <a:lstStyle/>
          <a:p>
            <a:pPr algn="ctr" indent="0" marL="0">
              <a:buNone/>
            </a:pPr>
            <a:r>
              <a:rPr lang="en-US" sz="1200" b="1" dirty="0">
                <a:solidFill>
                  <a:srgbClr val="0D0D0D"/>
                </a:solidFill>
                <a:latin typeface="Inter" pitchFamily="34" charset="0"/>
                <a:ea typeface="Inter" pitchFamily="34" charset="-122"/>
                <a:cs typeface="Inter" pitchFamily="34" charset="-120"/>
              </a:rPr>
              <a:t>travels across languages</a:t>
            </a:r>
            <a:endParaRPr lang="en-US" sz="1200" dirty="0"/>
          </a:p>
        </p:txBody>
      </p:sp>
      <p:sp>
        <p:nvSpPr>
          <p:cNvPr id="19" name="Text 17"/>
          <p:cNvSpPr txBox="1"/>
          <p:nvPr/>
        </p:nvSpPr>
        <p:spPr>
          <a:xfrm>
            <a:off x="731520" y="3438144"/>
            <a:ext cx="7498080" cy="274320"/>
          </a:xfrm>
          <a:prstGeom prst="rect">
            <a:avLst/>
          </a:prstGeom>
          <a:noFill/>
          <a:ln/>
        </p:spPr>
        <p:txBody>
          <a:bodyPr wrap="square" lIns="0" tIns="0" rIns="0" bIns="0" rtlCol="0" anchor="ctr"/>
          <a:lstStyle/>
          <a:p>
            <a:pPr indent="0" marL="0">
              <a:buNone/>
            </a:pPr>
            <a:r>
              <a:rPr lang="en-US" sz="1100" dirty="0">
                <a:solidFill>
                  <a:srgbClr val="3F3F3F"/>
                </a:solidFill>
                <a:latin typeface="Inter" pitchFamily="34" charset="0"/>
                <a:ea typeface="Inter" pitchFamily="34" charset="-122"/>
                <a:cs typeface="Inter" pitchFamily="34" charset="-120"/>
              </a:rPr>
              <a:t>The artefact belongs to the VOCODER — it does not care what language you speak.</a:t>
            </a:r>
            <a:endParaRPr lang="en-US" sz="1100" dirty="0"/>
          </a:p>
        </p:txBody>
      </p:sp>
      <p:sp>
        <p:nvSpPr>
          <p:cNvPr id="20" name="Text 18"/>
          <p:cNvSpPr txBox="1"/>
          <p:nvPr/>
        </p:nvSpPr>
        <p:spPr>
          <a:xfrm>
            <a:off x="731520" y="3867912"/>
            <a:ext cx="3657600" cy="274320"/>
          </a:xfrm>
          <a:prstGeom prst="rect">
            <a:avLst/>
          </a:prstGeom>
          <a:noFill/>
          <a:ln/>
        </p:spPr>
        <p:txBody>
          <a:bodyPr wrap="square" lIns="0" tIns="0" rIns="0" bIns="0" rtlCol="0" anchor="ctr"/>
          <a:lstStyle/>
          <a:p>
            <a:pPr indent="0" marL="0">
              <a:buNone/>
            </a:pPr>
            <a:r>
              <a:rPr lang="en-US" sz="1100" b="1" spc="150" kern="0" dirty="0">
                <a:solidFill>
                  <a:srgbClr val="0D0D0D"/>
                </a:solidFill>
                <a:latin typeface="Inter" pitchFamily="34" charset="0"/>
                <a:ea typeface="Inter" pitchFamily="34" charset="-122"/>
                <a:cs typeface="Inter" pitchFamily="34" charset="-120"/>
              </a:rPr>
              <a:t>VOICE CONVERSION</a:t>
            </a:r>
            <a:endParaRPr lang="en-US" sz="1100" dirty="0"/>
          </a:p>
        </p:txBody>
      </p:sp>
      <p:sp>
        <p:nvSpPr>
          <p:cNvPr id="21" name="Text 19"/>
          <p:cNvSpPr txBox="1"/>
          <p:nvPr/>
        </p:nvSpPr>
        <p:spPr>
          <a:xfrm>
            <a:off x="3108960" y="3886200"/>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Inter" pitchFamily="34" charset="0"/>
                <a:ea typeface="Inter" pitchFamily="34" charset="-122"/>
                <a:cs typeface="Inter" pitchFamily="34" charset="-120"/>
              </a:rPr>
              <a:t>a real recording goes in</a:t>
            </a:r>
            <a:endParaRPr lang="en-US" sz="1100" dirty="0"/>
          </a:p>
        </p:txBody>
      </p:sp>
      <p:sp>
        <p:nvSpPr>
          <p:cNvPr id="22" name="Shape 20"/>
          <p:cNvSpPr/>
          <p:nvPr/>
        </p:nvSpPr>
        <p:spPr>
          <a:xfrm>
            <a:off x="731520" y="4251960"/>
            <a:ext cx="2331720" cy="1143000"/>
          </a:xfrm>
          <a:prstGeom prst="roundRect">
            <a:avLst>
              <a:gd name="adj" fmla="val 4800"/>
            </a:avLst>
          </a:prstGeom>
          <a:solidFill>
            <a:srgbClr val="F7F7F5"/>
          </a:solidFill>
          <a:ln w="12700">
            <a:solidFill>
              <a:srgbClr val="E6E6E6"/>
            </a:solidFill>
            <a:prstDash val="solid"/>
          </a:ln>
        </p:spPr>
      </p:sp>
      <p:sp>
        <p:nvSpPr>
          <p:cNvPr id="23" name="Text 21"/>
          <p:cNvSpPr txBox="1"/>
          <p:nvPr/>
        </p:nvSpPr>
        <p:spPr>
          <a:xfrm>
            <a:off x="868680" y="4507992"/>
            <a:ext cx="2057400" cy="320040"/>
          </a:xfrm>
          <a:prstGeom prst="rect">
            <a:avLst/>
          </a:prstGeom>
          <a:noFill/>
          <a:ln/>
        </p:spPr>
        <p:txBody>
          <a:bodyPr wrap="square" lIns="0" tIns="0" rIns="0" bIns="0" rtlCol="0" anchor="ctr"/>
          <a:lstStyle/>
          <a:p>
            <a:pPr algn="ctr" indent="0" marL="0">
              <a:buNone/>
            </a:pPr>
            <a:r>
              <a:rPr lang="en-US" sz="1300" b="1" dirty="0">
                <a:solidFill>
                  <a:srgbClr val="0D0D0D"/>
                </a:solidFill>
                <a:latin typeface="Inter" pitchFamily="34" charset="0"/>
                <a:ea typeface="Inter" pitchFamily="34" charset="-122"/>
                <a:cs typeface="Inter" pitchFamily="34" charset="-120"/>
              </a:rPr>
              <a:t>real recording</a:t>
            </a:r>
            <a:endParaRPr lang="en-US" sz="1300" dirty="0"/>
          </a:p>
        </p:txBody>
      </p:sp>
      <p:sp>
        <p:nvSpPr>
          <p:cNvPr id="24" name="Text 22"/>
          <p:cNvSpPr txBox="1"/>
          <p:nvPr/>
        </p:nvSpPr>
        <p:spPr>
          <a:xfrm>
            <a:off x="841248" y="4855464"/>
            <a:ext cx="2112264" cy="320040"/>
          </a:xfrm>
          <a:prstGeom prst="rect">
            <a:avLst/>
          </a:prstGeom>
          <a:noFill/>
          <a:ln/>
        </p:spPr>
        <p:txBody>
          <a:bodyPr wrap="square" lIns="0" tIns="0" rIns="0" bIns="0" rtlCol="0" anchor="ctr"/>
          <a:lstStyle/>
          <a:p>
            <a:pPr algn="ctr" indent="0" marL="0">
              <a:buNone/>
            </a:pPr>
            <a:r>
              <a:rPr lang="en-US" sz="1050" dirty="0">
                <a:solidFill>
                  <a:srgbClr val="3F3F3F"/>
                </a:solidFill>
                <a:latin typeface="Inter" pitchFamily="34" charset="0"/>
                <a:ea typeface="Inter" pitchFamily="34" charset="-122"/>
                <a:cs typeface="Inter" pitchFamily="34" charset="-120"/>
              </a:rPr>
              <a:t>a person really spoke</a:t>
            </a:r>
            <a:endParaRPr lang="en-US" sz="1050" dirty="0"/>
          </a:p>
        </p:txBody>
      </p:sp>
      <p:sp>
        <p:nvSpPr>
          <p:cNvPr id="25" name="Shape 23"/>
          <p:cNvSpPr/>
          <p:nvPr/>
        </p:nvSpPr>
        <p:spPr>
          <a:xfrm>
            <a:off x="3118104" y="4823460"/>
            <a:ext cx="347472" cy="0"/>
          </a:xfrm>
          <a:prstGeom prst="line">
            <a:avLst/>
          </a:prstGeom>
          <a:noFill/>
          <a:ln w="19050">
            <a:solidFill>
              <a:srgbClr val="BDBDBD"/>
            </a:solidFill>
            <a:prstDash val="solid"/>
            <a:tailEnd type="triangle"/>
          </a:ln>
        </p:spPr>
      </p:sp>
      <p:sp>
        <p:nvSpPr>
          <p:cNvPr id="26" name="Shape 24"/>
          <p:cNvSpPr/>
          <p:nvPr/>
        </p:nvSpPr>
        <p:spPr>
          <a:xfrm>
            <a:off x="3520440" y="4251960"/>
            <a:ext cx="2331720" cy="1143000"/>
          </a:xfrm>
          <a:prstGeom prst="roundRect">
            <a:avLst>
              <a:gd name="adj" fmla="val 4800"/>
            </a:avLst>
          </a:prstGeom>
          <a:solidFill>
            <a:srgbClr val="FFFFFF"/>
          </a:solidFill>
          <a:ln w="19050">
            <a:solidFill>
              <a:srgbClr val="0D0D0D"/>
            </a:solidFill>
            <a:prstDash val="solid"/>
          </a:ln>
        </p:spPr>
      </p:sp>
      <p:sp>
        <p:nvSpPr>
          <p:cNvPr id="27" name="Text 25"/>
          <p:cNvSpPr txBox="1"/>
          <p:nvPr/>
        </p:nvSpPr>
        <p:spPr>
          <a:xfrm>
            <a:off x="3657600" y="4507992"/>
            <a:ext cx="2057400" cy="320040"/>
          </a:xfrm>
          <a:prstGeom prst="rect">
            <a:avLst/>
          </a:prstGeom>
          <a:noFill/>
          <a:ln/>
        </p:spPr>
        <p:txBody>
          <a:bodyPr wrap="square" lIns="0" tIns="0" rIns="0" bIns="0" rtlCol="0" anchor="ctr"/>
          <a:lstStyle/>
          <a:p>
            <a:pPr algn="ctr" indent="0" marL="0">
              <a:buNone/>
            </a:pPr>
            <a:r>
              <a:rPr lang="en-US" sz="1300" b="1" dirty="0">
                <a:solidFill>
                  <a:srgbClr val="0D0D0D"/>
                </a:solidFill>
                <a:latin typeface="Inter" pitchFamily="34" charset="0"/>
                <a:ea typeface="Inter" pitchFamily="34" charset="-122"/>
                <a:cs typeface="Inter" pitchFamily="34" charset="-120"/>
              </a:rPr>
              <a:t>VC model</a:t>
            </a:r>
            <a:endParaRPr lang="en-US" sz="1300" dirty="0"/>
          </a:p>
        </p:txBody>
      </p:sp>
      <p:sp>
        <p:nvSpPr>
          <p:cNvPr id="28" name="Text 26"/>
          <p:cNvSpPr txBox="1"/>
          <p:nvPr/>
        </p:nvSpPr>
        <p:spPr>
          <a:xfrm>
            <a:off x="3630168" y="4855464"/>
            <a:ext cx="2112264" cy="320040"/>
          </a:xfrm>
          <a:prstGeom prst="rect">
            <a:avLst/>
          </a:prstGeom>
          <a:noFill/>
          <a:ln/>
        </p:spPr>
        <p:txBody>
          <a:bodyPr wrap="square" lIns="0" tIns="0" rIns="0" bIns="0" rtlCol="0" anchor="ctr"/>
          <a:lstStyle/>
          <a:p>
            <a:pPr algn="ctr" indent="0" marL="0">
              <a:buNone/>
            </a:pPr>
            <a:r>
              <a:rPr lang="en-US" sz="1050" dirty="0">
                <a:solidFill>
                  <a:srgbClr val="3F3F3F"/>
                </a:solidFill>
                <a:latin typeface="Inter" pitchFamily="34" charset="0"/>
                <a:ea typeface="Inter" pitchFamily="34" charset="-122"/>
                <a:cs typeface="Inter" pitchFamily="34" charset="-120"/>
              </a:rPr>
              <a:t>+ target identity</a:t>
            </a:r>
            <a:endParaRPr lang="en-US" sz="1050" dirty="0"/>
          </a:p>
        </p:txBody>
      </p:sp>
      <p:sp>
        <p:nvSpPr>
          <p:cNvPr id="29" name="Shape 27"/>
          <p:cNvSpPr/>
          <p:nvPr/>
        </p:nvSpPr>
        <p:spPr>
          <a:xfrm>
            <a:off x="5907024" y="4823460"/>
            <a:ext cx="347472" cy="0"/>
          </a:xfrm>
          <a:prstGeom prst="line">
            <a:avLst/>
          </a:prstGeom>
          <a:noFill/>
          <a:ln w="19050">
            <a:solidFill>
              <a:srgbClr val="BDBDBD"/>
            </a:solidFill>
            <a:prstDash val="solid"/>
            <a:tailEnd type="triangle"/>
          </a:ln>
        </p:spPr>
      </p:sp>
      <p:sp>
        <p:nvSpPr>
          <p:cNvPr id="30" name="Shape 28"/>
          <p:cNvSpPr/>
          <p:nvPr/>
        </p:nvSpPr>
        <p:spPr>
          <a:xfrm>
            <a:off x="6309360" y="4251960"/>
            <a:ext cx="2331720" cy="1143000"/>
          </a:xfrm>
          <a:prstGeom prst="roundRect">
            <a:avLst>
              <a:gd name="adj" fmla="val 4800"/>
            </a:avLst>
          </a:prstGeom>
          <a:solidFill>
            <a:srgbClr val="F7F7F5"/>
          </a:solidFill>
          <a:ln w="12700">
            <a:solidFill>
              <a:srgbClr val="E6E6E6"/>
            </a:solidFill>
            <a:prstDash val="solid"/>
          </a:ln>
        </p:spPr>
      </p:sp>
      <p:sp>
        <p:nvSpPr>
          <p:cNvPr id="31" name="Text 29"/>
          <p:cNvSpPr txBox="1"/>
          <p:nvPr/>
        </p:nvSpPr>
        <p:spPr>
          <a:xfrm>
            <a:off x="6446520" y="4507992"/>
            <a:ext cx="2057400" cy="320040"/>
          </a:xfrm>
          <a:prstGeom prst="rect">
            <a:avLst/>
          </a:prstGeom>
          <a:noFill/>
          <a:ln/>
        </p:spPr>
        <p:txBody>
          <a:bodyPr wrap="square" lIns="0" tIns="0" rIns="0" bIns="0" rtlCol="0" anchor="ctr"/>
          <a:lstStyle/>
          <a:p>
            <a:pPr algn="ctr" indent="0" marL="0">
              <a:buNone/>
            </a:pPr>
            <a:r>
              <a:rPr lang="en-US" sz="1300" b="1" dirty="0">
                <a:solidFill>
                  <a:srgbClr val="0D0D0D"/>
                </a:solidFill>
                <a:latin typeface="Inter" pitchFamily="34" charset="0"/>
                <a:ea typeface="Inter" pitchFamily="34" charset="-122"/>
                <a:cs typeface="Inter" pitchFamily="34" charset="-120"/>
              </a:rPr>
              <a:t>waveform</a:t>
            </a:r>
            <a:endParaRPr lang="en-US" sz="1300" dirty="0"/>
          </a:p>
        </p:txBody>
      </p:sp>
      <p:sp>
        <p:nvSpPr>
          <p:cNvPr id="32" name="Text 30"/>
          <p:cNvSpPr txBox="1"/>
          <p:nvPr/>
        </p:nvSpPr>
        <p:spPr>
          <a:xfrm>
            <a:off x="6419088" y="4855464"/>
            <a:ext cx="2112264" cy="320040"/>
          </a:xfrm>
          <a:prstGeom prst="rect">
            <a:avLst/>
          </a:prstGeom>
          <a:noFill/>
          <a:ln/>
        </p:spPr>
        <p:txBody>
          <a:bodyPr wrap="square" lIns="0" tIns="0" rIns="0" bIns="0" rtlCol="0" anchor="ctr"/>
          <a:lstStyle/>
          <a:p>
            <a:pPr algn="ctr" indent="0" marL="0">
              <a:buNone/>
            </a:pPr>
            <a:r>
              <a:rPr lang="en-US" sz="1050" dirty="0">
                <a:solidFill>
                  <a:srgbClr val="3F3F3F"/>
                </a:solidFill>
                <a:latin typeface="Inter" pitchFamily="34" charset="0"/>
                <a:ea typeface="Inter" pitchFamily="34" charset="-122"/>
                <a:cs typeface="Inter" pitchFamily="34" charset="-120"/>
              </a:rPr>
              <a:t>real words, stolen voice</a:t>
            </a:r>
            <a:endParaRPr lang="en-US" sz="1050" dirty="0"/>
          </a:p>
        </p:txBody>
      </p:sp>
      <p:sp>
        <p:nvSpPr>
          <p:cNvPr id="33" name="Shape 31"/>
          <p:cNvSpPr/>
          <p:nvPr/>
        </p:nvSpPr>
        <p:spPr>
          <a:xfrm>
            <a:off x="9235440" y="4507992"/>
            <a:ext cx="2514600" cy="640080"/>
          </a:xfrm>
          <a:prstGeom prst="roundRect">
            <a:avLst>
              <a:gd name="adj" fmla="val 8571"/>
            </a:avLst>
          </a:prstGeom>
          <a:solidFill>
            <a:srgbClr val="FFE800"/>
          </a:solidFill>
          <a:ln w="12700">
            <a:solidFill>
              <a:srgbClr val="FFE800"/>
            </a:solidFill>
            <a:prstDash val="solid"/>
          </a:ln>
        </p:spPr>
      </p:sp>
      <p:sp>
        <p:nvSpPr>
          <p:cNvPr id="34" name="Text 32"/>
          <p:cNvSpPr txBox="1"/>
          <p:nvPr/>
        </p:nvSpPr>
        <p:spPr>
          <a:xfrm>
            <a:off x="9235440" y="4507992"/>
            <a:ext cx="2514600" cy="640080"/>
          </a:xfrm>
          <a:prstGeom prst="rect">
            <a:avLst/>
          </a:prstGeom>
          <a:noFill/>
          <a:ln/>
        </p:spPr>
        <p:txBody>
          <a:bodyPr wrap="square" lIns="0" tIns="0" rIns="0" bIns="0" rtlCol="0" anchor="ctr"/>
          <a:lstStyle/>
          <a:p>
            <a:pPr algn="ctr" indent="0" marL="0">
              <a:buNone/>
            </a:pPr>
            <a:r>
              <a:rPr lang="en-US" sz="1200" b="1" dirty="0">
                <a:solidFill>
                  <a:srgbClr val="0D0D0D"/>
                </a:solidFill>
                <a:latin typeface="Inter" pitchFamily="34" charset="0"/>
                <a:ea typeface="Inter" pitchFamily="34" charset="-122"/>
                <a:cs typeface="Inter" pitchFamily="34" charset="-120"/>
              </a:rPr>
              <a:t>does not survive</a:t>
            </a:r>
            <a:endParaRPr lang="en-US" sz="1200" dirty="0"/>
          </a:p>
        </p:txBody>
      </p:sp>
      <p:sp>
        <p:nvSpPr>
          <p:cNvPr id="35" name="Text 33"/>
          <p:cNvSpPr txBox="1"/>
          <p:nvPr/>
        </p:nvSpPr>
        <p:spPr>
          <a:xfrm>
            <a:off x="731520" y="5449824"/>
            <a:ext cx="7498080" cy="274320"/>
          </a:xfrm>
          <a:prstGeom prst="rect">
            <a:avLst/>
          </a:prstGeom>
          <a:noFill/>
          <a:ln/>
        </p:spPr>
        <p:txBody>
          <a:bodyPr wrap="square" lIns="0" tIns="0" rIns="0" bIns="0" rtlCol="0" anchor="ctr"/>
          <a:lstStyle/>
          <a:p>
            <a:pPr indent="0" marL="0">
              <a:buNone/>
            </a:pPr>
            <a:r>
              <a:rPr lang="en-US" sz="1100" dirty="0">
                <a:solidFill>
                  <a:srgbClr val="3F3F3F"/>
                </a:solidFill>
                <a:latin typeface="Inter" pitchFamily="34" charset="0"/>
                <a:ea typeface="Inter" pitchFamily="34" charset="-122"/>
                <a:cs typeface="Inter" pitchFamily="34" charset="-120"/>
              </a:rPr>
              <a:t>The artefact is tangled with SPEAKER and ACCENT — exactly what changes with the language.</a:t>
            </a:r>
            <a:endParaRPr lang="en-US" sz="1100" dirty="0"/>
          </a:p>
        </p:txBody>
      </p:sp>
      <p:sp>
        <p:nvSpPr>
          <p:cNvPr id="36" name="Text 34"/>
          <p:cNvSpPr txBox="1"/>
          <p:nvPr/>
        </p:nvSpPr>
        <p:spPr>
          <a:xfrm>
            <a:off x="731520" y="5715000"/>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The words are real. The identity is stolen.</a:t>
            </a:r>
            <a:pPr indent="0" marL="0">
              <a:buNone/>
            </a:pPr>
            <a:r>
              <a:rPr lang="en-US" sz="1500" dirty="0">
                <a:solidFill>
                  <a:srgbClr val="8C8C8C"/>
                </a:solidFill>
                <a:latin typeface="Inter" pitchFamily="34" charset="0"/>
                <a:ea typeface="Inter" pitchFamily="34" charset="-122"/>
                <a:cs typeface="Inter" pitchFamily="34" charset="-120"/>
              </a:rPr>
              <a:t> That is the attack our detectors cannot see in Spanish.</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VISUAL 4 · FOR BLOCK 9 — WHAT IS LEFT</a:t>
            </a:r>
            <a:endParaRPr lang="en-US" sz="1000" dirty="0"/>
          </a:p>
        </p:txBody>
      </p:sp>
      <p:sp>
        <p:nvSpPr>
          <p:cNvPr id="3" name="Text 1"/>
          <p:cNvSpPr txBox="1"/>
          <p:nvPr/>
        </p:nvSpPr>
        <p:spPr>
          <a:xfrm>
            <a:off x="731520" y="749808"/>
            <a:ext cx="10728655" cy="822960"/>
          </a:xfrm>
          <a:prstGeom prst="rect">
            <a:avLst/>
          </a:prstGeom>
          <a:noFill/>
          <a:ln/>
        </p:spPr>
        <p:txBody>
          <a:bodyPr wrap="square" lIns="0" tIns="0" rIns="0" bIns="0" rtlCol="0" anchor="ctr"/>
          <a:lstStyle/>
          <a:p>
            <a:pPr indent="0" marL="0">
              <a:buNone/>
            </a:pPr>
            <a:r>
              <a:rPr lang="en-US" sz="3600" b="1" dirty="0">
                <a:solidFill>
                  <a:srgbClr val="0D0D0D"/>
                </a:solidFill>
                <a:latin typeface="Inter" pitchFamily="34" charset="0"/>
                <a:ea typeface="Inter" pitchFamily="34" charset="-122"/>
                <a:cs typeface="Inter" pitchFamily="34" charset="-120"/>
              </a:rPr>
              <a:t>Accent barely moves it.</a:t>
            </a:r>
            <a:pPr indent="0" marL="0">
              <a:buNone/>
            </a:pPr>
            <a:r>
              <a:rPr lang="en-US" sz="3600" b="1" dirty="0">
                <a:solidFill>
                  <a:srgbClr val="BDBDBD"/>
                </a:solidFill>
                <a:latin typeface="Inter" pitchFamily="34" charset="0"/>
                <a:ea typeface="Inter" pitchFamily="34" charset="-122"/>
                <a:cs typeface="Inter" pitchFamily="34" charset="-120"/>
              </a:rPr>
              <a:t> Gender flips direction.</a:t>
            </a:r>
            <a:endParaRPr lang="en-US" sz="3600" dirty="0"/>
          </a:p>
        </p:txBody>
      </p:sp>
      <p:sp>
        <p:nvSpPr>
          <p:cNvPr id="4" name="Shape 2"/>
          <p:cNvSpPr/>
          <p:nvPr/>
        </p:nvSpPr>
        <p:spPr>
          <a:xfrm>
            <a:off x="2651760" y="2148840"/>
            <a:ext cx="0" cy="2788920"/>
          </a:xfrm>
          <a:prstGeom prst="line">
            <a:avLst/>
          </a:prstGeom>
          <a:noFill/>
          <a:ln w="12700">
            <a:solidFill>
              <a:srgbClr val="F0F0EE"/>
            </a:solidFill>
            <a:prstDash val="solid"/>
          </a:ln>
        </p:spPr>
      </p:sp>
      <p:sp>
        <p:nvSpPr>
          <p:cNvPr id="5" name="Text 3"/>
          <p:cNvSpPr txBox="1"/>
          <p:nvPr/>
        </p:nvSpPr>
        <p:spPr>
          <a:xfrm>
            <a:off x="2377440" y="4983480"/>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0.0</a:t>
            </a:r>
            <a:endParaRPr lang="en-US" sz="950" dirty="0"/>
          </a:p>
        </p:txBody>
      </p:sp>
      <p:sp>
        <p:nvSpPr>
          <p:cNvPr id="6" name="Shape 4"/>
          <p:cNvSpPr/>
          <p:nvPr/>
        </p:nvSpPr>
        <p:spPr>
          <a:xfrm>
            <a:off x="3723589" y="2148840"/>
            <a:ext cx="0" cy="2788920"/>
          </a:xfrm>
          <a:prstGeom prst="line">
            <a:avLst/>
          </a:prstGeom>
          <a:noFill/>
          <a:ln w="12700">
            <a:solidFill>
              <a:srgbClr val="F0F0EE"/>
            </a:solidFill>
            <a:prstDash val="solid"/>
          </a:ln>
        </p:spPr>
      </p:sp>
      <p:sp>
        <p:nvSpPr>
          <p:cNvPr id="7" name="Text 5"/>
          <p:cNvSpPr txBox="1"/>
          <p:nvPr/>
        </p:nvSpPr>
        <p:spPr>
          <a:xfrm>
            <a:off x="3449269" y="4983480"/>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0.1</a:t>
            </a:r>
            <a:endParaRPr lang="en-US" sz="950" dirty="0"/>
          </a:p>
        </p:txBody>
      </p:sp>
      <p:sp>
        <p:nvSpPr>
          <p:cNvPr id="8" name="Shape 6"/>
          <p:cNvSpPr/>
          <p:nvPr/>
        </p:nvSpPr>
        <p:spPr>
          <a:xfrm>
            <a:off x="4795418" y="2148840"/>
            <a:ext cx="0" cy="2788920"/>
          </a:xfrm>
          <a:prstGeom prst="line">
            <a:avLst/>
          </a:prstGeom>
          <a:noFill/>
          <a:ln w="12700">
            <a:solidFill>
              <a:srgbClr val="F0F0EE"/>
            </a:solidFill>
            <a:prstDash val="solid"/>
          </a:ln>
        </p:spPr>
      </p:sp>
      <p:sp>
        <p:nvSpPr>
          <p:cNvPr id="9" name="Text 7"/>
          <p:cNvSpPr txBox="1"/>
          <p:nvPr/>
        </p:nvSpPr>
        <p:spPr>
          <a:xfrm>
            <a:off x="4521098" y="4983480"/>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0.2</a:t>
            </a:r>
            <a:endParaRPr lang="en-US" sz="950" dirty="0"/>
          </a:p>
        </p:txBody>
      </p:sp>
      <p:sp>
        <p:nvSpPr>
          <p:cNvPr id="10" name="Shape 8"/>
          <p:cNvSpPr/>
          <p:nvPr/>
        </p:nvSpPr>
        <p:spPr>
          <a:xfrm>
            <a:off x="5867248" y="2148840"/>
            <a:ext cx="0" cy="2788920"/>
          </a:xfrm>
          <a:prstGeom prst="line">
            <a:avLst/>
          </a:prstGeom>
          <a:noFill/>
          <a:ln w="12700">
            <a:solidFill>
              <a:srgbClr val="F0F0EE"/>
            </a:solidFill>
            <a:prstDash val="solid"/>
          </a:ln>
        </p:spPr>
      </p:sp>
      <p:sp>
        <p:nvSpPr>
          <p:cNvPr id="11" name="Text 9"/>
          <p:cNvSpPr txBox="1"/>
          <p:nvPr/>
        </p:nvSpPr>
        <p:spPr>
          <a:xfrm>
            <a:off x="5592928" y="4983480"/>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0.3</a:t>
            </a:r>
            <a:endParaRPr lang="en-US" sz="950" dirty="0"/>
          </a:p>
        </p:txBody>
      </p:sp>
      <p:sp>
        <p:nvSpPr>
          <p:cNvPr id="12" name="Shape 10"/>
          <p:cNvSpPr/>
          <p:nvPr/>
        </p:nvSpPr>
        <p:spPr>
          <a:xfrm>
            <a:off x="6939077" y="2148840"/>
            <a:ext cx="0" cy="2788920"/>
          </a:xfrm>
          <a:prstGeom prst="line">
            <a:avLst/>
          </a:prstGeom>
          <a:noFill/>
          <a:ln w="12700">
            <a:solidFill>
              <a:srgbClr val="F0F0EE"/>
            </a:solidFill>
            <a:prstDash val="solid"/>
          </a:ln>
        </p:spPr>
      </p:sp>
      <p:sp>
        <p:nvSpPr>
          <p:cNvPr id="13" name="Text 11"/>
          <p:cNvSpPr txBox="1"/>
          <p:nvPr/>
        </p:nvSpPr>
        <p:spPr>
          <a:xfrm>
            <a:off x="6664757" y="4983480"/>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0.4</a:t>
            </a:r>
            <a:endParaRPr lang="en-US" sz="950" dirty="0"/>
          </a:p>
        </p:txBody>
      </p:sp>
      <p:sp>
        <p:nvSpPr>
          <p:cNvPr id="14" name="Shape 12"/>
          <p:cNvSpPr/>
          <p:nvPr/>
        </p:nvSpPr>
        <p:spPr>
          <a:xfrm>
            <a:off x="8010906" y="2148840"/>
            <a:ext cx="0" cy="2788920"/>
          </a:xfrm>
          <a:prstGeom prst="line">
            <a:avLst/>
          </a:prstGeom>
          <a:noFill/>
          <a:ln w="12700">
            <a:solidFill>
              <a:srgbClr val="F0F0EE"/>
            </a:solidFill>
            <a:prstDash val="solid"/>
          </a:ln>
        </p:spPr>
      </p:sp>
      <p:sp>
        <p:nvSpPr>
          <p:cNvPr id="15" name="Text 13"/>
          <p:cNvSpPr txBox="1"/>
          <p:nvPr/>
        </p:nvSpPr>
        <p:spPr>
          <a:xfrm>
            <a:off x="7736586" y="4983480"/>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0.5</a:t>
            </a:r>
            <a:endParaRPr lang="en-US" sz="950" dirty="0"/>
          </a:p>
        </p:txBody>
      </p:sp>
      <p:sp>
        <p:nvSpPr>
          <p:cNvPr id="16" name="Shape 14"/>
          <p:cNvSpPr/>
          <p:nvPr/>
        </p:nvSpPr>
        <p:spPr>
          <a:xfrm>
            <a:off x="9082735" y="2148840"/>
            <a:ext cx="0" cy="2788920"/>
          </a:xfrm>
          <a:prstGeom prst="line">
            <a:avLst/>
          </a:prstGeom>
          <a:noFill/>
          <a:ln w="12700">
            <a:solidFill>
              <a:srgbClr val="F0F0EE"/>
            </a:solidFill>
            <a:prstDash val="solid"/>
          </a:ln>
        </p:spPr>
      </p:sp>
      <p:sp>
        <p:nvSpPr>
          <p:cNvPr id="17" name="Text 15"/>
          <p:cNvSpPr txBox="1"/>
          <p:nvPr/>
        </p:nvSpPr>
        <p:spPr>
          <a:xfrm>
            <a:off x="8808415" y="4983480"/>
            <a:ext cx="548640" cy="237744"/>
          </a:xfrm>
          <a:prstGeom prst="rect">
            <a:avLst/>
          </a:prstGeom>
          <a:noFill/>
          <a:ln/>
        </p:spPr>
        <p:txBody>
          <a:bodyPr wrap="square" lIns="0" tIns="0" rIns="0" bIns="0" rtlCol="0" anchor="ctr"/>
          <a:lstStyle/>
          <a:p>
            <a:pPr algn="ctr" indent="0" marL="0">
              <a:buNone/>
            </a:pPr>
            <a:r>
              <a:rPr lang="en-US" sz="950" dirty="0">
                <a:solidFill>
                  <a:srgbClr val="8C8C8C"/>
                </a:solidFill>
                <a:latin typeface="Consolas" pitchFamily="34" charset="0"/>
                <a:ea typeface="Consolas" pitchFamily="34" charset="-122"/>
                <a:cs typeface="Consolas" pitchFamily="34" charset="-120"/>
              </a:rPr>
              <a:t>0.6</a:t>
            </a:r>
            <a:endParaRPr lang="en-US" sz="950" dirty="0"/>
          </a:p>
        </p:txBody>
      </p:sp>
      <p:sp>
        <p:nvSpPr>
          <p:cNvPr id="18" name="Text 16"/>
          <p:cNvSpPr txBox="1"/>
          <p:nvPr/>
        </p:nvSpPr>
        <p:spPr>
          <a:xfrm>
            <a:off x="2651760" y="5230368"/>
            <a:ext cx="1828800" cy="237744"/>
          </a:xfrm>
          <a:prstGeom prst="rect">
            <a:avLst/>
          </a:prstGeom>
          <a:noFill/>
          <a:ln/>
        </p:spPr>
        <p:txBody>
          <a:bodyPr wrap="square" lIns="0" tIns="0" rIns="0" bIns="0" rtlCol="0" anchor="ctr"/>
          <a:lstStyle/>
          <a:p>
            <a:pPr indent="0" marL="0">
              <a:buNone/>
            </a:pPr>
            <a:r>
              <a:rPr lang="en-US" sz="1000" dirty="0">
                <a:solidFill>
                  <a:srgbClr val="BDBDBD"/>
                </a:solidFill>
                <a:latin typeface="Inter" pitchFamily="34" charset="0"/>
                <a:ea typeface="Inter" pitchFamily="34" charset="-122"/>
                <a:cs typeface="Inter" pitchFamily="34" charset="-120"/>
              </a:rPr>
              <a:t>EER (%)</a:t>
            </a:r>
            <a:endParaRPr lang="en-US" sz="1000" dirty="0"/>
          </a:p>
        </p:txBody>
      </p:sp>
      <p:sp>
        <p:nvSpPr>
          <p:cNvPr id="19" name="Text 17"/>
          <p:cNvSpPr txBox="1"/>
          <p:nvPr/>
        </p:nvSpPr>
        <p:spPr>
          <a:xfrm>
            <a:off x="731520" y="2267712"/>
            <a:ext cx="1737360" cy="274320"/>
          </a:xfrm>
          <a:prstGeom prst="rect">
            <a:avLst/>
          </a:prstGeom>
          <a:noFill/>
          <a:ln/>
        </p:spPr>
        <p:txBody>
          <a:bodyPr wrap="square" lIns="0" tIns="0" rIns="0" bIns="0" rtlCol="0" anchor="ctr"/>
          <a:lstStyle/>
          <a:p>
            <a:pPr indent="0" marL="0">
              <a:buNone/>
            </a:pPr>
            <a:r>
              <a:rPr lang="en-US" sz="1300" dirty="0">
                <a:solidFill>
                  <a:srgbClr val="3F3F3F"/>
                </a:solidFill>
                <a:latin typeface="Inter" pitchFamily="34" charset="0"/>
                <a:ea typeface="Inter" pitchFamily="34" charset="-122"/>
                <a:cs typeface="Inter" pitchFamily="34" charset="-120"/>
              </a:rPr>
              <a:t>Chile</a:t>
            </a:r>
            <a:endParaRPr lang="en-US" sz="1300" dirty="0"/>
          </a:p>
        </p:txBody>
      </p:sp>
      <p:sp>
        <p:nvSpPr>
          <p:cNvPr id="20" name="Shape 18"/>
          <p:cNvSpPr/>
          <p:nvPr/>
        </p:nvSpPr>
        <p:spPr>
          <a:xfrm>
            <a:off x="2705351" y="2395728"/>
            <a:ext cx="578788" cy="0"/>
          </a:xfrm>
          <a:prstGeom prst="line">
            <a:avLst/>
          </a:prstGeom>
          <a:noFill/>
          <a:ln w="31750">
            <a:solidFill>
              <a:srgbClr val="E6E6E6"/>
            </a:solidFill>
            <a:prstDash val="solid"/>
          </a:ln>
        </p:spPr>
      </p:sp>
      <p:sp>
        <p:nvSpPr>
          <p:cNvPr id="21" name="Shape 19"/>
          <p:cNvSpPr/>
          <p:nvPr/>
        </p:nvSpPr>
        <p:spPr>
          <a:xfrm>
            <a:off x="3206415" y="2318004"/>
            <a:ext cx="155448" cy="155448"/>
          </a:xfrm>
          <a:prstGeom prst="ellipse">
            <a:avLst/>
          </a:prstGeom>
          <a:solidFill>
            <a:srgbClr val="FFFFFF"/>
          </a:solidFill>
          <a:ln w="22225">
            <a:solidFill>
              <a:srgbClr val="0D0D0D"/>
            </a:solidFill>
            <a:prstDash val="solid"/>
          </a:ln>
        </p:spPr>
      </p:sp>
      <p:sp>
        <p:nvSpPr>
          <p:cNvPr id="22" name="Shape 20"/>
          <p:cNvSpPr/>
          <p:nvPr/>
        </p:nvSpPr>
        <p:spPr>
          <a:xfrm>
            <a:off x="2627627" y="2318004"/>
            <a:ext cx="155448" cy="155448"/>
          </a:xfrm>
          <a:prstGeom prst="ellipse">
            <a:avLst/>
          </a:prstGeom>
          <a:solidFill>
            <a:srgbClr val="0D0D0D"/>
          </a:solidFill>
          <a:ln w="12700">
            <a:solidFill>
              <a:srgbClr val="0D0D0D"/>
            </a:solidFill>
            <a:prstDash val="solid"/>
          </a:ln>
        </p:spPr>
      </p:sp>
      <p:sp>
        <p:nvSpPr>
          <p:cNvPr id="23" name="Text 21"/>
          <p:cNvSpPr txBox="1"/>
          <p:nvPr/>
        </p:nvSpPr>
        <p:spPr>
          <a:xfrm>
            <a:off x="731520" y="2779776"/>
            <a:ext cx="1737360" cy="274320"/>
          </a:xfrm>
          <a:prstGeom prst="rect">
            <a:avLst/>
          </a:prstGeom>
          <a:noFill/>
          <a:ln/>
        </p:spPr>
        <p:txBody>
          <a:bodyPr wrap="square" lIns="0" tIns="0" rIns="0" bIns="0" rtlCol="0" anchor="ctr"/>
          <a:lstStyle/>
          <a:p>
            <a:pPr indent="0" marL="0">
              <a:buNone/>
            </a:pPr>
            <a:r>
              <a:rPr lang="en-US" sz="1300" dirty="0">
                <a:solidFill>
                  <a:srgbClr val="3F3F3F"/>
                </a:solidFill>
                <a:latin typeface="Inter" pitchFamily="34" charset="0"/>
                <a:ea typeface="Inter" pitchFamily="34" charset="-122"/>
                <a:cs typeface="Inter" pitchFamily="34" charset="-120"/>
              </a:rPr>
              <a:t>Peru</a:t>
            </a:r>
            <a:endParaRPr lang="en-US" sz="1300" dirty="0"/>
          </a:p>
        </p:txBody>
      </p:sp>
      <p:sp>
        <p:nvSpPr>
          <p:cNvPr id="24" name="Shape 22"/>
          <p:cNvSpPr/>
          <p:nvPr/>
        </p:nvSpPr>
        <p:spPr>
          <a:xfrm>
            <a:off x="2876844" y="2907792"/>
            <a:ext cx="685971" cy="0"/>
          </a:xfrm>
          <a:prstGeom prst="line">
            <a:avLst/>
          </a:prstGeom>
          <a:noFill/>
          <a:ln w="31750">
            <a:solidFill>
              <a:srgbClr val="E6E6E6"/>
            </a:solidFill>
            <a:prstDash val="solid"/>
          </a:ln>
        </p:spPr>
      </p:sp>
      <p:sp>
        <p:nvSpPr>
          <p:cNvPr id="25" name="Shape 23"/>
          <p:cNvSpPr/>
          <p:nvPr/>
        </p:nvSpPr>
        <p:spPr>
          <a:xfrm>
            <a:off x="3485091" y="2830068"/>
            <a:ext cx="155448" cy="155448"/>
          </a:xfrm>
          <a:prstGeom prst="ellipse">
            <a:avLst/>
          </a:prstGeom>
          <a:solidFill>
            <a:srgbClr val="FFFFFF"/>
          </a:solidFill>
          <a:ln w="22225">
            <a:solidFill>
              <a:srgbClr val="0D0D0D"/>
            </a:solidFill>
            <a:prstDash val="solid"/>
          </a:ln>
        </p:spPr>
      </p:sp>
      <p:sp>
        <p:nvSpPr>
          <p:cNvPr id="26" name="Shape 24"/>
          <p:cNvSpPr/>
          <p:nvPr/>
        </p:nvSpPr>
        <p:spPr>
          <a:xfrm>
            <a:off x="2799120" y="2830068"/>
            <a:ext cx="155448" cy="155448"/>
          </a:xfrm>
          <a:prstGeom prst="ellipse">
            <a:avLst/>
          </a:prstGeom>
          <a:solidFill>
            <a:srgbClr val="0D0D0D"/>
          </a:solidFill>
          <a:ln w="12700">
            <a:solidFill>
              <a:srgbClr val="0D0D0D"/>
            </a:solidFill>
            <a:prstDash val="solid"/>
          </a:ln>
        </p:spPr>
      </p:sp>
      <p:sp>
        <p:nvSpPr>
          <p:cNvPr id="27" name="Text 25"/>
          <p:cNvSpPr txBox="1"/>
          <p:nvPr/>
        </p:nvSpPr>
        <p:spPr>
          <a:xfrm>
            <a:off x="731520" y="3291840"/>
            <a:ext cx="1737360" cy="274320"/>
          </a:xfrm>
          <a:prstGeom prst="rect">
            <a:avLst/>
          </a:prstGeom>
          <a:noFill/>
          <a:ln/>
        </p:spPr>
        <p:txBody>
          <a:bodyPr wrap="square" lIns="0" tIns="0" rIns="0" bIns="0" rtlCol="0" anchor="ctr"/>
          <a:lstStyle/>
          <a:p>
            <a:pPr indent="0" marL="0">
              <a:buNone/>
            </a:pPr>
            <a:r>
              <a:rPr lang="en-US" sz="1300" dirty="0">
                <a:solidFill>
                  <a:srgbClr val="3F3F3F"/>
                </a:solidFill>
                <a:latin typeface="Inter" pitchFamily="34" charset="0"/>
                <a:ea typeface="Inter" pitchFamily="34" charset="-122"/>
                <a:cs typeface="Inter" pitchFamily="34" charset="-120"/>
              </a:rPr>
              <a:t>Argentina</a:t>
            </a:r>
            <a:endParaRPr lang="en-US" sz="1300" dirty="0"/>
          </a:p>
        </p:txBody>
      </p:sp>
      <p:sp>
        <p:nvSpPr>
          <p:cNvPr id="28" name="Shape 26"/>
          <p:cNvSpPr/>
          <p:nvPr/>
        </p:nvSpPr>
        <p:spPr>
          <a:xfrm>
            <a:off x="3755744" y="3419856"/>
            <a:ext cx="793154" cy="0"/>
          </a:xfrm>
          <a:prstGeom prst="line">
            <a:avLst/>
          </a:prstGeom>
          <a:noFill/>
          <a:ln w="31750">
            <a:solidFill>
              <a:srgbClr val="E6E6E6"/>
            </a:solidFill>
            <a:prstDash val="solid"/>
          </a:ln>
        </p:spPr>
      </p:sp>
      <p:sp>
        <p:nvSpPr>
          <p:cNvPr id="29" name="Shape 27"/>
          <p:cNvSpPr/>
          <p:nvPr/>
        </p:nvSpPr>
        <p:spPr>
          <a:xfrm>
            <a:off x="4471174" y="3342132"/>
            <a:ext cx="155448" cy="155448"/>
          </a:xfrm>
          <a:prstGeom prst="ellipse">
            <a:avLst/>
          </a:prstGeom>
          <a:solidFill>
            <a:srgbClr val="FFFFFF"/>
          </a:solidFill>
          <a:ln w="22225">
            <a:solidFill>
              <a:srgbClr val="0D0D0D"/>
            </a:solidFill>
            <a:prstDash val="solid"/>
          </a:ln>
        </p:spPr>
      </p:sp>
      <p:sp>
        <p:nvSpPr>
          <p:cNvPr id="30" name="Shape 28"/>
          <p:cNvSpPr/>
          <p:nvPr/>
        </p:nvSpPr>
        <p:spPr>
          <a:xfrm>
            <a:off x="3678020" y="3342132"/>
            <a:ext cx="155448" cy="155448"/>
          </a:xfrm>
          <a:prstGeom prst="ellipse">
            <a:avLst/>
          </a:prstGeom>
          <a:solidFill>
            <a:srgbClr val="0D0D0D"/>
          </a:solidFill>
          <a:ln w="12700">
            <a:solidFill>
              <a:srgbClr val="0D0D0D"/>
            </a:solidFill>
            <a:prstDash val="solid"/>
          </a:ln>
        </p:spPr>
      </p:sp>
      <p:sp>
        <p:nvSpPr>
          <p:cNvPr id="31" name="Text 29"/>
          <p:cNvSpPr txBox="1"/>
          <p:nvPr/>
        </p:nvSpPr>
        <p:spPr>
          <a:xfrm>
            <a:off x="731520" y="3803904"/>
            <a:ext cx="1737360" cy="274320"/>
          </a:xfrm>
          <a:prstGeom prst="rect">
            <a:avLst/>
          </a:prstGeom>
          <a:noFill/>
          <a:ln/>
        </p:spPr>
        <p:txBody>
          <a:bodyPr wrap="square" lIns="0" tIns="0" rIns="0" bIns="0" rtlCol="0" anchor="ctr"/>
          <a:lstStyle/>
          <a:p>
            <a:pPr indent="0" marL="0">
              <a:buNone/>
            </a:pPr>
            <a:r>
              <a:rPr lang="en-US" sz="1300" b="1" dirty="0">
                <a:solidFill>
                  <a:srgbClr val="0D0D0D"/>
                </a:solidFill>
                <a:latin typeface="Inter" pitchFamily="34" charset="0"/>
                <a:ea typeface="Inter" pitchFamily="34" charset="-122"/>
                <a:cs typeface="Inter" pitchFamily="34" charset="-120"/>
              </a:rPr>
              <a:t>Venezuela</a:t>
            </a:r>
            <a:endParaRPr lang="en-US" sz="1300" dirty="0"/>
          </a:p>
        </p:txBody>
      </p:sp>
      <p:sp>
        <p:nvSpPr>
          <p:cNvPr id="32" name="Shape 30"/>
          <p:cNvSpPr/>
          <p:nvPr/>
        </p:nvSpPr>
        <p:spPr>
          <a:xfrm>
            <a:off x="3348449" y="3931920"/>
            <a:ext cx="2207968" cy="0"/>
          </a:xfrm>
          <a:prstGeom prst="line">
            <a:avLst/>
          </a:prstGeom>
          <a:noFill/>
          <a:ln w="38100">
            <a:solidFill>
              <a:srgbClr val="8A6D00"/>
            </a:solidFill>
            <a:prstDash val="solid"/>
          </a:ln>
        </p:spPr>
      </p:sp>
      <p:sp>
        <p:nvSpPr>
          <p:cNvPr id="33" name="Shape 31"/>
          <p:cNvSpPr/>
          <p:nvPr/>
        </p:nvSpPr>
        <p:spPr>
          <a:xfrm>
            <a:off x="3270725" y="3854196"/>
            <a:ext cx="155448" cy="155448"/>
          </a:xfrm>
          <a:prstGeom prst="ellipse">
            <a:avLst/>
          </a:prstGeom>
          <a:solidFill>
            <a:srgbClr val="FFFFFF"/>
          </a:solidFill>
          <a:ln w="22225">
            <a:solidFill>
              <a:srgbClr val="0D0D0D"/>
            </a:solidFill>
            <a:prstDash val="solid"/>
          </a:ln>
        </p:spPr>
      </p:sp>
      <p:sp>
        <p:nvSpPr>
          <p:cNvPr id="34" name="Shape 32"/>
          <p:cNvSpPr/>
          <p:nvPr/>
        </p:nvSpPr>
        <p:spPr>
          <a:xfrm>
            <a:off x="5478693" y="3854196"/>
            <a:ext cx="155448" cy="155448"/>
          </a:xfrm>
          <a:prstGeom prst="ellipse">
            <a:avLst/>
          </a:prstGeom>
          <a:solidFill>
            <a:srgbClr val="0D0D0D"/>
          </a:solidFill>
          <a:ln w="12700">
            <a:solidFill>
              <a:srgbClr val="0D0D0D"/>
            </a:solidFill>
            <a:prstDash val="solid"/>
          </a:ln>
        </p:spPr>
      </p:sp>
      <p:sp>
        <p:nvSpPr>
          <p:cNvPr id="35" name="Text 33"/>
          <p:cNvSpPr txBox="1"/>
          <p:nvPr/>
        </p:nvSpPr>
        <p:spPr>
          <a:xfrm>
            <a:off x="731520" y="4315968"/>
            <a:ext cx="1737360" cy="274320"/>
          </a:xfrm>
          <a:prstGeom prst="rect">
            <a:avLst/>
          </a:prstGeom>
          <a:noFill/>
          <a:ln/>
        </p:spPr>
        <p:txBody>
          <a:bodyPr wrap="square" lIns="0" tIns="0" rIns="0" bIns="0" rtlCol="0" anchor="ctr"/>
          <a:lstStyle/>
          <a:p>
            <a:pPr indent="0" marL="0">
              <a:buNone/>
            </a:pPr>
            <a:r>
              <a:rPr lang="en-US" sz="1300" b="1" dirty="0">
                <a:solidFill>
                  <a:srgbClr val="0D0D0D"/>
                </a:solidFill>
                <a:latin typeface="Inter" pitchFamily="34" charset="0"/>
                <a:ea typeface="Inter" pitchFamily="34" charset="-122"/>
                <a:cs typeface="Inter" pitchFamily="34" charset="-120"/>
              </a:rPr>
              <a:t>Colombia</a:t>
            </a:r>
            <a:endParaRPr lang="en-US" sz="1300" dirty="0"/>
          </a:p>
        </p:txBody>
      </p:sp>
      <p:sp>
        <p:nvSpPr>
          <p:cNvPr id="36" name="Shape 34"/>
          <p:cNvSpPr/>
          <p:nvPr/>
        </p:nvSpPr>
        <p:spPr>
          <a:xfrm>
            <a:off x="2962590" y="4443984"/>
            <a:ext cx="5519920" cy="0"/>
          </a:xfrm>
          <a:prstGeom prst="line">
            <a:avLst/>
          </a:prstGeom>
          <a:noFill/>
          <a:ln w="38100">
            <a:solidFill>
              <a:srgbClr val="8A6D00"/>
            </a:solidFill>
            <a:prstDash val="solid"/>
          </a:ln>
        </p:spPr>
      </p:sp>
      <p:sp>
        <p:nvSpPr>
          <p:cNvPr id="37" name="Shape 35"/>
          <p:cNvSpPr/>
          <p:nvPr/>
        </p:nvSpPr>
        <p:spPr>
          <a:xfrm>
            <a:off x="2884866" y="4366260"/>
            <a:ext cx="155448" cy="155448"/>
          </a:xfrm>
          <a:prstGeom prst="ellipse">
            <a:avLst/>
          </a:prstGeom>
          <a:solidFill>
            <a:srgbClr val="FFFFFF"/>
          </a:solidFill>
          <a:ln w="22225">
            <a:solidFill>
              <a:srgbClr val="0D0D0D"/>
            </a:solidFill>
            <a:prstDash val="solid"/>
          </a:ln>
        </p:spPr>
      </p:sp>
      <p:sp>
        <p:nvSpPr>
          <p:cNvPr id="38" name="Shape 36"/>
          <p:cNvSpPr/>
          <p:nvPr/>
        </p:nvSpPr>
        <p:spPr>
          <a:xfrm>
            <a:off x="8404787" y="4366260"/>
            <a:ext cx="155448" cy="155448"/>
          </a:xfrm>
          <a:prstGeom prst="ellipse">
            <a:avLst/>
          </a:prstGeom>
          <a:solidFill>
            <a:srgbClr val="0D0D0D"/>
          </a:solidFill>
          <a:ln w="12700">
            <a:solidFill>
              <a:srgbClr val="0D0D0D"/>
            </a:solidFill>
            <a:prstDash val="solid"/>
          </a:ln>
        </p:spPr>
      </p:sp>
      <p:sp>
        <p:nvSpPr>
          <p:cNvPr id="39" name="Shape 37"/>
          <p:cNvSpPr/>
          <p:nvPr/>
        </p:nvSpPr>
        <p:spPr>
          <a:xfrm>
            <a:off x="2651760" y="1847088"/>
            <a:ext cx="155448" cy="155448"/>
          </a:xfrm>
          <a:prstGeom prst="ellipse">
            <a:avLst/>
          </a:prstGeom>
          <a:solidFill>
            <a:srgbClr val="FFFFFF"/>
          </a:solidFill>
          <a:ln w="22225">
            <a:solidFill>
              <a:srgbClr val="0D0D0D"/>
            </a:solidFill>
            <a:prstDash val="solid"/>
          </a:ln>
        </p:spPr>
      </p:sp>
      <p:sp>
        <p:nvSpPr>
          <p:cNvPr id="40" name="Text 38"/>
          <p:cNvSpPr txBox="1"/>
          <p:nvPr/>
        </p:nvSpPr>
        <p:spPr>
          <a:xfrm>
            <a:off x="2889504" y="1773936"/>
            <a:ext cx="914400" cy="274320"/>
          </a:xfrm>
          <a:prstGeom prst="rect">
            <a:avLst/>
          </a:prstGeom>
          <a:noFill/>
          <a:ln/>
        </p:spPr>
        <p:txBody>
          <a:bodyPr wrap="square" lIns="0" tIns="0" rIns="0" bIns="0" rtlCol="0" anchor="ctr"/>
          <a:lstStyle/>
          <a:p>
            <a:pPr indent="0" marL="0">
              <a:buNone/>
            </a:pPr>
            <a:r>
              <a:rPr lang="en-US" sz="1100" dirty="0">
                <a:solidFill>
                  <a:srgbClr val="3F3F3F"/>
                </a:solidFill>
                <a:latin typeface="Inter" pitchFamily="34" charset="0"/>
                <a:ea typeface="Inter" pitchFamily="34" charset="-122"/>
                <a:cs typeface="Inter" pitchFamily="34" charset="-120"/>
              </a:rPr>
              <a:t>female</a:t>
            </a:r>
            <a:endParaRPr lang="en-US" sz="1100" dirty="0"/>
          </a:p>
        </p:txBody>
      </p:sp>
      <p:sp>
        <p:nvSpPr>
          <p:cNvPr id="41" name="Shape 39"/>
          <p:cNvSpPr/>
          <p:nvPr/>
        </p:nvSpPr>
        <p:spPr>
          <a:xfrm>
            <a:off x="3657600" y="1847088"/>
            <a:ext cx="155448" cy="155448"/>
          </a:xfrm>
          <a:prstGeom prst="ellipse">
            <a:avLst/>
          </a:prstGeom>
          <a:solidFill>
            <a:srgbClr val="0D0D0D"/>
          </a:solidFill>
          <a:ln w="12700">
            <a:solidFill>
              <a:srgbClr val="0D0D0D"/>
            </a:solidFill>
            <a:prstDash val="solid"/>
          </a:ln>
        </p:spPr>
      </p:sp>
      <p:sp>
        <p:nvSpPr>
          <p:cNvPr id="42" name="Text 40"/>
          <p:cNvSpPr txBox="1"/>
          <p:nvPr/>
        </p:nvSpPr>
        <p:spPr>
          <a:xfrm>
            <a:off x="3895344" y="1773936"/>
            <a:ext cx="914400" cy="274320"/>
          </a:xfrm>
          <a:prstGeom prst="rect">
            <a:avLst/>
          </a:prstGeom>
          <a:noFill/>
          <a:ln/>
        </p:spPr>
        <p:txBody>
          <a:bodyPr wrap="square" lIns="0" tIns="0" rIns="0" bIns="0" rtlCol="0" anchor="ctr"/>
          <a:lstStyle/>
          <a:p>
            <a:pPr indent="0" marL="0">
              <a:buNone/>
            </a:pPr>
            <a:r>
              <a:rPr lang="en-US" sz="1100" dirty="0">
                <a:solidFill>
                  <a:srgbClr val="3F3F3F"/>
                </a:solidFill>
                <a:latin typeface="Inter" pitchFamily="34" charset="0"/>
                <a:ea typeface="Inter" pitchFamily="34" charset="-122"/>
                <a:cs typeface="Inter" pitchFamily="34" charset="-120"/>
              </a:rPr>
              <a:t>male</a:t>
            </a:r>
            <a:endParaRPr lang="en-US" sz="1100" dirty="0"/>
          </a:p>
        </p:txBody>
      </p:sp>
      <p:sp>
        <p:nvSpPr>
          <p:cNvPr id="43" name="Shape 41"/>
          <p:cNvSpPr/>
          <p:nvPr/>
        </p:nvSpPr>
        <p:spPr>
          <a:xfrm>
            <a:off x="9494215" y="4023360"/>
            <a:ext cx="1965960" cy="1005840"/>
          </a:xfrm>
          <a:prstGeom prst="roundRect">
            <a:avLst>
              <a:gd name="adj" fmla="val 5455"/>
            </a:avLst>
          </a:prstGeom>
          <a:solidFill>
            <a:srgbClr val="FFFBCC"/>
          </a:solidFill>
          <a:ln w="12700">
            <a:solidFill>
              <a:srgbClr val="FFE800"/>
            </a:solidFill>
            <a:prstDash val="solid"/>
          </a:ln>
        </p:spPr>
      </p:sp>
      <p:sp>
        <p:nvSpPr>
          <p:cNvPr id="44" name="Text 42"/>
          <p:cNvSpPr txBox="1"/>
          <p:nvPr/>
        </p:nvSpPr>
        <p:spPr>
          <a:xfrm>
            <a:off x="9631375" y="4023360"/>
            <a:ext cx="1691640" cy="1005840"/>
          </a:xfrm>
          <a:prstGeom prst="rect">
            <a:avLst/>
          </a:prstGeom>
          <a:noFill/>
          <a:ln/>
        </p:spPr>
        <p:txBody>
          <a:bodyPr wrap="square" lIns="0" tIns="0" rIns="0" bIns="0" rtlCol="0" anchor="ctr"/>
          <a:lstStyle/>
          <a:p>
            <a:pPr indent="0" marL="0">
              <a:lnSpc>
                <a:spcPct val="120000"/>
              </a:lnSpc>
              <a:buNone/>
            </a:pPr>
            <a:r>
              <a:rPr lang="en-US" sz="1200" b="1" dirty="0">
                <a:solidFill>
                  <a:srgbClr val="0D0D0D"/>
                </a:solidFill>
                <a:latin typeface="Inter" pitchFamily="34" charset="0"/>
                <a:ea typeface="Inter" pitchFamily="34" charset="-122"/>
                <a:cs typeface="Inter" pitchFamily="34" charset="-120"/>
              </a:rPr>
              <a:t>these two point the other way</a:t>
            </a:r>
            <a:endParaRPr lang="en-US" sz="1200" dirty="0"/>
          </a:p>
        </p:txBody>
      </p:sp>
      <p:sp>
        <p:nvSpPr>
          <p:cNvPr id="45" name="Text 43"/>
          <p:cNvSpPr txBox="1"/>
          <p:nvPr/>
        </p:nvSpPr>
        <p:spPr>
          <a:xfrm>
            <a:off x="731520" y="5669280"/>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Accent spread: under half a point.</a:t>
            </a:r>
            <a:pPr indent="0" marL="0">
              <a:buNone/>
            </a:pPr>
            <a:r>
              <a:rPr lang="en-US" sz="1500" dirty="0">
                <a:solidFill>
                  <a:srgbClr val="8C8C8C"/>
                </a:solidFill>
                <a:latin typeface="Inter" pitchFamily="34" charset="0"/>
                <a:ea typeface="Inter" pitchFamily="34" charset="-122"/>
                <a:cs typeface="Inter" pitchFamily="34" charset="-120"/>
              </a:rPr>
              <a:t> The gender gap is bigger — and it reverses between countries.</a:t>
            </a:r>
            <a:endParaRPr lang="en-US" sz="1500" dirty="0"/>
          </a:p>
        </p:txBody>
      </p:sp>
      <p:sp>
        <p:nvSpPr>
          <p:cNvPr id="46" name="Text 44"/>
          <p:cNvSpPr txBox="1"/>
          <p:nvPr/>
        </p:nvSpPr>
        <p:spPr>
          <a:xfrm>
            <a:off x="731520" y="5989320"/>
            <a:ext cx="10728655" cy="274320"/>
          </a:xfrm>
          <a:prstGeom prst="rect">
            <a:avLst/>
          </a:prstGeom>
          <a:noFill/>
          <a:ln/>
        </p:spPr>
        <p:txBody>
          <a:bodyPr wrap="square" lIns="0" tIns="0" rIns="0" bIns="0" rtlCol="0" anchor="ctr"/>
          <a:lstStyle/>
          <a:p>
            <a:pPr indent="0" marL="0">
              <a:buNone/>
            </a:pPr>
            <a:r>
              <a:rPr lang="en-US" sz="900" dirty="0">
                <a:solidFill>
                  <a:srgbClr val="BDBDBD"/>
                </a:solidFill>
                <a:latin typeface="Consolas" pitchFamily="34" charset="0"/>
                <a:ea typeface="Consolas" pitchFamily="34" charset="-122"/>
                <a:cs typeface="Consolas" pitchFamily="34" charset="-120"/>
              </a:rPr>
              <a:t>Table 10 — MFCC front-end, combined training, aggregated over back-ends, losses and seeds.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ICAI 2026 - Visual aids</dc:title>
  <dc:subject>PptxGenJS Presentation</dc:subject>
  <dc:creator>PptxGenJS</dc:creator>
  <cp:lastModifiedBy>PptxGenJS</cp:lastModifiedBy>
  <cp:revision>1</cp:revision>
  <dcterms:created xsi:type="dcterms:W3CDTF">2026-09-23T01:58:21Z</dcterms:created>
  <dcterms:modified xsi:type="dcterms:W3CDTF">2026-09-23T01:58:21Z</dcterms:modified>
</cp:coreProperties>
</file>