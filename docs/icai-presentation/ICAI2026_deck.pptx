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talk over this slide. Let it sit while you walk to centre, then advance and start in Spanish. Total time on screen: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RUNG 1 — ONE PERSON.  Spoken in Spanish, no warning, no apology:
«Te llama tu mamá. Está nerviosa. Necesita mil quinientos dólares, ya — te da un número de cuenta. Es su voz. Su forma de hablar. La muletilla que usa cuando está preocupada. Tú le transfieres el dinero. Claro que se lo transfieres: es tu mamá.»
PAUSE two full seconds. Then in English:
"If you didn't follow that — you are in good company. Neither does any anti-spoofing system in the ASVspoof benchmark."
"What I said was: your mother calls, she needs fifteen hundred dollars, right now. It is her voice. So you send it. Of course you send it — it's your mother."
"Except it isn't her. It is thirty seconds of her voice, scraped from a voice note, run through a model anyone here could install this evening."
If the room looks lost rather than intrigued at the pause, skip the 'good company' line and go straight to the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RUNG 2 (spoken, no slide of its own): "And it does not cost more to do it again. Cloning a voice is thirty seconds of audio and a model that runs in real time. This is not an artisanal scam. It scales at zero marginal cost."
RUNG 3 (this slide): "So now take the human out of it entirely. Your bank already did."
Then read the headline, slowly. Then:
"And the system that is supposed to catch the fake? It was trained in English. It has never heard your customers speak."
DO NOT quote fraud-loss figures from memory. If you want a number, put a cited one on the slide from a recent IC3/FinCEN advisory. The structural argument is stronger than any dollar amount and cannot be refuted.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Three cards, one sentence each, then move. This is the evidence under the hook — do not retell the stories.
"This is not a thought experiment. Three cases on the public record."
Card 1 (the one that matters): "A journalist cloned his own voice and walked through his bank's voice authentication. That is the exact system this paper is about — a machine listened to a voice and decided it was him."
Card 2: "Twenty-five million dollars, Hong Kong, a video call where everyone else was synthetic."
Card 3: "And a synthetic president, on the phone, before a primary."
THEN THE BRIDGE: "The countermeasure standing between these attacks and the victim — that is what we evaluate. And it was benchmarked in English."
IF YOU ARE OVER TIME, THIS IS A GOOD CUT. The hook already carries the emotional load; these cards carry the evidence. Losing them costs credibility, not comprehension.
Do not add figures that are not on the slide, and do not round these up. Every number here has a citation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CLIPS ARE SPOOFED. A is text-to-speech, B is voice conversion. NEVER say or imply that one of them is real — the question on the slide is "which sounds like a real person", which is true either way. The reveal is slide 14.
"Before I tell you anything about the research, I want ten seconds of your attention and one honest answer."
Play A. Play B. Say nothing between them.
"Which of those two sounds like a real person to you? Hands up for A." COUNT OUT LOUD. "Hands up for B." COUNT.
"Hold that in your head. We come back to it in six minutes, and the way this room just split is the actual finding of the paper."
WHATEVER HAPPENS, YOU WIN — have the line ready:
• Most hands on B (expected): perfect, the callback runs as written.
• Roughly an even split: "So we are at a coin flip — which is exactly where the English-trained detector sits on that attack."
• Most hands on A: "You just beat the detector — it scores 66 % on the one you did not trust."
TEST THE ROOM AUDIO BEFORE THE SESSION OPENS. If it fails: 'the clips are behind the QR at the end', show nothing, move on in under ten seconds. Never troubleshoot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Not forty. Credibility here comes from shipping these systems, not from a list of degrees. Say plainly that this is Jaime's paper and that you'll show where your own work picks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explanatory slide for a non-speech audience. Build it in two beats: TTS row, then VC row. The sentence they must leave with: in voice conversion a person really spoke — only the identity was swapped. Do not say 'vocoder' without saying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table. One gesture down the language column: 'English, English, English, English, English — and one.' Then the 5-of-6 card.
THE QUESTION THIS SLIDE INVITES, and it is a fair one: "Isn't this out of date? There are multilingual datasets with Spanish now."
THE ANSWER, and it strengthens you rather than weakening you:
"Yes. MLAAD covers 38 languages including Spanish, and there are others. But they are built from text-to-speech models — MLAAD is 91 TTS systems, and it contains no voice conversion at all. It also has no accent-level structure inside a language. So a large multilingual TTS corpus would not have surfaced this result, because the thing that breaks is voice conversion. That is precisely the gap MARSA is built for."
Do not overstate it on stage. The slide says the newest entry is 2023 and that newer corpora are TTS-only. Both are true. If pressed for specifics beyond MLAAD, say you would have to check the current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The audience needs to recognise these three names when they appear as bars on the results slide, nothing more.
"The Spanish corpus contains three conversion systems. Two of them are GANs — CycleGAN learns by converting a voice and converting it back, checking it lands where it started; StarGAN does the same trick but one generator handles many target speakers. The third, DiffVC, is a diffusion model: it starts from noise and denoises its way to a voice."
Then the line that matters: "Different machinery. And the machinery is what leaves the fingerprint our detector is looking for."
THE TTS SYSTEM IS NOT ESTABLISHED. A reading of the HABLA paper suggested a commercial cloud service, but that is a single unconfirmed source and Tomas does not believe it is right. NOTHING about the TTS vendor is claimed on this slide. Do not say a vendor name on stage unless you have checked the HABLA generation scripts yourself. If asked which TTS: "It is the synthesis attack family in HABLA — I would have to check the generation scripts for the exact system." That is a perfectly good answer.
VERIFY BEFORE YOU PRESENT: Jaime's paper only NAMES these three in Table 6 — it does not describe their architectures. The GAN/diffusion descriptions here come from each system's original publication. Confirm with Jaime, or against the HABLA paper (Tamayo Flórez et al.), that these are the implementations HABLA actually used.
ALSO WORTH ASKING JAIME: Section 3.4 says CycleGAN conversions appear in training but NOT in the Spanish test split, yet Table 6 reports a CycleGAN column on the Spanish evaluation set. Figure 1 notes it uses the full HABLA evaluation set (32,327 utterances), larger than the Table 4 partition — so the two may simply be different evaluation sets. Get that straight before someone asks you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SLIDE. Forty-five seconds, and it pays for itself five times over — every slide after this uses both halves.
LEFT: "A network cannot eat a raw waveform, so first we turn the audio into a picture of energy across frequencies. Four ways to do that, and they differ in one thing: how you slice the frequency axis. Spectrogram keeps everything. LFCC uses even bands. MFCC packs the bands down low, the way your ear does. CQCC packs them even tighter down there — which matters, because that is where synthesis tends to leave marks."
RIGHT: "And one number, the Equal Error Rate. Set the threshold too strict, you reject real people. Too loose, you let fakes through. EER is where those two errors are equal."
THE ANCHOR THEY MUST KEEP: "Zero is perfect. Fifty percent is a coin flip. Lower is better. Every number I show you from here on is an EER."
Do not explain cepstral coefficients, DCT or the Constant-Q transform. Nobody asked and nobody needs it. If a speech person wants detail, they will ask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1 OF 3. Forty seconds. Walk the pipeline once, then point at the three yellow rules.
"Audio in at sixteen kilohertz. A front-end turns it into a picture of energy across frequencies. A Light CNN reads that picture. Pooling collapses it into one vector. A loss head turns that vector into a score — bona fide, or spoof."
THEN: "Three of those boxes have a black outline. Those are the only three things we changed, and here they all are. Four front-ends, three pooling strategies, four losses. Four times three times four is forty-eight."
Do NOT read the twelve names aloud. They are there so nobody has to take your word for it.
LAND ON: "Three axes, one stem. Forty-eight architectures, three training conditions, six seeds each — eight hundred and sixty-four trained models."
══ IF ASKED, the three explanations that used to be on this slide ══
THE STEM: a Light CNN. After every convolution, Max-Feature-Map activations keep the strongest channel at each position and drop the rest — that is what keeps it small. It never changes; the same stem sits inside all 864 models. MFM takes two feature maps and keeps the element-wise maximum. Table 3 has the full stem.
POOLING: the stem returns one vector per frame, but the answer is one decision, not a sequence. Attention weights frames by relevance; trim-pad forces a fixed length; LSTM-sum reads the utterance both ways, then sums.
LOSS HEAD: it sets the shape of the boundary — a margin driven between two classes (AM-Softmax), a tight region around bona fide only (OC-Softmax), an MSE-based gradient (P2S-Grad), or plain cross-entropy (Sigmoid). The paper names them; it does not define them, so those glosses are the standard descriptions, not a claim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2 OF 3. Twenty-five seconds. One idea only — do not add anything back onto this slide.
"Two corpora, three splits each. And they are split in opposite shapes. English holds almost sixty percent of itself back for testing. Spanish does the reverse — eighty percent goes into training, and what is left to test on is four thousand eight hundred utterances."
THEN ONE LINE ON COMBINED, and use the word joint: "Combined is just the two training sets merged and the two dev sets merged. Joint training." NEVER say fine-tuned — there is no fine-tuning condition in this paper.
Do NOT talk about speaker disjointness or the shared target identities here. Both of those are on the limitations slide, and they land harder there.
IF ASKED here about leakage: "Bona fide speakers are strictly disjoint across the splits. The target identities the conversion systems imitate are not — I come back to that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3 OF 3. Twenty-five seconds. One idea. Do not add anything back onto this slide.
"Everything you are about to see, we ran six times — same configuration, different random seed. That matters, because most of this literature trains once and announces a winner, and with one run that winner is often just the seed."
Then wave at the three names, do not explain them: "Seed-matched Wilcoxon, Cohen's d, Bonferroni."
LAND ON: "One run per configuration would have let us crown a winner. Six will not." Then go straight to the grid.
══ Q&amp;A AMMUNITION, not for the slide ══
· We report medians and observed ranges, not mean ± SD — six points do not justify a normality assumption.
· The honest limit: with six seeds the smallest two-sided p a signed-rank test can produce is 0.031. We are underpowered for small effects and the paper says so.
· The actual result: the best English configuration is 2.67 %, and seven others are statistically tied with it — Wilcoxon p &gt; 0.31 throughout, Cohen's d = 0.22 against the runner-up.
· Why not ten seeds: compute. 864 models is already the budget; ten seeds would be 1,440.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EXPERIMENTAL DESIGN — no results yet. Keep them separate or you spoil slide 09.
Left to right, in one breath: "Four front-ends, three back-ends, four losses — forty-eight architectures."
Then the three cards: "Each one trained three times over: on English, on Spanish, and on both merged together."
Then the seeds: "And each of those six times, with different random seeds."
Then the bottom line: "Eight hundred and sixty-four trained models."
The three conditions are the spine of everything that follows — English-trained is slide 09 and 10, Spanish-trained is the yellow dots on 10, merged is slide 13. Name them here so the audience recognises them later.
Say it as: "Four feature extractors, three classifier variants, four loss functions — forty-eight architectures, one square each. We ran that whole grid three times: trained only on English, only on Spanish, and on both merged. Six seeds each — eight hundred and sixty-four trained models."
Then the pattern, NOT the numbers: "And when the training language matches the test language, it all works. Best English model, 2.67. Best Spanish model, 0.14."
WHAT AM / P2S / OC / Sig ARE, if anyone asks: four loss functions — AM-softmax (additive margin), OC-softmax (one-class), P2S-Grad (probability-to-similarity gradient) and plain Sigmoid cross-entropy. Four different ways of turning the network's output into a score. The audience does not need more than that sentence.
SAY 'MERGED' OR 'JOINT', NEVER 'FINE-TUNED'. The third condition is trained from scratch on the concatenated corpora. It is NOT an English model fine-tuned on Spanish — that experiment is not in the paper, and anyone who has read it will catch the error.
The dark Spectrogram row in the two Spanish grids is real and worth one sentence: Spectrogram front-ends never work well on Spanish, in any condition.
This slide sets up the trap. Everything works here — which is exactly why the next slide lands.
THE NO-WINNER LINE, and this is where it belongs now — after they have seen the numbers, not before: "The best English configuration is two point six seven percent. But seven others are statistically tied with it — seed-matched Wilcoxon gives p above nought point three one in every case, and the effect size against the runner-up is nought point two two. So I am not going to stand here and tell you which architecture won, because with six seeds that would be reporting noise." Pause after it. It is the payoff of the statistics slide you just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OF THE TALK. Sixty seconds, and it carries the longest pause you will take.
SET IT UP FIRST, slowly, pointing at the black bar: "These are the forty-eight detectors, all trained on English, tested on English. Between two and eight percent. They work."
PAUSE. Then: "Now I change exactly one thing. Not the model. Not the training. I test the same forty-eight on Spanish."
THEN LET THEM SEE THE YELLOW BAR BEFORE YOU SPEAK. Count to three. The jump across the slide does the work — do not narrate it while they are still reading it.
THEN, flatly, no drama in the voice: "Not one of the forty-eight lands below thirty-four percent. Twenty-eight of them are above forty. And that dashed line is fifty percent — a coin flip."
LAND ON: "Nothing about the models changed. Only what we asked them to listen to."
IF YOU ARE RUNNING LONG this is the one slide you must still give full time to. Cut elsewhere.
IF ASKED why the yellow bar stops at 55: that span is the cepstral front-ends. The claim that covers all forty-eight is the one underneath — none below 34.4, twenty-eight above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OF THE TALK. Slow down. Let them read the chart for three seconds before you speak; do not narrate the axes.
"The aggregate number hides the result, because the failure is not uniform. We broke it down by attack family."
"Three tall bars: voice conversion. Fifty-two, fifty-four, sixty-six percent."
"Sixty-six is worse than chance. That model is not confused — it is systematically wrong." BEAT.
"And the short bar on the right is text-to-speech. Same model. Never saw a word of Spanish. One point seven nine percent."
Resist caveating in real time — the caveats have their own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CONDITION — this is where people get lost. It is the SAME cell that broke on slide 09: trained on English, tested on Spanish. Nothing was retrained. We are only looking at one slice of that Spanish test set: the utterances that were synthesised rather than converted.
"That's the finding. The gap is real — but it is NOT uniform. Practically all of it is voice conversion."
THE CAVEAT IS NOT OPTIONAL. It is the difference between a claim that survives Q&amp;A and one that does not:
"And I have to be precise about that 1.79, because it is the best English-trained model. Across back-ends the TTS column moves by an order of magnitude. So the honest statement isn't 'TTS always transfers'. It's: TTS CAN transfer, and whether it does depends on your pooling strategy. Voice conversion never transfers, whatever you do."
Then the mechanism: a vocoder's artefacts belong to the generator and don't care about language. Conversion artefacts are tangled with speaker and accent — exactly what changes when the language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Deliver it as an observation, not a gotcha — you are putting the room on the same side as the model, not mocking them.
"Both of them were fake. Neither was a person." BEAT.
"A was text-to-speech — built from nothing. Most of you heard that something was off, and so did the detector: 1.79 %."
"B was voice conversion — a real recording with the identity rewritten. That is the one you trusted. The detector trusted it too: between 52 and 66 %, which is worse than guessing."
"You failed at the same task, in the same direction, as a network trained on twenty-five thousand utterances."
Twenty seconds. Do not gloat, do not over-explain. If the room voted the other way, use the line you prepared on slide 04 and move on at the same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Tomas flagged this slide as obvious, and half of it is: of course adding Spanish fixes Spanish. Build the slide on the half that is NOT obvious — the price.
"The fix is almost boring. Merge the corpora and train once."
Top row: "Spanish goes from above thirty percent to under two tenths of one percent."
Bottom row: "And here is the part I did not expect. English goes from 2.67 to 3.64. That is the entire cost. Less than one percentage point."
"You would expect a trade-off — gain Spanish, lose English. There is barely one. So you do not need one detector per language; you need both languages in the training data."
DO NOT SAY the bilingual model BEATS the Spanish-only model. It scores 0.087 against 0.14, but the paper never tests those two against each other, and the Spanish partition is 4,809 utterances. If asked: "Comparable. We did not test that comparison, and at that scale I would not lean on the difference."
Say the corpus-imbalance caveat yourself, unprompted. It buys the room's trust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picture is the finding: three lines point one way, two point the other.
"The paper is called accent-based, so: does accent explain the error that is left? Five varieties. The spread between best and worst is under half a percentage point, and the architecture ranking is identical in all five. Accent, essentially, does not matter." BEAT.
"What shows up is speaker gender — and the direction reverses between countries. In Colombia the system is roughly twenty times worse on male speakers. In Argentina, Chile and Peru it runs the other way."
"A single global bias in the front-end could not produce that. So: balance your demographics. Don't build accent-specific architectures."
THE FOOTNOTE IS THERE FOR ONE QUESTION: "so Colombian men are harder to detect?" NO — and do not let that reading stand. The direction reverses between countries, and a real bias in the front-end would push the same way everywhere. The honest answer is that it points to an interaction between WHO the speakers are and WHICH generators were used on each subset. That is the paper's own reading, and it is why the recommendation is demographic balance rather than accent-specific models.
Audiences remember researchers who report what they did NOT find. Do not apologise for a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SLIDE TO CUT — right-click &gt; Hide Slide before you present if the chair says 15 minutes flat. Right-click &gt; Hide Slide if the chair signals 15 minutes flat. Forty-five seconds if you keep it. Do not get into formant physiology beyond the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and it is time well spent — stating limitations yourself is what makes the rest of the talk credible.
IF YOU ARE OVER TIME: keep only card 03, since it sets up MARSA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Deliver them as three, with a beat between each.
"The language gap is real — no architecture escapes it, and we checked forty-eight of them."
"It lives in voice conversion — English-trained models can still catch synthesised Spanish; what they cannot catch is CONVERTED Spanish. And conversion is exactly what the fraud in my opening story uses."
"And one bilingual model closes it — you don't need one detector per language. You need the languages in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WHOLE Q&amp;A. It holds your name, your email and the QR — that is what people photograph.
"That third limitation is what I'm working on now." Then MARSA in one breath, then: "The paper, the code and those audio clips are behind the QR.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640080"/>
            <a:ext cx="10728655" cy="274320"/>
          </a:xfrm>
          <a:prstGeom prst="rect">
            <a:avLst/>
          </a:prstGeom>
          <a:noFill/>
          <a:ln/>
        </p:spPr>
        <p:txBody>
          <a:bodyPr wrap="square" lIns="0" tIns="0" rIns="0" bIns="0" rtlCol="0" anchor="ctr"/>
          <a:lstStyle/>
          <a:p>
            <a:pPr indent="0" marL="0">
              <a:buNone/>
            </a:pPr>
            <a:r>
              <a:rPr lang="en-US" sz="1000" b="1" spc="220" kern="0" dirty="0">
                <a:solidFill>
                  <a:srgbClr val="7A7A7A"/>
                </a:solidFill>
                <a:latin typeface="Inter" pitchFamily="34" charset="0"/>
                <a:ea typeface="Inter" pitchFamily="34" charset="-122"/>
                <a:cs typeface="Inter" pitchFamily="34" charset="-120"/>
              </a:rPr>
              <a:t>ICAI 2026 · 9TH INTERNATIONAL CONFERENCE ON APPLIED INFORMATICS</a:t>
            </a:r>
            <a:endParaRPr lang="en-US" sz="1000" dirty="0"/>
          </a:p>
        </p:txBody>
      </p:sp>
      <p:sp>
        <p:nvSpPr>
          <p:cNvPr id="3" name="Text 1"/>
          <p:cNvSpPr txBox="1"/>
          <p:nvPr/>
        </p:nvSpPr>
        <p:spPr>
          <a:xfrm>
            <a:off x="731520" y="1737360"/>
            <a:ext cx="10241280" cy="237744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Accent-Based Evaluation of</a:t>
            </a:r>
            <a:endParaRPr lang="en-US" sz="4400" dirty="0"/>
          </a:p>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Speech Anti-spoofing </a:t>
            </a:r>
            <a:endParaRPr lang="en-US" sz="4400" dirty="0"/>
          </a:p>
          <a:p>
            <a:pPr indent="0" marL="0">
              <a:lnSpc>
                <a:spcPct val="106000"/>
              </a:lnSpc>
              <a:buNone/>
            </a:pPr>
            <a:r>
              <a:rPr lang="en-US" sz="4400" b="1" dirty="0">
                <a:solidFill>
                  <a:srgbClr val="FFE800"/>
                </a:solidFill>
                <a:latin typeface="Inter" pitchFamily="34" charset="0"/>
                <a:ea typeface="Inter" pitchFamily="34" charset="-122"/>
                <a:cs typeface="Inter" pitchFamily="34" charset="-120"/>
              </a:rPr>
              <a:t>Countermeasures</a:t>
            </a:r>
            <a:pPr indent="0" marL="0">
              <a:lnSpc>
                <a:spcPct val="106000"/>
              </a:lnSpc>
              <a:buNone/>
            </a:pPr>
            <a:endParaRPr lang="en-US" sz="4400" dirty="0"/>
          </a:p>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Across Multiple Languages</a:t>
            </a:r>
            <a:endParaRPr lang="en-US" sz="4400" dirty="0"/>
          </a:p>
        </p:txBody>
      </p:sp>
      <p:sp>
        <p:nvSpPr>
          <p:cNvPr id="4" name="Shape 2"/>
          <p:cNvSpPr/>
          <p:nvPr/>
        </p:nvSpPr>
        <p:spPr>
          <a:xfrm>
            <a:off x="731520" y="4572000"/>
            <a:ext cx="10728655" cy="0"/>
          </a:xfrm>
          <a:prstGeom prst="line">
            <a:avLst/>
          </a:prstGeom>
          <a:noFill/>
          <a:ln w="12700">
            <a:solidFill>
              <a:srgbClr val="2E2E2E"/>
            </a:solidFill>
            <a:prstDash val="solid"/>
          </a:ln>
        </p:spPr>
      </p:sp>
      <p:sp>
        <p:nvSpPr>
          <p:cNvPr id="5" name="Text 3"/>
          <p:cNvSpPr txBox="1"/>
          <p:nvPr/>
        </p:nvSpPr>
        <p:spPr>
          <a:xfrm>
            <a:off x="731520" y="4800600"/>
            <a:ext cx="8686800" cy="292608"/>
          </a:xfrm>
          <a:prstGeom prst="rect">
            <a:avLst/>
          </a:prstGeom>
          <a:noFill/>
          <a:ln/>
        </p:spPr>
        <p:txBody>
          <a:bodyPr wrap="square" lIns="0" tIns="0" rIns="0" bIns="0" rtlCol="0" anchor="ctr"/>
          <a:lstStyle/>
          <a:p>
            <a:pPr indent="0" marL="0">
              <a:buNone/>
            </a:pPr>
            <a:r>
              <a:rPr lang="en-US" sz="1400" dirty="0">
                <a:solidFill>
                  <a:srgbClr val="9A9A9A"/>
                </a:solidFill>
                <a:latin typeface="Inter" pitchFamily="34" charset="0"/>
                <a:ea typeface="Inter" pitchFamily="34" charset="-122"/>
                <a:cs typeface="Inter" pitchFamily="34" charset="-120"/>
              </a:rPr>
              <a:t>Jaime Arturo Hurtado Romero  ·  </a:t>
            </a:r>
            <a:pPr indent="0" marL="0">
              <a:buNone/>
            </a:pPr>
            <a:r>
              <a:rPr lang="en-US" sz="1400" b="1" dirty="0">
                <a:solidFill>
                  <a:srgbClr val="FFFFFF"/>
                </a:solidFill>
                <a:latin typeface="Inter" pitchFamily="34" charset="0"/>
                <a:ea typeface="Inter" pitchFamily="34" charset="-122"/>
                <a:cs typeface="Inter" pitchFamily="34" charset="-120"/>
              </a:rPr>
              <a:t>Tomás Acosta Bernal</a:t>
            </a:r>
            <a:pPr indent="0" marL="0">
              <a:buNone/>
            </a:pPr>
            <a:r>
              <a:rPr lang="en-US" sz="1400" dirty="0">
                <a:solidFill>
                  <a:srgbClr val="9A9A9A"/>
                </a:solidFill>
                <a:latin typeface="Inter" pitchFamily="34" charset="0"/>
                <a:ea typeface="Inter" pitchFamily="34" charset="-122"/>
                <a:cs typeface="Inter" pitchFamily="34" charset="-120"/>
              </a:rPr>
              <a:t>  ·  Rubén Francisco Manrique</a:t>
            </a:r>
            <a:endParaRPr lang="en-US" sz="1400" dirty="0"/>
          </a:p>
        </p:txBody>
      </p:sp>
      <p:sp>
        <p:nvSpPr>
          <p:cNvPr id="6" name="Text 4"/>
          <p:cNvSpPr txBox="1"/>
          <p:nvPr/>
        </p:nvSpPr>
        <p:spPr>
          <a:xfrm>
            <a:off x="731520" y="5166360"/>
            <a:ext cx="8686800" cy="274320"/>
          </a:xfrm>
          <a:prstGeom prst="rect">
            <a:avLst/>
          </a:prstGeom>
          <a:noFill/>
          <a:ln/>
        </p:spPr>
        <p:txBody>
          <a:bodyPr wrap="square" lIns="0" tIns="0" rIns="0" bIns="0" rtlCol="0" anchor="ctr"/>
          <a:lstStyle/>
          <a:p>
            <a:pPr indent="0" marL="0">
              <a:buNone/>
            </a:pPr>
            <a:r>
              <a:rPr lang="en-US" sz="1100" dirty="0">
                <a:solidFill>
                  <a:srgbClr val="7A7A7A"/>
                </a:solidFill>
                <a:latin typeface="Inter" pitchFamily="34" charset="0"/>
                <a:ea typeface="Inter" pitchFamily="34" charset="-122"/>
                <a:cs typeface="Inter" pitchFamily="34" charset="-120"/>
              </a:rPr>
              <a:t>FLAG Lab · Department of Systems and Computing Engineering · Universidad de los Andes, Bogotá, Colombia</a:t>
            </a:r>
            <a:endParaRPr lang="en-US" sz="1100" dirty="0"/>
          </a:p>
        </p:txBody>
      </p:sp>
      <p:sp>
        <p:nvSpPr>
          <p:cNvPr id="7" name="Text 5"/>
          <p:cNvSpPr txBox="1"/>
          <p:nvPr/>
        </p:nvSpPr>
        <p:spPr>
          <a:xfrm>
            <a:off x="731520" y="5504688"/>
            <a:ext cx="8686800" cy="274320"/>
          </a:xfrm>
          <a:prstGeom prst="rect">
            <a:avLst/>
          </a:prstGeom>
          <a:noFill/>
          <a:ln/>
        </p:spPr>
        <p:txBody>
          <a:bodyPr wrap="square" lIns="0" tIns="0" rIns="0" bIns="0" rtlCol="0" anchor="ctr"/>
          <a:lstStyle/>
          <a:p>
            <a:pPr indent="0" marL="0">
              <a:buNone/>
            </a:pPr>
            <a:r>
              <a:rPr lang="en-US" sz="1000" dirty="0">
                <a:solidFill>
                  <a:srgbClr val="6E6E6E"/>
                </a:solidFill>
                <a:latin typeface="Consolas" pitchFamily="34" charset="0"/>
                <a:ea typeface="Consolas" pitchFamily="34" charset="-122"/>
                <a:cs typeface="Consolas" pitchFamily="34" charset="-120"/>
              </a:rPr>
              <a:t>Orlando, FL · 16 October 2026 · Springer CCIS</a:t>
            </a:r>
            <a:endParaRPr lang="en-US" sz="1000" dirty="0"/>
          </a:p>
        </p:txBody>
      </p:sp>
      <p:pic>
        <p:nvPicPr>
          <p:cNvPr id="8" name="Image 0" descr="/home/claude/logo_neg.png">    </p:cNvPr>
          <p:cNvPicPr>
            <a:picLocks noChangeAspect="1"/>
          </p:cNvPicPr>
          <p:nvPr/>
        </p:nvPicPr>
        <p:blipFill>
          <a:blip r:embed="rId1"/>
          <a:stretch>
            <a:fillRect/>
          </a:stretch>
        </p:blipFill>
        <p:spPr>
          <a:xfrm>
            <a:off x="9219895" y="4828032"/>
            <a:ext cx="2240280" cy="6720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7A7A7A"/>
                </a:solidFill>
                <a:latin typeface="Inter" pitchFamily="34" charset="0"/>
                <a:ea typeface="Inter" pitchFamily="34" charset="-122"/>
                <a:cs typeface="Inter" pitchFamily="34" charset="-120"/>
              </a:rPr>
              <a:t>[ SPEAK IN SPANISH · DO NOT TRANSLATE YET ]</a:t>
            </a:r>
            <a:endParaRPr lang="en-US" sz="1000" dirty="0"/>
          </a:p>
        </p:txBody>
      </p:sp>
      <p:sp>
        <p:nvSpPr>
          <p:cNvPr id="3" name="Text 1"/>
          <p:cNvSpPr txBox="1"/>
          <p:nvPr/>
        </p:nvSpPr>
        <p:spPr>
          <a:xfrm>
            <a:off x="731520" y="1600200"/>
            <a:ext cx="10058400" cy="3291840"/>
          </a:xfrm>
          <a:prstGeom prst="rect">
            <a:avLst/>
          </a:prstGeom>
          <a:noFill/>
          <a:ln/>
        </p:spPr>
        <p:txBody>
          <a:bodyPr wrap="square" lIns="0" tIns="0" rIns="0" bIns="0" rtlCol="0" anchor="ctr"/>
          <a:lstStyle/>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Your mother calls.</a:t>
            </a:r>
            <a:endParaRPr lang="en-US" sz="5000" dirty="0"/>
          </a:p>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She needs </a:t>
            </a:r>
            <a:endParaRPr lang="en-US" sz="5000" dirty="0"/>
          </a:p>
          <a:p>
            <a:pPr indent="0" marL="0">
              <a:lnSpc>
                <a:spcPct val="112000"/>
              </a:lnSpc>
              <a:buNone/>
            </a:pPr>
            <a:r>
              <a:rPr lang="en-US" sz="5000" b="1" dirty="0">
                <a:solidFill>
                  <a:srgbClr val="FFE800"/>
                </a:solidFill>
                <a:latin typeface="Inter" pitchFamily="34" charset="0"/>
                <a:ea typeface="Inter" pitchFamily="34" charset="-122"/>
                <a:cs typeface="Inter" pitchFamily="34" charset="-120"/>
              </a:rPr>
              <a:t>$1,500</a:t>
            </a:r>
            <a:pPr indent="0" marL="0">
              <a:lnSpc>
                <a:spcPct val="112000"/>
              </a:lnSpc>
              <a:buNone/>
            </a:pPr>
            <a:r>
              <a:rPr lang="en-US" sz="5000" b="1" dirty="0">
                <a:solidFill>
                  <a:srgbClr val="FFFFFF"/>
                </a:solidFill>
                <a:latin typeface="Inter" pitchFamily="34" charset="0"/>
                <a:ea typeface="Inter" pitchFamily="34" charset="-122"/>
                <a:cs typeface="Inter" pitchFamily="34" charset="-120"/>
              </a:rPr>
              <a:t>, now.</a:t>
            </a:r>
            <a:endParaRPr lang="en-US" sz="5000" dirty="0"/>
          </a:p>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It is her voice.</a:t>
            </a:r>
            <a:endParaRPr lang="en-US" sz="5000" dirty="0"/>
          </a:p>
        </p:txBody>
      </p:sp>
      <p:sp>
        <p:nvSpPr>
          <p:cNvPr id="4" name="Text 2"/>
          <p:cNvSpPr txBox="1"/>
          <p:nvPr/>
        </p:nvSpPr>
        <p:spPr>
          <a:xfrm>
            <a:off x="731520" y="5120640"/>
            <a:ext cx="7315200" cy="457200"/>
          </a:xfrm>
          <a:prstGeom prst="rect">
            <a:avLst/>
          </a:prstGeom>
          <a:noFill/>
          <a:ln/>
        </p:spPr>
        <p:txBody>
          <a:bodyPr wrap="square" lIns="0" tIns="0" rIns="0" bIns="0" rtlCol="0" anchor="ctr"/>
          <a:lstStyle/>
          <a:p>
            <a:pPr indent="0" marL="0">
              <a:buNone/>
            </a:pPr>
            <a:r>
              <a:rPr lang="en-US" sz="2000" i="1" dirty="0">
                <a:solidFill>
                  <a:srgbClr val="9A9A9A"/>
                </a:solidFill>
                <a:latin typeface="Inter" pitchFamily="34" charset="0"/>
                <a:ea typeface="Inter" pitchFamily="34" charset="-122"/>
                <a:cs typeface="Inter" pitchFamily="34" charset="-120"/>
              </a:rPr>
              <a:t>— and it is not her.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7A7A7A"/>
                </a:solidFill>
                <a:latin typeface="Inter" pitchFamily="34" charset="0"/>
                <a:ea typeface="Inter" pitchFamily="34" charset="-122"/>
                <a:cs typeface="Inter" pitchFamily="34" charset="-120"/>
              </a:rPr>
              <a:t>NOW REMOVE THE HUMAN</a:t>
            </a:r>
            <a:endParaRPr lang="en-US" sz="1000" dirty="0"/>
          </a:p>
        </p:txBody>
      </p:sp>
      <p:sp>
        <p:nvSpPr>
          <p:cNvPr id="3" name="Text 1"/>
          <p:cNvSpPr txBox="1"/>
          <p:nvPr/>
        </p:nvSpPr>
        <p:spPr>
          <a:xfrm>
            <a:off x="731520" y="1691640"/>
            <a:ext cx="10607040" cy="2743200"/>
          </a:xfrm>
          <a:prstGeom prst="rect">
            <a:avLst/>
          </a:prstGeom>
          <a:noFill/>
          <a:ln/>
        </p:spPr>
        <p:txBody>
          <a:bodyPr wrap="square" lIns="0" tIns="0" rIns="0" bIns="0" rtlCol="0" anchor="ctr"/>
          <a:lstStyle/>
          <a:p>
            <a:pPr indent="0" marL="0">
              <a:lnSpc>
                <a:spcPct val="120000"/>
              </a:lnSpc>
              <a:buNone/>
            </a:pPr>
            <a:r>
              <a:rPr lang="en-US" sz="3800" b="1" dirty="0">
                <a:solidFill>
                  <a:srgbClr val="FFFFFF"/>
                </a:solidFill>
                <a:latin typeface="Inter" pitchFamily="34" charset="0"/>
                <a:ea typeface="Inter" pitchFamily="34" charset="-122"/>
                <a:cs typeface="Inter" pitchFamily="34" charset="-120"/>
              </a:rPr>
              <a:t>If your voice is your </a:t>
            </a:r>
            <a:pPr indent="0" marL="0">
              <a:lnSpc>
                <a:spcPct val="120000"/>
              </a:lnSpc>
              <a:buNone/>
            </a:pPr>
            <a:r>
              <a:rPr lang="en-US" sz="3800" b="1" dirty="0">
                <a:solidFill>
                  <a:srgbClr val="FFE800"/>
                </a:solidFill>
                <a:latin typeface="Inter" pitchFamily="34" charset="0"/>
                <a:ea typeface="Inter" pitchFamily="34" charset="-122"/>
                <a:cs typeface="Inter" pitchFamily="34" charset="-120"/>
              </a:rPr>
              <a:t>password</a:t>
            </a:r>
            <a:pPr indent="0" marL="0">
              <a:lnSpc>
                <a:spcPct val="120000"/>
              </a:lnSpc>
              <a:buNone/>
            </a:pPr>
            <a:r>
              <a:rPr lang="en-US" sz="3800" b="1" dirty="0">
                <a:solidFill>
                  <a:srgbClr val="FFFFFF"/>
                </a:solidFill>
                <a:latin typeface="Inter" pitchFamily="34" charset="0"/>
                <a:ea typeface="Inter" pitchFamily="34" charset="-122"/>
                <a:cs typeface="Inter" pitchFamily="34" charset="-120"/>
              </a:rPr>
              <a:t>,</a:t>
            </a:r>
            <a:endParaRPr lang="en-US" sz="3800" dirty="0"/>
          </a:p>
          <a:p>
            <a:pPr indent="0" marL="0">
              <a:lnSpc>
                <a:spcPct val="120000"/>
              </a:lnSpc>
              <a:buNone/>
            </a:pPr>
            <a:r>
              <a:rPr lang="en-US" sz="3800" b="1" dirty="0">
                <a:solidFill>
                  <a:srgbClr val="FFFFFF"/>
                </a:solidFill>
                <a:latin typeface="Inter" pitchFamily="34" charset="0"/>
                <a:ea typeface="Inter" pitchFamily="34" charset="-122"/>
                <a:cs typeface="Inter" pitchFamily="34" charset="-120"/>
              </a:rPr>
              <a:t>then every voice note you have ever sent</a:t>
            </a:r>
            <a:endParaRPr lang="en-US" sz="3800" dirty="0"/>
          </a:p>
          <a:p>
            <a:pPr indent="0" marL="0">
              <a:lnSpc>
                <a:spcPct val="120000"/>
              </a:lnSpc>
              <a:buNone/>
            </a:pPr>
            <a:r>
              <a:rPr lang="en-US" sz="3800" b="1" dirty="0">
                <a:solidFill>
                  <a:srgbClr val="FFFFFF"/>
                </a:solidFill>
                <a:latin typeface="Inter" pitchFamily="34" charset="0"/>
                <a:ea typeface="Inter" pitchFamily="34" charset="-122"/>
                <a:cs typeface="Inter" pitchFamily="34" charset="-120"/>
              </a:rPr>
              <a:t>is your password, </a:t>
            </a:r>
            <a:endParaRPr lang="en-US" sz="3800" dirty="0"/>
          </a:p>
          <a:p>
            <a:pPr indent="0" marL="0">
              <a:lnSpc>
                <a:spcPct val="120000"/>
              </a:lnSpc>
              <a:buNone/>
            </a:pPr>
            <a:r>
              <a:rPr lang="en-US" sz="3800" b="1" dirty="0">
                <a:solidFill>
                  <a:srgbClr val="FFE800"/>
                </a:solidFill>
                <a:latin typeface="Inter" pitchFamily="34" charset="0"/>
                <a:ea typeface="Inter" pitchFamily="34" charset="-122"/>
                <a:cs typeface="Inter" pitchFamily="34" charset="-120"/>
              </a:rPr>
              <a:t>published</a:t>
            </a:r>
            <a:pPr indent="0" marL="0">
              <a:lnSpc>
                <a:spcPct val="120000"/>
              </a:lnSpc>
              <a:buNone/>
            </a:pPr>
            <a:r>
              <a:rPr lang="en-US" sz="3800" b="1" dirty="0">
                <a:solidFill>
                  <a:srgbClr val="FFFFFF"/>
                </a:solidFill>
                <a:latin typeface="Inter" pitchFamily="34" charset="0"/>
                <a:ea typeface="Inter" pitchFamily="34" charset="-122"/>
                <a:cs typeface="Inter" pitchFamily="34" charset="-120"/>
              </a:rPr>
              <a:t>.</a:t>
            </a:r>
            <a:endParaRPr lang="en-US" sz="3800" dirty="0"/>
          </a:p>
        </p:txBody>
      </p:sp>
      <p:sp>
        <p:nvSpPr>
          <p:cNvPr id="4" name="Shape 2"/>
          <p:cNvSpPr/>
          <p:nvPr/>
        </p:nvSpPr>
        <p:spPr>
          <a:xfrm>
            <a:off x="731520" y="4892040"/>
            <a:ext cx="10728655" cy="0"/>
          </a:xfrm>
          <a:prstGeom prst="line">
            <a:avLst/>
          </a:prstGeom>
          <a:noFill/>
          <a:ln w="12700">
            <a:solidFill>
              <a:srgbClr val="2E2E2E"/>
            </a:solidFill>
            <a:prstDash val="solid"/>
          </a:ln>
        </p:spPr>
      </p:sp>
      <p:sp>
        <p:nvSpPr>
          <p:cNvPr id="5" name="Text 3"/>
          <p:cNvSpPr txBox="1"/>
          <p:nvPr/>
        </p:nvSpPr>
        <p:spPr>
          <a:xfrm>
            <a:off x="731520" y="5120640"/>
            <a:ext cx="6766560" cy="1005840"/>
          </a:xfrm>
          <a:prstGeom prst="rect">
            <a:avLst/>
          </a:prstGeom>
          <a:noFill/>
          <a:ln/>
        </p:spPr>
        <p:txBody>
          <a:bodyPr wrap="square" lIns="0" tIns="0" rIns="0" bIns="0" rtlCol="0" anchor="ctr"/>
          <a:lstStyle/>
          <a:p>
            <a:pPr indent="0" marL="0">
              <a:lnSpc>
                <a:spcPct val="135000"/>
              </a:lnSpc>
              <a:buNone/>
            </a:pPr>
            <a:r>
              <a:rPr lang="en-US" sz="1300" dirty="0">
                <a:solidFill>
                  <a:srgbClr val="9A9A9A"/>
                </a:solidFill>
                <a:latin typeface="Inter" pitchFamily="34" charset="0"/>
                <a:ea typeface="Inter" pitchFamily="34" charset="-122"/>
                <a:cs typeface="Inter" pitchFamily="34" charset="-120"/>
              </a:rPr>
              <a:t>Voice biometrics authenticate banking customers by phone today, at scale. Behind that authentication sits an automatic speaker verification system, and in front of it, a countermeasure trained to spot fakes.</a:t>
            </a:r>
            <a:endParaRPr lang="en-US" sz="1300" dirty="0"/>
          </a:p>
        </p:txBody>
      </p:sp>
      <p:sp>
        <p:nvSpPr>
          <p:cNvPr id="6" name="Text 4"/>
          <p:cNvSpPr txBox="1"/>
          <p:nvPr/>
        </p:nvSpPr>
        <p:spPr>
          <a:xfrm>
            <a:off x="8442655" y="5120640"/>
            <a:ext cx="3017520" cy="822960"/>
          </a:xfrm>
          <a:prstGeom prst="rect">
            <a:avLst/>
          </a:prstGeom>
          <a:noFill/>
          <a:ln/>
        </p:spPr>
        <p:txBody>
          <a:bodyPr wrap="square" lIns="0" tIns="0" rIns="0" bIns="0" rtlCol="0" anchor="ctr"/>
          <a:lstStyle/>
          <a:p>
            <a:pPr indent="0" marL="0">
              <a:lnSpc>
                <a:spcPct val="130000"/>
              </a:lnSpc>
              <a:buNone/>
            </a:pPr>
            <a:r>
              <a:rPr lang="en-US" sz="1400" b="1" dirty="0">
                <a:solidFill>
                  <a:srgbClr val="FFFFFF"/>
                </a:solidFill>
                <a:latin typeface="Inter" pitchFamily="34" charset="0"/>
                <a:ea typeface="Inter" pitchFamily="34" charset="-122"/>
                <a:cs typeface="Inter" pitchFamily="34" charset="-120"/>
              </a:rPr>
              <a:t>That countermeasure is what this paper is about.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NONE OF THIS IS HYPOTHETICAL</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100" b="1" dirty="0">
                <a:solidFill>
                  <a:srgbClr val="0D0D0D"/>
                </a:solidFill>
                <a:latin typeface="Inter" pitchFamily="34" charset="0"/>
                <a:ea typeface="Inter" pitchFamily="34" charset="-122"/>
                <a:cs typeface="Inter" pitchFamily="34" charset="-120"/>
              </a:rPr>
              <a:t>Three on the record.</a:t>
            </a:r>
            <a:pPr indent="0" marL="0">
              <a:buNone/>
            </a:pPr>
            <a:r>
              <a:rPr lang="en-US" sz="3100" b="1" dirty="0">
                <a:solidFill>
                  <a:srgbClr val="BDBDBD"/>
                </a:solidFill>
                <a:latin typeface="Inter" pitchFamily="34" charset="0"/>
                <a:ea typeface="Inter" pitchFamily="34" charset="-122"/>
                <a:cs typeface="Inter" pitchFamily="34" charset="-120"/>
              </a:rPr>
              <a:t> Two of them defeated a machine.</a:t>
            </a:r>
            <a:endParaRPr lang="en-US" sz="3100" dirty="0"/>
          </a:p>
        </p:txBody>
      </p:sp>
      <p:sp>
        <p:nvSpPr>
          <p:cNvPr id="4" name="Shape 2"/>
          <p:cNvSpPr/>
          <p:nvPr/>
        </p:nvSpPr>
        <p:spPr>
          <a:xfrm>
            <a:off x="731520" y="2103120"/>
            <a:ext cx="3362858" cy="3017520"/>
          </a:xfrm>
          <a:prstGeom prst="roundRect">
            <a:avLst>
              <a:gd name="adj" fmla="val 1818"/>
            </a:avLst>
          </a:prstGeom>
          <a:solidFill>
            <a:srgbClr val="FFFBCC"/>
          </a:solidFill>
          <a:ln w="19050">
            <a:solidFill>
              <a:srgbClr val="FFE800"/>
            </a:solidFill>
            <a:prstDash val="solid"/>
          </a:ln>
        </p:spPr>
      </p:sp>
      <p:sp>
        <p:nvSpPr>
          <p:cNvPr id="5" name="Text 3"/>
          <p:cNvSpPr txBox="1"/>
          <p:nvPr/>
        </p:nvSpPr>
        <p:spPr>
          <a:xfrm>
            <a:off x="1115568" y="2377440"/>
            <a:ext cx="2631338" cy="329184"/>
          </a:xfrm>
          <a:prstGeom prst="rect">
            <a:avLst/>
          </a:prstGeom>
          <a:noFill/>
          <a:ln/>
        </p:spPr>
        <p:txBody>
          <a:bodyPr wrap="square" lIns="0" tIns="0" rIns="0" bIns="0" rtlCol="0" anchor="ctr"/>
          <a:lstStyle/>
          <a:p>
            <a:pPr indent="0" marL="0">
              <a:buNone/>
            </a:pPr>
            <a:r>
              <a:rPr lang="en-US" sz="1600" b="1" dirty="0">
                <a:solidFill>
                  <a:srgbClr val="8A6D00"/>
                </a:solidFill>
                <a:latin typeface="Consolas" pitchFamily="34" charset="0"/>
                <a:ea typeface="Consolas" pitchFamily="34" charset="-122"/>
                <a:cs typeface="Consolas" pitchFamily="34" charset="-120"/>
              </a:rPr>
              <a:t>2023</a:t>
            </a:r>
            <a:endParaRPr lang="en-US" sz="1600" dirty="0"/>
          </a:p>
        </p:txBody>
      </p:sp>
      <p:sp>
        <p:nvSpPr>
          <p:cNvPr id="6" name="Text 4"/>
          <p:cNvSpPr txBox="1"/>
          <p:nvPr/>
        </p:nvSpPr>
        <p:spPr>
          <a:xfrm>
            <a:off x="1115568" y="2816352"/>
            <a:ext cx="2594762" cy="1371600"/>
          </a:xfrm>
          <a:prstGeom prst="rect">
            <a:avLst/>
          </a:prstGeom>
          <a:noFill/>
          <a:ln/>
        </p:spPr>
        <p:txBody>
          <a:bodyPr wrap="square" lIns="0" tIns="0" rIns="0" bIns="0" rtlCol="0" anchor="ctr"/>
          <a:lstStyle/>
          <a:p>
            <a:pPr indent="0" marL="0">
              <a:lnSpc>
                <a:spcPct val="130000"/>
              </a:lnSpc>
              <a:buNone/>
            </a:pPr>
            <a:r>
              <a:rPr lang="en-US" sz="1300" dirty="0">
                <a:solidFill>
                  <a:srgbClr val="0D0D0D"/>
                </a:solidFill>
                <a:latin typeface="Inter" pitchFamily="34" charset="0"/>
                <a:ea typeface="Inter" pitchFamily="34" charset="-122"/>
                <a:cs typeface="Inter" pitchFamily="34" charset="-120"/>
              </a:rPr>
              <a:t>A journalist cloned his own voice and used it to pass his bank’s Voice ID and reach his balance.</a:t>
            </a:r>
            <a:endParaRPr lang="en-US" sz="1300" dirty="0"/>
          </a:p>
        </p:txBody>
      </p:sp>
      <p:sp>
        <p:nvSpPr>
          <p:cNvPr id="7" name="Shape 5"/>
          <p:cNvSpPr/>
          <p:nvPr/>
        </p:nvSpPr>
        <p:spPr>
          <a:xfrm>
            <a:off x="1115568" y="4315968"/>
            <a:ext cx="2594762" cy="0"/>
          </a:xfrm>
          <a:prstGeom prst="line">
            <a:avLst/>
          </a:prstGeom>
          <a:noFill/>
          <a:ln w="12700">
            <a:solidFill>
              <a:srgbClr val="FFE800"/>
            </a:solidFill>
            <a:prstDash val="solid"/>
          </a:ln>
        </p:spPr>
      </p:sp>
      <p:sp>
        <p:nvSpPr>
          <p:cNvPr id="8" name="Text 6"/>
          <p:cNvSpPr txBox="1"/>
          <p:nvPr/>
        </p:nvSpPr>
        <p:spPr>
          <a:xfrm>
            <a:off x="1115568" y="4443984"/>
            <a:ext cx="2594762" cy="320040"/>
          </a:xfrm>
          <a:prstGeom prst="rect">
            <a:avLst/>
          </a:prstGeom>
          <a:noFill/>
          <a:ln/>
        </p:spPr>
        <p:txBody>
          <a:bodyPr wrap="square" lIns="0" tIns="0" rIns="0" bIns="0" rtlCol="0" anchor="ctr"/>
          <a:lstStyle/>
          <a:p>
            <a:pPr indent="0" marL="0">
              <a:buNone/>
            </a:pPr>
            <a:r>
              <a:rPr lang="en-US" sz="1400" b="1" dirty="0">
                <a:solidFill>
                  <a:srgbClr val="0D0D0D"/>
                </a:solidFill>
                <a:latin typeface="Inter" pitchFamily="34" charset="0"/>
                <a:ea typeface="Inter" pitchFamily="34" charset="-122"/>
                <a:cs typeface="Inter" pitchFamily="34" charset="-120"/>
              </a:rPr>
              <a:t>voice authentication bypassed</a:t>
            </a:r>
            <a:endParaRPr lang="en-US" sz="1400" dirty="0"/>
          </a:p>
        </p:txBody>
      </p:sp>
      <p:sp>
        <p:nvSpPr>
          <p:cNvPr id="9" name="Text 7"/>
          <p:cNvSpPr txBox="1"/>
          <p:nvPr/>
        </p:nvSpPr>
        <p:spPr>
          <a:xfrm>
            <a:off x="1115568" y="4791456"/>
            <a:ext cx="2594762" cy="237744"/>
          </a:xfrm>
          <a:prstGeom prst="rect">
            <a:avLst/>
          </a:prstGeom>
          <a:noFill/>
          <a:ln/>
        </p:spPr>
        <p:txBody>
          <a:bodyPr wrap="square" lIns="0" tIns="0" rIns="0" bIns="0" rtlCol="0" anchor="ctr"/>
          <a:lstStyle/>
          <a:p>
            <a:pPr indent="0" marL="0">
              <a:buNone/>
            </a:pPr>
            <a:r>
              <a:rPr lang="en-US" sz="1000" dirty="0">
                <a:solidFill>
                  <a:srgbClr val="8C8C8C"/>
                </a:solidFill>
                <a:latin typeface="Inter" pitchFamily="34" charset="0"/>
                <a:ea typeface="Inter" pitchFamily="34" charset="-122"/>
                <a:cs typeface="Inter" pitchFamily="34" charset="-120"/>
              </a:rPr>
              <a:t>Vice · Feb 2023</a:t>
            </a:r>
            <a:endParaRPr lang="en-US" sz="1000" dirty="0"/>
          </a:p>
        </p:txBody>
      </p:sp>
      <p:sp>
        <p:nvSpPr>
          <p:cNvPr id="10" name="Shape 8"/>
          <p:cNvSpPr/>
          <p:nvPr/>
        </p:nvSpPr>
        <p:spPr>
          <a:xfrm>
            <a:off x="4414418" y="2103120"/>
            <a:ext cx="3362858" cy="3017520"/>
          </a:xfrm>
          <a:prstGeom prst="roundRect">
            <a:avLst>
              <a:gd name="adj" fmla="val 1818"/>
            </a:avLst>
          </a:prstGeom>
          <a:solidFill>
            <a:srgbClr val="F7F7F5"/>
          </a:solidFill>
          <a:ln w="12700">
            <a:solidFill>
              <a:srgbClr val="E6E6E6"/>
            </a:solidFill>
            <a:prstDash val="solid"/>
          </a:ln>
        </p:spPr>
      </p:sp>
      <p:sp>
        <p:nvSpPr>
          <p:cNvPr id="11" name="Text 9"/>
          <p:cNvSpPr txBox="1"/>
          <p:nvPr/>
        </p:nvSpPr>
        <p:spPr>
          <a:xfrm>
            <a:off x="4798466" y="2377440"/>
            <a:ext cx="2631338" cy="329184"/>
          </a:xfrm>
          <a:prstGeom prst="rect">
            <a:avLst/>
          </a:prstGeom>
          <a:noFill/>
          <a:ln/>
        </p:spPr>
        <p:txBody>
          <a:bodyPr wrap="square" lIns="0" tIns="0" rIns="0" bIns="0" rtlCol="0" anchor="ctr"/>
          <a:lstStyle/>
          <a:p>
            <a:pPr indent="0" marL="0">
              <a:buNone/>
            </a:pPr>
            <a:r>
              <a:rPr lang="en-US" sz="1600" b="1" dirty="0">
                <a:solidFill>
                  <a:srgbClr val="8C8C8C"/>
                </a:solidFill>
                <a:latin typeface="Consolas" pitchFamily="34" charset="0"/>
                <a:ea typeface="Consolas" pitchFamily="34" charset="-122"/>
                <a:cs typeface="Consolas" pitchFamily="34" charset="-120"/>
              </a:rPr>
              <a:t>2024</a:t>
            </a:r>
            <a:endParaRPr lang="en-US" sz="1600" dirty="0"/>
          </a:p>
        </p:txBody>
      </p:sp>
      <p:sp>
        <p:nvSpPr>
          <p:cNvPr id="12" name="Text 10"/>
          <p:cNvSpPr txBox="1"/>
          <p:nvPr/>
        </p:nvSpPr>
        <p:spPr>
          <a:xfrm>
            <a:off x="4798466" y="2816352"/>
            <a:ext cx="2594762" cy="1371600"/>
          </a:xfrm>
          <a:prstGeom prst="rect">
            <a:avLst/>
          </a:prstGeom>
          <a:noFill/>
          <a:ln/>
        </p:spPr>
        <p:txBody>
          <a:bodyPr wrap="square" lIns="0" tIns="0" rIns="0" bIns="0" rtlCol="0" anchor="ctr"/>
          <a:lstStyle/>
          <a:p>
            <a:pPr indent="0" marL="0">
              <a:lnSpc>
                <a:spcPct val="130000"/>
              </a:lnSpc>
              <a:buNone/>
            </a:pPr>
            <a:r>
              <a:rPr lang="en-US" sz="1300" dirty="0">
                <a:solidFill>
                  <a:srgbClr val="0D0D0D"/>
                </a:solidFill>
                <a:latin typeface="Inter" pitchFamily="34" charset="0"/>
                <a:ea typeface="Inter" pitchFamily="34" charset="-122"/>
                <a:cs typeface="Inter" pitchFamily="34" charset="-120"/>
              </a:rPr>
              <a:t>A finance worker in Hong Kong joined a video call where every other participant was synthetic, and transferred the money.</a:t>
            </a:r>
            <a:endParaRPr lang="en-US" sz="1300" dirty="0"/>
          </a:p>
        </p:txBody>
      </p:sp>
      <p:sp>
        <p:nvSpPr>
          <p:cNvPr id="13" name="Shape 11"/>
          <p:cNvSpPr/>
          <p:nvPr/>
        </p:nvSpPr>
        <p:spPr>
          <a:xfrm>
            <a:off x="4798466" y="4315968"/>
            <a:ext cx="2594762" cy="0"/>
          </a:xfrm>
          <a:prstGeom prst="line">
            <a:avLst/>
          </a:prstGeom>
          <a:noFill/>
          <a:ln w="12700">
            <a:solidFill>
              <a:srgbClr val="E6E6E6"/>
            </a:solidFill>
            <a:prstDash val="solid"/>
          </a:ln>
        </p:spPr>
      </p:sp>
      <p:sp>
        <p:nvSpPr>
          <p:cNvPr id="14" name="Text 12"/>
          <p:cNvSpPr txBox="1"/>
          <p:nvPr/>
        </p:nvSpPr>
        <p:spPr>
          <a:xfrm>
            <a:off x="4798466" y="4443984"/>
            <a:ext cx="2594762" cy="320040"/>
          </a:xfrm>
          <a:prstGeom prst="rect">
            <a:avLst/>
          </a:prstGeom>
          <a:noFill/>
          <a:ln/>
        </p:spPr>
        <p:txBody>
          <a:bodyPr wrap="square" lIns="0" tIns="0" rIns="0" bIns="0" rtlCol="0" anchor="ctr"/>
          <a:lstStyle/>
          <a:p>
            <a:pPr indent="0" marL="0">
              <a:buNone/>
            </a:pPr>
            <a:r>
              <a:rPr lang="en-US" sz="1400" b="1" dirty="0">
                <a:solidFill>
                  <a:srgbClr val="0D0D0D"/>
                </a:solidFill>
                <a:latin typeface="Inter" pitchFamily="34" charset="0"/>
                <a:ea typeface="Inter" pitchFamily="34" charset="-122"/>
                <a:cs typeface="Inter" pitchFamily="34" charset="-120"/>
              </a:rPr>
              <a:t>US$ 25 million</a:t>
            </a:r>
            <a:endParaRPr lang="en-US" sz="1400" dirty="0"/>
          </a:p>
        </p:txBody>
      </p:sp>
      <p:sp>
        <p:nvSpPr>
          <p:cNvPr id="15" name="Text 13"/>
          <p:cNvSpPr txBox="1"/>
          <p:nvPr/>
        </p:nvSpPr>
        <p:spPr>
          <a:xfrm>
            <a:off x="4798466" y="4791456"/>
            <a:ext cx="2594762" cy="237744"/>
          </a:xfrm>
          <a:prstGeom prst="rect">
            <a:avLst/>
          </a:prstGeom>
          <a:noFill/>
          <a:ln/>
        </p:spPr>
        <p:txBody>
          <a:bodyPr wrap="square" lIns="0" tIns="0" rIns="0" bIns="0" rtlCol="0" anchor="ctr"/>
          <a:lstStyle/>
          <a:p>
            <a:pPr indent="0" marL="0">
              <a:buNone/>
            </a:pPr>
            <a:r>
              <a:rPr lang="en-US" sz="1000" dirty="0">
                <a:solidFill>
                  <a:srgbClr val="8C8C8C"/>
                </a:solidFill>
                <a:latin typeface="Inter" pitchFamily="34" charset="0"/>
                <a:ea typeface="Inter" pitchFamily="34" charset="-122"/>
                <a:cs typeface="Inter" pitchFamily="34" charset="-120"/>
              </a:rPr>
              <a:t>CNN · Arup, May 2024</a:t>
            </a:r>
            <a:endParaRPr lang="en-US" sz="1000" dirty="0"/>
          </a:p>
        </p:txBody>
      </p:sp>
      <p:sp>
        <p:nvSpPr>
          <p:cNvPr id="16" name="Shape 14"/>
          <p:cNvSpPr/>
          <p:nvPr/>
        </p:nvSpPr>
        <p:spPr>
          <a:xfrm>
            <a:off x="8097317" y="2103120"/>
            <a:ext cx="3362858" cy="3017520"/>
          </a:xfrm>
          <a:prstGeom prst="roundRect">
            <a:avLst>
              <a:gd name="adj" fmla="val 1818"/>
            </a:avLst>
          </a:prstGeom>
          <a:solidFill>
            <a:srgbClr val="F7F7F5"/>
          </a:solidFill>
          <a:ln w="12700">
            <a:solidFill>
              <a:srgbClr val="E6E6E6"/>
            </a:solidFill>
            <a:prstDash val="solid"/>
          </a:ln>
        </p:spPr>
      </p:sp>
      <p:sp>
        <p:nvSpPr>
          <p:cNvPr id="17" name="Text 15"/>
          <p:cNvSpPr txBox="1"/>
          <p:nvPr/>
        </p:nvSpPr>
        <p:spPr>
          <a:xfrm>
            <a:off x="8481365" y="2377440"/>
            <a:ext cx="2631338" cy="329184"/>
          </a:xfrm>
          <a:prstGeom prst="rect">
            <a:avLst/>
          </a:prstGeom>
          <a:noFill/>
          <a:ln/>
        </p:spPr>
        <p:txBody>
          <a:bodyPr wrap="square" lIns="0" tIns="0" rIns="0" bIns="0" rtlCol="0" anchor="ctr"/>
          <a:lstStyle/>
          <a:p>
            <a:pPr indent="0" marL="0">
              <a:buNone/>
            </a:pPr>
            <a:r>
              <a:rPr lang="en-US" sz="1600" b="1" dirty="0">
                <a:solidFill>
                  <a:srgbClr val="8C8C8C"/>
                </a:solidFill>
                <a:latin typeface="Consolas" pitchFamily="34" charset="0"/>
                <a:ea typeface="Consolas" pitchFamily="34" charset="-122"/>
                <a:cs typeface="Consolas" pitchFamily="34" charset="-120"/>
              </a:rPr>
              <a:t>2024</a:t>
            </a:r>
            <a:endParaRPr lang="en-US" sz="1600" dirty="0"/>
          </a:p>
        </p:txBody>
      </p:sp>
      <p:sp>
        <p:nvSpPr>
          <p:cNvPr id="18" name="Text 16"/>
          <p:cNvSpPr txBox="1"/>
          <p:nvPr/>
        </p:nvSpPr>
        <p:spPr>
          <a:xfrm>
            <a:off x="8481365" y="2816352"/>
            <a:ext cx="2594762" cy="1371600"/>
          </a:xfrm>
          <a:prstGeom prst="rect">
            <a:avLst/>
          </a:prstGeom>
          <a:noFill/>
          <a:ln/>
        </p:spPr>
        <p:txBody>
          <a:bodyPr wrap="square" lIns="0" tIns="0" rIns="0" bIns="0" rtlCol="0" anchor="ctr"/>
          <a:lstStyle/>
          <a:p>
            <a:pPr indent="0" marL="0">
              <a:lnSpc>
                <a:spcPct val="130000"/>
              </a:lnSpc>
              <a:buNone/>
            </a:pPr>
            <a:r>
              <a:rPr lang="en-US" sz="1300" dirty="0">
                <a:solidFill>
                  <a:srgbClr val="0D0D0D"/>
                </a:solidFill>
                <a:latin typeface="Inter" pitchFamily="34" charset="0"/>
                <a:ea typeface="Inter" pitchFamily="34" charset="-122"/>
                <a:cs typeface="Inter" pitchFamily="34" charset="-120"/>
              </a:rPr>
              <a:t>Robocalls carrying a synthetic voice of a sitting US president went out before a primary election.</a:t>
            </a:r>
            <a:endParaRPr lang="en-US" sz="1300" dirty="0"/>
          </a:p>
        </p:txBody>
      </p:sp>
      <p:sp>
        <p:nvSpPr>
          <p:cNvPr id="19" name="Shape 17"/>
          <p:cNvSpPr/>
          <p:nvPr/>
        </p:nvSpPr>
        <p:spPr>
          <a:xfrm>
            <a:off x="8481365" y="4315968"/>
            <a:ext cx="2594762" cy="0"/>
          </a:xfrm>
          <a:prstGeom prst="line">
            <a:avLst/>
          </a:prstGeom>
          <a:noFill/>
          <a:ln w="12700">
            <a:solidFill>
              <a:srgbClr val="E6E6E6"/>
            </a:solidFill>
            <a:prstDash val="solid"/>
          </a:ln>
        </p:spPr>
      </p:sp>
      <p:sp>
        <p:nvSpPr>
          <p:cNvPr id="20" name="Text 18"/>
          <p:cNvSpPr txBox="1"/>
          <p:nvPr/>
        </p:nvSpPr>
        <p:spPr>
          <a:xfrm>
            <a:off x="8481365" y="4443984"/>
            <a:ext cx="2594762" cy="320040"/>
          </a:xfrm>
          <a:prstGeom prst="rect">
            <a:avLst/>
          </a:prstGeom>
          <a:noFill/>
          <a:ln/>
        </p:spPr>
        <p:txBody>
          <a:bodyPr wrap="square" lIns="0" tIns="0" rIns="0" bIns="0" rtlCol="0" anchor="ctr"/>
          <a:lstStyle/>
          <a:p>
            <a:pPr indent="0" marL="0">
              <a:buNone/>
            </a:pPr>
            <a:r>
              <a:rPr lang="en-US" sz="1400" b="1" dirty="0">
                <a:solidFill>
                  <a:srgbClr val="0D0D0D"/>
                </a:solidFill>
                <a:latin typeface="Inter" pitchFamily="34" charset="0"/>
                <a:ea typeface="Inter" pitchFamily="34" charset="-122"/>
                <a:cs typeface="Inter" pitchFamily="34" charset="-120"/>
              </a:rPr>
              <a:t>US$ 1 M settlement + US$ 6 M proposed</a:t>
            </a:r>
            <a:endParaRPr lang="en-US" sz="1400" dirty="0"/>
          </a:p>
        </p:txBody>
      </p:sp>
      <p:sp>
        <p:nvSpPr>
          <p:cNvPr id="21" name="Text 19"/>
          <p:cNvSpPr txBox="1"/>
          <p:nvPr/>
        </p:nvSpPr>
        <p:spPr>
          <a:xfrm>
            <a:off x="8481365" y="4791456"/>
            <a:ext cx="2594762" cy="237744"/>
          </a:xfrm>
          <a:prstGeom prst="rect">
            <a:avLst/>
          </a:prstGeom>
          <a:noFill/>
          <a:ln/>
        </p:spPr>
        <p:txBody>
          <a:bodyPr wrap="square" lIns="0" tIns="0" rIns="0" bIns="0" rtlCol="0" anchor="ctr"/>
          <a:lstStyle/>
          <a:p>
            <a:pPr indent="0" marL="0">
              <a:buNone/>
            </a:pPr>
            <a:r>
              <a:rPr lang="en-US" sz="1000" dirty="0">
                <a:solidFill>
                  <a:srgbClr val="8C8C8C"/>
                </a:solidFill>
                <a:latin typeface="Inter" pitchFamily="34" charset="0"/>
                <a:ea typeface="Inter" pitchFamily="34" charset="-122"/>
                <a:cs typeface="Inter" pitchFamily="34" charset="-120"/>
              </a:rPr>
              <a:t>FCC enforcement · 2024</a:t>
            </a:r>
            <a:endParaRPr lang="en-US" sz="1000" dirty="0"/>
          </a:p>
        </p:txBody>
      </p:sp>
      <p:sp>
        <p:nvSpPr>
          <p:cNvPr id="22" name="Text 20"/>
          <p:cNvSpPr txBox="1"/>
          <p:nvPr/>
        </p:nvSpPr>
        <p:spPr>
          <a:xfrm>
            <a:off x="731520" y="54406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The first one is this paper’s subject.</a:t>
            </a:r>
            <a:pPr indent="0" marL="0">
              <a:buNone/>
            </a:pPr>
            <a:r>
              <a:rPr lang="en-US" sz="1500" dirty="0">
                <a:solidFill>
                  <a:srgbClr val="8C8C8C"/>
                </a:solidFill>
                <a:latin typeface="Inter" pitchFamily="34" charset="0"/>
                <a:ea typeface="Inter" pitchFamily="34" charset="-122"/>
                <a:cs typeface="Inter" pitchFamily="34" charset="-120"/>
              </a:rPr>
              <a:t> Someone spoke, a machine decided it was him, and it was wrong.</a:t>
            </a:r>
            <a:endParaRPr lang="en-US" sz="1500" dirty="0"/>
          </a:p>
        </p:txBody>
      </p:sp>
      <p:sp>
        <p:nvSpPr>
          <p:cNvPr id="23" name="Text 21"/>
          <p:cNvSpPr txBox="1"/>
          <p:nvPr/>
        </p:nvSpPr>
        <p:spPr>
          <a:xfrm>
            <a:off x="731520" y="5833872"/>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Vice, “How I Broke Into a Bank Account With an AI-Generated Voice” (2023) · CNN, Arup deepfake scam (2024) · FCC, Lingo Telecom settlement and Kramer NAL (2024).</a:t>
            </a:r>
            <a:endParaRPr lang="en-US" sz="900" dirty="0"/>
          </a:p>
        </p:txBody>
      </p:sp>
      <p:pic>
        <p:nvPicPr>
          <p:cNvPr id="24"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25" name="Text 22"/>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26" name="Text 23"/>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YOUR TURN · 60 SECONDS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Which of these two</a:t>
            </a:r>
            <a:pPr indent="0" marL="0">
              <a:buNone/>
            </a:pPr>
            <a:r>
              <a:rPr lang="en-US" sz="3400" b="1" dirty="0">
                <a:solidFill>
                  <a:srgbClr val="BDBDBD"/>
                </a:solidFill>
                <a:latin typeface="Inter" pitchFamily="34" charset="0"/>
                <a:ea typeface="Inter" pitchFamily="34" charset="-122"/>
                <a:cs typeface="Inter" pitchFamily="34" charset="-120"/>
              </a:rPr>
              <a:t> sounds like a real person?</a:t>
            </a:r>
            <a:endParaRPr lang="en-US" sz="3400" dirty="0"/>
          </a:p>
        </p:txBody>
      </p:sp>
      <p:sp>
        <p:nvSpPr>
          <p:cNvPr id="4" name="Shape 2"/>
          <p:cNvSpPr/>
          <p:nvPr/>
        </p:nvSpPr>
        <p:spPr>
          <a:xfrm>
            <a:off x="731520" y="2240280"/>
            <a:ext cx="5135728" cy="2286000"/>
          </a:xfrm>
          <a:prstGeom prst="roundRect">
            <a:avLst>
              <a:gd name="adj" fmla="val 2400"/>
            </a:avLst>
          </a:prstGeom>
          <a:solidFill>
            <a:srgbClr val="FFFFFF"/>
          </a:solidFill>
          <a:ln w="12700">
            <a:solidFill>
              <a:srgbClr val="0D0D0D"/>
            </a:solidFill>
            <a:prstDash val="solid"/>
          </a:ln>
        </p:spPr>
      </p:sp>
      <p:sp>
        <p:nvSpPr>
          <p:cNvPr id="5" name="Text 3"/>
          <p:cNvSpPr txBox="1"/>
          <p:nvPr/>
        </p:nvSpPr>
        <p:spPr>
          <a:xfrm>
            <a:off x="1188720" y="2560320"/>
            <a:ext cx="914400" cy="731520"/>
          </a:xfrm>
          <a:prstGeom prst="rect">
            <a:avLst/>
          </a:prstGeom>
          <a:noFill/>
          <a:ln/>
        </p:spPr>
        <p:txBody>
          <a:bodyPr wrap="square" lIns="0" tIns="0" rIns="0" bIns="0" rtlCol="0" anchor="ctr"/>
          <a:lstStyle/>
          <a:p>
            <a:pPr indent="0" marL="0">
              <a:buNone/>
            </a:pPr>
            <a:r>
              <a:rPr lang="en-US" sz="4800" b="1" dirty="0">
                <a:solidFill>
                  <a:srgbClr val="0D0D0D"/>
                </a:solidFill>
                <a:latin typeface="Inter" pitchFamily="34" charset="0"/>
                <a:ea typeface="Inter" pitchFamily="34" charset="-122"/>
                <a:cs typeface="Inter" pitchFamily="34" charset="-120"/>
              </a:rPr>
              <a:t>A</a:t>
            </a:r>
            <a:endParaRPr lang="en-US" sz="4800" dirty="0"/>
          </a:p>
        </p:txBody>
      </p:sp>
      <p:sp>
        <p:nvSpPr>
          <p:cNvPr id="6" name="Shape 4"/>
          <p:cNvSpPr/>
          <p:nvPr/>
        </p:nvSpPr>
        <p:spPr>
          <a:xfrm>
            <a:off x="4495648" y="2606040"/>
            <a:ext cx="868680" cy="868680"/>
          </a:xfrm>
          <a:prstGeom prst="ellipse">
            <a:avLst/>
          </a:prstGeom>
          <a:solidFill>
            <a:srgbClr val="FFE800"/>
          </a:solidFill>
          <a:ln w="12700">
            <a:solidFill>
              <a:srgbClr val="FFE800"/>
            </a:solidFill>
            <a:prstDash val="solid"/>
          </a:ln>
        </p:spPr>
      </p:sp>
      <p:sp>
        <p:nvSpPr>
          <p:cNvPr id="7" name="Shape 5"/>
          <p:cNvSpPr/>
          <p:nvPr/>
        </p:nvSpPr>
        <p:spPr>
          <a:xfrm rot="5400000">
            <a:off x="4833976" y="2843784"/>
            <a:ext cx="292608" cy="384048"/>
          </a:xfrm>
          <a:prstGeom prst="triangle">
            <a:avLst/>
          </a:prstGeom>
          <a:solidFill>
            <a:srgbClr val="0D0D0D"/>
          </a:solidFill>
          <a:ln w="12700">
            <a:solidFill>
              <a:srgbClr val="0D0D0D"/>
            </a:solidFill>
            <a:prstDash val="solid"/>
          </a:ln>
        </p:spPr>
      </p:sp>
      <p:sp>
        <p:nvSpPr>
          <p:cNvPr id="8" name="Text 6"/>
          <p:cNvSpPr txBox="1"/>
          <p:nvPr/>
        </p:nvSpPr>
        <p:spPr>
          <a:xfrm>
            <a:off x="1188720" y="3520440"/>
            <a:ext cx="4221328" cy="320040"/>
          </a:xfrm>
          <a:prstGeom prst="rect">
            <a:avLst/>
          </a:prstGeom>
          <a:noFill/>
          <a:ln/>
        </p:spPr>
        <p:txBody>
          <a:bodyPr wrap="square" lIns="0" tIns="0" rIns="0" bIns="0" rtlCol="0" anchor="ctr"/>
          <a:lstStyle/>
          <a:p>
            <a:pPr indent="0" marL="0">
              <a:buNone/>
            </a:pPr>
            <a:r>
              <a:rPr lang="en-US" sz="1050" dirty="0">
                <a:solidFill>
                  <a:srgbClr val="8C8C8C"/>
                </a:solidFill>
                <a:latin typeface="Consolas" pitchFamily="34" charset="0"/>
                <a:ea typeface="Consolas" pitchFamily="34" charset="-122"/>
                <a:cs typeface="Consolas" pitchFamily="34" charset="-120"/>
              </a:rPr>
              <a:t>[ embed clip here ]</a:t>
            </a:r>
            <a:endParaRPr lang="en-US" sz="1050" dirty="0"/>
          </a:p>
        </p:txBody>
      </p:sp>
      <p:sp>
        <p:nvSpPr>
          <p:cNvPr id="9" name="Shape 7"/>
          <p:cNvSpPr/>
          <p:nvPr/>
        </p:nvSpPr>
        <p:spPr>
          <a:xfrm>
            <a:off x="1188720" y="4187952"/>
            <a:ext cx="50292" cy="73152"/>
          </a:xfrm>
          <a:prstGeom prst="rect">
            <a:avLst/>
          </a:prstGeom>
          <a:solidFill>
            <a:srgbClr val="0D0D0D"/>
          </a:solidFill>
          <a:ln w="12700">
            <a:solidFill>
              <a:srgbClr val="FFFFFF"/>
            </a:solidFill>
            <a:prstDash val="solid"/>
          </a:ln>
        </p:spPr>
      </p:sp>
      <p:sp>
        <p:nvSpPr>
          <p:cNvPr id="10" name="Shape 8"/>
          <p:cNvSpPr/>
          <p:nvPr/>
        </p:nvSpPr>
        <p:spPr>
          <a:xfrm>
            <a:off x="1293876" y="4064247"/>
            <a:ext cx="50292" cy="320563"/>
          </a:xfrm>
          <a:prstGeom prst="rect">
            <a:avLst/>
          </a:prstGeom>
          <a:solidFill>
            <a:srgbClr val="BDBDBD"/>
          </a:solidFill>
          <a:ln w="12700">
            <a:solidFill>
              <a:srgbClr val="FFFFFF"/>
            </a:solidFill>
            <a:prstDash val="solid"/>
          </a:ln>
        </p:spPr>
      </p:sp>
      <p:sp>
        <p:nvSpPr>
          <p:cNvPr id="11" name="Shape 9"/>
          <p:cNvSpPr/>
          <p:nvPr/>
        </p:nvSpPr>
        <p:spPr>
          <a:xfrm>
            <a:off x="1399032" y="3998722"/>
            <a:ext cx="50292" cy="451612"/>
          </a:xfrm>
          <a:prstGeom prst="rect">
            <a:avLst/>
          </a:prstGeom>
          <a:solidFill>
            <a:srgbClr val="BDBDBD"/>
          </a:solidFill>
          <a:ln w="12700">
            <a:solidFill>
              <a:srgbClr val="FFFFFF"/>
            </a:solidFill>
            <a:prstDash val="solid"/>
          </a:ln>
        </p:spPr>
      </p:sp>
      <p:sp>
        <p:nvSpPr>
          <p:cNvPr id="12" name="Shape 10"/>
          <p:cNvSpPr/>
          <p:nvPr/>
        </p:nvSpPr>
        <p:spPr>
          <a:xfrm>
            <a:off x="1504188" y="4022195"/>
            <a:ext cx="50292" cy="404666"/>
          </a:xfrm>
          <a:prstGeom prst="rect">
            <a:avLst/>
          </a:prstGeom>
          <a:solidFill>
            <a:srgbClr val="0D0D0D"/>
          </a:solidFill>
          <a:ln w="12700">
            <a:solidFill>
              <a:srgbClr val="FFFFFF"/>
            </a:solidFill>
            <a:prstDash val="solid"/>
          </a:ln>
        </p:spPr>
      </p:sp>
      <p:sp>
        <p:nvSpPr>
          <p:cNvPr id="13" name="Shape 11"/>
          <p:cNvSpPr/>
          <p:nvPr/>
        </p:nvSpPr>
        <p:spPr>
          <a:xfrm>
            <a:off x="1609344" y="4123626"/>
            <a:ext cx="50292" cy="201804"/>
          </a:xfrm>
          <a:prstGeom prst="rect">
            <a:avLst/>
          </a:prstGeom>
          <a:solidFill>
            <a:srgbClr val="BDBDBD"/>
          </a:solidFill>
          <a:ln w="12700">
            <a:solidFill>
              <a:srgbClr val="FFFFFF"/>
            </a:solidFill>
            <a:prstDash val="solid"/>
          </a:ln>
        </p:spPr>
      </p:sp>
      <p:sp>
        <p:nvSpPr>
          <p:cNvPr id="14" name="Shape 12"/>
          <p:cNvSpPr/>
          <p:nvPr/>
        </p:nvSpPr>
        <p:spPr>
          <a:xfrm>
            <a:off x="1714500" y="4120593"/>
            <a:ext cx="50292" cy="207870"/>
          </a:xfrm>
          <a:prstGeom prst="rect">
            <a:avLst/>
          </a:prstGeom>
          <a:solidFill>
            <a:srgbClr val="BDBDBD"/>
          </a:solidFill>
          <a:ln w="12700">
            <a:solidFill>
              <a:srgbClr val="FFFFFF"/>
            </a:solidFill>
            <a:prstDash val="solid"/>
          </a:ln>
        </p:spPr>
      </p:sp>
      <p:sp>
        <p:nvSpPr>
          <p:cNvPr id="15" name="Shape 13"/>
          <p:cNvSpPr/>
          <p:nvPr/>
        </p:nvSpPr>
        <p:spPr>
          <a:xfrm>
            <a:off x="1819656" y="4020589"/>
            <a:ext cx="50292" cy="407879"/>
          </a:xfrm>
          <a:prstGeom prst="rect">
            <a:avLst/>
          </a:prstGeom>
          <a:solidFill>
            <a:srgbClr val="0D0D0D"/>
          </a:solidFill>
          <a:ln w="12700">
            <a:solidFill>
              <a:srgbClr val="FFFFFF"/>
            </a:solidFill>
            <a:prstDash val="solid"/>
          </a:ln>
        </p:spPr>
      </p:sp>
      <p:sp>
        <p:nvSpPr>
          <p:cNvPr id="16" name="Shape 14"/>
          <p:cNvSpPr/>
          <p:nvPr/>
        </p:nvSpPr>
        <p:spPr>
          <a:xfrm>
            <a:off x="1924812" y="3999298"/>
            <a:ext cx="50292" cy="450461"/>
          </a:xfrm>
          <a:prstGeom prst="rect">
            <a:avLst/>
          </a:prstGeom>
          <a:solidFill>
            <a:srgbClr val="BDBDBD"/>
          </a:solidFill>
          <a:ln w="12700">
            <a:solidFill>
              <a:srgbClr val="FFFFFF"/>
            </a:solidFill>
            <a:prstDash val="solid"/>
          </a:ln>
        </p:spPr>
      </p:sp>
      <p:sp>
        <p:nvSpPr>
          <p:cNvPr id="17" name="Shape 15"/>
          <p:cNvSpPr/>
          <p:nvPr/>
        </p:nvSpPr>
        <p:spPr>
          <a:xfrm>
            <a:off x="2029968" y="4066734"/>
            <a:ext cx="50292" cy="315589"/>
          </a:xfrm>
          <a:prstGeom prst="rect">
            <a:avLst/>
          </a:prstGeom>
          <a:solidFill>
            <a:srgbClr val="BDBDBD"/>
          </a:solidFill>
          <a:ln w="12700">
            <a:solidFill>
              <a:srgbClr val="FFFFFF"/>
            </a:solidFill>
            <a:prstDash val="solid"/>
          </a:ln>
        </p:spPr>
      </p:sp>
      <p:sp>
        <p:nvSpPr>
          <p:cNvPr id="18" name="Shape 16"/>
          <p:cNvSpPr/>
          <p:nvPr/>
        </p:nvSpPr>
        <p:spPr>
          <a:xfrm>
            <a:off x="2135124" y="4184723"/>
            <a:ext cx="50292" cy="79609"/>
          </a:xfrm>
          <a:prstGeom prst="rect">
            <a:avLst/>
          </a:prstGeom>
          <a:solidFill>
            <a:srgbClr val="0D0D0D"/>
          </a:solidFill>
          <a:ln w="12700">
            <a:solidFill>
              <a:srgbClr val="FFFFFF"/>
            </a:solidFill>
            <a:prstDash val="solid"/>
          </a:ln>
        </p:spPr>
      </p:sp>
      <p:sp>
        <p:nvSpPr>
          <p:cNvPr id="19" name="Shape 17"/>
          <p:cNvSpPr/>
          <p:nvPr/>
        </p:nvSpPr>
        <p:spPr>
          <a:xfrm>
            <a:off x="2240280" y="4061795"/>
            <a:ext cx="50292" cy="325466"/>
          </a:xfrm>
          <a:prstGeom prst="rect">
            <a:avLst/>
          </a:prstGeom>
          <a:solidFill>
            <a:srgbClr val="BDBDBD"/>
          </a:solidFill>
          <a:ln w="12700">
            <a:solidFill>
              <a:srgbClr val="FFFFFF"/>
            </a:solidFill>
            <a:prstDash val="solid"/>
          </a:ln>
        </p:spPr>
      </p:sp>
      <p:sp>
        <p:nvSpPr>
          <p:cNvPr id="20" name="Shape 18"/>
          <p:cNvSpPr/>
          <p:nvPr/>
        </p:nvSpPr>
        <p:spPr>
          <a:xfrm>
            <a:off x="2345436" y="3998200"/>
            <a:ext cx="50292" cy="452656"/>
          </a:xfrm>
          <a:prstGeom prst="rect">
            <a:avLst/>
          </a:prstGeom>
          <a:solidFill>
            <a:srgbClr val="BDBDBD"/>
          </a:solidFill>
          <a:ln w="12700">
            <a:solidFill>
              <a:srgbClr val="FFFFFF"/>
            </a:solidFill>
            <a:prstDash val="solid"/>
          </a:ln>
        </p:spPr>
      </p:sp>
      <p:sp>
        <p:nvSpPr>
          <p:cNvPr id="21" name="Shape 19"/>
          <p:cNvSpPr/>
          <p:nvPr/>
        </p:nvSpPr>
        <p:spPr>
          <a:xfrm>
            <a:off x="2450592" y="4023848"/>
            <a:ext cx="50292" cy="401359"/>
          </a:xfrm>
          <a:prstGeom prst="rect">
            <a:avLst/>
          </a:prstGeom>
          <a:solidFill>
            <a:srgbClr val="0D0D0D"/>
          </a:solidFill>
          <a:ln w="12700">
            <a:solidFill>
              <a:srgbClr val="FFFFFF"/>
            </a:solidFill>
            <a:prstDash val="solid"/>
          </a:ln>
        </p:spPr>
      </p:sp>
      <p:sp>
        <p:nvSpPr>
          <p:cNvPr id="22" name="Shape 20"/>
          <p:cNvSpPr/>
          <p:nvPr/>
        </p:nvSpPr>
        <p:spPr>
          <a:xfrm>
            <a:off x="2555748" y="4126677"/>
            <a:ext cx="50292" cy="195701"/>
          </a:xfrm>
          <a:prstGeom prst="rect">
            <a:avLst/>
          </a:prstGeom>
          <a:solidFill>
            <a:srgbClr val="BDBDBD"/>
          </a:solidFill>
          <a:ln w="12700">
            <a:solidFill>
              <a:srgbClr val="FFFFFF"/>
            </a:solidFill>
            <a:prstDash val="solid"/>
          </a:ln>
        </p:spPr>
      </p:sp>
      <p:sp>
        <p:nvSpPr>
          <p:cNvPr id="23" name="Shape 21"/>
          <p:cNvSpPr/>
          <p:nvPr/>
        </p:nvSpPr>
        <p:spPr>
          <a:xfrm>
            <a:off x="2660904" y="4117579"/>
            <a:ext cx="50292" cy="213898"/>
          </a:xfrm>
          <a:prstGeom prst="rect">
            <a:avLst/>
          </a:prstGeom>
          <a:solidFill>
            <a:srgbClr val="BDBDBD"/>
          </a:solidFill>
          <a:ln w="12700">
            <a:solidFill>
              <a:srgbClr val="FFFFFF"/>
            </a:solidFill>
            <a:prstDash val="solid"/>
          </a:ln>
        </p:spPr>
      </p:sp>
      <p:sp>
        <p:nvSpPr>
          <p:cNvPr id="24" name="Shape 22"/>
          <p:cNvSpPr/>
          <p:nvPr/>
        </p:nvSpPr>
        <p:spPr>
          <a:xfrm>
            <a:off x="2766060" y="4019029"/>
            <a:ext cx="50292" cy="410997"/>
          </a:xfrm>
          <a:prstGeom prst="rect">
            <a:avLst/>
          </a:prstGeom>
          <a:solidFill>
            <a:srgbClr val="0D0D0D"/>
          </a:solidFill>
          <a:ln w="12700">
            <a:solidFill>
              <a:srgbClr val="FFFFFF"/>
            </a:solidFill>
            <a:prstDash val="solid"/>
          </a:ln>
        </p:spPr>
      </p:sp>
      <p:sp>
        <p:nvSpPr>
          <p:cNvPr id="25" name="Shape 23"/>
          <p:cNvSpPr/>
          <p:nvPr/>
        </p:nvSpPr>
        <p:spPr>
          <a:xfrm>
            <a:off x="2871216" y="3999926"/>
            <a:ext cx="50292" cy="449203"/>
          </a:xfrm>
          <a:prstGeom prst="rect">
            <a:avLst/>
          </a:prstGeom>
          <a:solidFill>
            <a:srgbClr val="BDBDBD"/>
          </a:solidFill>
          <a:ln w="12700">
            <a:solidFill>
              <a:srgbClr val="FFFFFF"/>
            </a:solidFill>
            <a:prstDash val="solid"/>
          </a:ln>
        </p:spPr>
      </p:sp>
      <p:sp>
        <p:nvSpPr>
          <p:cNvPr id="26" name="Shape 24"/>
          <p:cNvSpPr/>
          <p:nvPr/>
        </p:nvSpPr>
        <p:spPr>
          <a:xfrm>
            <a:off x="2976372" y="4069255"/>
            <a:ext cx="50292" cy="310546"/>
          </a:xfrm>
          <a:prstGeom prst="rect">
            <a:avLst/>
          </a:prstGeom>
          <a:solidFill>
            <a:srgbClr val="BDBDBD"/>
          </a:solidFill>
          <a:ln w="12700">
            <a:solidFill>
              <a:srgbClr val="FFFFFF"/>
            </a:solidFill>
            <a:prstDash val="solid"/>
          </a:ln>
        </p:spPr>
      </p:sp>
      <p:sp>
        <p:nvSpPr>
          <p:cNvPr id="27" name="Shape 25"/>
          <p:cNvSpPr/>
          <p:nvPr/>
        </p:nvSpPr>
        <p:spPr>
          <a:xfrm>
            <a:off x="3081528" y="4181496"/>
            <a:ext cx="50292" cy="86065"/>
          </a:xfrm>
          <a:prstGeom prst="rect">
            <a:avLst/>
          </a:prstGeom>
          <a:solidFill>
            <a:srgbClr val="0D0D0D"/>
          </a:solidFill>
          <a:ln w="12700">
            <a:solidFill>
              <a:srgbClr val="FFFFFF"/>
            </a:solidFill>
            <a:prstDash val="solid"/>
          </a:ln>
        </p:spPr>
      </p:sp>
      <p:sp>
        <p:nvSpPr>
          <p:cNvPr id="28" name="Shape 26"/>
          <p:cNvSpPr/>
          <p:nvPr/>
        </p:nvSpPr>
        <p:spPr>
          <a:xfrm>
            <a:off x="3186684" y="4059379"/>
            <a:ext cx="50292" cy="330299"/>
          </a:xfrm>
          <a:prstGeom prst="rect">
            <a:avLst/>
          </a:prstGeom>
          <a:solidFill>
            <a:srgbClr val="BDBDBD"/>
          </a:solidFill>
          <a:ln w="12700">
            <a:solidFill>
              <a:srgbClr val="FFFFFF"/>
            </a:solidFill>
            <a:prstDash val="solid"/>
          </a:ln>
        </p:spPr>
      </p:sp>
      <p:sp>
        <p:nvSpPr>
          <p:cNvPr id="29" name="Shape 27"/>
          <p:cNvSpPr/>
          <p:nvPr/>
        </p:nvSpPr>
        <p:spPr>
          <a:xfrm>
            <a:off x="3291840" y="3997732"/>
            <a:ext cx="50292" cy="453593"/>
          </a:xfrm>
          <a:prstGeom prst="rect">
            <a:avLst/>
          </a:prstGeom>
          <a:solidFill>
            <a:srgbClr val="BDBDBD"/>
          </a:solidFill>
          <a:ln w="12700">
            <a:solidFill>
              <a:srgbClr val="FFFFFF"/>
            </a:solidFill>
            <a:prstDash val="solid"/>
          </a:ln>
        </p:spPr>
      </p:sp>
      <p:sp>
        <p:nvSpPr>
          <p:cNvPr id="30" name="Shape 28"/>
          <p:cNvSpPr/>
          <p:nvPr/>
        </p:nvSpPr>
        <p:spPr>
          <a:xfrm>
            <a:off x="3396996" y="4025548"/>
            <a:ext cx="50292" cy="397959"/>
          </a:xfrm>
          <a:prstGeom prst="rect">
            <a:avLst/>
          </a:prstGeom>
          <a:solidFill>
            <a:srgbClr val="0D0D0D"/>
          </a:solidFill>
          <a:ln w="12700">
            <a:solidFill>
              <a:srgbClr val="FFFFFF"/>
            </a:solidFill>
            <a:prstDash val="solid"/>
          </a:ln>
        </p:spPr>
      </p:sp>
      <p:sp>
        <p:nvSpPr>
          <p:cNvPr id="31" name="Shape 29"/>
          <p:cNvSpPr/>
          <p:nvPr/>
        </p:nvSpPr>
        <p:spPr>
          <a:xfrm>
            <a:off x="3502152" y="4129746"/>
            <a:ext cx="50292" cy="189564"/>
          </a:xfrm>
          <a:prstGeom prst="rect">
            <a:avLst/>
          </a:prstGeom>
          <a:solidFill>
            <a:srgbClr val="BDBDBD"/>
          </a:solidFill>
          <a:ln w="12700">
            <a:solidFill>
              <a:srgbClr val="FFFFFF"/>
            </a:solidFill>
            <a:prstDash val="solid"/>
          </a:ln>
        </p:spPr>
      </p:sp>
      <p:sp>
        <p:nvSpPr>
          <p:cNvPr id="32" name="Shape 30"/>
          <p:cNvSpPr/>
          <p:nvPr/>
        </p:nvSpPr>
        <p:spPr>
          <a:xfrm>
            <a:off x="3607308" y="4114585"/>
            <a:ext cx="50292" cy="219886"/>
          </a:xfrm>
          <a:prstGeom prst="rect">
            <a:avLst/>
          </a:prstGeom>
          <a:solidFill>
            <a:srgbClr val="BDBDBD"/>
          </a:solidFill>
          <a:ln w="12700">
            <a:solidFill>
              <a:srgbClr val="FFFFFF"/>
            </a:solidFill>
            <a:prstDash val="solid"/>
          </a:ln>
        </p:spPr>
      </p:sp>
      <p:sp>
        <p:nvSpPr>
          <p:cNvPr id="33" name="Shape 31"/>
          <p:cNvSpPr/>
          <p:nvPr/>
        </p:nvSpPr>
        <p:spPr>
          <a:xfrm>
            <a:off x="3712464" y="4017518"/>
            <a:ext cx="50292" cy="414020"/>
          </a:xfrm>
          <a:prstGeom prst="rect">
            <a:avLst/>
          </a:prstGeom>
          <a:solidFill>
            <a:srgbClr val="0D0D0D"/>
          </a:solidFill>
          <a:ln w="12700">
            <a:solidFill>
              <a:srgbClr val="FFFFFF"/>
            </a:solidFill>
            <a:prstDash val="solid"/>
          </a:ln>
        </p:spPr>
      </p:sp>
      <p:sp>
        <p:nvSpPr>
          <p:cNvPr id="34" name="Shape 32"/>
          <p:cNvSpPr/>
          <p:nvPr/>
        </p:nvSpPr>
        <p:spPr>
          <a:xfrm>
            <a:off x="3817620" y="4000608"/>
            <a:ext cx="50292" cy="447839"/>
          </a:xfrm>
          <a:prstGeom prst="rect">
            <a:avLst/>
          </a:prstGeom>
          <a:solidFill>
            <a:srgbClr val="BDBDBD"/>
          </a:solidFill>
          <a:ln w="12700">
            <a:solidFill>
              <a:srgbClr val="FFFFFF"/>
            </a:solidFill>
            <a:prstDash val="solid"/>
          </a:ln>
        </p:spPr>
      </p:sp>
      <p:sp>
        <p:nvSpPr>
          <p:cNvPr id="35" name="Shape 33"/>
          <p:cNvSpPr/>
          <p:nvPr/>
        </p:nvSpPr>
        <p:spPr>
          <a:xfrm>
            <a:off x="3922776" y="4071810"/>
            <a:ext cx="50292" cy="305437"/>
          </a:xfrm>
          <a:prstGeom prst="rect">
            <a:avLst/>
          </a:prstGeom>
          <a:solidFill>
            <a:srgbClr val="BDBDBD"/>
          </a:solidFill>
          <a:ln w="12700">
            <a:solidFill>
              <a:srgbClr val="FFFFFF"/>
            </a:solidFill>
            <a:prstDash val="solid"/>
          </a:ln>
        </p:spPr>
      </p:sp>
      <p:sp>
        <p:nvSpPr>
          <p:cNvPr id="36" name="Shape 34"/>
          <p:cNvSpPr/>
          <p:nvPr/>
        </p:nvSpPr>
        <p:spPr>
          <a:xfrm>
            <a:off x="4027932" y="4178270"/>
            <a:ext cx="50292" cy="92517"/>
          </a:xfrm>
          <a:prstGeom prst="rect">
            <a:avLst/>
          </a:prstGeom>
          <a:solidFill>
            <a:srgbClr val="0D0D0D"/>
          </a:solidFill>
          <a:ln w="12700">
            <a:solidFill>
              <a:srgbClr val="FFFFFF"/>
            </a:solidFill>
            <a:prstDash val="solid"/>
          </a:ln>
        </p:spPr>
      </p:sp>
      <p:sp>
        <p:nvSpPr>
          <p:cNvPr id="37" name="Shape 35"/>
          <p:cNvSpPr/>
          <p:nvPr/>
        </p:nvSpPr>
        <p:spPr>
          <a:xfrm>
            <a:off x="4133088" y="4056999"/>
            <a:ext cx="50292" cy="335059"/>
          </a:xfrm>
          <a:prstGeom prst="rect">
            <a:avLst/>
          </a:prstGeom>
          <a:solidFill>
            <a:srgbClr val="BDBDBD"/>
          </a:solidFill>
          <a:ln w="12700">
            <a:solidFill>
              <a:srgbClr val="FFFFFF"/>
            </a:solidFill>
            <a:prstDash val="solid"/>
          </a:ln>
        </p:spPr>
      </p:sp>
      <p:sp>
        <p:nvSpPr>
          <p:cNvPr id="38" name="Shape 36"/>
          <p:cNvSpPr/>
          <p:nvPr/>
        </p:nvSpPr>
        <p:spPr>
          <a:xfrm>
            <a:off x="4238244" y="3997317"/>
            <a:ext cx="50292" cy="454422"/>
          </a:xfrm>
          <a:prstGeom prst="rect">
            <a:avLst/>
          </a:prstGeom>
          <a:solidFill>
            <a:srgbClr val="BDBDBD"/>
          </a:solidFill>
          <a:ln w="12700">
            <a:solidFill>
              <a:srgbClr val="FFFFFF"/>
            </a:solidFill>
            <a:prstDash val="solid"/>
          </a:ln>
        </p:spPr>
      </p:sp>
      <p:sp>
        <p:nvSpPr>
          <p:cNvPr id="39" name="Shape 37"/>
          <p:cNvSpPr/>
          <p:nvPr/>
        </p:nvSpPr>
        <p:spPr>
          <a:xfrm>
            <a:off x="4343400" y="4027294"/>
            <a:ext cx="50292" cy="394468"/>
          </a:xfrm>
          <a:prstGeom prst="rect">
            <a:avLst/>
          </a:prstGeom>
          <a:solidFill>
            <a:srgbClr val="0D0D0D"/>
          </a:solidFill>
          <a:ln w="12700">
            <a:solidFill>
              <a:srgbClr val="FFFFFF"/>
            </a:solidFill>
            <a:prstDash val="solid"/>
          </a:ln>
        </p:spPr>
      </p:sp>
      <p:sp>
        <p:nvSpPr>
          <p:cNvPr id="40" name="Shape 38"/>
          <p:cNvSpPr/>
          <p:nvPr/>
        </p:nvSpPr>
        <p:spPr>
          <a:xfrm>
            <a:off x="4448556" y="4132831"/>
            <a:ext cx="50292" cy="183394"/>
          </a:xfrm>
          <a:prstGeom prst="rect">
            <a:avLst/>
          </a:prstGeom>
          <a:solidFill>
            <a:srgbClr val="BDBDBD"/>
          </a:solidFill>
          <a:ln w="12700">
            <a:solidFill>
              <a:srgbClr val="FFFFFF"/>
            </a:solidFill>
            <a:prstDash val="solid"/>
          </a:ln>
        </p:spPr>
      </p:sp>
      <p:sp>
        <p:nvSpPr>
          <p:cNvPr id="41" name="Shape 39"/>
          <p:cNvSpPr/>
          <p:nvPr/>
        </p:nvSpPr>
        <p:spPr>
          <a:xfrm>
            <a:off x="4553712" y="4111612"/>
            <a:ext cx="50292" cy="225832"/>
          </a:xfrm>
          <a:prstGeom prst="rect">
            <a:avLst/>
          </a:prstGeom>
          <a:solidFill>
            <a:srgbClr val="BDBDBD"/>
          </a:solidFill>
          <a:ln w="12700">
            <a:solidFill>
              <a:srgbClr val="FFFFFF"/>
            </a:solidFill>
            <a:prstDash val="solid"/>
          </a:ln>
        </p:spPr>
      </p:sp>
      <p:sp>
        <p:nvSpPr>
          <p:cNvPr id="42" name="Shape 40"/>
          <p:cNvSpPr/>
          <p:nvPr/>
        </p:nvSpPr>
        <p:spPr>
          <a:xfrm>
            <a:off x="4658868" y="4016055"/>
            <a:ext cx="50292" cy="416947"/>
          </a:xfrm>
          <a:prstGeom prst="rect">
            <a:avLst/>
          </a:prstGeom>
          <a:solidFill>
            <a:srgbClr val="0D0D0D"/>
          </a:solidFill>
          <a:ln w="12700">
            <a:solidFill>
              <a:srgbClr val="FFFFFF"/>
            </a:solidFill>
            <a:prstDash val="solid"/>
          </a:ln>
        </p:spPr>
      </p:sp>
      <p:sp>
        <p:nvSpPr>
          <p:cNvPr id="43" name="Shape 41"/>
          <p:cNvSpPr/>
          <p:nvPr/>
        </p:nvSpPr>
        <p:spPr>
          <a:xfrm>
            <a:off x="6324448" y="2240280"/>
            <a:ext cx="5135728" cy="2286000"/>
          </a:xfrm>
          <a:prstGeom prst="roundRect">
            <a:avLst>
              <a:gd name="adj" fmla="val 2400"/>
            </a:avLst>
          </a:prstGeom>
          <a:solidFill>
            <a:srgbClr val="FFFFFF"/>
          </a:solidFill>
          <a:ln w="12700">
            <a:solidFill>
              <a:srgbClr val="0D0D0D"/>
            </a:solidFill>
            <a:prstDash val="solid"/>
          </a:ln>
        </p:spPr>
      </p:sp>
      <p:sp>
        <p:nvSpPr>
          <p:cNvPr id="44" name="Text 42"/>
          <p:cNvSpPr txBox="1"/>
          <p:nvPr/>
        </p:nvSpPr>
        <p:spPr>
          <a:xfrm>
            <a:off x="6781648" y="2560320"/>
            <a:ext cx="914400" cy="731520"/>
          </a:xfrm>
          <a:prstGeom prst="rect">
            <a:avLst/>
          </a:prstGeom>
          <a:noFill/>
          <a:ln/>
        </p:spPr>
        <p:txBody>
          <a:bodyPr wrap="square" lIns="0" tIns="0" rIns="0" bIns="0" rtlCol="0" anchor="ctr"/>
          <a:lstStyle/>
          <a:p>
            <a:pPr indent="0" marL="0">
              <a:buNone/>
            </a:pPr>
            <a:r>
              <a:rPr lang="en-US" sz="4800" b="1" dirty="0">
                <a:solidFill>
                  <a:srgbClr val="0D0D0D"/>
                </a:solidFill>
                <a:latin typeface="Inter" pitchFamily="34" charset="0"/>
                <a:ea typeface="Inter" pitchFamily="34" charset="-122"/>
                <a:cs typeface="Inter" pitchFamily="34" charset="-120"/>
              </a:rPr>
              <a:t>B</a:t>
            </a:r>
            <a:endParaRPr lang="en-US" sz="4800" dirty="0"/>
          </a:p>
        </p:txBody>
      </p:sp>
      <p:sp>
        <p:nvSpPr>
          <p:cNvPr id="45" name="Shape 43"/>
          <p:cNvSpPr/>
          <p:nvPr/>
        </p:nvSpPr>
        <p:spPr>
          <a:xfrm>
            <a:off x="10088575" y="2606040"/>
            <a:ext cx="868680" cy="868680"/>
          </a:xfrm>
          <a:prstGeom prst="ellipse">
            <a:avLst/>
          </a:prstGeom>
          <a:solidFill>
            <a:srgbClr val="FFE800"/>
          </a:solidFill>
          <a:ln w="12700">
            <a:solidFill>
              <a:srgbClr val="FFE800"/>
            </a:solidFill>
            <a:prstDash val="solid"/>
          </a:ln>
        </p:spPr>
      </p:sp>
      <p:sp>
        <p:nvSpPr>
          <p:cNvPr id="46" name="Shape 44"/>
          <p:cNvSpPr/>
          <p:nvPr/>
        </p:nvSpPr>
        <p:spPr>
          <a:xfrm rot="5400000">
            <a:off x="10426903" y="2843784"/>
            <a:ext cx="292608" cy="384048"/>
          </a:xfrm>
          <a:prstGeom prst="triangle">
            <a:avLst/>
          </a:prstGeom>
          <a:solidFill>
            <a:srgbClr val="0D0D0D"/>
          </a:solidFill>
          <a:ln w="12700">
            <a:solidFill>
              <a:srgbClr val="0D0D0D"/>
            </a:solidFill>
            <a:prstDash val="solid"/>
          </a:ln>
        </p:spPr>
      </p:sp>
      <p:sp>
        <p:nvSpPr>
          <p:cNvPr id="47" name="Text 45"/>
          <p:cNvSpPr txBox="1"/>
          <p:nvPr/>
        </p:nvSpPr>
        <p:spPr>
          <a:xfrm>
            <a:off x="6781648" y="3520440"/>
            <a:ext cx="4221328" cy="320040"/>
          </a:xfrm>
          <a:prstGeom prst="rect">
            <a:avLst/>
          </a:prstGeom>
          <a:noFill/>
          <a:ln/>
        </p:spPr>
        <p:txBody>
          <a:bodyPr wrap="square" lIns="0" tIns="0" rIns="0" bIns="0" rtlCol="0" anchor="ctr"/>
          <a:lstStyle/>
          <a:p>
            <a:pPr indent="0" marL="0">
              <a:buNone/>
            </a:pPr>
            <a:r>
              <a:rPr lang="en-US" sz="1050" dirty="0">
                <a:solidFill>
                  <a:srgbClr val="8C8C8C"/>
                </a:solidFill>
                <a:latin typeface="Consolas" pitchFamily="34" charset="0"/>
                <a:ea typeface="Consolas" pitchFamily="34" charset="-122"/>
                <a:cs typeface="Consolas" pitchFamily="34" charset="-120"/>
              </a:rPr>
              <a:t>[ embed clip here ]</a:t>
            </a:r>
            <a:endParaRPr lang="en-US" sz="1050" dirty="0"/>
          </a:p>
        </p:txBody>
      </p:sp>
      <p:sp>
        <p:nvSpPr>
          <p:cNvPr id="48" name="Shape 46"/>
          <p:cNvSpPr/>
          <p:nvPr/>
        </p:nvSpPr>
        <p:spPr>
          <a:xfrm>
            <a:off x="6781648" y="4026369"/>
            <a:ext cx="50292" cy="396317"/>
          </a:xfrm>
          <a:prstGeom prst="rect">
            <a:avLst/>
          </a:prstGeom>
          <a:solidFill>
            <a:srgbClr val="0D0D0D"/>
          </a:solidFill>
          <a:ln w="12700">
            <a:solidFill>
              <a:srgbClr val="FFFFFF"/>
            </a:solidFill>
            <a:prstDash val="solid"/>
          </a:ln>
        </p:spPr>
      </p:sp>
      <p:sp>
        <p:nvSpPr>
          <p:cNvPr id="49" name="Shape 47"/>
          <p:cNvSpPr/>
          <p:nvPr/>
        </p:nvSpPr>
        <p:spPr>
          <a:xfrm>
            <a:off x="6886804" y="3997529"/>
            <a:ext cx="50292" cy="453999"/>
          </a:xfrm>
          <a:prstGeom prst="rect">
            <a:avLst/>
          </a:prstGeom>
          <a:solidFill>
            <a:srgbClr val="BDBDBD"/>
          </a:solidFill>
          <a:ln w="12700">
            <a:solidFill>
              <a:srgbClr val="FFFFFF"/>
            </a:solidFill>
            <a:prstDash val="solid"/>
          </a:ln>
        </p:spPr>
      </p:sp>
      <p:sp>
        <p:nvSpPr>
          <p:cNvPr id="50" name="Shape 48"/>
          <p:cNvSpPr/>
          <p:nvPr/>
        </p:nvSpPr>
        <p:spPr>
          <a:xfrm>
            <a:off x="6991960" y="4058247"/>
            <a:ext cx="50292" cy="332562"/>
          </a:xfrm>
          <a:prstGeom prst="rect">
            <a:avLst/>
          </a:prstGeom>
          <a:solidFill>
            <a:srgbClr val="BDBDBD"/>
          </a:solidFill>
          <a:ln w="12700">
            <a:solidFill>
              <a:srgbClr val="FFFFFF"/>
            </a:solidFill>
            <a:prstDash val="solid"/>
          </a:ln>
        </p:spPr>
      </p:sp>
      <p:sp>
        <p:nvSpPr>
          <p:cNvPr id="51" name="Shape 49"/>
          <p:cNvSpPr/>
          <p:nvPr/>
        </p:nvSpPr>
        <p:spPr>
          <a:xfrm>
            <a:off x="7097116" y="4179968"/>
            <a:ext cx="50292" cy="89121"/>
          </a:xfrm>
          <a:prstGeom prst="rect">
            <a:avLst/>
          </a:prstGeom>
          <a:solidFill>
            <a:srgbClr val="0D0D0D"/>
          </a:solidFill>
          <a:ln w="12700">
            <a:solidFill>
              <a:srgbClr val="FFFFFF"/>
            </a:solidFill>
            <a:prstDash val="solid"/>
          </a:ln>
        </p:spPr>
      </p:sp>
      <p:sp>
        <p:nvSpPr>
          <p:cNvPr id="52" name="Shape 50"/>
          <p:cNvSpPr/>
          <p:nvPr/>
        </p:nvSpPr>
        <p:spPr>
          <a:xfrm>
            <a:off x="7202272" y="4070461"/>
            <a:ext cx="50292" cy="308135"/>
          </a:xfrm>
          <a:prstGeom prst="rect">
            <a:avLst/>
          </a:prstGeom>
          <a:solidFill>
            <a:srgbClr val="BDBDBD"/>
          </a:solidFill>
          <a:ln w="12700">
            <a:solidFill>
              <a:srgbClr val="FFFFFF"/>
            </a:solidFill>
            <a:prstDash val="solid"/>
          </a:ln>
        </p:spPr>
      </p:sp>
      <p:sp>
        <p:nvSpPr>
          <p:cNvPr id="53" name="Shape 51"/>
          <p:cNvSpPr/>
          <p:nvPr/>
        </p:nvSpPr>
        <p:spPr>
          <a:xfrm>
            <a:off x="7307428" y="4000243"/>
            <a:ext cx="50292" cy="448570"/>
          </a:xfrm>
          <a:prstGeom prst="rect">
            <a:avLst/>
          </a:prstGeom>
          <a:solidFill>
            <a:srgbClr val="BDBDBD"/>
          </a:solidFill>
          <a:ln w="12700">
            <a:solidFill>
              <a:srgbClr val="FFFFFF"/>
            </a:solidFill>
            <a:prstDash val="solid"/>
          </a:ln>
        </p:spPr>
      </p:sp>
      <p:sp>
        <p:nvSpPr>
          <p:cNvPr id="54" name="Shape 52"/>
          <p:cNvSpPr/>
          <p:nvPr/>
        </p:nvSpPr>
        <p:spPr>
          <a:xfrm>
            <a:off x="7412584" y="4018308"/>
            <a:ext cx="50292" cy="412441"/>
          </a:xfrm>
          <a:prstGeom prst="rect">
            <a:avLst/>
          </a:prstGeom>
          <a:solidFill>
            <a:srgbClr val="0D0D0D"/>
          </a:solidFill>
          <a:ln w="12700">
            <a:solidFill>
              <a:srgbClr val="FFFFFF"/>
            </a:solidFill>
            <a:prstDash val="solid"/>
          </a:ln>
        </p:spPr>
      </p:sp>
      <p:sp>
        <p:nvSpPr>
          <p:cNvPr id="55" name="Shape 53"/>
          <p:cNvSpPr/>
          <p:nvPr/>
        </p:nvSpPr>
        <p:spPr>
          <a:xfrm>
            <a:off x="7517740" y="4116159"/>
            <a:ext cx="50292" cy="216739"/>
          </a:xfrm>
          <a:prstGeom prst="rect">
            <a:avLst/>
          </a:prstGeom>
          <a:solidFill>
            <a:srgbClr val="BDBDBD"/>
          </a:solidFill>
          <a:ln w="12700">
            <a:solidFill>
              <a:srgbClr val="FFFFFF"/>
            </a:solidFill>
            <a:prstDash val="solid"/>
          </a:ln>
        </p:spPr>
      </p:sp>
      <p:sp>
        <p:nvSpPr>
          <p:cNvPr id="56" name="Shape 54"/>
          <p:cNvSpPr/>
          <p:nvPr/>
        </p:nvSpPr>
        <p:spPr>
          <a:xfrm>
            <a:off x="7622896" y="4128129"/>
            <a:ext cx="50292" cy="192799"/>
          </a:xfrm>
          <a:prstGeom prst="rect">
            <a:avLst/>
          </a:prstGeom>
          <a:solidFill>
            <a:srgbClr val="BDBDBD"/>
          </a:solidFill>
          <a:ln w="12700">
            <a:solidFill>
              <a:srgbClr val="FFFFFF"/>
            </a:solidFill>
            <a:prstDash val="solid"/>
          </a:ln>
        </p:spPr>
      </p:sp>
      <p:sp>
        <p:nvSpPr>
          <p:cNvPr id="57" name="Shape 55"/>
          <p:cNvSpPr/>
          <p:nvPr/>
        </p:nvSpPr>
        <p:spPr>
          <a:xfrm>
            <a:off x="7728052" y="4024648"/>
            <a:ext cx="50292" cy="399760"/>
          </a:xfrm>
          <a:prstGeom prst="rect">
            <a:avLst/>
          </a:prstGeom>
          <a:solidFill>
            <a:srgbClr val="0D0D0D"/>
          </a:solidFill>
          <a:ln w="12700">
            <a:solidFill>
              <a:srgbClr val="FFFFFF"/>
            </a:solidFill>
            <a:prstDash val="solid"/>
          </a:ln>
        </p:spPr>
      </p:sp>
      <p:sp>
        <p:nvSpPr>
          <p:cNvPr id="58" name="Shape 56"/>
          <p:cNvSpPr/>
          <p:nvPr/>
        </p:nvSpPr>
        <p:spPr>
          <a:xfrm>
            <a:off x="7833208" y="3997971"/>
            <a:ext cx="50292" cy="453113"/>
          </a:xfrm>
          <a:prstGeom prst="rect">
            <a:avLst/>
          </a:prstGeom>
          <a:solidFill>
            <a:srgbClr val="BDBDBD"/>
          </a:solidFill>
          <a:ln w="12700">
            <a:solidFill>
              <a:srgbClr val="FFFFFF"/>
            </a:solidFill>
            <a:prstDash val="solid"/>
          </a:ln>
        </p:spPr>
      </p:sp>
      <p:sp>
        <p:nvSpPr>
          <p:cNvPr id="59" name="Shape 57"/>
          <p:cNvSpPr/>
          <p:nvPr/>
        </p:nvSpPr>
        <p:spPr>
          <a:xfrm>
            <a:off x="7938364" y="4060646"/>
            <a:ext cx="50292" cy="327764"/>
          </a:xfrm>
          <a:prstGeom prst="rect">
            <a:avLst/>
          </a:prstGeom>
          <a:solidFill>
            <a:srgbClr val="BDBDBD"/>
          </a:solidFill>
          <a:ln w="12700">
            <a:solidFill>
              <a:srgbClr val="FFFFFF"/>
            </a:solidFill>
            <a:prstDash val="solid"/>
          </a:ln>
        </p:spPr>
      </p:sp>
      <p:sp>
        <p:nvSpPr>
          <p:cNvPr id="60" name="Shape 58"/>
          <p:cNvSpPr/>
          <p:nvPr/>
        </p:nvSpPr>
        <p:spPr>
          <a:xfrm>
            <a:off x="8043520" y="4183195"/>
            <a:ext cx="50292" cy="82667"/>
          </a:xfrm>
          <a:prstGeom prst="rect">
            <a:avLst/>
          </a:prstGeom>
          <a:solidFill>
            <a:srgbClr val="0D0D0D"/>
          </a:solidFill>
          <a:ln w="12700">
            <a:solidFill>
              <a:srgbClr val="FFFFFF"/>
            </a:solidFill>
            <a:prstDash val="solid"/>
          </a:ln>
        </p:spPr>
      </p:sp>
      <p:sp>
        <p:nvSpPr>
          <p:cNvPr id="61" name="Shape 59"/>
          <p:cNvSpPr/>
          <p:nvPr/>
        </p:nvSpPr>
        <p:spPr>
          <a:xfrm>
            <a:off x="8148676" y="4067923"/>
            <a:ext cx="50292" cy="313209"/>
          </a:xfrm>
          <a:prstGeom prst="rect">
            <a:avLst/>
          </a:prstGeom>
          <a:solidFill>
            <a:srgbClr val="BDBDBD"/>
          </a:solidFill>
          <a:ln w="12700">
            <a:solidFill>
              <a:srgbClr val="FFFFFF"/>
            </a:solidFill>
            <a:prstDash val="solid"/>
          </a:ln>
        </p:spPr>
      </p:sp>
      <p:sp>
        <p:nvSpPr>
          <p:cNvPr id="62" name="Shape 60"/>
          <p:cNvSpPr/>
          <p:nvPr/>
        </p:nvSpPr>
        <p:spPr>
          <a:xfrm>
            <a:off x="8253832" y="3999589"/>
            <a:ext cx="50292" cy="449879"/>
          </a:xfrm>
          <a:prstGeom prst="rect">
            <a:avLst/>
          </a:prstGeom>
          <a:solidFill>
            <a:srgbClr val="BDBDBD"/>
          </a:solidFill>
          <a:ln w="12700">
            <a:solidFill>
              <a:srgbClr val="FFFFFF"/>
            </a:solidFill>
            <a:prstDash val="solid"/>
          </a:ln>
        </p:spPr>
      </p:sp>
      <p:sp>
        <p:nvSpPr>
          <p:cNvPr id="63" name="Shape 61"/>
          <p:cNvSpPr/>
          <p:nvPr/>
        </p:nvSpPr>
        <p:spPr>
          <a:xfrm>
            <a:off x="8358988" y="4019844"/>
            <a:ext cx="50292" cy="409368"/>
          </a:xfrm>
          <a:prstGeom prst="rect">
            <a:avLst/>
          </a:prstGeom>
          <a:solidFill>
            <a:srgbClr val="0D0D0D"/>
          </a:solidFill>
          <a:ln w="12700">
            <a:solidFill>
              <a:srgbClr val="FFFFFF"/>
            </a:solidFill>
            <a:prstDash val="solid"/>
          </a:ln>
        </p:spPr>
      </p:sp>
      <p:sp>
        <p:nvSpPr>
          <p:cNvPr id="64" name="Shape 62"/>
          <p:cNvSpPr/>
          <p:nvPr/>
        </p:nvSpPr>
        <p:spPr>
          <a:xfrm>
            <a:off x="8464144" y="4119163"/>
            <a:ext cx="50292" cy="210729"/>
          </a:xfrm>
          <a:prstGeom prst="rect">
            <a:avLst/>
          </a:prstGeom>
          <a:solidFill>
            <a:srgbClr val="BDBDBD"/>
          </a:solidFill>
          <a:ln w="12700">
            <a:solidFill>
              <a:srgbClr val="FFFFFF"/>
            </a:solidFill>
            <a:prstDash val="solid"/>
          </a:ln>
        </p:spPr>
      </p:sp>
      <p:sp>
        <p:nvSpPr>
          <p:cNvPr id="65" name="Shape 63"/>
          <p:cNvSpPr/>
          <p:nvPr/>
        </p:nvSpPr>
        <p:spPr>
          <a:xfrm>
            <a:off x="8569300" y="4125069"/>
            <a:ext cx="50292" cy="198918"/>
          </a:xfrm>
          <a:prstGeom prst="rect">
            <a:avLst/>
          </a:prstGeom>
          <a:solidFill>
            <a:srgbClr val="BDBDBD"/>
          </a:solidFill>
          <a:ln w="12700">
            <a:solidFill>
              <a:srgbClr val="FFFFFF"/>
            </a:solidFill>
            <a:prstDash val="solid"/>
          </a:ln>
        </p:spPr>
      </p:sp>
      <p:sp>
        <p:nvSpPr>
          <p:cNvPr id="66" name="Shape 64"/>
          <p:cNvSpPr/>
          <p:nvPr/>
        </p:nvSpPr>
        <p:spPr>
          <a:xfrm>
            <a:off x="8674456" y="4022972"/>
            <a:ext cx="50292" cy="403111"/>
          </a:xfrm>
          <a:prstGeom prst="rect">
            <a:avLst/>
          </a:prstGeom>
          <a:solidFill>
            <a:srgbClr val="0D0D0D"/>
          </a:solidFill>
          <a:ln w="12700">
            <a:solidFill>
              <a:srgbClr val="FFFFFF"/>
            </a:solidFill>
            <a:prstDash val="solid"/>
          </a:ln>
        </p:spPr>
      </p:sp>
      <p:sp>
        <p:nvSpPr>
          <p:cNvPr id="67" name="Shape 65"/>
          <p:cNvSpPr/>
          <p:nvPr/>
        </p:nvSpPr>
        <p:spPr>
          <a:xfrm>
            <a:off x="8779612" y="3998468"/>
            <a:ext cx="50292" cy="452120"/>
          </a:xfrm>
          <a:prstGeom prst="rect">
            <a:avLst/>
          </a:prstGeom>
          <a:solidFill>
            <a:srgbClr val="BDBDBD"/>
          </a:solidFill>
          <a:ln w="12700">
            <a:solidFill>
              <a:srgbClr val="FFFFFF"/>
            </a:solidFill>
            <a:prstDash val="solid"/>
          </a:ln>
        </p:spPr>
      </p:sp>
      <p:sp>
        <p:nvSpPr>
          <p:cNvPr id="68" name="Shape 66"/>
          <p:cNvSpPr/>
          <p:nvPr/>
        </p:nvSpPr>
        <p:spPr>
          <a:xfrm>
            <a:off x="8884768" y="4063081"/>
            <a:ext cx="50292" cy="322894"/>
          </a:xfrm>
          <a:prstGeom prst="rect">
            <a:avLst/>
          </a:prstGeom>
          <a:solidFill>
            <a:srgbClr val="BDBDBD"/>
          </a:solidFill>
          <a:ln w="12700">
            <a:solidFill>
              <a:srgbClr val="FFFFFF"/>
            </a:solidFill>
            <a:prstDash val="solid"/>
          </a:ln>
        </p:spPr>
      </p:sp>
      <p:sp>
        <p:nvSpPr>
          <p:cNvPr id="69" name="Shape 67"/>
          <p:cNvSpPr/>
          <p:nvPr/>
        </p:nvSpPr>
        <p:spPr>
          <a:xfrm>
            <a:off x="8989924" y="4186423"/>
            <a:ext cx="50292" cy="76210"/>
          </a:xfrm>
          <a:prstGeom prst="rect">
            <a:avLst/>
          </a:prstGeom>
          <a:solidFill>
            <a:srgbClr val="0D0D0D"/>
          </a:solidFill>
          <a:ln w="12700">
            <a:solidFill>
              <a:srgbClr val="FFFFFF"/>
            </a:solidFill>
            <a:prstDash val="solid"/>
          </a:ln>
        </p:spPr>
      </p:sp>
      <p:sp>
        <p:nvSpPr>
          <p:cNvPr id="70" name="Shape 68"/>
          <p:cNvSpPr/>
          <p:nvPr/>
        </p:nvSpPr>
        <p:spPr>
          <a:xfrm>
            <a:off x="9095080" y="4065420"/>
            <a:ext cx="50292" cy="318216"/>
          </a:xfrm>
          <a:prstGeom prst="rect">
            <a:avLst/>
          </a:prstGeom>
          <a:solidFill>
            <a:srgbClr val="BDBDBD"/>
          </a:solidFill>
          <a:ln w="12700">
            <a:solidFill>
              <a:srgbClr val="FFFFFF"/>
            </a:solidFill>
            <a:prstDash val="solid"/>
          </a:ln>
        </p:spPr>
      </p:sp>
      <p:sp>
        <p:nvSpPr>
          <p:cNvPr id="71" name="Shape 69"/>
          <p:cNvSpPr/>
          <p:nvPr/>
        </p:nvSpPr>
        <p:spPr>
          <a:xfrm>
            <a:off x="9200236" y="3998988"/>
            <a:ext cx="50292" cy="451080"/>
          </a:xfrm>
          <a:prstGeom prst="rect">
            <a:avLst/>
          </a:prstGeom>
          <a:solidFill>
            <a:srgbClr val="BDBDBD"/>
          </a:solidFill>
          <a:ln w="12700">
            <a:solidFill>
              <a:srgbClr val="FFFFFF"/>
            </a:solidFill>
            <a:prstDash val="solid"/>
          </a:ln>
        </p:spPr>
      </p:sp>
      <p:sp>
        <p:nvSpPr>
          <p:cNvPr id="72" name="Shape 70"/>
          <p:cNvSpPr/>
          <p:nvPr/>
        </p:nvSpPr>
        <p:spPr>
          <a:xfrm>
            <a:off x="9305392" y="4021428"/>
            <a:ext cx="50292" cy="406199"/>
          </a:xfrm>
          <a:prstGeom prst="rect">
            <a:avLst/>
          </a:prstGeom>
          <a:solidFill>
            <a:srgbClr val="0D0D0D"/>
          </a:solidFill>
          <a:ln w="12700">
            <a:solidFill>
              <a:srgbClr val="FFFFFF"/>
            </a:solidFill>
            <a:prstDash val="solid"/>
          </a:ln>
        </p:spPr>
      </p:sp>
      <p:sp>
        <p:nvSpPr>
          <p:cNvPr id="73" name="Shape 71"/>
          <p:cNvSpPr/>
          <p:nvPr/>
        </p:nvSpPr>
        <p:spPr>
          <a:xfrm>
            <a:off x="9410548" y="4122188"/>
            <a:ext cx="50292" cy="204681"/>
          </a:xfrm>
          <a:prstGeom prst="rect">
            <a:avLst/>
          </a:prstGeom>
          <a:solidFill>
            <a:srgbClr val="BDBDBD"/>
          </a:solidFill>
          <a:ln w="12700">
            <a:solidFill>
              <a:srgbClr val="FFFFFF"/>
            </a:solidFill>
            <a:prstDash val="solid"/>
          </a:ln>
        </p:spPr>
      </p:sp>
      <p:sp>
        <p:nvSpPr>
          <p:cNvPr id="74" name="Shape 72"/>
          <p:cNvSpPr/>
          <p:nvPr/>
        </p:nvSpPr>
        <p:spPr>
          <a:xfrm>
            <a:off x="9515704" y="4122027"/>
            <a:ext cx="50292" cy="205001"/>
          </a:xfrm>
          <a:prstGeom prst="rect">
            <a:avLst/>
          </a:prstGeom>
          <a:solidFill>
            <a:srgbClr val="BDBDBD"/>
          </a:solidFill>
          <a:ln w="12700">
            <a:solidFill>
              <a:srgbClr val="FFFFFF"/>
            </a:solidFill>
            <a:prstDash val="solid"/>
          </a:ln>
        </p:spPr>
      </p:sp>
      <p:sp>
        <p:nvSpPr>
          <p:cNvPr id="75" name="Shape 73"/>
          <p:cNvSpPr/>
          <p:nvPr/>
        </p:nvSpPr>
        <p:spPr>
          <a:xfrm>
            <a:off x="9620860" y="4021344"/>
            <a:ext cx="50292" cy="406369"/>
          </a:xfrm>
          <a:prstGeom prst="rect">
            <a:avLst/>
          </a:prstGeom>
          <a:solidFill>
            <a:srgbClr val="0D0D0D"/>
          </a:solidFill>
          <a:ln w="12700">
            <a:solidFill>
              <a:srgbClr val="FFFFFF"/>
            </a:solidFill>
            <a:prstDash val="solid"/>
          </a:ln>
        </p:spPr>
      </p:sp>
      <p:sp>
        <p:nvSpPr>
          <p:cNvPr id="76" name="Shape 74"/>
          <p:cNvSpPr/>
          <p:nvPr/>
        </p:nvSpPr>
        <p:spPr>
          <a:xfrm>
            <a:off x="9726016" y="3999018"/>
            <a:ext cx="50292" cy="451019"/>
          </a:xfrm>
          <a:prstGeom prst="rect">
            <a:avLst/>
          </a:prstGeom>
          <a:solidFill>
            <a:srgbClr val="BDBDBD"/>
          </a:solidFill>
          <a:ln w="12700">
            <a:solidFill>
              <a:srgbClr val="FFFFFF"/>
            </a:solidFill>
            <a:prstDash val="solid"/>
          </a:ln>
        </p:spPr>
      </p:sp>
      <p:sp>
        <p:nvSpPr>
          <p:cNvPr id="77" name="Shape 75"/>
          <p:cNvSpPr/>
          <p:nvPr/>
        </p:nvSpPr>
        <p:spPr>
          <a:xfrm>
            <a:off x="9831172" y="4065552"/>
            <a:ext cx="50292" cy="317953"/>
          </a:xfrm>
          <a:prstGeom prst="rect">
            <a:avLst/>
          </a:prstGeom>
          <a:solidFill>
            <a:srgbClr val="BDBDBD"/>
          </a:solidFill>
          <a:ln w="12700">
            <a:solidFill>
              <a:srgbClr val="FFFFFF"/>
            </a:solidFill>
            <a:prstDash val="solid"/>
          </a:ln>
        </p:spPr>
      </p:sp>
      <p:sp>
        <p:nvSpPr>
          <p:cNvPr id="78" name="Shape 76"/>
          <p:cNvSpPr/>
          <p:nvPr/>
        </p:nvSpPr>
        <p:spPr>
          <a:xfrm>
            <a:off x="9936328" y="4186252"/>
            <a:ext cx="50292" cy="76551"/>
          </a:xfrm>
          <a:prstGeom prst="rect">
            <a:avLst/>
          </a:prstGeom>
          <a:solidFill>
            <a:srgbClr val="0D0D0D"/>
          </a:solidFill>
          <a:ln w="12700">
            <a:solidFill>
              <a:srgbClr val="FFFFFF"/>
            </a:solidFill>
            <a:prstDash val="solid"/>
          </a:ln>
        </p:spPr>
      </p:sp>
      <p:sp>
        <p:nvSpPr>
          <p:cNvPr id="79" name="Shape 77"/>
          <p:cNvSpPr/>
          <p:nvPr/>
        </p:nvSpPr>
        <p:spPr>
          <a:xfrm>
            <a:off x="10041484" y="4062952"/>
            <a:ext cx="50292" cy="323153"/>
          </a:xfrm>
          <a:prstGeom prst="rect">
            <a:avLst/>
          </a:prstGeom>
          <a:solidFill>
            <a:srgbClr val="BDBDBD"/>
          </a:solidFill>
          <a:ln w="12700">
            <a:solidFill>
              <a:srgbClr val="FFFFFF"/>
            </a:solidFill>
            <a:prstDash val="solid"/>
          </a:ln>
        </p:spPr>
      </p:sp>
      <p:sp>
        <p:nvSpPr>
          <p:cNvPr id="80" name="Shape 78"/>
          <p:cNvSpPr/>
          <p:nvPr/>
        </p:nvSpPr>
        <p:spPr>
          <a:xfrm>
            <a:off x="10146640" y="3998441"/>
            <a:ext cx="50292" cy="452175"/>
          </a:xfrm>
          <a:prstGeom prst="rect">
            <a:avLst/>
          </a:prstGeom>
          <a:solidFill>
            <a:srgbClr val="BDBDBD"/>
          </a:solidFill>
          <a:ln w="12700">
            <a:solidFill>
              <a:srgbClr val="FFFFFF"/>
            </a:solidFill>
            <a:prstDash val="solid"/>
          </a:ln>
        </p:spPr>
      </p:sp>
      <p:sp>
        <p:nvSpPr>
          <p:cNvPr id="81" name="Shape 79"/>
          <p:cNvSpPr/>
          <p:nvPr/>
        </p:nvSpPr>
        <p:spPr>
          <a:xfrm>
            <a:off x="10251796" y="4023060"/>
            <a:ext cx="50292" cy="402937"/>
          </a:xfrm>
          <a:prstGeom prst="rect">
            <a:avLst/>
          </a:prstGeom>
          <a:solidFill>
            <a:srgbClr val="0D0D0D"/>
          </a:solidFill>
          <a:ln w="12700">
            <a:solidFill>
              <a:srgbClr val="FFFFFF"/>
            </a:solidFill>
            <a:prstDash val="solid"/>
          </a:ln>
        </p:spPr>
      </p:sp>
      <p:sp>
        <p:nvSpPr>
          <p:cNvPr id="82" name="Text 80"/>
          <p:cNvSpPr txBox="1"/>
          <p:nvPr/>
        </p:nvSpPr>
        <p:spPr>
          <a:xfrm>
            <a:off x="731520" y="4937760"/>
            <a:ext cx="10728655" cy="411480"/>
          </a:xfrm>
          <a:prstGeom prst="rect">
            <a:avLst/>
          </a:prstGeom>
          <a:noFill/>
          <a:ln/>
        </p:spPr>
        <p:txBody>
          <a:bodyPr wrap="square" lIns="0" tIns="0" rIns="0" bIns="0" rtlCol="0" anchor="ctr"/>
          <a:lstStyle/>
          <a:p>
            <a:pPr algn="ctr" indent="0" marL="0">
              <a:buNone/>
            </a:pPr>
            <a:r>
              <a:rPr lang="en-US" sz="2000" b="1" dirty="0">
                <a:solidFill>
                  <a:srgbClr val="0D0D0D"/>
                </a:solidFill>
                <a:latin typeface="Inter" pitchFamily="34" charset="0"/>
                <a:ea typeface="Inter" pitchFamily="34" charset="-122"/>
                <a:cs typeface="Inter" pitchFamily="34" charset="-120"/>
              </a:rPr>
              <a:t>Hands up for A   ·   hands up for B</a:t>
            </a:r>
            <a:endParaRPr lang="en-US" sz="2000" dirty="0"/>
          </a:p>
        </p:txBody>
      </p:sp>
      <p:sp>
        <p:nvSpPr>
          <p:cNvPr id="83" name="Text 81"/>
          <p:cNvSpPr txBox="1"/>
          <p:nvPr/>
        </p:nvSpPr>
        <p:spPr>
          <a:xfrm>
            <a:off x="731520" y="5394960"/>
            <a:ext cx="10728655" cy="320040"/>
          </a:xfrm>
          <a:prstGeom prst="rect">
            <a:avLst/>
          </a:prstGeom>
          <a:noFill/>
          <a:ln/>
        </p:spPr>
        <p:txBody>
          <a:bodyPr wrap="square" lIns="0" tIns="0" rIns="0" bIns="0" rtlCol="0" anchor="ctr"/>
          <a:lstStyle/>
          <a:p>
            <a:pPr algn="ctr" indent="0" marL="0">
              <a:buNone/>
            </a:pPr>
            <a:r>
              <a:rPr lang="en-US" sz="1200" i="1" dirty="0">
                <a:solidFill>
                  <a:srgbClr val="8C8C8C"/>
                </a:solidFill>
                <a:latin typeface="Inter" pitchFamily="34" charset="0"/>
                <a:ea typeface="Inter" pitchFamily="34" charset="-122"/>
                <a:cs typeface="Inter" pitchFamily="34" charset="-120"/>
              </a:rPr>
              <a:t>Count the hands out loud. Do not say anything else — the answer comes back in six minutes.</a:t>
            </a:r>
            <a:endParaRPr lang="en-US" sz="1200" dirty="0"/>
          </a:p>
        </p:txBody>
      </p:sp>
      <p:pic>
        <p:nvPicPr>
          <p:cNvPr id="84"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85" name="Text 82"/>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86" name="Text 83"/>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WHO IS TALKING</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Tomás Acosta Bernal</a:t>
            </a:r>
            <a:pPr indent="0" marL="0">
              <a:buNone/>
            </a:pPr>
            <a:endParaRPr lang="en-US" sz="3600" dirty="0"/>
          </a:p>
        </p:txBody>
      </p:sp>
      <p:pic>
        <p:nvPicPr>
          <p:cNvPr id="4" name="Image 0" descr="/home/claude/headshot.png">    </p:cNvPr>
          <p:cNvPicPr>
            <a:picLocks noChangeAspect="1"/>
          </p:cNvPicPr>
          <p:nvPr/>
        </p:nvPicPr>
        <p:blipFill>
          <a:blip r:embed="rId1"/>
          <a:stretch>
            <a:fillRect/>
          </a:stretch>
        </p:blipFill>
        <p:spPr>
          <a:xfrm>
            <a:off x="731520" y="2011680"/>
            <a:ext cx="2377440" cy="2377440"/>
          </a:xfrm>
          <a:prstGeom prst="rect">
            <a:avLst/>
          </a:prstGeom>
        </p:spPr>
      </p:pic>
      <p:sp>
        <p:nvSpPr>
          <p:cNvPr id="5" name="Shape 2"/>
          <p:cNvSpPr/>
          <p:nvPr/>
        </p:nvSpPr>
        <p:spPr>
          <a:xfrm>
            <a:off x="3520440" y="2231136"/>
            <a:ext cx="100584" cy="100584"/>
          </a:xfrm>
          <a:prstGeom prst="rect">
            <a:avLst/>
          </a:prstGeom>
          <a:solidFill>
            <a:srgbClr val="FFE800"/>
          </a:solidFill>
          <a:ln w="12700">
            <a:solidFill>
              <a:srgbClr val="FFE800"/>
            </a:solidFill>
            <a:prstDash val="solid"/>
          </a:ln>
        </p:spPr>
      </p:sp>
      <p:sp>
        <p:nvSpPr>
          <p:cNvPr id="6" name="Text 3"/>
          <p:cNvSpPr txBox="1"/>
          <p:nvPr/>
        </p:nvSpPr>
        <p:spPr>
          <a:xfrm>
            <a:off x="3794760" y="213055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AI Lead Engineer</a:t>
            </a:r>
            <a:endParaRPr lang="en-US" sz="1600" dirty="0"/>
          </a:p>
        </p:txBody>
      </p:sp>
      <p:sp>
        <p:nvSpPr>
          <p:cNvPr id="7" name="Text 4"/>
          <p:cNvSpPr txBox="1"/>
          <p:nvPr/>
        </p:nvSpPr>
        <p:spPr>
          <a:xfrm>
            <a:off x="3794760" y="242316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Konecto — voice agents, RAG and LLM systems in production</a:t>
            </a:r>
            <a:endParaRPr lang="en-US" sz="1350" dirty="0"/>
          </a:p>
        </p:txBody>
      </p:sp>
      <p:sp>
        <p:nvSpPr>
          <p:cNvPr id="8" name="Shape 5"/>
          <p:cNvSpPr/>
          <p:nvPr/>
        </p:nvSpPr>
        <p:spPr>
          <a:xfrm>
            <a:off x="3520440" y="3099816"/>
            <a:ext cx="100584" cy="100584"/>
          </a:xfrm>
          <a:prstGeom prst="rect">
            <a:avLst/>
          </a:prstGeom>
          <a:solidFill>
            <a:srgbClr val="FFE800"/>
          </a:solidFill>
          <a:ln w="12700">
            <a:solidFill>
              <a:srgbClr val="FFE800"/>
            </a:solidFill>
            <a:prstDash val="solid"/>
          </a:ln>
        </p:spPr>
      </p:sp>
      <p:sp>
        <p:nvSpPr>
          <p:cNvPr id="9" name="Text 6"/>
          <p:cNvSpPr txBox="1"/>
          <p:nvPr/>
        </p:nvSpPr>
        <p:spPr>
          <a:xfrm>
            <a:off x="3794760" y="299923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Researcher</a:t>
            </a:r>
            <a:endParaRPr lang="en-US" sz="1600" dirty="0"/>
          </a:p>
        </p:txBody>
      </p:sp>
      <p:sp>
        <p:nvSpPr>
          <p:cNvPr id="10" name="Text 7"/>
          <p:cNvSpPr txBox="1"/>
          <p:nvPr/>
        </p:nvSpPr>
        <p:spPr>
          <a:xfrm>
            <a:off x="3794760" y="329184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FLAG Lab, Universidad de los Andes — speech anti-spoofing</a:t>
            </a:r>
            <a:endParaRPr lang="en-US" sz="1350" dirty="0"/>
          </a:p>
        </p:txBody>
      </p:sp>
      <p:sp>
        <p:nvSpPr>
          <p:cNvPr id="11" name="Shape 8"/>
          <p:cNvSpPr/>
          <p:nvPr/>
        </p:nvSpPr>
        <p:spPr>
          <a:xfrm>
            <a:off x="3520440" y="3968496"/>
            <a:ext cx="100584" cy="100584"/>
          </a:xfrm>
          <a:prstGeom prst="rect">
            <a:avLst/>
          </a:prstGeom>
          <a:solidFill>
            <a:srgbClr val="FFE800"/>
          </a:solidFill>
          <a:ln w="12700">
            <a:solidFill>
              <a:srgbClr val="FFE800"/>
            </a:solidFill>
            <a:prstDash val="solid"/>
          </a:ln>
        </p:spPr>
      </p:sp>
      <p:sp>
        <p:nvSpPr>
          <p:cNvPr id="12" name="Text 9"/>
          <p:cNvSpPr txBox="1"/>
          <p:nvPr/>
        </p:nvSpPr>
        <p:spPr>
          <a:xfrm>
            <a:off x="3794760" y="386791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Teaching assistant</a:t>
            </a:r>
            <a:endParaRPr lang="en-US" sz="1600" dirty="0"/>
          </a:p>
        </p:txBody>
      </p:sp>
      <p:sp>
        <p:nvSpPr>
          <p:cNvPr id="13" name="Text 10"/>
          <p:cNvSpPr txBox="1"/>
          <p:nvPr/>
        </p:nvSpPr>
        <p:spPr>
          <a:xfrm>
            <a:off x="3794760" y="416052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Natural Language Processing, Universidad de los Andes</a:t>
            </a:r>
            <a:endParaRPr lang="en-US" sz="1350" dirty="0"/>
          </a:p>
        </p:txBody>
      </p:sp>
      <p:sp>
        <p:nvSpPr>
          <p:cNvPr id="14" name="Shape 11"/>
          <p:cNvSpPr/>
          <p:nvPr/>
        </p:nvSpPr>
        <p:spPr>
          <a:xfrm>
            <a:off x="3520440" y="5029200"/>
            <a:ext cx="7939735" cy="0"/>
          </a:xfrm>
          <a:prstGeom prst="line">
            <a:avLst/>
          </a:prstGeom>
          <a:noFill/>
          <a:ln w="12700">
            <a:solidFill>
              <a:srgbClr val="E6E6E6"/>
            </a:solidFill>
            <a:prstDash val="solid"/>
          </a:ln>
        </p:spPr>
      </p:sp>
      <p:sp>
        <p:nvSpPr>
          <p:cNvPr id="15" name="Text 12"/>
          <p:cNvSpPr txBox="1"/>
          <p:nvPr/>
        </p:nvSpPr>
        <p:spPr>
          <a:xfrm>
            <a:off x="3520440" y="5212080"/>
            <a:ext cx="7315200" cy="320040"/>
          </a:xfrm>
          <a:prstGeom prst="rect">
            <a:avLst/>
          </a:prstGeom>
          <a:noFill/>
          <a:ln/>
        </p:spPr>
        <p:txBody>
          <a:bodyPr wrap="square" lIns="0" tIns="0" rIns="0" bIns="0" rtlCol="0" anchor="ctr"/>
          <a:lstStyle/>
          <a:p>
            <a:pPr indent="0" marL="0">
              <a:buNone/>
            </a:pPr>
            <a:r>
              <a:rPr lang="en-US" sz="1200" i="1" dirty="0">
                <a:solidFill>
                  <a:srgbClr val="8C8C8C"/>
                </a:solidFill>
                <a:latin typeface="Inter" pitchFamily="34" charset="0"/>
                <a:ea typeface="Inter" pitchFamily="34" charset="-122"/>
                <a:cs typeface="Inter" pitchFamily="34" charset="-120"/>
              </a:rPr>
              <a:t>First-authored by Jaime Hurtado, with Rubén Manrique. I present it — and I build on it.</a:t>
            </a:r>
            <a:endParaRPr lang="en-US" sz="1200" dirty="0"/>
          </a:p>
        </p:txBody>
      </p:sp>
      <p:pic>
        <p:nvPicPr>
          <p:cNvPr id="16" name="Image 1" descr="/home/claude/logo_pos.png">    </p:cNvPr>
          <p:cNvPicPr>
            <a:picLocks noChangeAspect="1"/>
          </p:cNvPicPr>
          <p:nvPr/>
        </p:nvPicPr>
        <p:blipFill>
          <a:blip r:embed="rId2"/>
          <a:stretch>
            <a:fillRect/>
          </a:stretch>
        </p:blipFill>
        <p:spPr>
          <a:xfrm>
            <a:off x="9357055" y="402336"/>
            <a:ext cx="2103120" cy="630936"/>
          </a:xfrm>
          <a:prstGeom prst="rect">
            <a:avLst/>
          </a:prstGeom>
        </p:spPr>
      </p:pic>
      <p:pic>
        <p:nvPicPr>
          <p:cNvPr id="17" name="Image 2" descr="/home/claude/shield.png">    </p:cNvPr>
          <p:cNvPicPr>
            <a:picLocks noChangeAspect="1"/>
          </p:cNvPicPr>
          <p:nvPr/>
        </p:nvPicPr>
        <p:blipFill>
          <a:blip r:embed="rId3"/>
          <a:stretch>
            <a:fillRect/>
          </a:stretch>
        </p:blipFill>
        <p:spPr>
          <a:xfrm>
            <a:off x="731520" y="6309360"/>
            <a:ext cx="256032" cy="256032"/>
          </a:xfrm>
          <a:prstGeom prst="rect">
            <a:avLst/>
          </a:prstGeom>
        </p:spPr>
      </p:pic>
      <p:sp>
        <p:nvSpPr>
          <p:cNvPr id="18" name="Text 1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9" name="Text 1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TWO ATTACKS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Two ways to fake a voice.</a:t>
            </a:r>
            <a:pPr indent="0" marL="0">
              <a:buNone/>
            </a:pPr>
            <a:r>
              <a:rPr lang="en-US" sz="3600" b="1" dirty="0">
                <a:solidFill>
                  <a:srgbClr val="BDBDBD"/>
                </a:solidFill>
                <a:latin typeface="Inter" pitchFamily="34" charset="0"/>
                <a:ea typeface="Inter" pitchFamily="34" charset="-122"/>
                <a:cs typeface="Inter" pitchFamily="34" charset="-120"/>
              </a:rPr>
              <a:t> Only one survives.</a:t>
            </a:r>
            <a:endParaRPr lang="en-US" sz="3600" dirty="0"/>
          </a:p>
        </p:txBody>
      </p:sp>
      <p:sp>
        <p:nvSpPr>
          <p:cNvPr id="4" name="Text 2"/>
          <p:cNvSpPr txBox="1"/>
          <p:nvPr/>
        </p:nvSpPr>
        <p:spPr>
          <a:xfrm>
            <a:off x="731520" y="1856232"/>
            <a:ext cx="3657600" cy="274320"/>
          </a:xfrm>
          <a:prstGeom prst="rect">
            <a:avLst/>
          </a:prstGeom>
          <a:noFill/>
          <a:ln/>
        </p:spPr>
        <p:txBody>
          <a:bodyPr wrap="square" lIns="0" tIns="0" rIns="0" bIns="0" rtlCol="0" anchor="ctr"/>
          <a:lstStyle/>
          <a:p>
            <a:pPr indent="0" marL="0">
              <a:buNone/>
            </a:pPr>
            <a:r>
              <a:rPr lang="en-US" sz="1100" b="1" spc="150" kern="0" dirty="0">
                <a:solidFill>
                  <a:srgbClr val="0D0D0D"/>
                </a:solidFill>
                <a:latin typeface="Inter" pitchFamily="34" charset="0"/>
                <a:ea typeface="Inter" pitchFamily="34" charset="-122"/>
                <a:cs typeface="Inter" pitchFamily="34" charset="-120"/>
              </a:rPr>
              <a:t>TEXT-TO-SPEECH</a:t>
            </a:r>
            <a:endParaRPr lang="en-US" sz="1100" dirty="0"/>
          </a:p>
        </p:txBody>
      </p:sp>
      <p:sp>
        <p:nvSpPr>
          <p:cNvPr id="5" name="Text 3"/>
          <p:cNvSpPr txBox="1"/>
          <p:nvPr/>
        </p:nvSpPr>
        <p:spPr>
          <a:xfrm>
            <a:off x="3108960" y="1874520"/>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Inter" pitchFamily="34" charset="0"/>
                <a:ea typeface="Inter" pitchFamily="34" charset="-122"/>
                <a:cs typeface="Inter" pitchFamily="34" charset="-120"/>
              </a:rPr>
              <a:t>nothing real goes in</a:t>
            </a:r>
            <a:endParaRPr lang="en-US" sz="1100" dirty="0"/>
          </a:p>
        </p:txBody>
      </p:sp>
      <p:sp>
        <p:nvSpPr>
          <p:cNvPr id="6" name="Shape 4"/>
          <p:cNvSpPr/>
          <p:nvPr/>
        </p:nvSpPr>
        <p:spPr>
          <a:xfrm>
            <a:off x="731520" y="2240280"/>
            <a:ext cx="2331720" cy="1143000"/>
          </a:xfrm>
          <a:prstGeom prst="roundRect">
            <a:avLst>
              <a:gd name="adj" fmla="val 4800"/>
            </a:avLst>
          </a:prstGeom>
          <a:solidFill>
            <a:srgbClr val="F7F7F5"/>
          </a:solidFill>
          <a:ln w="12700">
            <a:solidFill>
              <a:srgbClr val="E6E6E6"/>
            </a:solidFill>
            <a:prstDash val="solid"/>
          </a:ln>
        </p:spPr>
      </p:sp>
      <p:sp>
        <p:nvSpPr>
          <p:cNvPr id="7" name="Text 5"/>
          <p:cNvSpPr txBox="1"/>
          <p:nvPr/>
        </p:nvSpPr>
        <p:spPr>
          <a:xfrm>
            <a:off x="86868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“Send me $1,500”</a:t>
            </a:r>
            <a:endParaRPr lang="en-US" sz="1300" dirty="0"/>
          </a:p>
        </p:txBody>
      </p:sp>
      <p:sp>
        <p:nvSpPr>
          <p:cNvPr id="8" name="Text 6"/>
          <p:cNvSpPr txBox="1"/>
          <p:nvPr/>
        </p:nvSpPr>
        <p:spPr>
          <a:xfrm>
            <a:off x="84124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typed text</a:t>
            </a:r>
            <a:endParaRPr lang="en-US" sz="1050" dirty="0"/>
          </a:p>
        </p:txBody>
      </p:sp>
      <p:sp>
        <p:nvSpPr>
          <p:cNvPr id="9" name="Shape 7"/>
          <p:cNvSpPr/>
          <p:nvPr/>
        </p:nvSpPr>
        <p:spPr>
          <a:xfrm>
            <a:off x="3118104" y="2811780"/>
            <a:ext cx="347472" cy="0"/>
          </a:xfrm>
          <a:prstGeom prst="line">
            <a:avLst/>
          </a:prstGeom>
          <a:noFill/>
          <a:ln w="19050">
            <a:solidFill>
              <a:srgbClr val="BDBDBD"/>
            </a:solidFill>
            <a:prstDash val="solid"/>
            <a:tailEnd type="triangle"/>
          </a:ln>
        </p:spPr>
      </p:sp>
      <p:sp>
        <p:nvSpPr>
          <p:cNvPr id="10" name="Shape 8"/>
          <p:cNvSpPr/>
          <p:nvPr/>
        </p:nvSpPr>
        <p:spPr>
          <a:xfrm>
            <a:off x="3520440" y="2240280"/>
            <a:ext cx="2331720" cy="1143000"/>
          </a:xfrm>
          <a:prstGeom prst="roundRect">
            <a:avLst>
              <a:gd name="adj" fmla="val 4800"/>
            </a:avLst>
          </a:prstGeom>
          <a:solidFill>
            <a:srgbClr val="FFFFFF"/>
          </a:solidFill>
          <a:ln w="19050">
            <a:solidFill>
              <a:srgbClr val="0D0D0D"/>
            </a:solidFill>
            <a:prstDash val="solid"/>
          </a:ln>
        </p:spPr>
      </p:sp>
      <p:sp>
        <p:nvSpPr>
          <p:cNvPr id="11" name="Text 9"/>
          <p:cNvSpPr txBox="1"/>
          <p:nvPr/>
        </p:nvSpPr>
        <p:spPr>
          <a:xfrm>
            <a:off x="365760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TTS model</a:t>
            </a:r>
            <a:endParaRPr lang="en-US" sz="1300" dirty="0"/>
          </a:p>
        </p:txBody>
      </p:sp>
      <p:sp>
        <p:nvSpPr>
          <p:cNvPr id="12" name="Text 10"/>
          <p:cNvSpPr txBox="1"/>
          <p:nvPr/>
        </p:nvSpPr>
        <p:spPr>
          <a:xfrm>
            <a:off x="363016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vocoder</a:t>
            </a:r>
            <a:endParaRPr lang="en-US" sz="1050" dirty="0"/>
          </a:p>
        </p:txBody>
      </p:sp>
      <p:sp>
        <p:nvSpPr>
          <p:cNvPr id="13" name="Shape 11"/>
          <p:cNvSpPr/>
          <p:nvPr/>
        </p:nvSpPr>
        <p:spPr>
          <a:xfrm>
            <a:off x="5907024" y="2811780"/>
            <a:ext cx="347472" cy="0"/>
          </a:xfrm>
          <a:prstGeom prst="line">
            <a:avLst/>
          </a:prstGeom>
          <a:noFill/>
          <a:ln w="19050">
            <a:solidFill>
              <a:srgbClr val="BDBDBD"/>
            </a:solidFill>
            <a:prstDash val="solid"/>
            <a:tailEnd type="triangle"/>
          </a:ln>
        </p:spPr>
      </p:sp>
      <p:sp>
        <p:nvSpPr>
          <p:cNvPr id="14" name="Shape 12"/>
          <p:cNvSpPr/>
          <p:nvPr/>
        </p:nvSpPr>
        <p:spPr>
          <a:xfrm>
            <a:off x="6309360" y="2240280"/>
            <a:ext cx="2331720" cy="1143000"/>
          </a:xfrm>
          <a:prstGeom prst="roundRect">
            <a:avLst>
              <a:gd name="adj" fmla="val 4800"/>
            </a:avLst>
          </a:prstGeom>
          <a:solidFill>
            <a:srgbClr val="F7F7F5"/>
          </a:solidFill>
          <a:ln w="12700">
            <a:solidFill>
              <a:srgbClr val="E6E6E6"/>
            </a:solidFill>
            <a:prstDash val="solid"/>
          </a:ln>
        </p:spPr>
      </p:sp>
      <p:sp>
        <p:nvSpPr>
          <p:cNvPr id="15" name="Text 13"/>
          <p:cNvSpPr txBox="1"/>
          <p:nvPr/>
        </p:nvSpPr>
        <p:spPr>
          <a:xfrm>
            <a:off x="644652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waveform</a:t>
            </a:r>
            <a:endParaRPr lang="en-US" sz="1300" dirty="0"/>
          </a:p>
        </p:txBody>
      </p:sp>
      <p:sp>
        <p:nvSpPr>
          <p:cNvPr id="16" name="Text 14"/>
          <p:cNvSpPr txBox="1"/>
          <p:nvPr/>
        </p:nvSpPr>
        <p:spPr>
          <a:xfrm>
            <a:off x="641908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100 % synthetic</a:t>
            </a:r>
            <a:endParaRPr lang="en-US" sz="1050" dirty="0"/>
          </a:p>
        </p:txBody>
      </p:sp>
      <p:sp>
        <p:nvSpPr>
          <p:cNvPr id="17" name="Shape 15"/>
          <p:cNvSpPr/>
          <p:nvPr/>
        </p:nvSpPr>
        <p:spPr>
          <a:xfrm>
            <a:off x="9235440" y="2496312"/>
            <a:ext cx="2514600" cy="640080"/>
          </a:xfrm>
          <a:prstGeom prst="roundRect">
            <a:avLst>
              <a:gd name="adj" fmla="val 8571"/>
            </a:avLst>
          </a:prstGeom>
          <a:solidFill>
            <a:srgbClr val="F7F7F5"/>
          </a:solidFill>
          <a:ln w="12700">
            <a:solidFill>
              <a:srgbClr val="E6E6E6"/>
            </a:solidFill>
            <a:prstDash val="solid"/>
          </a:ln>
        </p:spPr>
      </p:sp>
      <p:sp>
        <p:nvSpPr>
          <p:cNvPr id="18" name="Text 16"/>
          <p:cNvSpPr txBox="1"/>
          <p:nvPr/>
        </p:nvSpPr>
        <p:spPr>
          <a:xfrm>
            <a:off x="9235440" y="2496312"/>
            <a:ext cx="2514600" cy="640080"/>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travels across languages</a:t>
            </a:r>
            <a:endParaRPr lang="en-US" sz="1200" dirty="0"/>
          </a:p>
        </p:txBody>
      </p:sp>
      <p:sp>
        <p:nvSpPr>
          <p:cNvPr id="19" name="Text 17"/>
          <p:cNvSpPr txBox="1"/>
          <p:nvPr/>
        </p:nvSpPr>
        <p:spPr>
          <a:xfrm>
            <a:off x="731520" y="3438144"/>
            <a:ext cx="786384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The artefact belongs to the VOCODER — it does not care what language you speak.</a:t>
            </a:r>
            <a:endParaRPr lang="en-US" sz="1100" dirty="0"/>
          </a:p>
        </p:txBody>
      </p:sp>
      <p:sp>
        <p:nvSpPr>
          <p:cNvPr id="20" name="Text 18"/>
          <p:cNvSpPr txBox="1"/>
          <p:nvPr/>
        </p:nvSpPr>
        <p:spPr>
          <a:xfrm>
            <a:off x="731520" y="3867912"/>
            <a:ext cx="3657600" cy="274320"/>
          </a:xfrm>
          <a:prstGeom prst="rect">
            <a:avLst/>
          </a:prstGeom>
          <a:noFill/>
          <a:ln/>
        </p:spPr>
        <p:txBody>
          <a:bodyPr wrap="square" lIns="0" tIns="0" rIns="0" bIns="0" rtlCol="0" anchor="ctr"/>
          <a:lstStyle/>
          <a:p>
            <a:pPr indent="0" marL="0">
              <a:buNone/>
            </a:pPr>
            <a:r>
              <a:rPr lang="en-US" sz="1100" b="1" spc="150" kern="0" dirty="0">
                <a:solidFill>
                  <a:srgbClr val="0D0D0D"/>
                </a:solidFill>
                <a:latin typeface="Inter" pitchFamily="34" charset="0"/>
                <a:ea typeface="Inter" pitchFamily="34" charset="-122"/>
                <a:cs typeface="Inter" pitchFamily="34" charset="-120"/>
              </a:rPr>
              <a:t>VOICE CONVERSION</a:t>
            </a:r>
            <a:endParaRPr lang="en-US" sz="1100" dirty="0"/>
          </a:p>
        </p:txBody>
      </p:sp>
      <p:sp>
        <p:nvSpPr>
          <p:cNvPr id="21" name="Text 19"/>
          <p:cNvSpPr txBox="1"/>
          <p:nvPr/>
        </p:nvSpPr>
        <p:spPr>
          <a:xfrm>
            <a:off x="3108960" y="3886200"/>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Inter" pitchFamily="34" charset="0"/>
                <a:ea typeface="Inter" pitchFamily="34" charset="-122"/>
                <a:cs typeface="Inter" pitchFamily="34" charset="-120"/>
              </a:rPr>
              <a:t>a real recording goes in</a:t>
            </a:r>
            <a:endParaRPr lang="en-US" sz="1100" dirty="0"/>
          </a:p>
        </p:txBody>
      </p:sp>
      <p:sp>
        <p:nvSpPr>
          <p:cNvPr id="22" name="Shape 20"/>
          <p:cNvSpPr/>
          <p:nvPr/>
        </p:nvSpPr>
        <p:spPr>
          <a:xfrm>
            <a:off x="731520" y="4251960"/>
            <a:ext cx="2331720" cy="1143000"/>
          </a:xfrm>
          <a:prstGeom prst="roundRect">
            <a:avLst>
              <a:gd name="adj" fmla="val 4800"/>
            </a:avLst>
          </a:prstGeom>
          <a:solidFill>
            <a:srgbClr val="F7F7F5"/>
          </a:solidFill>
          <a:ln w="12700">
            <a:solidFill>
              <a:srgbClr val="E6E6E6"/>
            </a:solidFill>
            <a:prstDash val="solid"/>
          </a:ln>
        </p:spPr>
      </p:sp>
      <p:sp>
        <p:nvSpPr>
          <p:cNvPr id="23" name="Text 21"/>
          <p:cNvSpPr txBox="1"/>
          <p:nvPr/>
        </p:nvSpPr>
        <p:spPr>
          <a:xfrm>
            <a:off x="86868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real recording</a:t>
            </a:r>
            <a:endParaRPr lang="en-US" sz="1300" dirty="0"/>
          </a:p>
        </p:txBody>
      </p:sp>
      <p:sp>
        <p:nvSpPr>
          <p:cNvPr id="24" name="Text 22"/>
          <p:cNvSpPr txBox="1"/>
          <p:nvPr/>
        </p:nvSpPr>
        <p:spPr>
          <a:xfrm>
            <a:off x="84124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a person really spoke</a:t>
            </a:r>
            <a:endParaRPr lang="en-US" sz="1050" dirty="0"/>
          </a:p>
        </p:txBody>
      </p:sp>
      <p:sp>
        <p:nvSpPr>
          <p:cNvPr id="25" name="Shape 23"/>
          <p:cNvSpPr/>
          <p:nvPr/>
        </p:nvSpPr>
        <p:spPr>
          <a:xfrm>
            <a:off x="3118104" y="4823460"/>
            <a:ext cx="347472" cy="0"/>
          </a:xfrm>
          <a:prstGeom prst="line">
            <a:avLst/>
          </a:prstGeom>
          <a:noFill/>
          <a:ln w="19050">
            <a:solidFill>
              <a:srgbClr val="BDBDBD"/>
            </a:solidFill>
            <a:prstDash val="solid"/>
            <a:tailEnd type="triangle"/>
          </a:ln>
        </p:spPr>
      </p:sp>
      <p:sp>
        <p:nvSpPr>
          <p:cNvPr id="26" name="Shape 24"/>
          <p:cNvSpPr/>
          <p:nvPr/>
        </p:nvSpPr>
        <p:spPr>
          <a:xfrm>
            <a:off x="3520440" y="4251960"/>
            <a:ext cx="2331720" cy="1143000"/>
          </a:xfrm>
          <a:prstGeom prst="roundRect">
            <a:avLst>
              <a:gd name="adj" fmla="val 4800"/>
            </a:avLst>
          </a:prstGeom>
          <a:solidFill>
            <a:srgbClr val="FFFFFF"/>
          </a:solidFill>
          <a:ln w="19050">
            <a:solidFill>
              <a:srgbClr val="0D0D0D"/>
            </a:solidFill>
            <a:prstDash val="solid"/>
          </a:ln>
        </p:spPr>
      </p:sp>
      <p:sp>
        <p:nvSpPr>
          <p:cNvPr id="27" name="Text 25"/>
          <p:cNvSpPr txBox="1"/>
          <p:nvPr/>
        </p:nvSpPr>
        <p:spPr>
          <a:xfrm>
            <a:off x="365760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VC model</a:t>
            </a:r>
            <a:endParaRPr lang="en-US" sz="1300" dirty="0"/>
          </a:p>
        </p:txBody>
      </p:sp>
      <p:sp>
        <p:nvSpPr>
          <p:cNvPr id="28" name="Text 26"/>
          <p:cNvSpPr txBox="1"/>
          <p:nvPr/>
        </p:nvSpPr>
        <p:spPr>
          <a:xfrm>
            <a:off x="363016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 target identity</a:t>
            </a:r>
            <a:endParaRPr lang="en-US" sz="1050" dirty="0"/>
          </a:p>
        </p:txBody>
      </p:sp>
      <p:sp>
        <p:nvSpPr>
          <p:cNvPr id="29" name="Shape 27"/>
          <p:cNvSpPr/>
          <p:nvPr/>
        </p:nvSpPr>
        <p:spPr>
          <a:xfrm>
            <a:off x="5907024" y="4823460"/>
            <a:ext cx="347472" cy="0"/>
          </a:xfrm>
          <a:prstGeom prst="line">
            <a:avLst/>
          </a:prstGeom>
          <a:noFill/>
          <a:ln w="19050">
            <a:solidFill>
              <a:srgbClr val="BDBDBD"/>
            </a:solidFill>
            <a:prstDash val="solid"/>
            <a:tailEnd type="triangle"/>
          </a:ln>
        </p:spPr>
      </p:sp>
      <p:sp>
        <p:nvSpPr>
          <p:cNvPr id="30" name="Shape 28"/>
          <p:cNvSpPr/>
          <p:nvPr/>
        </p:nvSpPr>
        <p:spPr>
          <a:xfrm>
            <a:off x="6309360" y="4251960"/>
            <a:ext cx="2331720" cy="1143000"/>
          </a:xfrm>
          <a:prstGeom prst="roundRect">
            <a:avLst>
              <a:gd name="adj" fmla="val 4800"/>
            </a:avLst>
          </a:prstGeom>
          <a:solidFill>
            <a:srgbClr val="F7F7F5"/>
          </a:solidFill>
          <a:ln w="12700">
            <a:solidFill>
              <a:srgbClr val="E6E6E6"/>
            </a:solidFill>
            <a:prstDash val="solid"/>
          </a:ln>
        </p:spPr>
      </p:sp>
      <p:sp>
        <p:nvSpPr>
          <p:cNvPr id="31" name="Text 29"/>
          <p:cNvSpPr txBox="1"/>
          <p:nvPr/>
        </p:nvSpPr>
        <p:spPr>
          <a:xfrm>
            <a:off x="644652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waveform</a:t>
            </a:r>
            <a:endParaRPr lang="en-US" sz="1300" dirty="0"/>
          </a:p>
        </p:txBody>
      </p:sp>
      <p:sp>
        <p:nvSpPr>
          <p:cNvPr id="32" name="Text 30"/>
          <p:cNvSpPr txBox="1"/>
          <p:nvPr/>
        </p:nvSpPr>
        <p:spPr>
          <a:xfrm>
            <a:off x="641908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real words, stolen voice</a:t>
            </a:r>
            <a:endParaRPr lang="en-US" sz="1050" dirty="0"/>
          </a:p>
        </p:txBody>
      </p:sp>
      <p:sp>
        <p:nvSpPr>
          <p:cNvPr id="33" name="Shape 31"/>
          <p:cNvSpPr/>
          <p:nvPr/>
        </p:nvSpPr>
        <p:spPr>
          <a:xfrm>
            <a:off x="9235440" y="4507992"/>
            <a:ext cx="2514600" cy="640080"/>
          </a:xfrm>
          <a:prstGeom prst="roundRect">
            <a:avLst>
              <a:gd name="adj" fmla="val 8571"/>
            </a:avLst>
          </a:prstGeom>
          <a:solidFill>
            <a:srgbClr val="FFE800"/>
          </a:solidFill>
          <a:ln w="12700">
            <a:solidFill>
              <a:srgbClr val="FFE800"/>
            </a:solidFill>
            <a:prstDash val="solid"/>
          </a:ln>
        </p:spPr>
      </p:sp>
      <p:sp>
        <p:nvSpPr>
          <p:cNvPr id="34" name="Text 32"/>
          <p:cNvSpPr txBox="1"/>
          <p:nvPr/>
        </p:nvSpPr>
        <p:spPr>
          <a:xfrm>
            <a:off x="9235440" y="4507992"/>
            <a:ext cx="2514600" cy="640080"/>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does not survive</a:t>
            </a:r>
            <a:endParaRPr lang="en-US" sz="1200" dirty="0"/>
          </a:p>
        </p:txBody>
      </p:sp>
      <p:sp>
        <p:nvSpPr>
          <p:cNvPr id="35" name="Text 33"/>
          <p:cNvSpPr txBox="1"/>
          <p:nvPr/>
        </p:nvSpPr>
        <p:spPr>
          <a:xfrm>
            <a:off x="731520" y="5449824"/>
            <a:ext cx="786384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The artefact is tangled with SPEAKER and ACCENT — exactly what changes with the language.</a:t>
            </a:r>
            <a:endParaRPr lang="en-US" sz="1100" dirty="0"/>
          </a:p>
        </p:txBody>
      </p:sp>
      <p:sp>
        <p:nvSpPr>
          <p:cNvPr id="36" name="Text 34"/>
          <p:cNvSpPr txBox="1"/>
          <p:nvPr/>
        </p:nvSpPr>
        <p:spPr>
          <a:xfrm>
            <a:off x="731520" y="5742432"/>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The words are real. The identity is stolen.</a:t>
            </a:r>
            <a:pPr indent="0" marL="0">
              <a:buNone/>
            </a:pPr>
            <a:r>
              <a:rPr lang="en-US" sz="1500" dirty="0">
                <a:solidFill>
                  <a:srgbClr val="8C8C8C"/>
                </a:solidFill>
                <a:latin typeface="Inter" pitchFamily="34" charset="0"/>
                <a:ea typeface="Inter" pitchFamily="34" charset="-122"/>
                <a:cs typeface="Inter" pitchFamily="34" charset="-120"/>
              </a:rPr>
              <a:t> That is the attack our detectors cannot see in Spanish.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GAP</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Every benchmark</a:t>
            </a:r>
            <a:pPr indent="0" marL="0">
              <a:buNone/>
            </a:pPr>
            <a:r>
              <a:rPr lang="en-US" sz="3600" b="1" dirty="0">
                <a:solidFill>
                  <a:srgbClr val="BDBDBD"/>
                </a:solidFill>
                <a:latin typeface="Inter" pitchFamily="34" charset="0"/>
                <a:ea typeface="Inter" pitchFamily="34" charset="-122"/>
                <a:cs typeface="Inter" pitchFamily="34" charset="-120"/>
              </a:rPr>
              <a:t> is in English.</a:t>
            </a:r>
            <a:endParaRPr lang="en-US" sz="3600" dirty="0"/>
          </a:p>
        </p:txBody>
      </p:sp>
      <p:sp>
        <p:nvSpPr>
          <p:cNvPr id="4" name="Shape 2"/>
          <p:cNvSpPr/>
          <p:nvPr/>
        </p:nvSpPr>
        <p:spPr>
          <a:xfrm>
            <a:off x="621792" y="2002536"/>
            <a:ext cx="7360920" cy="493776"/>
          </a:xfrm>
          <a:prstGeom prst="roundRect">
            <a:avLst>
              <a:gd name="adj" fmla="val 11111"/>
            </a:avLst>
          </a:prstGeom>
          <a:solidFill>
            <a:srgbClr val="FFFBCC"/>
          </a:solidFill>
          <a:ln w="12700">
            <a:solidFill>
              <a:srgbClr val="FFE800"/>
            </a:solidFill>
            <a:prstDash val="solid"/>
          </a:ln>
        </p:spPr>
      </p:sp>
      <p:sp>
        <p:nvSpPr>
          <p:cNvPr id="5" name="Text 3"/>
          <p:cNvSpPr txBox="1"/>
          <p:nvPr/>
        </p:nvSpPr>
        <p:spPr>
          <a:xfrm>
            <a:off x="731520" y="2057400"/>
            <a:ext cx="1920240" cy="365760"/>
          </a:xfrm>
          <a:prstGeom prst="rect">
            <a:avLst/>
          </a:prstGeom>
          <a:noFill/>
          <a:ln/>
        </p:spPr>
        <p:txBody>
          <a:bodyPr wrap="square" lIns="0" tIns="0" rIns="0" bIns="0" rtlCol="0" anchor="ctr"/>
          <a:lstStyle/>
          <a:p>
            <a:pPr indent="0" marL="0">
              <a:buNone/>
            </a:pPr>
            <a:r>
              <a:rPr lang="en-US" sz="1400" b="1" dirty="0">
                <a:solidFill>
                  <a:srgbClr val="0D0D0D"/>
                </a:solidFill>
                <a:latin typeface="Inter" pitchFamily="34" charset="0"/>
                <a:ea typeface="Inter" pitchFamily="34" charset="-122"/>
                <a:cs typeface="Inter" pitchFamily="34" charset="-120"/>
              </a:rPr>
              <a:t>HABLA Spoof</a:t>
            </a:r>
            <a:endParaRPr lang="en-US" sz="1400" dirty="0"/>
          </a:p>
        </p:txBody>
      </p:sp>
      <p:sp>
        <p:nvSpPr>
          <p:cNvPr id="6" name="Text 4"/>
          <p:cNvSpPr txBox="1"/>
          <p:nvPr/>
        </p:nvSpPr>
        <p:spPr>
          <a:xfrm>
            <a:off x="2697480" y="2057400"/>
            <a:ext cx="640080" cy="365760"/>
          </a:xfrm>
          <a:prstGeom prst="rect">
            <a:avLst/>
          </a:prstGeom>
          <a:noFill/>
          <a:ln/>
        </p:spPr>
        <p:txBody>
          <a:bodyPr wrap="square" lIns="0" tIns="0" rIns="0" bIns="0" rtlCol="0" anchor="ctr"/>
          <a:lstStyle/>
          <a:p>
            <a:pPr indent="0" marL="0">
              <a:buNone/>
            </a:pPr>
            <a:r>
              <a:rPr lang="en-US" sz="1150" dirty="0">
                <a:solidFill>
                  <a:srgbClr val="0D0D0D"/>
                </a:solidFill>
                <a:latin typeface="Consolas" pitchFamily="34" charset="0"/>
                <a:ea typeface="Consolas" pitchFamily="34" charset="-122"/>
                <a:cs typeface="Consolas" pitchFamily="34" charset="-120"/>
              </a:rPr>
              <a:t>2023</a:t>
            </a:r>
            <a:endParaRPr lang="en-US" sz="1150" dirty="0"/>
          </a:p>
        </p:txBody>
      </p:sp>
      <p:sp>
        <p:nvSpPr>
          <p:cNvPr id="7" name="Text 5"/>
          <p:cNvSpPr txBox="1"/>
          <p:nvPr/>
        </p:nvSpPr>
        <p:spPr>
          <a:xfrm>
            <a:off x="3520440" y="2057400"/>
            <a:ext cx="1280160" cy="365760"/>
          </a:xfrm>
          <a:prstGeom prst="rect">
            <a:avLst/>
          </a:prstGeom>
          <a:noFill/>
          <a:ln/>
        </p:spPr>
        <p:txBody>
          <a:bodyPr wrap="square" lIns="0" tIns="0" rIns="0" bIns="0" rtlCol="0" anchor="ctr"/>
          <a:lstStyle/>
          <a:p>
            <a:pPr indent="0" marL="0">
              <a:buNone/>
            </a:pPr>
            <a:r>
              <a:rPr lang="en-US" sz="1200" dirty="0">
                <a:solidFill>
                  <a:srgbClr val="0D0D0D"/>
                </a:solidFill>
                <a:latin typeface="Consolas" pitchFamily="34" charset="0"/>
                <a:ea typeface="Consolas" pitchFamily="34" charset="-122"/>
                <a:cs typeface="Consolas" pitchFamily="34" charset="-120"/>
              </a:rPr>
              <a:t>Spanish</a:t>
            </a:r>
            <a:endParaRPr lang="en-US" sz="1200" dirty="0"/>
          </a:p>
        </p:txBody>
      </p:sp>
      <p:sp>
        <p:nvSpPr>
          <p:cNvPr id="8" name="Text 6"/>
          <p:cNvSpPr txBox="1"/>
          <p:nvPr/>
        </p:nvSpPr>
        <p:spPr>
          <a:xfrm>
            <a:off x="4892040" y="205740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 · deepfake</a:t>
            </a:r>
            <a:endParaRPr lang="en-US" sz="1150" dirty="0"/>
          </a:p>
        </p:txBody>
      </p:sp>
      <p:sp>
        <p:nvSpPr>
          <p:cNvPr id="9" name="Text 7"/>
          <p:cNvSpPr txBox="1"/>
          <p:nvPr/>
        </p:nvSpPr>
        <p:spPr>
          <a:xfrm>
            <a:off x="731520" y="2560320"/>
            <a:ext cx="1920240" cy="365760"/>
          </a:xfrm>
          <a:prstGeom prst="rect">
            <a:avLst/>
          </a:prstGeom>
          <a:noFill/>
          <a:ln/>
        </p:spPr>
        <p:txBody>
          <a:bodyPr wrap="square" lIns="0" tIns="0" rIns="0" bIns="0" rtlCol="0" anchor="ctr"/>
          <a:lstStyle/>
          <a:p>
            <a:pPr indent="0" marL="0">
              <a:buNone/>
            </a:pPr>
            <a:r>
              <a:rPr lang="en-US" sz="1400" dirty="0">
                <a:solidFill>
                  <a:srgbClr val="0D0D0D"/>
                </a:solidFill>
                <a:latin typeface="Inter" pitchFamily="34" charset="0"/>
                <a:ea typeface="Inter" pitchFamily="34" charset="-122"/>
                <a:cs typeface="Inter" pitchFamily="34" charset="-120"/>
              </a:rPr>
              <a:t>ASVspoof 2019</a:t>
            </a:r>
            <a:endParaRPr lang="en-US" sz="1400" dirty="0"/>
          </a:p>
        </p:txBody>
      </p:sp>
      <p:sp>
        <p:nvSpPr>
          <p:cNvPr id="10" name="Text 8"/>
          <p:cNvSpPr txBox="1"/>
          <p:nvPr/>
        </p:nvSpPr>
        <p:spPr>
          <a:xfrm>
            <a:off x="2697480" y="2560320"/>
            <a:ext cx="640080" cy="365760"/>
          </a:xfrm>
          <a:prstGeom prst="rect">
            <a:avLst/>
          </a:prstGeom>
          <a:noFill/>
          <a:ln/>
        </p:spPr>
        <p:txBody>
          <a:bodyPr wrap="square" lIns="0" tIns="0" rIns="0" bIns="0" rtlCol="0" anchor="ctr"/>
          <a:lstStyle/>
          <a:p>
            <a:pPr indent="0" marL="0">
              <a:buNone/>
            </a:pPr>
            <a:r>
              <a:rPr lang="en-US" sz="1150" dirty="0">
                <a:solidFill>
                  <a:srgbClr val="8C8C8C"/>
                </a:solidFill>
                <a:latin typeface="Consolas" pitchFamily="34" charset="0"/>
                <a:ea typeface="Consolas" pitchFamily="34" charset="-122"/>
                <a:cs typeface="Consolas" pitchFamily="34" charset="-120"/>
              </a:rPr>
              <a:t>2019</a:t>
            </a:r>
            <a:endParaRPr lang="en-US" sz="1150" dirty="0"/>
          </a:p>
        </p:txBody>
      </p:sp>
      <p:sp>
        <p:nvSpPr>
          <p:cNvPr id="11" name="Text 9"/>
          <p:cNvSpPr txBox="1"/>
          <p:nvPr/>
        </p:nvSpPr>
        <p:spPr>
          <a:xfrm>
            <a:off x="3520440" y="2560320"/>
            <a:ext cx="1280160" cy="365760"/>
          </a:xfrm>
          <a:prstGeom prst="rect">
            <a:avLst/>
          </a:prstGeom>
          <a:noFill/>
          <a:ln/>
        </p:spPr>
        <p:txBody>
          <a:bodyPr wrap="square" lIns="0" tIns="0" rIns="0" bIns="0" rtlCol="0" anchor="ctr"/>
          <a:lstStyle/>
          <a:p>
            <a:pPr indent="0" marL="0">
              <a:buNone/>
            </a:pPr>
            <a:r>
              <a:rPr lang="en-US" sz="1200" dirty="0">
                <a:solidFill>
                  <a:srgbClr val="3F3F3F"/>
                </a:solidFill>
                <a:latin typeface="Consolas" pitchFamily="34" charset="0"/>
                <a:ea typeface="Consolas" pitchFamily="34" charset="-122"/>
                <a:cs typeface="Consolas" pitchFamily="34" charset="-120"/>
              </a:rPr>
              <a:t>English</a:t>
            </a:r>
            <a:endParaRPr lang="en-US" sz="1200" dirty="0"/>
          </a:p>
        </p:txBody>
      </p:sp>
      <p:sp>
        <p:nvSpPr>
          <p:cNvPr id="12" name="Text 10"/>
          <p:cNvSpPr txBox="1"/>
          <p:nvPr/>
        </p:nvSpPr>
        <p:spPr>
          <a:xfrm>
            <a:off x="4892040" y="256032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 · physical access</a:t>
            </a:r>
            <a:endParaRPr lang="en-US" sz="1150" dirty="0"/>
          </a:p>
        </p:txBody>
      </p:sp>
      <p:sp>
        <p:nvSpPr>
          <p:cNvPr id="13" name="Text 11"/>
          <p:cNvSpPr txBox="1"/>
          <p:nvPr/>
        </p:nvSpPr>
        <p:spPr>
          <a:xfrm>
            <a:off x="731520" y="3063240"/>
            <a:ext cx="1920240" cy="365760"/>
          </a:xfrm>
          <a:prstGeom prst="rect">
            <a:avLst/>
          </a:prstGeom>
          <a:noFill/>
          <a:ln/>
        </p:spPr>
        <p:txBody>
          <a:bodyPr wrap="square" lIns="0" tIns="0" rIns="0" bIns="0" rtlCol="0" anchor="ctr"/>
          <a:lstStyle/>
          <a:p>
            <a:pPr indent="0" marL="0">
              <a:buNone/>
            </a:pPr>
            <a:r>
              <a:rPr lang="en-US" sz="1400" dirty="0">
                <a:solidFill>
                  <a:srgbClr val="0D0D0D"/>
                </a:solidFill>
                <a:latin typeface="Inter" pitchFamily="34" charset="0"/>
                <a:ea typeface="Inter" pitchFamily="34" charset="-122"/>
                <a:cs typeface="Inter" pitchFamily="34" charset="-120"/>
              </a:rPr>
              <a:t>ASVspoof 2021</a:t>
            </a:r>
            <a:endParaRPr lang="en-US" sz="1400" dirty="0"/>
          </a:p>
        </p:txBody>
      </p:sp>
      <p:sp>
        <p:nvSpPr>
          <p:cNvPr id="14" name="Text 12"/>
          <p:cNvSpPr txBox="1"/>
          <p:nvPr/>
        </p:nvSpPr>
        <p:spPr>
          <a:xfrm>
            <a:off x="2697480" y="3063240"/>
            <a:ext cx="640080" cy="365760"/>
          </a:xfrm>
          <a:prstGeom prst="rect">
            <a:avLst/>
          </a:prstGeom>
          <a:noFill/>
          <a:ln/>
        </p:spPr>
        <p:txBody>
          <a:bodyPr wrap="square" lIns="0" tIns="0" rIns="0" bIns="0" rtlCol="0" anchor="ctr"/>
          <a:lstStyle/>
          <a:p>
            <a:pPr indent="0" marL="0">
              <a:buNone/>
            </a:pPr>
            <a:r>
              <a:rPr lang="en-US" sz="1150" dirty="0">
                <a:solidFill>
                  <a:srgbClr val="8C8C8C"/>
                </a:solidFill>
                <a:latin typeface="Consolas" pitchFamily="34" charset="0"/>
                <a:ea typeface="Consolas" pitchFamily="34" charset="-122"/>
                <a:cs typeface="Consolas" pitchFamily="34" charset="-120"/>
              </a:rPr>
              <a:t>2021</a:t>
            </a:r>
            <a:endParaRPr lang="en-US" sz="1150" dirty="0"/>
          </a:p>
        </p:txBody>
      </p:sp>
      <p:sp>
        <p:nvSpPr>
          <p:cNvPr id="15" name="Text 13"/>
          <p:cNvSpPr txBox="1"/>
          <p:nvPr/>
        </p:nvSpPr>
        <p:spPr>
          <a:xfrm>
            <a:off x="3520440" y="3063240"/>
            <a:ext cx="1280160" cy="365760"/>
          </a:xfrm>
          <a:prstGeom prst="rect">
            <a:avLst/>
          </a:prstGeom>
          <a:noFill/>
          <a:ln/>
        </p:spPr>
        <p:txBody>
          <a:bodyPr wrap="square" lIns="0" tIns="0" rIns="0" bIns="0" rtlCol="0" anchor="ctr"/>
          <a:lstStyle/>
          <a:p>
            <a:pPr indent="0" marL="0">
              <a:buNone/>
            </a:pPr>
            <a:r>
              <a:rPr lang="en-US" sz="1200" dirty="0">
                <a:solidFill>
                  <a:srgbClr val="3F3F3F"/>
                </a:solidFill>
                <a:latin typeface="Consolas" pitchFamily="34" charset="0"/>
                <a:ea typeface="Consolas" pitchFamily="34" charset="-122"/>
                <a:cs typeface="Consolas" pitchFamily="34" charset="-120"/>
              </a:rPr>
              <a:t>English</a:t>
            </a:r>
            <a:endParaRPr lang="en-US" sz="1200" dirty="0"/>
          </a:p>
        </p:txBody>
      </p:sp>
      <p:sp>
        <p:nvSpPr>
          <p:cNvPr id="16" name="Text 14"/>
          <p:cNvSpPr txBox="1"/>
          <p:nvPr/>
        </p:nvSpPr>
        <p:spPr>
          <a:xfrm>
            <a:off x="4892040" y="306324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 · physical · deepfake</a:t>
            </a:r>
            <a:endParaRPr lang="en-US" sz="1150" dirty="0"/>
          </a:p>
        </p:txBody>
      </p:sp>
      <p:sp>
        <p:nvSpPr>
          <p:cNvPr id="17" name="Text 15"/>
          <p:cNvSpPr txBox="1"/>
          <p:nvPr/>
        </p:nvSpPr>
        <p:spPr>
          <a:xfrm>
            <a:off x="731520" y="3566160"/>
            <a:ext cx="1920240" cy="365760"/>
          </a:xfrm>
          <a:prstGeom prst="rect">
            <a:avLst/>
          </a:prstGeom>
          <a:noFill/>
          <a:ln/>
        </p:spPr>
        <p:txBody>
          <a:bodyPr wrap="square" lIns="0" tIns="0" rIns="0" bIns="0" rtlCol="0" anchor="ctr"/>
          <a:lstStyle/>
          <a:p>
            <a:pPr indent="0" marL="0">
              <a:buNone/>
            </a:pPr>
            <a:r>
              <a:rPr lang="en-US" sz="1400" dirty="0">
                <a:solidFill>
                  <a:srgbClr val="0D0D0D"/>
                </a:solidFill>
                <a:latin typeface="Inter" pitchFamily="34" charset="0"/>
                <a:ea typeface="Inter" pitchFamily="34" charset="-122"/>
                <a:cs typeface="Inter" pitchFamily="34" charset="-120"/>
              </a:rPr>
              <a:t>SAS</a:t>
            </a:r>
            <a:endParaRPr lang="en-US" sz="1400" dirty="0"/>
          </a:p>
        </p:txBody>
      </p:sp>
      <p:sp>
        <p:nvSpPr>
          <p:cNvPr id="18" name="Text 16"/>
          <p:cNvSpPr txBox="1"/>
          <p:nvPr/>
        </p:nvSpPr>
        <p:spPr>
          <a:xfrm>
            <a:off x="2697480" y="3566160"/>
            <a:ext cx="640080" cy="365760"/>
          </a:xfrm>
          <a:prstGeom prst="rect">
            <a:avLst/>
          </a:prstGeom>
          <a:noFill/>
          <a:ln/>
        </p:spPr>
        <p:txBody>
          <a:bodyPr wrap="square" lIns="0" tIns="0" rIns="0" bIns="0" rtlCol="0" anchor="ctr"/>
          <a:lstStyle/>
          <a:p>
            <a:pPr indent="0" marL="0">
              <a:buNone/>
            </a:pPr>
            <a:r>
              <a:rPr lang="en-US" sz="1150" dirty="0">
                <a:solidFill>
                  <a:srgbClr val="8C8C8C"/>
                </a:solidFill>
                <a:latin typeface="Consolas" pitchFamily="34" charset="0"/>
                <a:ea typeface="Consolas" pitchFamily="34" charset="-122"/>
                <a:cs typeface="Consolas" pitchFamily="34" charset="-120"/>
              </a:rPr>
              <a:t>2016</a:t>
            </a:r>
            <a:endParaRPr lang="en-US" sz="1150" dirty="0"/>
          </a:p>
        </p:txBody>
      </p:sp>
      <p:sp>
        <p:nvSpPr>
          <p:cNvPr id="19" name="Text 17"/>
          <p:cNvSpPr txBox="1"/>
          <p:nvPr/>
        </p:nvSpPr>
        <p:spPr>
          <a:xfrm>
            <a:off x="3520440" y="3566160"/>
            <a:ext cx="1280160" cy="365760"/>
          </a:xfrm>
          <a:prstGeom prst="rect">
            <a:avLst/>
          </a:prstGeom>
          <a:noFill/>
          <a:ln/>
        </p:spPr>
        <p:txBody>
          <a:bodyPr wrap="square" lIns="0" tIns="0" rIns="0" bIns="0" rtlCol="0" anchor="ctr"/>
          <a:lstStyle/>
          <a:p>
            <a:pPr indent="0" marL="0">
              <a:buNone/>
            </a:pPr>
            <a:r>
              <a:rPr lang="en-US" sz="1200" dirty="0">
                <a:solidFill>
                  <a:srgbClr val="3F3F3F"/>
                </a:solidFill>
                <a:latin typeface="Consolas" pitchFamily="34" charset="0"/>
                <a:ea typeface="Consolas" pitchFamily="34" charset="-122"/>
                <a:cs typeface="Consolas" pitchFamily="34" charset="-120"/>
              </a:rPr>
              <a:t>English</a:t>
            </a:r>
            <a:endParaRPr lang="en-US" sz="1200" dirty="0"/>
          </a:p>
        </p:txBody>
      </p:sp>
      <p:sp>
        <p:nvSpPr>
          <p:cNvPr id="20" name="Text 18"/>
          <p:cNvSpPr txBox="1"/>
          <p:nvPr/>
        </p:nvSpPr>
        <p:spPr>
          <a:xfrm>
            <a:off x="4892040" y="356616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a:t>
            </a:r>
            <a:endParaRPr lang="en-US" sz="1150" dirty="0"/>
          </a:p>
        </p:txBody>
      </p:sp>
      <p:sp>
        <p:nvSpPr>
          <p:cNvPr id="21" name="Text 19"/>
          <p:cNvSpPr txBox="1"/>
          <p:nvPr/>
        </p:nvSpPr>
        <p:spPr>
          <a:xfrm>
            <a:off x="731520" y="4069080"/>
            <a:ext cx="1920240" cy="365760"/>
          </a:xfrm>
          <a:prstGeom prst="rect">
            <a:avLst/>
          </a:prstGeom>
          <a:noFill/>
          <a:ln/>
        </p:spPr>
        <p:txBody>
          <a:bodyPr wrap="square" lIns="0" tIns="0" rIns="0" bIns="0" rtlCol="0" anchor="ctr"/>
          <a:lstStyle/>
          <a:p>
            <a:pPr indent="0" marL="0">
              <a:buNone/>
            </a:pPr>
            <a:r>
              <a:rPr lang="en-US" sz="1400" dirty="0">
                <a:solidFill>
                  <a:srgbClr val="0D0D0D"/>
                </a:solidFill>
                <a:latin typeface="Inter" pitchFamily="34" charset="0"/>
                <a:ea typeface="Inter" pitchFamily="34" charset="-122"/>
                <a:cs typeface="Inter" pitchFamily="34" charset="-120"/>
              </a:rPr>
              <a:t>FoR</a:t>
            </a:r>
            <a:endParaRPr lang="en-US" sz="1400" dirty="0"/>
          </a:p>
        </p:txBody>
      </p:sp>
      <p:sp>
        <p:nvSpPr>
          <p:cNvPr id="22" name="Text 20"/>
          <p:cNvSpPr txBox="1"/>
          <p:nvPr/>
        </p:nvSpPr>
        <p:spPr>
          <a:xfrm>
            <a:off x="2697480" y="4069080"/>
            <a:ext cx="640080" cy="365760"/>
          </a:xfrm>
          <a:prstGeom prst="rect">
            <a:avLst/>
          </a:prstGeom>
          <a:noFill/>
          <a:ln/>
        </p:spPr>
        <p:txBody>
          <a:bodyPr wrap="square" lIns="0" tIns="0" rIns="0" bIns="0" rtlCol="0" anchor="ctr"/>
          <a:lstStyle/>
          <a:p>
            <a:pPr indent="0" marL="0">
              <a:buNone/>
            </a:pPr>
            <a:r>
              <a:rPr lang="en-US" sz="1150" dirty="0">
                <a:solidFill>
                  <a:srgbClr val="8C8C8C"/>
                </a:solidFill>
                <a:latin typeface="Consolas" pitchFamily="34" charset="0"/>
                <a:ea typeface="Consolas" pitchFamily="34" charset="-122"/>
                <a:cs typeface="Consolas" pitchFamily="34" charset="-120"/>
              </a:rPr>
              <a:t>2019</a:t>
            </a:r>
            <a:endParaRPr lang="en-US" sz="1150" dirty="0"/>
          </a:p>
        </p:txBody>
      </p:sp>
      <p:sp>
        <p:nvSpPr>
          <p:cNvPr id="23" name="Text 21"/>
          <p:cNvSpPr txBox="1"/>
          <p:nvPr/>
        </p:nvSpPr>
        <p:spPr>
          <a:xfrm>
            <a:off x="3520440" y="4069080"/>
            <a:ext cx="1280160" cy="365760"/>
          </a:xfrm>
          <a:prstGeom prst="rect">
            <a:avLst/>
          </a:prstGeom>
          <a:noFill/>
          <a:ln/>
        </p:spPr>
        <p:txBody>
          <a:bodyPr wrap="square" lIns="0" tIns="0" rIns="0" bIns="0" rtlCol="0" anchor="ctr"/>
          <a:lstStyle/>
          <a:p>
            <a:pPr indent="0" marL="0">
              <a:buNone/>
            </a:pPr>
            <a:r>
              <a:rPr lang="en-US" sz="1200" dirty="0">
                <a:solidFill>
                  <a:srgbClr val="3F3F3F"/>
                </a:solidFill>
                <a:latin typeface="Consolas" pitchFamily="34" charset="0"/>
                <a:ea typeface="Consolas" pitchFamily="34" charset="-122"/>
                <a:cs typeface="Consolas" pitchFamily="34" charset="-120"/>
              </a:rPr>
              <a:t>English</a:t>
            </a:r>
            <a:endParaRPr lang="en-US" sz="1200" dirty="0"/>
          </a:p>
        </p:txBody>
      </p:sp>
      <p:sp>
        <p:nvSpPr>
          <p:cNvPr id="24" name="Text 22"/>
          <p:cNvSpPr txBox="1"/>
          <p:nvPr/>
        </p:nvSpPr>
        <p:spPr>
          <a:xfrm>
            <a:off x="4892040" y="406908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a:t>
            </a:r>
            <a:endParaRPr lang="en-US" sz="1150" dirty="0"/>
          </a:p>
        </p:txBody>
      </p:sp>
      <p:sp>
        <p:nvSpPr>
          <p:cNvPr id="25" name="Text 23"/>
          <p:cNvSpPr txBox="1"/>
          <p:nvPr/>
        </p:nvSpPr>
        <p:spPr>
          <a:xfrm>
            <a:off x="731520" y="4572000"/>
            <a:ext cx="1920240" cy="365760"/>
          </a:xfrm>
          <a:prstGeom prst="rect">
            <a:avLst/>
          </a:prstGeom>
          <a:noFill/>
          <a:ln/>
        </p:spPr>
        <p:txBody>
          <a:bodyPr wrap="square" lIns="0" tIns="0" rIns="0" bIns="0" rtlCol="0" anchor="ctr"/>
          <a:lstStyle/>
          <a:p>
            <a:pPr indent="0" marL="0">
              <a:buNone/>
            </a:pPr>
            <a:r>
              <a:rPr lang="en-US" sz="1400" dirty="0">
                <a:solidFill>
                  <a:srgbClr val="0D0D0D"/>
                </a:solidFill>
                <a:latin typeface="Inter" pitchFamily="34" charset="0"/>
                <a:ea typeface="Inter" pitchFamily="34" charset="-122"/>
                <a:cs typeface="Inter" pitchFamily="34" charset="-120"/>
              </a:rPr>
              <a:t>VCTK</a:t>
            </a:r>
            <a:endParaRPr lang="en-US" sz="1400" dirty="0"/>
          </a:p>
        </p:txBody>
      </p:sp>
      <p:sp>
        <p:nvSpPr>
          <p:cNvPr id="26" name="Text 24"/>
          <p:cNvSpPr txBox="1"/>
          <p:nvPr/>
        </p:nvSpPr>
        <p:spPr>
          <a:xfrm>
            <a:off x="2697480" y="4572000"/>
            <a:ext cx="640080" cy="365760"/>
          </a:xfrm>
          <a:prstGeom prst="rect">
            <a:avLst/>
          </a:prstGeom>
          <a:noFill/>
          <a:ln/>
        </p:spPr>
        <p:txBody>
          <a:bodyPr wrap="square" lIns="0" tIns="0" rIns="0" bIns="0" rtlCol="0" anchor="ctr"/>
          <a:lstStyle/>
          <a:p>
            <a:pPr indent="0" marL="0">
              <a:buNone/>
            </a:pPr>
            <a:r>
              <a:rPr lang="en-US" sz="1150" dirty="0">
                <a:solidFill>
                  <a:srgbClr val="8C8C8C"/>
                </a:solidFill>
                <a:latin typeface="Consolas" pitchFamily="34" charset="0"/>
                <a:ea typeface="Consolas" pitchFamily="34" charset="-122"/>
                <a:cs typeface="Consolas" pitchFamily="34" charset="-120"/>
              </a:rPr>
              <a:t>2019</a:t>
            </a:r>
            <a:endParaRPr lang="en-US" sz="1150" dirty="0"/>
          </a:p>
        </p:txBody>
      </p:sp>
      <p:sp>
        <p:nvSpPr>
          <p:cNvPr id="27" name="Text 25"/>
          <p:cNvSpPr txBox="1"/>
          <p:nvPr/>
        </p:nvSpPr>
        <p:spPr>
          <a:xfrm>
            <a:off x="3520440" y="4572000"/>
            <a:ext cx="1280160" cy="365760"/>
          </a:xfrm>
          <a:prstGeom prst="rect">
            <a:avLst/>
          </a:prstGeom>
          <a:noFill/>
          <a:ln/>
        </p:spPr>
        <p:txBody>
          <a:bodyPr wrap="square" lIns="0" tIns="0" rIns="0" bIns="0" rtlCol="0" anchor="ctr"/>
          <a:lstStyle/>
          <a:p>
            <a:pPr indent="0" marL="0">
              <a:buNone/>
            </a:pPr>
            <a:r>
              <a:rPr lang="en-US" sz="1200" dirty="0">
                <a:solidFill>
                  <a:srgbClr val="3F3F3F"/>
                </a:solidFill>
                <a:latin typeface="Consolas" pitchFamily="34" charset="0"/>
                <a:ea typeface="Consolas" pitchFamily="34" charset="-122"/>
                <a:cs typeface="Consolas" pitchFamily="34" charset="-120"/>
              </a:rPr>
              <a:t>English</a:t>
            </a:r>
            <a:endParaRPr lang="en-US" sz="1200" dirty="0"/>
          </a:p>
        </p:txBody>
      </p:sp>
      <p:sp>
        <p:nvSpPr>
          <p:cNvPr id="28" name="Text 26"/>
          <p:cNvSpPr txBox="1"/>
          <p:nvPr/>
        </p:nvSpPr>
        <p:spPr>
          <a:xfrm>
            <a:off x="4892040" y="4572000"/>
            <a:ext cx="3383280" cy="365760"/>
          </a:xfrm>
          <a:prstGeom prst="rect">
            <a:avLst/>
          </a:prstGeom>
          <a:noFill/>
          <a:ln/>
        </p:spPr>
        <p:txBody>
          <a:bodyPr wrap="square" lIns="0" tIns="0" rIns="0" bIns="0" rtlCol="0" anchor="ctr"/>
          <a:lstStyle/>
          <a:p>
            <a:pPr indent="0" marL="0">
              <a:buNone/>
            </a:pPr>
            <a:r>
              <a:rPr lang="en-US" sz="1150" dirty="0">
                <a:solidFill>
                  <a:srgbClr val="8C8C8C"/>
                </a:solidFill>
                <a:latin typeface="Inter" pitchFamily="34" charset="0"/>
                <a:ea typeface="Inter" pitchFamily="34" charset="-122"/>
                <a:cs typeface="Inter" pitchFamily="34" charset="-120"/>
              </a:rPr>
              <a:t>logical access</a:t>
            </a:r>
            <a:endParaRPr lang="en-US" sz="1150" dirty="0"/>
          </a:p>
        </p:txBody>
      </p:sp>
      <p:sp>
        <p:nvSpPr>
          <p:cNvPr id="29" name="Shape 27"/>
          <p:cNvSpPr/>
          <p:nvPr/>
        </p:nvSpPr>
        <p:spPr>
          <a:xfrm>
            <a:off x="8259775" y="2057400"/>
            <a:ext cx="3200400" cy="2103120"/>
          </a:xfrm>
          <a:prstGeom prst="roundRect">
            <a:avLst>
              <a:gd name="adj" fmla="val 2609"/>
            </a:avLst>
          </a:prstGeom>
          <a:solidFill>
            <a:srgbClr val="FFFFFF"/>
          </a:solidFill>
          <a:ln w="12700">
            <a:solidFill>
              <a:srgbClr val="0D0D0D"/>
            </a:solidFill>
            <a:prstDash val="solid"/>
          </a:ln>
        </p:spPr>
      </p:sp>
      <p:sp>
        <p:nvSpPr>
          <p:cNvPr id="30" name="Text 28"/>
          <p:cNvSpPr txBox="1"/>
          <p:nvPr/>
        </p:nvSpPr>
        <p:spPr>
          <a:xfrm>
            <a:off x="8534095" y="2240280"/>
            <a:ext cx="2743200" cy="59436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5 of 6</a:t>
            </a:r>
            <a:endParaRPr lang="en-US" sz="3400" dirty="0"/>
          </a:p>
        </p:txBody>
      </p:sp>
      <p:sp>
        <p:nvSpPr>
          <p:cNvPr id="31" name="Text 29"/>
          <p:cNvSpPr txBox="1"/>
          <p:nvPr/>
        </p:nvSpPr>
        <p:spPr>
          <a:xfrm>
            <a:off x="8534095" y="2880360"/>
            <a:ext cx="2743200" cy="109728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Spanish appears once. Every system in this literature learned what a fake sounds like from English speakers.</a:t>
            </a:r>
            <a:endParaRPr lang="en-US" sz="1250" dirty="0"/>
          </a:p>
        </p:txBody>
      </p:sp>
      <p:sp>
        <p:nvSpPr>
          <p:cNvPr id="32" name="Text 30"/>
          <p:cNvSpPr txBox="1"/>
          <p:nvPr/>
        </p:nvSpPr>
        <p:spPr>
          <a:xfrm>
            <a:off x="731520" y="5138928"/>
            <a:ext cx="10728655" cy="27432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Newest entry: 2023.  </a:t>
            </a:r>
            <a:pPr indent="0" marL="0">
              <a:buNone/>
            </a:pPr>
            <a:r>
              <a:rPr lang="en-US" sz="1200" dirty="0">
                <a:solidFill>
                  <a:srgbClr val="3F3F3F"/>
                </a:solidFill>
                <a:latin typeface="Inter" pitchFamily="34" charset="0"/>
                <a:ea typeface="Inter" pitchFamily="34" charset="-122"/>
                <a:cs typeface="Inter" pitchFamily="34" charset="-120"/>
              </a:rPr>
              <a:t>Multilingual corpora have since added Spanish — built from text-to-speech, without voice conversion.</a:t>
            </a:r>
            <a:endParaRPr lang="en-US" sz="1200" dirty="0"/>
          </a:p>
        </p:txBody>
      </p:sp>
      <p:sp>
        <p:nvSpPr>
          <p:cNvPr id="33" name="Text 31"/>
          <p:cNvSpPr txBox="1"/>
          <p:nvPr/>
        </p:nvSpPr>
        <p:spPr>
          <a:xfrm>
            <a:off x="731520" y="553212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Tamayo et al. (2023) showed English-trained detectors break on Spanish.</a:t>
            </a:r>
            <a:pPr indent="0" marL="0">
              <a:buNone/>
            </a:pPr>
            <a:r>
              <a:rPr lang="en-US" sz="1500" dirty="0">
                <a:solidFill>
                  <a:srgbClr val="8C8C8C"/>
                </a:solidFill>
                <a:latin typeface="Inter" pitchFamily="34" charset="0"/>
                <a:ea typeface="Inter" pitchFamily="34" charset="-122"/>
                <a:cs typeface="Inter" pitchFamily="34" charset="-120"/>
              </a:rPr>
              <a:t> We went looking for why.</a:t>
            </a:r>
            <a:endParaRPr lang="en-US" sz="1500" dirty="0"/>
          </a:p>
        </p:txBody>
      </p:sp>
      <p:sp>
        <p:nvSpPr>
          <p:cNvPr id="34" name="Text 32"/>
          <p:cNvSpPr txBox="1"/>
          <p:nvPr/>
        </p:nvSpPr>
        <p:spPr>
          <a:xfrm>
            <a:off x="731520" y="5925312"/>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1 — anti-spoofing dataset taxonomy; years from the paper's own references.</a:t>
            </a:r>
            <a:endParaRPr lang="en-US" sz="900" dirty="0"/>
          </a:p>
        </p:txBody>
      </p:sp>
      <p:pic>
        <p:nvPicPr>
          <p:cNvPr id="35"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36" name="Text 3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37" name="Text 3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ATTACKS IN THE SPANISH CORPUS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100" b="1" dirty="0">
                <a:solidFill>
                  <a:srgbClr val="0D0D0D"/>
                </a:solidFill>
                <a:latin typeface="Inter" pitchFamily="34" charset="0"/>
                <a:ea typeface="Inter" pitchFamily="34" charset="-122"/>
                <a:cs typeface="Inter" pitchFamily="34" charset="-120"/>
              </a:rPr>
              <a:t>Three ways to steal a voice.</a:t>
            </a:r>
            <a:pPr indent="0" marL="0">
              <a:buNone/>
            </a:pPr>
            <a:r>
              <a:rPr lang="en-US" sz="3100" b="1" dirty="0">
                <a:solidFill>
                  <a:srgbClr val="BDBDBD"/>
                </a:solidFill>
                <a:latin typeface="Inter" pitchFamily="34" charset="0"/>
                <a:ea typeface="Inter" pitchFamily="34" charset="-122"/>
                <a:cs typeface="Inter" pitchFamily="34" charset="-120"/>
              </a:rPr>
              <a:t> Two GANs, one diffusion.</a:t>
            </a:r>
            <a:endParaRPr lang="en-US" sz="3100" dirty="0"/>
          </a:p>
        </p:txBody>
      </p:sp>
      <p:sp>
        <p:nvSpPr>
          <p:cNvPr id="4" name="Shape 2"/>
          <p:cNvSpPr/>
          <p:nvPr/>
        </p:nvSpPr>
        <p:spPr>
          <a:xfrm>
            <a:off x="731520" y="2103120"/>
            <a:ext cx="3332378" cy="2971800"/>
          </a:xfrm>
          <a:prstGeom prst="roundRect">
            <a:avLst>
              <a:gd name="adj" fmla="val 1846"/>
            </a:avLst>
          </a:prstGeom>
          <a:solidFill>
            <a:srgbClr val="FFFFFF"/>
          </a:solidFill>
          <a:ln w="12700">
            <a:solidFill>
              <a:srgbClr val="E6E6E6"/>
            </a:solidFill>
            <a:prstDash val="solid"/>
          </a:ln>
        </p:spPr>
      </p:sp>
      <p:sp>
        <p:nvSpPr>
          <p:cNvPr id="5" name="Shape 3"/>
          <p:cNvSpPr/>
          <p:nvPr/>
        </p:nvSpPr>
        <p:spPr>
          <a:xfrm>
            <a:off x="1143000" y="2423160"/>
            <a:ext cx="1051560" cy="274320"/>
          </a:xfrm>
          <a:prstGeom prst="roundRect">
            <a:avLst>
              <a:gd name="adj" fmla="val 26667"/>
            </a:avLst>
          </a:prstGeom>
          <a:solidFill>
            <a:srgbClr val="F7F7F5"/>
          </a:solidFill>
          <a:ln w="12700">
            <a:solidFill>
              <a:srgbClr val="E6E6E6"/>
            </a:solidFill>
            <a:prstDash val="solid"/>
          </a:ln>
        </p:spPr>
      </p:sp>
      <p:sp>
        <p:nvSpPr>
          <p:cNvPr id="6" name="Text 4"/>
          <p:cNvSpPr txBox="1"/>
          <p:nvPr/>
        </p:nvSpPr>
        <p:spPr>
          <a:xfrm>
            <a:off x="1143000" y="2423160"/>
            <a:ext cx="1051560" cy="274320"/>
          </a:xfrm>
          <a:prstGeom prst="rect">
            <a:avLst/>
          </a:prstGeom>
          <a:noFill/>
          <a:ln/>
        </p:spPr>
        <p:txBody>
          <a:bodyPr wrap="square" lIns="0" tIns="0" rIns="0" bIns="0" rtlCol="0" anchor="ctr"/>
          <a:lstStyle/>
          <a:p>
            <a:pPr algn="ctr" indent="0" marL="0">
              <a:buNone/>
            </a:pPr>
            <a:r>
              <a:rPr lang="en-US" sz="900" b="1" spc="120" kern="0" dirty="0">
                <a:solidFill>
                  <a:srgbClr val="0D0D0D"/>
                </a:solidFill>
                <a:latin typeface="Inter" pitchFamily="34" charset="0"/>
                <a:ea typeface="Inter" pitchFamily="34" charset="-122"/>
                <a:cs typeface="Inter" pitchFamily="34" charset="-120"/>
              </a:rPr>
              <a:t>GAN</a:t>
            </a:r>
            <a:endParaRPr lang="en-US" sz="900" dirty="0"/>
          </a:p>
        </p:txBody>
      </p:sp>
      <p:sp>
        <p:nvSpPr>
          <p:cNvPr id="7" name="Text 5"/>
          <p:cNvSpPr txBox="1"/>
          <p:nvPr/>
        </p:nvSpPr>
        <p:spPr>
          <a:xfrm>
            <a:off x="1143000" y="2816352"/>
            <a:ext cx="2509418" cy="384048"/>
          </a:xfrm>
          <a:prstGeom prst="rect">
            <a:avLst/>
          </a:prstGeom>
          <a:noFill/>
          <a:ln/>
        </p:spPr>
        <p:txBody>
          <a:bodyPr wrap="square" lIns="0" tIns="0" rIns="0" bIns="0" rtlCol="0" anchor="ctr"/>
          <a:lstStyle/>
          <a:p>
            <a:pPr indent="0" marL="0">
              <a:buNone/>
            </a:pPr>
            <a:r>
              <a:rPr lang="en-US" sz="2100" b="1" dirty="0">
                <a:solidFill>
                  <a:srgbClr val="0D0D0D"/>
                </a:solidFill>
                <a:latin typeface="Inter" pitchFamily="34" charset="0"/>
                <a:ea typeface="Inter" pitchFamily="34" charset="-122"/>
                <a:cs typeface="Inter" pitchFamily="34" charset="-120"/>
              </a:rPr>
              <a:t>CycleGAN</a:t>
            </a:r>
            <a:endParaRPr lang="en-US" sz="2100" dirty="0"/>
          </a:p>
        </p:txBody>
      </p:sp>
      <p:sp>
        <p:nvSpPr>
          <p:cNvPr id="8" name="Shape 6"/>
          <p:cNvSpPr/>
          <p:nvPr/>
        </p:nvSpPr>
        <p:spPr>
          <a:xfrm>
            <a:off x="4429658" y="2103120"/>
            <a:ext cx="3332378" cy="2971800"/>
          </a:xfrm>
          <a:prstGeom prst="roundRect">
            <a:avLst>
              <a:gd name="adj" fmla="val 1846"/>
            </a:avLst>
          </a:prstGeom>
          <a:solidFill>
            <a:srgbClr val="FFFFFF"/>
          </a:solidFill>
          <a:ln w="12700">
            <a:solidFill>
              <a:srgbClr val="E6E6E6"/>
            </a:solidFill>
            <a:prstDash val="solid"/>
          </a:ln>
        </p:spPr>
      </p:sp>
      <p:sp>
        <p:nvSpPr>
          <p:cNvPr id="9" name="Shape 7"/>
          <p:cNvSpPr/>
          <p:nvPr/>
        </p:nvSpPr>
        <p:spPr>
          <a:xfrm>
            <a:off x="4841138" y="2423160"/>
            <a:ext cx="1051560" cy="274320"/>
          </a:xfrm>
          <a:prstGeom prst="roundRect">
            <a:avLst>
              <a:gd name="adj" fmla="val 26667"/>
            </a:avLst>
          </a:prstGeom>
          <a:solidFill>
            <a:srgbClr val="F7F7F5"/>
          </a:solidFill>
          <a:ln w="12700">
            <a:solidFill>
              <a:srgbClr val="E6E6E6"/>
            </a:solidFill>
            <a:prstDash val="solid"/>
          </a:ln>
        </p:spPr>
      </p:sp>
      <p:sp>
        <p:nvSpPr>
          <p:cNvPr id="10" name="Text 8"/>
          <p:cNvSpPr txBox="1"/>
          <p:nvPr/>
        </p:nvSpPr>
        <p:spPr>
          <a:xfrm>
            <a:off x="4841138" y="2423160"/>
            <a:ext cx="1051560" cy="274320"/>
          </a:xfrm>
          <a:prstGeom prst="rect">
            <a:avLst/>
          </a:prstGeom>
          <a:noFill/>
          <a:ln/>
        </p:spPr>
        <p:txBody>
          <a:bodyPr wrap="square" lIns="0" tIns="0" rIns="0" bIns="0" rtlCol="0" anchor="ctr"/>
          <a:lstStyle/>
          <a:p>
            <a:pPr algn="ctr" indent="0" marL="0">
              <a:buNone/>
            </a:pPr>
            <a:r>
              <a:rPr lang="en-US" sz="900" b="1" spc="120" kern="0" dirty="0">
                <a:solidFill>
                  <a:srgbClr val="0D0D0D"/>
                </a:solidFill>
                <a:latin typeface="Inter" pitchFamily="34" charset="0"/>
                <a:ea typeface="Inter" pitchFamily="34" charset="-122"/>
                <a:cs typeface="Inter" pitchFamily="34" charset="-120"/>
              </a:rPr>
              <a:t>GAN</a:t>
            </a:r>
            <a:endParaRPr lang="en-US" sz="900" dirty="0"/>
          </a:p>
        </p:txBody>
      </p:sp>
      <p:sp>
        <p:nvSpPr>
          <p:cNvPr id="11" name="Text 9"/>
          <p:cNvSpPr txBox="1"/>
          <p:nvPr/>
        </p:nvSpPr>
        <p:spPr>
          <a:xfrm>
            <a:off x="4841138" y="2816352"/>
            <a:ext cx="2509418" cy="384048"/>
          </a:xfrm>
          <a:prstGeom prst="rect">
            <a:avLst/>
          </a:prstGeom>
          <a:noFill/>
          <a:ln/>
        </p:spPr>
        <p:txBody>
          <a:bodyPr wrap="square" lIns="0" tIns="0" rIns="0" bIns="0" rtlCol="0" anchor="ctr"/>
          <a:lstStyle/>
          <a:p>
            <a:pPr indent="0" marL="0">
              <a:buNone/>
            </a:pPr>
            <a:r>
              <a:rPr lang="en-US" sz="2100" b="1" dirty="0">
                <a:solidFill>
                  <a:srgbClr val="0D0D0D"/>
                </a:solidFill>
                <a:latin typeface="Inter" pitchFamily="34" charset="0"/>
                <a:ea typeface="Inter" pitchFamily="34" charset="-122"/>
                <a:cs typeface="Inter" pitchFamily="34" charset="-120"/>
              </a:rPr>
              <a:t>StarGAN</a:t>
            </a:r>
            <a:endParaRPr lang="en-US" sz="2100" dirty="0"/>
          </a:p>
        </p:txBody>
      </p:sp>
      <p:sp>
        <p:nvSpPr>
          <p:cNvPr id="12" name="Shape 10"/>
          <p:cNvSpPr/>
          <p:nvPr/>
        </p:nvSpPr>
        <p:spPr>
          <a:xfrm>
            <a:off x="8127797" y="2103120"/>
            <a:ext cx="3332378" cy="2971800"/>
          </a:xfrm>
          <a:prstGeom prst="roundRect">
            <a:avLst>
              <a:gd name="adj" fmla="val 1846"/>
            </a:avLst>
          </a:prstGeom>
          <a:solidFill>
            <a:srgbClr val="FFFFFF"/>
          </a:solidFill>
          <a:ln w="19050">
            <a:solidFill>
              <a:srgbClr val="FFE800"/>
            </a:solidFill>
            <a:prstDash val="solid"/>
          </a:ln>
        </p:spPr>
      </p:sp>
      <p:sp>
        <p:nvSpPr>
          <p:cNvPr id="13" name="Shape 11"/>
          <p:cNvSpPr/>
          <p:nvPr/>
        </p:nvSpPr>
        <p:spPr>
          <a:xfrm>
            <a:off x="8539277" y="2423160"/>
            <a:ext cx="1051560" cy="274320"/>
          </a:xfrm>
          <a:prstGeom prst="roundRect">
            <a:avLst>
              <a:gd name="adj" fmla="val 26667"/>
            </a:avLst>
          </a:prstGeom>
          <a:solidFill>
            <a:srgbClr val="FFE800"/>
          </a:solidFill>
          <a:ln w="12700">
            <a:solidFill>
              <a:srgbClr val="FFE800"/>
            </a:solidFill>
            <a:prstDash val="solid"/>
          </a:ln>
        </p:spPr>
      </p:sp>
      <p:sp>
        <p:nvSpPr>
          <p:cNvPr id="14" name="Text 12"/>
          <p:cNvSpPr txBox="1"/>
          <p:nvPr/>
        </p:nvSpPr>
        <p:spPr>
          <a:xfrm>
            <a:off x="8539277" y="2423160"/>
            <a:ext cx="1051560" cy="274320"/>
          </a:xfrm>
          <a:prstGeom prst="rect">
            <a:avLst/>
          </a:prstGeom>
          <a:noFill/>
          <a:ln/>
        </p:spPr>
        <p:txBody>
          <a:bodyPr wrap="square" lIns="0" tIns="0" rIns="0" bIns="0" rtlCol="0" anchor="ctr"/>
          <a:lstStyle/>
          <a:p>
            <a:pPr algn="ctr" indent="0" marL="0">
              <a:buNone/>
            </a:pPr>
            <a:r>
              <a:rPr lang="en-US" sz="900" b="1" spc="120" kern="0" dirty="0">
                <a:solidFill>
                  <a:srgbClr val="0D0D0D"/>
                </a:solidFill>
                <a:latin typeface="Inter" pitchFamily="34" charset="0"/>
                <a:ea typeface="Inter" pitchFamily="34" charset="-122"/>
                <a:cs typeface="Inter" pitchFamily="34" charset="-120"/>
              </a:rPr>
              <a:t>DIFFUSION</a:t>
            </a:r>
            <a:endParaRPr lang="en-US" sz="900" dirty="0"/>
          </a:p>
        </p:txBody>
      </p:sp>
      <p:sp>
        <p:nvSpPr>
          <p:cNvPr id="15" name="Text 13"/>
          <p:cNvSpPr txBox="1"/>
          <p:nvPr/>
        </p:nvSpPr>
        <p:spPr>
          <a:xfrm>
            <a:off x="8539277" y="2816352"/>
            <a:ext cx="2509418" cy="384048"/>
          </a:xfrm>
          <a:prstGeom prst="rect">
            <a:avLst/>
          </a:prstGeom>
          <a:noFill/>
          <a:ln/>
        </p:spPr>
        <p:txBody>
          <a:bodyPr wrap="square" lIns="0" tIns="0" rIns="0" bIns="0" rtlCol="0" anchor="ctr"/>
          <a:lstStyle/>
          <a:p>
            <a:pPr indent="0" marL="0">
              <a:buNone/>
            </a:pPr>
            <a:r>
              <a:rPr lang="en-US" sz="2100" b="1" dirty="0">
                <a:solidFill>
                  <a:srgbClr val="0D0D0D"/>
                </a:solidFill>
                <a:latin typeface="Inter" pitchFamily="34" charset="0"/>
                <a:ea typeface="Inter" pitchFamily="34" charset="-122"/>
                <a:cs typeface="Inter" pitchFamily="34" charset="-120"/>
              </a:rPr>
              <a:t>DiffVC</a:t>
            </a:r>
            <a:endParaRPr lang="en-US" sz="2100" dirty="0"/>
          </a:p>
        </p:txBody>
      </p:sp>
      <p:sp>
        <p:nvSpPr>
          <p:cNvPr id="16" name="Shape 14"/>
          <p:cNvSpPr/>
          <p:nvPr/>
        </p:nvSpPr>
        <p:spPr>
          <a:xfrm>
            <a:off x="1426464" y="3483864"/>
            <a:ext cx="438912" cy="438912"/>
          </a:xfrm>
          <a:prstGeom prst="ellipse">
            <a:avLst/>
          </a:prstGeom>
          <a:solidFill>
            <a:srgbClr val="F7F7F5"/>
          </a:solidFill>
          <a:ln w="15875">
            <a:solidFill>
              <a:srgbClr val="0D0D0D"/>
            </a:solidFill>
            <a:prstDash val="solid"/>
          </a:ln>
        </p:spPr>
      </p:sp>
      <p:sp>
        <p:nvSpPr>
          <p:cNvPr id="17" name="Text 15"/>
          <p:cNvSpPr txBox="1"/>
          <p:nvPr/>
        </p:nvSpPr>
        <p:spPr>
          <a:xfrm>
            <a:off x="1097280" y="3977640"/>
            <a:ext cx="109728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source</a:t>
            </a:r>
            <a:endParaRPr lang="en-US" sz="900" dirty="0"/>
          </a:p>
        </p:txBody>
      </p:sp>
      <p:sp>
        <p:nvSpPr>
          <p:cNvPr id="18" name="Shape 16"/>
          <p:cNvSpPr/>
          <p:nvPr/>
        </p:nvSpPr>
        <p:spPr>
          <a:xfrm>
            <a:off x="2930042" y="3483864"/>
            <a:ext cx="438912" cy="438912"/>
          </a:xfrm>
          <a:prstGeom prst="ellipse">
            <a:avLst/>
          </a:prstGeom>
          <a:solidFill>
            <a:srgbClr val="F7F7F5"/>
          </a:solidFill>
          <a:ln w="15875">
            <a:solidFill>
              <a:srgbClr val="0D0D0D"/>
            </a:solidFill>
            <a:prstDash val="solid"/>
          </a:ln>
        </p:spPr>
      </p:sp>
      <p:sp>
        <p:nvSpPr>
          <p:cNvPr id="19" name="Text 17"/>
          <p:cNvSpPr txBox="1"/>
          <p:nvPr/>
        </p:nvSpPr>
        <p:spPr>
          <a:xfrm>
            <a:off x="2600858" y="3977640"/>
            <a:ext cx="109728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target</a:t>
            </a:r>
            <a:endParaRPr lang="en-US" sz="900" dirty="0"/>
          </a:p>
        </p:txBody>
      </p:sp>
      <p:sp>
        <p:nvSpPr>
          <p:cNvPr id="20" name="Shape 18"/>
          <p:cNvSpPr/>
          <p:nvPr/>
        </p:nvSpPr>
        <p:spPr>
          <a:xfrm>
            <a:off x="1920240" y="3593592"/>
            <a:ext cx="954938" cy="0"/>
          </a:xfrm>
          <a:prstGeom prst="line">
            <a:avLst/>
          </a:prstGeom>
          <a:noFill/>
          <a:ln w="19050">
            <a:solidFill>
              <a:srgbClr val="0D0D0D"/>
            </a:solidFill>
            <a:prstDash val="solid"/>
            <a:tailEnd type="triangle"/>
          </a:ln>
        </p:spPr>
      </p:sp>
      <p:sp>
        <p:nvSpPr>
          <p:cNvPr id="21" name="Shape 19"/>
          <p:cNvSpPr/>
          <p:nvPr/>
        </p:nvSpPr>
        <p:spPr>
          <a:xfrm>
            <a:off x="1920240" y="3813048"/>
            <a:ext cx="954938" cy="0"/>
          </a:xfrm>
          <a:prstGeom prst="line">
            <a:avLst/>
          </a:prstGeom>
          <a:noFill/>
          <a:ln w="19050">
            <a:solidFill>
              <a:srgbClr val="BDBDBD"/>
            </a:solidFill>
            <a:prstDash val="solid"/>
            <a:headEnd type="triangle"/>
          </a:ln>
        </p:spPr>
      </p:sp>
      <p:sp>
        <p:nvSpPr>
          <p:cNvPr id="22" name="Text 20"/>
          <p:cNvSpPr txBox="1"/>
          <p:nvPr/>
        </p:nvSpPr>
        <p:spPr>
          <a:xfrm>
            <a:off x="1645920" y="3264408"/>
            <a:ext cx="1503578"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convert</a:t>
            </a:r>
            <a:endParaRPr lang="en-US" sz="900" dirty="0"/>
          </a:p>
        </p:txBody>
      </p:sp>
      <p:sp>
        <p:nvSpPr>
          <p:cNvPr id="23" name="Text 21"/>
          <p:cNvSpPr txBox="1"/>
          <p:nvPr/>
        </p:nvSpPr>
        <p:spPr>
          <a:xfrm>
            <a:off x="1143000" y="4315968"/>
            <a:ext cx="2509418" cy="777240"/>
          </a:xfrm>
          <a:prstGeom prst="rect">
            <a:avLst/>
          </a:prstGeom>
          <a:noFill/>
          <a:ln/>
        </p:spPr>
        <p:txBody>
          <a:bodyPr wrap="square" lIns="0" tIns="0" rIns="0" bIns="0" rtlCol="0" anchor="ctr"/>
          <a:lstStyle/>
          <a:p>
            <a:pPr indent="0" marL="0">
              <a:lnSpc>
                <a:spcPct val="125000"/>
              </a:lnSpc>
              <a:buNone/>
            </a:pPr>
            <a:r>
              <a:rPr lang="en-US" sz="1050" dirty="0">
                <a:solidFill>
                  <a:srgbClr val="3F3F3F"/>
                </a:solidFill>
                <a:latin typeface="Inter" pitchFamily="34" charset="0"/>
                <a:ea typeface="Inter" pitchFamily="34" charset="-122"/>
                <a:cs typeface="Inter" pitchFamily="34" charset="-120"/>
              </a:rPr>
              <a:t>Converts A into B, then back again, and checks it lands on A. That round trip lets it learn without paired recordings.</a:t>
            </a:r>
            <a:endParaRPr lang="en-US" sz="1050" dirty="0"/>
          </a:p>
        </p:txBody>
      </p:sp>
      <p:sp>
        <p:nvSpPr>
          <p:cNvPr id="24" name="Shape 22"/>
          <p:cNvSpPr/>
          <p:nvPr/>
        </p:nvSpPr>
        <p:spPr>
          <a:xfrm>
            <a:off x="5078882" y="3483864"/>
            <a:ext cx="438912" cy="438912"/>
          </a:xfrm>
          <a:prstGeom prst="ellipse">
            <a:avLst/>
          </a:prstGeom>
          <a:solidFill>
            <a:srgbClr val="F7F7F5"/>
          </a:solidFill>
          <a:ln w="15875">
            <a:solidFill>
              <a:srgbClr val="0D0D0D"/>
            </a:solidFill>
            <a:prstDash val="solid"/>
          </a:ln>
        </p:spPr>
      </p:sp>
      <p:sp>
        <p:nvSpPr>
          <p:cNvPr id="25" name="Text 23"/>
          <p:cNvSpPr txBox="1"/>
          <p:nvPr/>
        </p:nvSpPr>
        <p:spPr>
          <a:xfrm>
            <a:off x="4749698" y="3977640"/>
            <a:ext cx="109728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source</a:t>
            </a:r>
            <a:endParaRPr lang="en-US" sz="900" dirty="0"/>
          </a:p>
        </p:txBody>
      </p:sp>
      <p:sp>
        <p:nvSpPr>
          <p:cNvPr id="26" name="Shape 24"/>
          <p:cNvSpPr/>
          <p:nvPr/>
        </p:nvSpPr>
        <p:spPr>
          <a:xfrm>
            <a:off x="5867248" y="3447288"/>
            <a:ext cx="548640" cy="512064"/>
          </a:xfrm>
          <a:prstGeom prst="roundRect">
            <a:avLst>
              <a:gd name="adj" fmla="val 10714"/>
            </a:avLst>
          </a:prstGeom>
          <a:solidFill>
            <a:srgbClr val="0D0D0D"/>
          </a:solidFill>
          <a:ln w="12700">
            <a:solidFill>
              <a:srgbClr val="0D0D0D"/>
            </a:solidFill>
            <a:prstDash val="solid"/>
          </a:ln>
        </p:spPr>
      </p:sp>
      <p:sp>
        <p:nvSpPr>
          <p:cNvPr id="27" name="Text 25"/>
          <p:cNvSpPr txBox="1"/>
          <p:nvPr/>
        </p:nvSpPr>
        <p:spPr>
          <a:xfrm>
            <a:off x="5867248" y="3447288"/>
            <a:ext cx="54864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G</a:t>
            </a:r>
            <a:endParaRPr lang="en-US" sz="1500" dirty="0"/>
          </a:p>
        </p:txBody>
      </p:sp>
      <p:sp>
        <p:nvSpPr>
          <p:cNvPr id="28" name="Shape 26"/>
          <p:cNvSpPr/>
          <p:nvPr/>
        </p:nvSpPr>
        <p:spPr>
          <a:xfrm>
            <a:off x="5554370" y="3703320"/>
            <a:ext cx="294589" cy="0"/>
          </a:xfrm>
          <a:prstGeom prst="line">
            <a:avLst/>
          </a:prstGeom>
          <a:noFill/>
          <a:ln w="19050">
            <a:solidFill>
              <a:srgbClr val="0D0D0D"/>
            </a:solidFill>
            <a:prstDash val="solid"/>
            <a:tailEnd type="triangle"/>
          </a:ln>
        </p:spPr>
      </p:sp>
      <p:sp>
        <p:nvSpPr>
          <p:cNvPr id="29" name="Shape 27"/>
          <p:cNvSpPr/>
          <p:nvPr/>
        </p:nvSpPr>
        <p:spPr>
          <a:xfrm>
            <a:off x="6811061" y="3054096"/>
            <a:ext cx="347472" cy="347472"/>
          </a:xfrm>
          <a:prstGeom prst="ellipse">
            <a:avLst/>
          </a:prstGeom>
          <a:solidFill>
            <a:srgbClr val="F7F7F5"/>
          </a:solidFill>
          <a:ln w="13970">
            <a:solidFill>
              <a:srgbClr val="0D0D0D"/>
            </a:solidFill>
            <a:prstDash val="solid"/>
          </a:ln>
        </p:spPr>
      </p:sp>
      <p:sp>
        <p:nvSpPr>
          <p:cNvPr id="30" name="Shape 28"/>
          <p:cNvSpPr/>
          <p:nvPr/>
        </p:nvSpPr>
        <p:spPr>
          <a:xfrm>
            <a:off x="6452464" y="3703320"/>
            <a:ext cx="331165" cy="-475488"/>
          </a:xfrm>
          <a:prstGeom prst="line">
            <a:avLst/>
          </a:prstGeom>
          <a:noFill/>
          <a:ln w="15875">
            <a:solidFill>
              <a:srgbClr val="BDBDBD"/>
            </a:solidFill>
            <a:prstDash val="solid"/>
            <a:tailEnd type="triangle"/>
          </a:ln>
        </p:spPr>
      </p:sp>
      <p:sp>
        <p:nvSpPr>
          <p:cNvPr id="31" name="Shape 29"/>
          <p:cNvSpPr/>
          <p:nvPr/>
        </p:nvSpPr>
        <p:spPr>
          <a:xfrm>
            <a:off x="6811061" y="3529584"/>
            <a:ext cx="347472" cy="347472"/>
          </a:xfrm>
          <a:prstGeom prst="ellipse">
            <a:avLst/>
          </a:prstGeom>
          <a:solidFill>
            <a:srgbClr val="F7F7F5"/>
          </a:solidFill>
          <a:ln w="13970">
            <a:solidFill>
              <a:srgbClr val="0D0D0D"/>
            </a:solidFill>
            <a:prstDash val="solid"/>
          </a:ln>
        </p:spPr>
      </p:sp>
      <p:sp>
        <p:nvSpPr>
          <p:cNvPr id="32" name="Shape 30"/>
          <p:cNvSpPr/>
          <p:nvPr/>
        </p:nvSpPr>
        <p:spPr>
          <a:xfrm>
            <a:off x="6452464" y="3703320"/>
            <a:ext cx="331165" cy="0"/>
          </a:xfrm>
          <a:prstGeom prst="line">
            <a:avLst/>
          </a:prstGeom>
          <a:noFill/>
          <a:ln w="15875">
            <a:solidFill>
              <a:srgbClr val="BDBDBD"/>
            </a:solidFill>
            <a:prstDash val="solid"/>
            <a:tailEnd type="triangle"/>
          </a:ln>
        </p:spPr>
      </p:sp>
      <p:sp>
        <p:nvSpPr>
          <p:cNvPr id="33" name="Shape 31"/>
          <p:cNvSpPr/>
          <p:nvPr/>
        </p:nvSpPr>
        <p:spPr>
          <a:xfrm>
            <a:off x="6811061" y="4005072"/>
            <a:ext cx="347472" cy="347472"/>
          </a:xfrm>
          <a:prstGeom prst="ellipse">
            <a:avLst/>
          </a:prstGeom>
          <a:solidFill>
            <a:srgbClr val="F7F7F5"/>
          </a:solidFill>
          <a:ln w="13970">
            <a:solidFill>
              <a:srgbClr val="0D0D0D"/>
            </a:solidFill>
            <a:prstDash val="solid"/>
          </a:ln>
        </p:spPr>
      </p:sp>
      <p:sp>
        <p:nvSpPr>
          <p:cNvPr id="34" name="Shape 32"/>
          <p:cNvSpPr/>
          <p:nvPr/>
        </p:nvSpPr>
        <p:spPr>
          <a:xfrm>
            <a:off x="6452464" y="3703320"/>
            <a:ext cx="331165" cy="475488"/>
          </a:xfrm>
          <a:prstGeom prst="line">
            <a:avLst/>
          </a:prstGeom>
          <a:noFill/>
          <a:ln w="15875">
            <a:solidFill>
              <a:srgbClr val="BDBDBD"/>
            </a:solidFill>
            <a:prstDash val="solid"/>
            <a:tailEnd type="triangle"/>
          </a:ln>
        </p:spPr>
      </p:sp>
      <p:sp>
        <p:nvSpPr>
          <p:cNvPr id="35" name="Text 33"/>
          <p:cNvSpPr txBox="1"/>
          <p:nvPr/>
        </p:nvSpPr>
        <p:spPr>
          <a:xfrm>
            <a:off x="5364328" y="3136392"/>
            <a:ext cx="155448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 target code</a:t>
            </a:r>
            <a:endParaRPr lang="en-US" sz="900" dirty="0"/>
          </a:p>
        </p:txBody>
      </p:sp>
      <p:sp>
        <p:nvSpPr>
          <p:cNvPr id="36" name="Text 34"/>
          <p:cNvSpPr txBox="1"/>
          <p:nvPr/>
        </p:nvSpPr>
        <p:spPr>
          <a:xfrm>
            <a:off x="4841138" y="4315968"/>
            <a:ext cx="2509418" cy="777240"/>
          </a:xfrm>
          <a:prstGeom prst="rect">
            <a:avLst/>
          </a:prstGeom>
          <a:noFill/>
          <a:ln/>
        </p:spPr>
        <p:txBody>
          <a:bodyPr wrap="square" lIns="0" tIns="0" rIns="0" bIns="0" rtlCol="0" anchor="ctr"/>
          <a:lstStyle/>
          <a:p>
            <a:pPr indent="0" marL="0">
              <a:lnSpc>
                <a:spcPct val="125000"/>
              </a:lnSpc>
              <a:buNone/>
            </a:pPr>
            <a:r>
              <a:rPr lang="en-US" sz="1050" dirty="0">
                <a:solidFill>
                  <a:srgbClr val="3F3F3F"/>
                </a:solidFill>
                <a:latin typeface="Inter" pitchFamily="34" charset="0"/>
                <a:ea typeface="Inter" pitchFamily="34" charset="-122"/>
                <a:cs typeface="Inter" pitchFamily="34" charset="-120"/>
              </a:rPr>
              <a:t>One generator covers many target speakers — you just tell it which voice to produce. Many-to-many.</a:t>
            </a:r>
            <a:endParaRPr lang="en-US" sz="1050" dirty="0"/>
          </a:p>
        </p:txBody>
      </p:sp>
      <p:sp>
        <p:nvSpPr>
          <p:cNvPr id="37" name="Shape 35"/>
          <p:cNvSpPr/>
          <p:nvPr/>
        </p:nvSpPr>
        <p:spPr>
          <a:xfrm>
            <a:off x="8486394" y="3465576"/>
            <a:ext cx="420624" cy="475488"/>
          </a:xfrm>
          <a:prstGeom prst="roundRect">
            <a:avLst>
              <a:gd name="adj" fmla="val 10870"/>
            </a:avLst>
          </a:prstGeom>
          <a:solidFill>
            <a:srgbClr val="E6E6E4"/>
          </a:solidFill>
          <a:ln w="9525">
            <a:solidFill>
              <a:srgbClr val="BDBDBD"/>
            </a:solidFill>
            <a:prstDash val="solid"/>
          </a:ln>
        </p:spPr>
      </p:sp>
      <p:sp>
        <p:nvSpPr>
          <p:cNvPr id="38" name="Shape 36"/>
          <p:cNvSpPr/>
          <p:nvPr/>
        </p:nvSpPr>
        <p:spPr>
          <a:xfrm>
            <a:off x="8943594" y="3703320"/>
            <a:ext cx="237744" cy="0"/>
          </a:xfrm>
          <a:prstGeom prst="line">
            <a:avLst/>
          </a:prstGeom>
          <a:noFill/>
          <a:ln w="15875">
            <a:solidFill>
              <a:srgbClr val="BDBDBD"/>
            </a:solidFill>
            <a:prstDash val="solid"/>
            <a:tailEnd type="triangle"/>
          </a:ln>
        </p:spPr>
      </p:sp>
      <p:sp>
        <p:nvSpPr>
          <p:cNvPr id="39" name="Shape 37"/>
          <p:cNvSpPr/>
          <p:nvPr/>
        </p:nvSpPr>
        <p:spPr>
          <a:xfrm>
            <a:off x="9217914" y="3465576"/>
            <a:ext cx="420624" cy="475488"/>
          </a:xfrm>
          <a:prstGeom prst="roundRect">
            <a:avLst>
              <a:gd name="adj" fmla="val 10870"/>
            </a:avLst>
          </a:prstGeom>
          <a:solidFill>
            <a:srgbClr val="A8A8A6"/>
          </a:solidFill>
          <a:ln w="9525">
            <a:solidFill>
              <a:srgbClr val="BDBDBD"/>
            </a:solidFill>
            <a:prstDash val="solid"/>
          </a:ln>
        </p:spPr>
      </p:sp>
      <p:sp>
        <p:nvSpPr>
          <p:cNvPr id="40" name="Shape 38"/>
          <p:cNvSpPr/>
          <p:nvPr/>
        </p:nvSpPr>
        <p:spPr>
          <a:xfrm>
            <a:off x="9675114" y="3703320"/>
            <a:ext cx="237744" cy="0"/>
          </a:xfrm>
          <a:prstGeom prst="line">
            <a:avLst/>
          </a:prstGeom>
          <a:noFill/>
          <a:ln w="15875">
            <a:solidFill>
              <a:srgbClr val="BDBDBD"/>
            </a:solidFill>
            <a:prstDash val="solid"/>
            <a:tailEnd type="triangle"/>
          </a:ln>
        </p:spPr>
      </p:sp>
      <p:sp>
        <p:nvSpPr>
          <p:cNvPr id="41" name="Shape 39"/>
          <p:cNvSpPr/>
          <p:nvPr/>
        </p:nvSpPr>
        <p:spPr>
          <a:xfrm>
            <a:off x="9949434" y="3465576"/>
            <a:ext cx="420624" cy="475488"/>
          </a:xfrm>
          <a:prstGeom prst="roundRect">
            <a:avLst>
              <a:gd name="adj" fmla="val 10870"/>
            </a:avLst>
          </a:prstGeom>
          <a:solidFill>
            <a:srgbClr val="6A6A68"/>
          </a:solidFill>
          <a:ln w="9525">
            <a:solidFill>
              <a:srgbClr val="BDBDBD"/>
            </a:solidFill>
            <a:prstDash val="solid"/>
          </a:ln>
        </p:spPr>
      </p:sp>
      <p:sp>
        <p:nvSpPr>
          <p:cNvPr id="42" name="Shape 40"/>
          <p:cNvSpPr/>
          <p:nvPr/>
        </p:nvSpPr>
        <p:spPr>
          <a:xfrm>
            <a:off x="10406634" y="3703320"/>
            <a:ext cx="237744" cy="0"/>
          </a:xfrm>
          <a:prstGeom prst="line">
            <a:avLst/>
          </a:prstGeom>
          <a:noFill/>
          <a:ln w="15875">
            <a:solidFill>
              <a:srgbClr val="BDBDBD"/>
            </a:solidFill>
            <a:prstDash val="solid"/>
            <a:tailEnd type="triangle"/>
          </a:ln>
        </p:spPr>
      </p:sp>
      <p:sp>
        <p:nvSpPr>
          <p:cNvPr id="43" name="Shape 41"/>
          <p:cNvSpPr/>
          <p:nvPr/>
        </p:nvSpPr>
        <p:spPr>
          <a:xfrm>
            <a:off x="10680954" y="3465576"/>
            <a:ext cx="420624" cy="475488"/>
          </a:xfrm>
          <a:prstGeom prst="roundRect">
            <a:avLst>
              <a:gd name="adj" fmla="val 10870"/>
            </a:avLst>
          </a:prstGeom>
          <a:solidFill>
            <a:srgbClr val="2C2C2A"/>
          </a:solidFill>
          <a:ln w="19050">
            <a:solidFill>
              <a:srgbClr val="0D0D0D"/>
            </a:solidFill>
            <a:prstDash val="solid"/>
          </a:ln>
        </p:spPr>
      </p:sp>
      <p:sp>
        <p:nvSpPr>
          <p:cNvPr id="44" name="Text 42"/>
          <p:cNvSpPr txBox="1"/>
          <p:nvPr/>
        </p:nvSpPr>
        <p:spPr>
          <a:xfrm>
            <a:off x="8212074" y="4014216"/>
            <a:ext cx="96012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noise</a:t>
            </a:r>
            <a:endParaRPr lang="en-US" sz="900" dirty="0"/>
          </a:p>
        </p:txBody>
      </p:sp>
      <p:sp>
        <p:nvSpPr>
          <p:cNvPr id="45" name="Text 43"/>
          <p:cNvSpPr txBox="1"/>
          <p:nvPr/>
        </p:nvSpPr>
        <p:spPr>
          <a:xfrm>
            <a:off x="10415778" y="4014216"/>
            <a:ext cx="960120" cy="219456"/>
          </a:xfrm>
          <a:prstGeom prst="rect">
            <a:avLst/>
          </a:prstGeom>
          <a:noFill/>
          <a:ln/>
        </p:spPr>
        <p:txBody>
          <a:bodyPr wrap="square" lIns="0" tIns="0" rIns="0" bIns="0" rtlCol="0" anchor="ctr"/>
          <a:lstStyle/>
          <a:p>
            <a:pPr algn="ctr" indent="0" marL="0">
              <a:buNone/>
            </a:pPr>
            <a:r>
              <a:rPr lang="en-US" sz="900" dirty="0">
                <a:solidFill>
                  <a:srgbClr val="3F3F3F"/>
                </a:solidFill>
                <a:latin typeface="Inter" pitchFamily="34" charset="0"/>
                <a:ea typeface="Inter" pitchFamily="34" charset="-122"/>
                <a:cs typeface="Inter" pitchFamily="34" charset="-120"/>
              </a:rPr>
              <a:t>voice</a:t>
            </a:r>
            <a:endParaRPr lang="en-US" sz="900" dirty="0"/>
          </a:p>
        </p:txBody>
      </p:sp>
      <p:sp>
        <p:nvSpPr>
          <p:cNvPr id="46" name="Text 44"/>
          <p:cNvSpPr txBox="1"/>
          <p:nvPr/>
        </p:nvSpPr>
        <p:spPr>
          <a:xfrm>
            <a:off x="8486394" y="3191256"/>
            <a:ext cx="2615184" cy="219456"/>
          </a:xfrm>
          <a:prstGeom prst="rect">
            <a:avLst/>
          </a:prstGeom>
          <a:noFill/>
          <a:ln/>
        </p:spPr>
        <p:txBody>
          <a:bodyPr wrap="square" lIns="0" tIns="0" rIns="0" bIns="0" rtlCol="0" anchor="ctr"/>
          <a:lstStyle/>
          <a:p>
            <a:pPr algn="ctr" indent="0" marL="0">
              <a:buNone/>
            </a:pPr>
            <a:r>
              <a:rPr lang="en-US" sz="900" dirty="0">
                <a:solidFill>
                  <a:srgbClr val="8C8C8C"/>
                </a:solidFill>
                <a:latin typeface="Inter" pitchFamily="34" charset="0"/>
                <a:ea typeface="Inter" pitchFamily="34" charset="-122"/>
                <a:cs typeface="Inter" pitchFamily="34" charset="-120"/>
              </a:rPr>
              <a:t>denoising steps</a:t>
            </a:r>
            <a:endParaRPr lang="en-US" sz="900" dirty="0"/>
          </a:p>
        </p:txBody>
      </p:sp>
      <p:sp>
        <p:nvSpPr>
          <p:cNvPr id="47" name="Text 45"/>
          <p:cNvSpPr txBox="1"/>
          <p:nvPr/>
        </p:nvSpPr>
        <p:spPr>
          <a:xfrm>
            <a:off x="8539277" y="4315968"/>
            <a:ext cx="2509418" cy="777240"/>
          </a:xfrm>
          <a:prstGeom prst="rect">
            <a:avLst/>
          </a:prstGeom>
          <a:noFill/>
          <a:ln/>
        </p:spPr>
        <p:txBody>
          <a:bodyPr wrap="square" lIns="0" tIns="0" rIns="0" bIns="0" rtlCol="0" anchor="ctr"/>
          <a:lstStyle/>
          <a:p>
            <a:pPr indent="0" marL="0">
              <a:lnSpc>
                <a:spcPct val="125000"/>
              </a:lnSpc>
              <a:buNone/>
            </a:pPr>
            <a:r>
              <a:rPr lang="en-US" sz="1050" dirty="0">
                <a:solidFill>
                  <a:srgbClr val="3F3F3F"/>
                </a:solidFill>
                <a:latin typeface="Inter" pitchFamily="34" charset="0"/>
                <a:ea typeface="Inter" pitchFamily="34" charset="-122"/>
                <a:cs typeface="Inter" pitchFamily="34" charset="-120"/>
              </a:rPr>
              <a:t>Starts from pure noise and cleans it up, step by step, until a voice appears — steered by the words of the original.</a:t>
            </a:r>
            <a:endParaRPr lang="en-US" sz="1050" dirty="0"/>
          </a:p>
        </p:txBody>
      </p:sp>
      <p:sp>
        <p:nvSpPr>
          <p:cNvPr id="48" name="Shape 46"/>
          <p:cNvSpPr/>
          <p:nvPr/>
        </p:nvSpPr>
        <p:spPr>
          <a:xfrm>
            <a:off x="731520" y="5193792"/>
            <a:ext cx="10728655" cy="475488"/>
          </a:xfrm>
          <a:prstGeom prst="roundRect">
            <a:avLst>
              <a:gd name="adj" fmla="val 11538"/>
            </a:avLst>
          </a:prstGeom>
          <a:solidFill>
            <a:srgbClr val="F7F7F5"/>
          </a:solidFill>
          <a:ln w="12700">
            <a:solidFill>
              <a:srgbClr val="E6E6E6"/>
            </a:solidFill>
            <a:prstDash val="solid"/>
          </a:ln>
        </p:spPr>
      </p:sp>
      <p:sp>
        <p:nvSpPr>
          <p:cNvPr id="49" name="Text 47"/>
          <p:cNvSpPr txBox="1"/>
          <p:nvPr/>
        </p:nvSpPr>
        <p:spPr>
          <a:xfrm>
            <a:off x="1005840" y="5193792"/>
            <a:ext cx="10180015" cy="475488"/>
          </a:xfrm>
          <a:prstGeom prst="rect">
            <a:avLst/>
          </a:prstGeom>
          <a:noFill/>
          <a:ln/>
        </p:spPr>
        <p:txBody>
          <a:bodyPr wrap="square" lIns="0" tIns="0" rIns="0" bIns="0" rtlCol="0" anchor="ctr"/>
          <a:lstStyle/>
          <a:p>
            <a:pPr indent="0" marL="0">
              <a:buNone/>
            </a:pPr>
            <a:r>
              <a:rPr lang="en-US" sz="1250" dirty="0">
                <a:solidFill>
                  <a:srgbClr val="3F3F3F"/>
                </a:solidFill>
                <a:latin typeface="Inter" pitchFamily="34" charset="0"/>
                <a:ea typeface="Inter" pitchFamily="34" charset="-122"/>
                <a:cs typeface="Inter" pitchFamily="34" charset="-120"/>
              </a:rPr>
              <a:t>And the fourth attack family:  </a:t>
            </a:r>
            <a:pPr indent="0" marL="0">
              <a:buNone/>
            </a:pPr>
            <a:r>
              <a:rPr lang="en-US" sz="1250" b="1" dirty="0">
                <a:solidFill>
                  <a:srgbClr val="0D0D0D"/>
                </a:solidFill>
                <a:latin typeface="Inter" pitchFamily="34" charset="0"/>
                <a:ea typeface="Inter" pitchFamily="34" charset="-122"/>
                <a:cs typeface="Inter" pitchFamily="34" charset="-120"/>
              </a:rPr>
              <a:t>TTS</a:t>
            </a:r>
            <a:pPr indent="0" marL="0">
              <a:buNone/>
            </a:pPr>
            <a:r>
              <a:rPr lang="en-US" sz="1250" dirty="0">
                <a:solidFill>
                  <a:srgbClr val="3F3F3F"/>
                </a:solidFill>
                <a:latin typeface="Inter" pitchFamily="34" charset="0"/>
                <a:ea typeface="Inter" pitchFamily="34" charset="-122"/>
                <a:cs typeface="Inter" pitchFamily="34" charset="-120"/>
              </a:rPr>
              <a:t>  ·  speech synthesised from text, not converted from a recording.</a:t>
            </a:r>
            <a:endParaRPr lang="en-US" sz="1250" dirty="0"/>
          </a:p>
        </p:txBody>
      </p:sp>
      <p:sp>
        <p:nvSpPr>
          <p:cNvPr id="50" name="Text 48"/>
          <p:cNvSpPr txBox="1"/>
          <p:nvPr/>
        </p:nvSpPr>
        <p:spPr>
          <a:xfrm>
            <a:off x="731520" y="5870448"/>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All four attacks leave a different fingerprint.</a:t>
            </a:r>
            <a:pPr indent="0" marL="0">
              <a:buNone/>
            </a:pPr>
            <a:r>
              <a:rPr lang="en-US" sz="1500" dirty="0">
                <a:solidFill>
                  <a:srgbClr val="8C8C8C"/>
                </a:solidFill>
                <a:latin typeface="Inter" pitchFamily="34" charset="0"/>
                <a:ea typeface="Inter" pitchFamily="34" charset="-122"/>
                <a:cs typeface="Inter" pitchFamily="34" charset="-120"/>
              </a:rPr>
              <a:t> That is what the detector is looking for.</a:t>
            </a:r>
            <a:endParaRPr lang="en-US" sz="1500" dirty="0"/>
          </a:p>
        </p:txBody>
      </p:sp>
      <p:pic>
        <p:nvPicPr>
          <p:cNvPr id="51"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52" name="Text 49"/>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53" name="Text 50"/>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ONE SLIDE OF VOCABULARY  ·  THEN WE GET TO THE RESULTS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What the detector hears,</a:t>
            </a:r>
            <a:pPr indent="0" marL="0">
              <a:buNone/>
            </a:pPr>
            <a:r>
              <a:rPr lang="en-US" sz="3400" b="1" dirty="0">
                <a:solidFill>
                  <a:srgbClr val="BDBDBD"/>
                </a:solidFill>
                <a:latin typeface="Inter" pitchFamily="34" charset="0"/>
                <a:ea typeface="Inter" pitchFamily="34" charset="-122"/>
                <a:cs typeface="Inter" pitchFamily="34" charset="-120"/>
              </a:rPr>
              <a:t> and how we score it.</a:t>
            </a:r>
            <a:endParaRPr lang="en-US" sz="3400" dirty="0"/>
          </a:p>
        </p:txBody>
      </p:sp>
      <p:sp>
        <p:nvSpPr>
          <p:cNvPr id="4" name="Text 2"/>
          <p:cNvSpPr txBox="1"/>
          <p:nvPr/>
        </p:nvSpPr>
        <p:spPr>
          <a:xfrm>
            <a:off x="731520" y="1938528"/>
            <a:ext cx="6035040" cy="237744"/>
          </a:xfrm>
          <a:prstGeom prst="rect">
            <a:avLst/>
          </a:prstGeom>
          <a:noFill/>
          <a:ln/>
        </p:spPr>
        <p:txBody>
          <a:bodyPr wrap="square" lIns="0" tIns="0" rIns="0" bIns="0" rtlCol="0" anchor="ctr"/>
          <a:lstStyle/>
          <a:p>
            <a:pPr indent="0" marL="0">
              <a:buNone/>
            </a:pPr>
            <a:r>
              <a:rPr lang="en-US" sz="1000" b="1" spc="160" kern="0" dirty="0">
                <a:solidFill>
                  <a:srgbClr val="0D0D0D"/>
                </a:solidFill>
                <a:latin typeface="Inter" pitchFamily="34" charset="0"/>
                <a:ea typeface="Inter" pitchFamily="34" charset="-122"/>
                <a:cs typeface="Inter" pitchFamily="34" charset="-120"/>
              </a:rPr>
              <a:t>WHAT THE DETECTOR HEARS</a:t>
            </a:r>
            <a:endParaRPr lang="en-US" sz="1000" dirty="0"/>
          </a:p>
        </p:txBody>
      </p:sp>
      <p:sp>
        <p:nvSpPr>
          <p:cNvPr id="5" name="Text 3"/>
          <p:cNvSpPr txBox="1"/>
          <p:nvPr/>
        </p:nvSpPr>
        <p:spPr>
          <a:xfrm>
            <a:off x="731520" y="2194560"/>
            <a:ext cx="5943600" cy="548640"/>
          </a:xfrm>
          <a:prstGeom prst="rect">
            <a:avLst/>
          </a:prstGeom>
          <a:noFill/>
          <a:ln/>
        </p:spPr>
        <p:txBody>
          <a:bodyPr wrap="square" lIns="0" tIns="0" rIns="0" bIns="0" rtlCol="0" anchor="ctr"/>
          <a:lstStyle/>
          <a:p>
            <a:pPr indent="0" marL="0">
              <a:lnSpc>
                <a:spcPct val="128000"/>
              </a:lnSpc>
              <a:buNone/>
            </a:pPr>
            <a:r>
              <a:rPr lang="en-US" sz="1100" dirty="0">
                <a:solidFill>
                  <a:srgbClr val="3F3F3F"/>
                </a:solidFill>
                <a:latin typeface="Inter" pitchFamily="34" charset="0"/>
                <a:ea typeface="Inter" pitchFamily="34" charset="-122"/>
                <a:cs typeface="Inter" pitchFamily="34" charset="-120"/>
              </a:rPr>
              <a:t>A neural network cannot eat a raw waveform. First the audio becomes a picture of energy across frequencies — and the four options differ in how they slice the frequency axis.</a:t>
            </a:r>
            <a:endParaRPr lang="en-US" sz="1100" dirty="0"/>
          </a:p>
        </p:txBody>
      </p:sp>
      <p:sp>
        <p:nvSpPr>
          <p:cNvPr id="6" name="Text 4"/>
          <p:cNvSpPr txBox="1"/>
          <p:nvPr/>
        </p:nvSpPr>
        <p:spPr>
          <a:xfrm>
            <a:off x="731520" y="2889504"/>
            <a:ext cx="15087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Spectrogram</a:t>
            </a:r>
            <a:endParaRPr lang="en-US" sz="1300" dirty="0"/>
          </a:p>
        </p:txBody>
      </p:sp>
      <p:sp>
        <p:nvSpPr>
          <p:cNvPr id="7" name="Shape 5"/>
          <p:cNvSpPr/>
          <p:nvPr/>
        </p:nvSpPr>
        <p:spPr>
          <a:xfrm>
            <a:off x="2331720" y="2871216"/>
            <a:ext cx="1965960" cy="310896"/>
          </a:xfrm>
          <a:prstGeom prst="rect">
            <a:avLst/>
          </a:prstGeom>
          <a:solidFill>
            <a:srgbClr val="F7F7F5"/>
          </a:solidFill>
          <a:ln w="9525">
            <a:solidFill>
              <a:srgbClr val="BDBDBD"/>
            </a:solidFill>
            <a:prstDash val="solid"/>
          </a:ln>
        </p:spPr>
      </p:sp>
      <p:sp>
        <p:nvSpPr>
          <p:cNvPr id="8" name="Shape 6"/>
          <p:cNvSpPr/>
          <p:nvPr/>
        </p:nvSpPr>
        <p:spPr>
          <a:xfrm>
            <a:off x="2454592" y="2871216"/>
            <a:ext cx="0" cy="310896"/>
          </a:xfrm>
          <a:prstGeom prst="line">
            <a:avLst/>
          </a:prstGeom>
          <a:noFill/>
          <a:ln w="9525">
            <a:solidFill>
              <a:srgbClr val="3F3F3F"/>
            </a:solidFill>
            <a:prstDash val="solid"/>
          </a:ln>
        </p:spPr>
      </p:sp>
      <p:sp>
        <p:nvSpPr>
          <p:cNvPr id="9" name="Shape 7"/>
          <p:cNvSpPr/>
          <p:nvPr/>
        </p:nvSpPr>
        <p:spPr>
          <a:xfrm>
            <a:off x="2577465" y="2871216"/>
            <a:ext cx="0" cy="310896"/>
          </a:xfrm>
          <a:prstGeom prst="line">
            <a:avLst/>
          </a:prstGeom>
          <a:noFill/>
          <a:ln w="9525">
            <a:solidFill>
              <a:srgbClr val="3F3F3F"/>
            </a:solidFill>
            <a:prstDash val="solid"/>
          </a:ln>
        </p:spPr>
      </p:sp>
      <p:sp>
        <p:nvSpPr>
          <p:cNvPr id="10" name="Shape 8"/>
          <p:cNvSpPr/>
          <p:nvPr/>
        </p:nvSpPr>
        <p:spPr>
          <a:xfrm>
            <a:off x="2700338" y="2871216"/>
            <a:ext cx="0" cy="310896"/>
          </a:xfrm>
          <a:prstGeom prst="line">
            <a:avLst/>
          </a:prstGeom>
          <a:noFill/>
          <a:ln w="9525">
            <a:solidFill>
              <a:srgbClr val="3F3F3F"/>
            </a:solidFill>
            <a:prstDash val="solid"/>
          </a:ln>
        </p:spPr>
      </p:sp>
      <p:sp>
        <p:nvSpPr>
          <p:cNvPr id="11" name="Shape 9"/>
          <p:cNvSpPr/>
          <p:nvPr/>
        </p:nvSpPr>
        <p:spPr>
          <a:xfrm>
            <a:off x="2823210" y="2871216"/>
            <a:ext cx="0" cy="310896"/>
          </a:xfrm>
          <a:prstGeom prst="line">
            <a:avLst/>
          </a:prstGeom>
          <a:noFill/>
          <a:ln w="9525">
            <a:solidFill>
              <a:srgbClr val="3F3F3F"/>
            </a:solidFill>
            <a:prstDash val="solid"/>
          </a:ln>
        </p:spPr>
      </p:sp>
      <p:sp>
        <p:nvSpPr>
          <p:cNvPr id="12" name="Shape 10"/>
          <p:cNvSpPr/>
          <p:nvPr/>
        </p:nvSpPr>
        <p:spPr>
          <a:xfrm>
            <a:off x="2946083" y="2871216"/>
            <a:ext cx="0" cy="310896"/>
          </a:xfrm>
          <a:prstGeom prst="line">
            <a:avLst/>
          </a:prstGeom>
          <a:noFill/>
          <a:ln w="9525">
            <a:solidFill>
              <a:srgbClr val="3F3F3F"/>
            </a:solidFill>
            <a:prstDash val="solid"/>
          </a:ln>
        </p:spPr>
      </p:sp>
      <p:sp>
        <p:nvSpPr>
          <p:cNvPr id="13" name="Shape 11"/>
          <p:cNvSpPr/>
          <p:nvPr/>
        </p:nvSpPr>
        <p:spPr>
          <a:xfrm>
            <a:off x="3068955" y="2871216"/>
            <a:ext cx="0" cy="310896"/>
          </a:xfrm>
          <a:prstGeom prst="line">
            <a:avLst/>
          </a:prstGeom>
          <a:noFill/>
          <a:ln w="9525">
            <a:solidFill>
              <a:srgbClr val="3F3F3F"/>
            </a:solidFill>
            <a:prstDash val="solid"/>
          </a:ln>
        </p:spPr>
      </p:sp>
      <p:sp>
        <p:nvSpPr>
          <p:cNvPr id="14" name="Shape 12"/>
          <p:cNvSpPr/>
          <p:nvPr/>
        </p:nvSpPr>
        <p:spPr>
          <a:xfrm>
            <a:off x="3191827" y="2871216"/>
            <a:ext cx="0" cy="310896"/>
          </a:xfrm>
          <a:prstGeom prst="line">
            <a:avLst/>
          </a:prstGeom>
          <a:noFill/>
          <a:ln w="9525">
            <a:solidFill>
              <a:srgbClr val="3F3F3F"/>
            </a:solidFill>
            <a:prstDash val="solid"/>
          </a:ln>
        </p:spPr>
      </p:sp>
      <p:sp>
        <p:nvSpPr>
          <p:cNvPr id="15" name="Shape 13"/>
          <p:cNvSpPr/>
          <p:nvPr/>
        </p:nvSpPr>
        <p:spPr>
          <a:xfrm>
            <a:off x="3314700" y="2871216"/>
            <a:ext cx="0" cy="310896"/>
          </a:xfrm>
          <a:prstGeom prst="line">
            <a:avLst/>
          </a:prstGeom>
          <a:noFill/>
          <a:ln w="9525">
            <a:solidFill>
              <a:srgbClr val="3F3F3F"/>
            </a:solidFill>
            <a:prstDash val="solid"/>
          </a:ln>
        </p:spPr>
      </p:sp>
      <p:sp>
        <p:nvSpPr>
          <p:cNvPr id="16" name="Shape 14"/>
          <p:cNvSpPr/>
          <p:nvPr/>
        </p:nvSpPr>
        <p:spPr>
          <a:xfrm>
            <a:off x="3437572" y="2871216"/>
            <a:ext cx="0" cy="310896"/>
          </a:xfrm>
          <a:prstGeom prst="line">
            <a:avLst/>
          </a:prstGeom>
          <a:noFill/>
          <a:ln w="9525">
            <a:solidFill>
              <a:srgbClr val="3F3F3F"/>
            </a:solidFill>
            <a:prstDash val="solid"/>
          </a:ln>
        </p:spPr>
      </p:sp>
      <p:sp>
        <p:nvSpPr>
          <p:cNvPr id="17" name="Shape 15"/>
          <p:cNvSpPr/>
          <p:nvPr/>
        </p:nvSpPr>
        <p:spPr>
          <a:xfrm>
            <a:off x="3560445" y="2871216"/>
            <a:ext cx="0" cy="310896"/>
          </a:xfrm>
          <a:prstGeom prst="line">
            <a:avLst/>
          </a:prstGeom>
          <a:noFill/>
          <a:ln w="9525">
            <a:solidFill>
              <a:srgbClr val="3F3F3F"/>
            </a:solidFill>
            <a:prstDash val="solid"/>
          </a:ln>
        </p:spPr>
      </p:sp>
      <p:sp>
        <p:nvSpPr>
          <p:cNvPr id="18" name="Shape 16"/>
          <p:cNvSpPr/>
          <p:nvPr/>
        </p:nvSpPr>
        <p:spPr>
          <a:xfrm>
            <a:off x="3683317" y="2871216"/>
            <a:ext cx="0" cy="310896"/>
          </a:xfrm>
          <a:prstGeom prst="line">
            <a:avLst/>
          </a:prstGeom>
          <a:noFill/>
          <a:ln w="9525">
            <a:solidFill>
              <a:srgbClr val="3F3F3F"/>
            </a:solidFill>
            <a:prstDash val="solid"/>
          </a:ln>
        </p:spPr>
      </p:sp>
      <p:sp>
        <p:nvSpPr>
          <p:cNvPr id="19" name="Shape 17"/>
          <p:cNvSpPr/>
          <p:nvPr/>
        </p:nvSpPr>
        <p:spPr>
          <a:xfrm>
            <a:off x="3806190" y="2871216"/>
            <a:ext cx="0" cy="310896"/>
          </a:xfrm>
          <a:prstGeom prst="line">
            <a:avLst/>
          </a:prstGeom>
          <a:noFill/>
          <a:ln w="9525">
            <a:solidFill>
              <a:srgbClr val="3F3F3F"/>
            </a:solidFill>
            <a:prstDash val="solid"/>
          </a:ln>
        </p:spPr>
      </p:sp>
      <p:sp>
        <p:nvSpPr>
          <p:cNvPr id="20" name="Shape 18"/>
          <p:cNvSpPr/>
          <p:nvPr/>
        </p:nvSpPr>
        <p:spPr>
          <a:xfrm>
            <a:off x="3929063" y="2871216"/>
            <a:ext cx="0" cy="310896"/>
          </a:xfrm>
          <a:prstGeom prst="line">
            <a:avLst/>
          </a:prstGeom>
          <a:noFill/>
          <a:ln w="9525">
            <a:solidFill>
              <a:srgbClr val="3F3F3F"/>
            </a:solidFill>
            <a:prstDash val="solid"/>
          </a:ln>
        </p:spPr>
      </p:sp>
      <p:sp>
        <p:nvSpPr>
          <p:cNvPr id="21" name="Shape 19"/>
          <p:cNvSpPr/>
          <p:nvPr/>
        </p:nvSpPr>
        <p:spPr>
          <a:xfrm>
            <a:off x="4051935" y="2871216"/>
            <a:ext cx="0" cy="310896"/>
          </a:xfrm>
          <a:prstGeom prst="line">
            <a:avLst/>
          </a:prstGeom>
          <a:noFill/>
          <a:ln w="9525">
            <a:solidFill>
              <a:srgbClr val="3F3F3F"/>
            </a:solidFill>
            <a:prstDash val="solid"/>
          </a:ln>
        </p:spPr>
      </p:sp>
      <p:sp>
        <p:nvSpPr>
          <p:cNvPr id="22" name="Shape 20"/>
          <p:cNvSpPr/>
          <p:nvPr/>
        </p:nvSpPr>
        <p:spPr>
          <a:xfrm>
            <a:off x="4174808" y="2871216"/>
            <a:ext cx="0" cy="310896"/>
          </a:xfrm>
          <a:prstGeom prst="line">
            <a:avLst/>
          </a:prstGeom>
          <a:noFill/>
          <a:ln w="9525">
            <a:solidFill>
              <a:srgbClr val="3F3F3F"/>
            </a:solidFill>
            <a:prstDash val="solid"/>
          </a:ln>
        </p:spPr>
      </p:sp>
      <p:sp>
        <p:nvSpPr>
          <p:cNvPr id="23" name="Text 21"/>
          <p:cNvSpPr txBox="1"/>
          <p:nvPr/>
        </p:nvSpPr>
        <p:spPr>
          <a:xfrm>
            <a:off x="4572000" y="2852928"/>
            <a:ext cx="2286000" cy="548640"/>
          </a:xfrm>
          <a:prstGeom prst="rect">
            <a:avLst/>
          </a:prstGeom>
          <a:noFill/>
          <a:ln/>
        </p:spPr>
        <p:txBody>
          <a:bodyPr wrap="square" lIns="0" tIns="0" rIns="0" bIns="0" rtlCol="0" anchor="ctr"/>
          <a:lstStyle/>
          <a:p>
            <a:pPr indent="0" marL="0">
              <a:lnSpc>
                <a:spcPct val="122000"/>
              </a:lnSpc>
              <a:buNone/>
            </a:pPr>
            <a:r>
              <a:rPr lang="en-US" sz="1000" dirty="0">
                <a:solidFill>
                  <a:srgbClr val="3F3F3F"/>
                </a:solidFill>
                <a:latin typeface="Inter" pitchFamily="34" charset="0"/>
                <a:ea typeface="Inter" pitchFamily="34" charset="-122"/>
                <a:cs typeface="Inter" pitchFamily="34" charset="-120"/>
              </a:rPr>
              <a:t>Everything, evenly. The richest and the biggest.</a:t>
            </a:r>
            <a:endParaRPr lang="en-US" sz="1000" dirty="0"/>
          </a:p>
        </p:txBody>
      </p:sp>
      <p:sp>
        <p:nvSpPr>
          <p:cNvPr id="24" name="Text 22"/>
          <p:cNvSpPr txBox="1"/>
          <p:nvPr/>
        </p:nvSpPr>
        <p:spPr>
          <a:xfrm>
            <a:off x="731520" y="3547872"/>
            <a:ext cx="15087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LFCC</a:t>
            </a:r>
            <a:endParaRPr lang="en-US" sz="1300" dirty="0"/>
          </a:p>
        </p:txBody>
      </p:sp>
      <p:sp>
        <p:nvSpPr>
          <p:cNvPr id="25" name="Shape 23"/>
          <p:cNvSpPr/>
          <p:nvPr/>
        </p:nvSpPr>
        <p:spPr>
          <a:xfrm>
            <a:off x="2331720" y="3529584"/>
            <a:ext cx="1965960" cy="310896"/>
          </a:xfrm>
          <a:prstGeom prst="rect">
            <a:avLst/>
          </a:prstGeom>
          <a:solidFill>
            <a:srgbClr val="F7F7F5"/>
          </a:solidFill>
          <a:ln w="9525">
            <a:solidFill>
              <a:srgbClr val="BDBDBD"/>
            </a:solidFill>
            <a:prstDash val="solid"/>
          </a:ln>
        </p:spPr>
      </p:sp>
      <p:sp>
        <p:nvSpPr>
          <p:cNvPr id="26" name="Shape 24"/>
          <p:cNvSpPr/>
          <p:nvPr/>
        </p:nvSpPr>
        <p:spPr>
          <a:xfrm>
            <a:off x="2577465" y="3529584"/>
            <a:ext cx="0" cy="310896"/>
          </a:xfrm>
          <a:prstGeom prst="line">
            <a:avLst/>
          </a:prstGeom>
          <a:noFill/>
          <a:ln w="9525">
            <a:solidFill>
              <a:srgbClr val="3F3F3F"/>
            </a:solidFill>
            <a:prstDash val="solid"/>
          </a:ln>
        </p:spPr>
      </p:sp>
      <p:sp>
        <p:nvSpPr>
          <p:cNvPr id="27" name="Shape 25"/>
          <p:cNvSpPr/>
          <p:nvPr/>
        </p:nvSpPr>
        <p:spPr>
          <a:xfrm>
            <a:off x="2823210" y="3529584"/>
            <a:ext cx="0" cy="310896"/>
          </a:xfrm>
          <a:prstGeom prst="line">
            <a:avLst/>
          </a:prstGeom>
          <a:noFill/>
          <a:ln w="9525">
            <a:solidFill>
              <a:srgbClr val="3F3F3F"/>
            </a:solidFill>
            <a:prstDash val="solid"/>
          </a:ln>
        </p:spPr>
      </p:sp>
      <p:sp>
        <p:nvSpPr>
          <p:cNvPr id="28" name="Shape 26"/>
          <p:cNvSpPr/>
          <p:nvPr/>
        </p:nvSpPr>
        <p:spPr>
          <a:xfrm>
            <a:off x="3068955" y="3529584"/>
            <a:ext cx="0" cy="310896"/>
          </a:xfrm>
          <a:prstGeom prst="line">
            <a:avLst/>
          </a:prstGeom>
          <a:noFill/>
          <a:ln w="9525">
            <a:solidFill>
              <a:srgbClr val="3F3F3F"/>
            </a:solidFill>
            <a:prstDash val="solid"/>
          </a:ln>
        </p:spPr>
      </p:sp>
      <p:sp>
        <p:nvSpPr>
          <p:cNvPr id="29" name="Shape 27"/>
          <p:cNvSpPr/>
          <p:nvPr/>
        </p:nvSpPr>
        <p:spPr>
          <a:xfrm>
            <a:off x="3314700" y="3529584"/>
            <a:ext cx="0" cy="310896"/>
          </a:xfrm>
          <a:prstGeom prst="line">
            <a:avLst/>
          </a:prstGeom>
          <a:noFill/>
          <a:ln w="9525">
            <a:solidFill>
              <a:srgbClr val="3F3F3F"/>
            </a:solidFill>
            <a:prstDash val="solid"/>
          </a:ln>
        </p:spPr>
      </p:sp>
      <p:sp>
        <p:nvSpPr>
          <p:cNvPr id="30" name="Shape 28"/>
          <p:cNvSpPr/>
          <p:nvPr/>
        </p:nvSpPr>
        <p:spPr>
          <a:xfrm>
            <a:off x="3560445" y="3529584"/>
            <a:ext cx="0" cy="310896"/>
          </a:xfrm>
          <a:prstGeom prst="line">
            <a:avLst/>
          </a:prstGeom>
          <a:noFill/>
          <a:ln w="9525">
            <a:solidFill>
              <a:srgbClr val="3F3F3F"/>
            </a:solidFill>
            <a:prstDash val="solid"/>
          </a:ln>
        </p:spPr>
      </p:sp>
      <p:sp>
        <p:nvSpPr>
          <p:cNvPr id="31" name="Shape 29"/>
          <p:cNvSpPr/>
          <p:nvPr/>
        </p:nvSpPr>
        <p:spPr>
          <a:xfrm>
            <a:off x="3806190" y="3529584"/>
            <a:ext cx="0" cy="310896"/>
          </a:xfrm>
          <a:prstGeom prst="line">
            <a:avLst/>
          </a:prstGeom>
          <a:noFill/>
          <a:ln w="9525">
            <a:solidFill>
              <a:srgbClr val="3F3F3F"/>
            </a:solidFill>
            <a:prstDash val="solid"/>
          </a:ln>
        </p:spPr>
      </p:sp>
      <p:sp>
        <p:nvSpPr>
          <p:cNvPr id="32" name="Shape 30"/>
          <p:cNvSpPr/>
          <p:nvPr/>
        </p:nvSpPr>
        <p:spPr>
          <a:xfrm>
            <a:off x="4051935" y="3529584"/>
            <a:ext cx="0" cy="310896"/>
          </a:xfrm>
          <a:prstGeom prst="line">
            <a:avLst/>
          </a:prstGeom>
          <a:noFill/>
          <a:ln w="9525">
            <a:solidFill>
              <a:srgbClr val="3F3F3F"/>
            </a:solidFill>
            <a:prstDash val="solid"/>
          </a:ln>
        </p:spPr>
      </p:sp>
      <p:sp>
        <p:nvSpPr>
          <p:cNvPr id="33" name="Text 31"/>
          <p:cNvSpPr txBox="1"/>
          <p:nvPr/>
        </p:nvSpPr>
        <p:spPr>
          <a:xfrm>
            <a:off x="4572000" y="3511296"/>
            <a:ext cx="2286000" cy="548640"/>
          </a:xfrm>
          <a:prstGeom prst="rect">
            <a:avLst/>
          </a:prstGeom>
          <a:noFill/>
          <a:ln/>
        </p:spPr>
        <p:txBody>
          <a:bodyPr wrap="square" lIns="0" tIns="0" rIns="0" bIns="0" rtlCol="0" anchor="ctr"/>
          <a:lstStyle/>
          <a:p>
            <a:pPr indent="0" marL="0">
              <a:lnSpc>
                <a:spcPct val="122000"/>
              </a:lnSpc>
              <a:buNone/>
            </a:pPr>
            <a:r>
              <a:rPr lang="en-US" sz="1000" dirty="0">
                <a:solidFill>
                  <a:srgbClr val="3F3F3F"/>
                </a:solidFill>
                <a:latin typeface="Inter" pitchFamily="34" charset="0"/>
                <a:ea typeface="Inter" pitchFamily="34" charset="-122"/>
                <a:cs typeface="Inter" pitchFamily="34" charset="-120"/>
              </a:rPr>
              <a:t>Even bands — every frequency weighted the same.</a:t>
            </a:r>
            <a:endParaRPr lang="en-US" sz="1000" dirty="0"/>
          </a:p>
        </p:txBody>
      </p:sp>
      <p:sp>
        <p:nvSpPr>
          <p:cNvPr id="34" name="Text 32"/>
          <p:cNvSpPr txBox="1"/>
          <p:nvPr/>
        </p:nvSpPr>
        <p:spPr>
          <a:xfrm>
            <a:off x="731520" y="4206240"/>
            <a:ext cx="15087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MFCC</a:t>
            </a:r>
            <a:endParaRPr lang="en-US" sz="1300" dirty="0"/>
          </a:p>
        </p:txBody>
      </p:sp>
      <p:sp>
        <p:nvSpPr>
          <p:cNvPr id="35" name="Shape 33"/>
          <p:cNvSpPr/>
          <p:nvPr/>
        </p:nvSpPr>
        <p:spPr>
          <a:xfrm>
            <a:off x="2331720" y="4187952"/>
            <a:ext cx="1965960" cy="310896"/>
          </a:xfrm>
          <a:prstGeom prst="rect">
            <a:avLst/>
          </a:prstGeom>
          <a:solidFill>
            <a:srgbClr val="F7F7F5"/>
          </a:solidFill>
          <a:ln w="9525">
            <a:solidFill>
              <a:srgbClr val="BDBDBD"/>
            </a:solidFill>
            <a:prstDash val="solid"/>
          </a:ln>
        </p:spPr>
      </p:sp>
      <p:sp>
        <p:nvSpPr>
          <p:cNvPr id="36" name="Shape 34"/>
          <p:cNvSpPr/>
          <p:nvPr/>
        </p:nvSpPr>
        <p:spPr>
          <a:xfrm>
            <a:off x="2362438" y="4187952"/>
            <a:ext cx="0" cy="310896"/>
          </a:xfrm>
          <a:prstGeom prst="line">
            <a:avLst/>
          </a:prstGeom>
          <a:noFill/>
          <a:ln w="9525">
            <a:solidFill>
              <a:srgbClr val="3F3F3F"/>
            </a:solidFill>
            <a:prstDash val="solid"/>
          </a:ln>
        </p:spPr>
      </p:sp>
      <p:sp>
        <p:nvSpPr>
          <p:cNvPr id="37" name="Shape 35"/>
          <p:cNvSpPr/>
          <p:nvPr/>
        </p:nvSpPr>
        <p:spPr>
          <a:xfrm>
            <a:off x="2454592" y="4187952"/>
            <a:ext cx="0" cy="310896"/>
          </a:xfrm>
          <a:prstGeom prst="line">
            <a:avLst/>
          </a:prstGeom>
          <a:noFill/>
          <a:ln w="9525">
            <a:solidFill>
              <a:srgbClr val="3F3F3F"/>
            </a:solidFill>
            <a:prstDash val="solid"/>
          </a:ln>
        </p:spPr>
      </p:sp>
      <p:sp>
        <p:nvSpPr>
          <p:cNvPr id="38" name="Shape 36"/>
          <p:cNvSpPr/>
          <p:nvPr/>
        </p:nvSpPr>
        <p:spPr>
          <a:xfrm>
            <a:off x="2608183" y="4187952"/>
            <a:ext cx="0" cy="310896"/>
          </a:xfrm>
          <a:prstGeom prst="line">
            <a:avLst/>
          </a:prstGeom>
          <a:noFill/>
          <a:ln w="9525">
            <a:solidFill>
              <a:srgbClr val="3F3F3F"/>
            </a:solidFill>
            <a:prstDash val="solid"/>
          </a:ln>
        </p:spPr>
      </p:sp>
      <p:sp>
        <p:nvSpPr>
          <p:cNvPr id="39" name="Shape 37"/>
          <p:cNvSpPr/>
          <p:nvPr/>
        </p:nvSpPr>
        <p:spPr>
          <a:xfrm>
            <a:off x="2823210" y="4187952"/>
            <a:ext cx="0" cy="310896"/>
          </a:xfrm>
          <a:prstGeom prst="line">
            <a:avLst/>
          </a:prstGeom>
          <a:noFill/>
          <a:ln w="9525">
            <a:solidFill>
              <a:srgbClr val="3F3F3F"/>
            </a:solidFill>
            <a:prstDash val="solid"/>
          </a:ln>
        </p:spPr>
      </p:sp>
      <p:sp>
        <p:nvSpPr>
          <p:cNvPr id="40" name="Shape 38"/>
          <p:cNvSpPr/>
          <p:nvPr/>
        </p:nvSpPr>
        <p:spPr>
          <a:xfrm>
            <a:off x="3099673" y="4187952"/>
            <a:ext cx="0" cy="310896"/>
          </a:xfrm>
          <a:prstGeom prst="line">
            <a:avLst/>
          </a:prstGeom>
          <a:noFill/>
          <a:ln w="9525">
            <a:solidFill>
              <a:srgbClr val="3F3F3F"/>
            </a:solidFill>
            <a:prstDash val="solid"/>
          </a:ln>
        </p:spPr>
      </p:sp>
      <p:sp>
        <p:nvSpPr>
          <p:cNvPr id="41" name="Shape 39"/>
          <p:cNvSpPr/>
          <p:nvPr/>
        </p:nvSpPr>
        <p:spPr>
          <a:xfrm>
            <a:off x="3437572" y="4187952"/>
            <a:ext cx="0" cy="310896"/>
          </a:xfrm>
          <a:prstGeom prst="line">
            <a:avLst/>
          </a:prstGeom>
          <a:noFill/>
          <a:ln w="9525">
            <a:solidFill>
              <a:srgbClr val="3F3F3F"/>
            </a:solidFill>
            <a:prstDash val="solid"/>
          </a:ln>
        </p:spPr>
      </p:sp>
      <p:sp>
        <p:nvSpPr>
          <p:cNvPr id="42" name="Shape 40"/>
          <p:cNvSpPr/>
          <p:nvPr/>
        </p:nvSpPr>
        <p:spPr>
          <a:xfrm>
            <a:off x="3836908" y="4187952"/>
            <a:ext cx="0" cy="310896"/>
          </a:xfrm>
          <a:prstGeom prst="line">
            <a:avLst/>
          </a:prstGeom>
          <a:noFill/>
          <a:ln w="9525">
            <a:solidFill>
              <a:srgbClr val="3F3F3F"/>
            </a:solidFill>
            <a:prstDash val="solid"/>
          </a:ln>
        </p:spPr>
      </p:sp>
      <p:sp>
        <p:nvSpPr>
          <p:cNvPr id="43" name="Text 41"/>
          <p:cNvSpPr txBox="1"/>
          <p:nvPr/>
        </p:nvSpPr>
        <p:spPr>
          <a:xfrm>
            <a:off x="4572000" y="4169664"/>
            <a:ext cx="2286000" cy="548640"/>
          </a:xfrm>
          <a:prstGeom prst="rect">
            <a:avLst/>
          </a:prstGeom>
          <a:noFill/>
          <a:ln/>
        </p:spPr>
        <p:txBody>
          <a:bodyPr wrap="square" lIns="0" tIns="0" rIns="0" bIns="0" rtlCol="0" anchor="ctr"/>
          <a:lstStyle/>
          <a:p>
            <a:pPr indent="0" marL="0">
              <a:lnSpc>
                <a:spcPct val="122000"/>
              </a:lnSpc>
              <a:buNone/>
            </a:pPr>
            <a:r>
              <a:rPr lang="en-US" sz="1000" dirty="0">
                <a:solidFill>
                  <a:srgbClr val="3F3F3F"/>
                </a:solidFill>
                <a:latin typeface="Inter" pitchFamily="34" charset="0"/>
                <a:ea typeface="Inter" pitchFamily="34" charset="-122"/>
                <a:cs typeface="Inter" pitchFamily="34" charset="-120"/>
              </a:rPr>
              <a:t>Bands packed low, spread high — it mimics the human ear.</a:t>
            </a:r>
            <a:endParaRPr lang="en-US" sz="1000" dirty="0"/>
          </a:p>
        </p:txBody>
      </p:sp>
      <p:sp>
        <p:nvSpPr>
          <p:cNvPr id="44" name="Text 42"/>
          <p:cNvSpPr txBox="1"/>
          <p:nvPr/>
        </p:nvSpPr>
        <p:spPr>
          <a:xfrm>
            <a:off x="731520" y="4864608"/>
            <a:ext cx="15087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CQCC</a:t>
            </a:r>
            <a:endParaRPr lang="en-US" sz="1300" dirty="0"/>
          </a:p>
        </p:txBody>
      </p:sp>
      <p:sp>
        <p:nvSpPr>
          <p:cNvPr id="45" name="Shape 43"/>
          <p:cNvSpPr/>
          <p:nvPr/>
        </p:nvSpPr>
        <p:spPr>
          <a:xfrm>
            <a:off x="2331720" y="4846320"/>
            <a:ext cx="1965960" cy="310896"/>
          </a:xfrm>
          <a:prstGeom prst="rect">
            <a:avLst/>
          </a:prstGeom>
          <a:solidFill>
            <a:srgbClr val="F7F7F5"/>
          </a:solidFill>
          <a:ln w="9525">
            <a:solidFill>
              <a:srgbClr val="BDBDBD"/>
            </a:solidFill>
            <a:prstDash val="solid"/>
          </a:ln>
        </p:spPr>
      </p:sp>
      <p:sp>
        <p:nvSpPr>
          <p:cNvPr id="46" name="Shape 44"/>
          <p:cNvSpPr/>
          <p:nvPr/>
        </p:nvSpPr>
        <p:spPr>
          <a:xfrm>
            <a:off x="2336447" y="4846320"/>
            <a:ext cx="0" cy="310896"/>
          </a:xfrm>
          <a:prstGeom prst="line">
            <a:avLst/>
          </a:prstGeom>
          <a:noFill/>
          <a:ln w="9525">
            <a:solidFill>
              <a:srgbClr val="3F3F3F"/>
            </a:solidFill>
            <a:prstDash val="solid"/>
          </a:ln>
        </p:spPr>
      </p:sp>
      <p:sp>
        <p:nvSpPr>
          <p:cNvPr id="47" name="Shape 45"/>
          <p:cNvSpPr/>
          <p:nvPr/>
        </p:nvSpPr>
        <p:spPr>
          <a:xfrm>
            <a:off x="2367006" y="4846320"/>
            <a:ext cx="0" cy="310896"/>
          </a:xfrm>
          <a:prstGeom prst="line">
            <a:avLst/>
          </a:prstGeom>
          <a:noFill/>
          <a:ln w="9525">
            <a:solidFill>
              <a:srgbClr val="3F3F3F"/>
            </a:solidFill>
            <a:prstDash val="solid"/>
          </a:ln>
        </p:spPr>
      </p:sp>
      <p:sp>
        <p:nvSpPr>
          <p:cNvPr id="48" name="Shape 46"/>
          <p:cNvSpPr/>
          <p:nvPr/>
        </p:nvSpPr>
        <p:spPr>
          <a:xfrm>
            <a:off x="2446078" y="4846320"/>
            <a:ext cx="0" cy="310896"/>
          </a:xfrm>
          <a:prstGeom prst="line">
            <a:avLst/>
          </a:prstGeom>
          <a:noFill/>
          <a:ln w="9525">
            <a:solidFill>
              <a:srgbClr val="3F3F3F"/>
            </a:solidFill>
            <a:prstDash val="solid"/>
          </a:ln>
        </p:spPr>
      </p:sp>
      <p:sp>
        <p:nvSpPr>
          <p:cNvPr id="49" name="Shape 47"/>
          <p:cNvSpPr/>
          <p:nvPr/>
        </p:nvSpPr>
        <p:spPr>
          <a:xfrm>
            <a:off x="2595103" y="4846320"/>
            <a:ext cx="0" cy="310896"/>
          </a:xfrm>
          <a:prstGeom prst="line">
            <a:avLst/>
          </a:prstGeom>
          <a:noFill/>
          <a:ln w="9525">
            <a:solidFill>
              <a:srgbClr val="3F3F3F"/>
            </a:solidFill>
            <a:prstDash val="solid"/>
          </a:ln>
        </p:spPr>
      </p:sp>
      <p:sp>
        <p:nvSpPr>
          <p:cNvPr id="50" name="Shape 48"/>
          <p:cNvSpPr/>
          <p:nvPr/>
        </p:nvSpPr>
        <p:spPr>
          <a:xfrm>
            <a:off x="2834788" y="4846320"/>
            <a:ext cx="0" cy="310896"/>
          </a:xfrm>
          <a:prstGeom prst="line">
            <a:avLst/>
          </a:prstGeom>
          <a:noFill/>
          <a:ln w="9525">
            <a:solidFill>
              <a:srgbClr val="3F3F3F"/>
            </a:solidFill>
            <a:prstDash val="solid"/>
          </a:ln>
        </p:spPr>
      </p:sp>
      <p:sp>
        <p:nvSpPr>
          <p:cNvPr id="51" name="Shape 49"/>
          <p:cNvSpPr/>
          <p:nvPr/>
        </p:nvSpPr>
        <p:spPr>
          <a:xfrm>
            <a:off x="3185316" y="4846320"/>
            <a:ext cx="0" cy="310896"/>
          </a:xfrm>
          <a:prstGeom prst="line">
            <a:avLst/>
          </a:prstGeom>
          <a:noFill/>
          <a:ln w="9525">
            <a:solidFill>
              <a:srgbClr val="3F3F3F"/>
            </a:solidFill>
            <a:prstDash val="solid"/>
          </a:ln>
        </p:spPr>
      </p:sp>
      <p:sp>
        <p:nvSpPr>
          <p:cNvPr id="52" name="Shape 50"/>
          <p:cNvSpPr/>
          <p:nvPr/>
        </p:nvSpPr>
        <p:spPr>
          <a:xfrm>
            <a:off x="3666464" y="4846320"/>
            <a:ext cx="0" cy="310896"/>
          </a:xfrm>
          <a:prstGeom prst="line">
            <a:avLst/>
          </a:prstGeom>
          <a:noFill/>
          <a:ln w="9525">
            <a:solidFill>
              <a:srgbClr val="3F3F3F"/>
            </a:solidFill>
            <a:prstDash val="solid"/>
          </a:ln>
        </p:spPr>
      </p:sp>
      <p:sp>
        <p:nvSpPr>
          <p:cNvPr id="53" name="Text 51"/>
          <p:cNvSpPr txBox="1"/>
          <p:nvPr/>
        </p:nvSpPr>
        <p:spPr>
          <a:xfrm>
            <a:off x="4572000" y="4828032"/>
            <a:ext cx="2286000" cy="548640"/>
          </a:xfrm>
          <a:prstGeom prst="rect">
            <a:avLst/>
          </a:prstGeom>
          <a:noFill/>
          <a:ln/>
        </p:spPr>
        <p:txBody>
          <a:bodyPr wrap="square" lIns="0" tIns="0" rIns="0" bIns="0" rtlCol="0" anchor="ctr"/>
          <a:lstStyle/>
          <a:p>
            <a:pPr indent="0" marL="0">
              <a:lnSpc>
                <a:spcPct val="122000"/>
              </a:lnSpc>
              <a:buNone/>
            </a:pPr>
            <a:r>
              <a:rPr lang="en-US" sz="1000" dirty="0">
                <a:solidFill>
                  <a:srgbClr val="3F3F3F"/>
                </a:solidFill>
                <a:latin typeface="Inter" pitchFamily="34" charset="0"/>
                <a:ea typeface="Inter" pitchFamily="34" charset="-122"/>
                <a:cs typeface="Inter" pitchFamily="34" charset="-120"/>
              </a:rPr>
              <a:t>Even more resolution down low, where synthesis leaves marks.</a:t>
            </a:r>
            <a:endParaRPr lang="en-US" sz="1000" dirty="0"/>
          </a:p>
        </p:txBody>
      </p:sp>
      <p:sp>
        <p:nvSpPr>
          <p:cNvPr id="54" name="Text 52"/>
          <p:cNvSpPr txBox="1"/>
          <p:nvPr/>
        </p:nvSpPr>
        <p:spPr>
          <a:xfrm>
            <a:off x="2331720" y="5532120"/>
            <a:ext cx="1097280" cy="219456"/>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low frequency</a:t>
            </a:r>
            <a:endParaRPr lang="en-US" sz="900" dirty="0"/>
          </a:p>
        </p:txBody>
      </p:sp>
      <p:sp>
        <p:nvSpPr>
          <p:cNvPr id="55" name="Text 53"/>
          <p:cNvSpPr txBox="1"/>
          <p:nvPr/>
        </p:nvSpPr>
        <p:spPr>
          <a:xfrm>
            <a:off x="3200400" y="5532120"/>
            <a:ext cx="1097280" cy="219456"/>
          </a:xfrm>
          <a:prstGeom prst="rect">
            <a:avLst/>
          </a:prstGeom>
          <a:noFill/>
          <a:ln/>
        </p:spPr>
        <p:txBody>
          <a:bodyPr wrap="square" lIns="0" tIns="0" rIns="0" bIns="0" rtlCol="0" anchor="ctr"/>
          <a:lstStyle/>
          <a:p>
            <a:pPr algn="r" indent="0" marL="0">
              <a:buNone/>
            </a:pPr>
            <a:r>
              <a:rPr lang="en-US" sz="900" dirty="0">
                <a:solidFill>
                  <a:srgbClr val="BDBDBD"/>
                </a:solidFill>
                <a:latin typeface="Inter" pitchFamily="34" charset="0"/>
                <a:ea typeface="Inter" pitchFamily="34" charset="-122"/>
                <a:cs typeface="Inter" pitchFamily="34" charset="-120"/>
              </a:rPr>
              <a:t>high frequency</a:t>
            </a:r>
            <a:endParaRPr lang="en-US" sz="900" dirty="0"/>
          </a:p>
        </p:txBody>
      </p:sp>
      <p:sp>
        <p:nvSpPr>
          <p:cNvPr id="56" name="Shape 54"/>
          <p:cNvSpPr/>
          <p:nvPr/>
        </p:nvSpPr>
        <p:spPr>
          <a:xfrm>
            <a:off x="7178040" y="1874520"/>
            <a:ext cx="0" cy="3749040"/>
          </a:xfrm>
          <a:prstGeom prst="line">
            <a:avLst/>
          </a:prstGeom>
          <a:noFill/>
          <a:ln w="12700">
            <a:solidFill>
              <a:srgbClr val="E6E6E6"/>
            </a:solidFill>
            <a:prstDash val="solid"/>
          </a:ln>
        </p:spPr>
      </p:sp>
      <p:sp>
        <p:nvSpPr>
          <p:cNvPr id="57" name="Text 55"/>
          <p:cNvSpPr txBox="1"/>
          <p:nvPr/>
        </p:nvSpPr>
        <p:spPr>
          <a:xfrm>
            <a:off x="7589520" y="1938528"/>
            <a:ext cx="3870655" cy="237744"/>
          </a:xfrm>
          <a:prstGeom prst="rect">
            <a:avLst/>
          </a:prstGeom>
          <a:noFill/>
          <a:ln/>
        </p:spPr>
        <p:txBody>
          <a:bodyPr wrap="square" lIns="0" tIns="0" rIns="0" bIns="0" rtlCol="0" anchor="ctr"/>
          <a:lstStyle/>
          <a:p>
            <a:pPr indent="0" marL="0">
              <a:buNone/>
            </a:pPr>
            <a:r>
              <a:rPr lang="en-US" sz="1000" b="1" spc="160" kern="0" dirty="0">
                <a:solidFill>
                  <a:srgbClr val="0D0D0D"/>
                </a:solidFill>
                <a:latin typeface="Inter" pitchFamily="34" charset="0"/>
                <a:ea typeface="Inter" pitchFamily="34" charset="-122"/>
                <a:cs typeface="Inter" pitchFamily="34" charset="-120"/>
              </a:rPr>
              <a:t>HOW WE SCORE IT</a:t>
            </a:r>
            <a:endParaRPr lang="en-US" sz="1000" dirty="0"/>
          </a:p>
        </p:txBody>
      </p:sp>
      <p:sp>
        <p:nvSpPr>
          <p:cNvPr id="58" name="Text 56"/>
          <p:cNvSpPr txBox="1"/>
          <p:nvPr/>
        </p:nvSpPr>
        <p:spPr>
          <a:xfrm>
            <a:off x="7589520" y="2212848"/>
            <a:ext cx="3870655" cy="365760"/>
          </a:xfrm>
          <a:prstGeom prst="rect">
            <a:avLst/>
          </a:prstGeom>
          <a:noFill/>
          <a:ln/>
        </p:spPr>
        <p:txBody>
          <a:bodyPr wrap="square" lIns="0" tIns="0" rIns="0" bIns="0" rtlCol="0" anchor="ctr"/>
          <a:lstStyle/>
          <a:p>
            <a:pPr indent="0" marL="0">
              <a:buNone/>
            </a:pPr>
            <a:r>
              <a:rPr lang="en-US" sz="2200" b="1" dirty="0">
                <a:solidFill>
                  <a:srgbClr val="0D0D0D"/>
                </a:solidFill>
                <a:latin typeface="Inter" pitchFamily="34" charset="0"/>
                <a:ea typeface="Inter" pitchFamily="34" charset="-122"/>
                <a:cs typeface="Inter" pitchFamily="34" charset="-120"/>
              </a:rPr>
              <a:t>Equal Error Rate</a:t>
            </a:r>
            <a:endParaRPr lang="en-US" sz="2200" dirty="0"/>
          </a:p>
        </p:txBody>
      </p:sp>
      <p:sp>
        <p:nvSpPr>
          <p:cNvPr id="59" name="Text 57"/>
          <p:cNvSpPr txBox="1"/>
          <p:nvPr/>
        </p:nvSpPr>
        <p:spPr>
          <a:xfrm>
            <a:off x="7589520" y="2670048"/>
            <a:ext cx="3779215" cy="1005840"/>
          </a:xfrm>
          <a:prstGeom prst="rect">
            <a:avLst/>
          </a:prstGeom>
          <a:noFill/>
          <a:ln/>
        </p:spPr>
        <p:txBody>
          <a:bodyPr wrap="square" lIns="0" tIns="0" rIns="0" bIns="0" rtlCol="0" anchor="ctr"/>
          <a:lstStyle/>
          <a:p>
            <a:pPr indent="0" marL="0">
              <a:lnSpc>
                <a:spcPct val="130000"/>
              </a:lnSpc>
              <a:buNone/>
            </a:pPr>
            <a:r>
              <a:rPr lang="en-US" sz="1150" b="1" dirty="0">
                <a:solidFill>
                  <a:srgbClr val="0D0D0D"/>
                </a:solidFill>
                <a:latin typeface="Inter" pitchFamily="34" charset="0"/>
                <a:ea typeface="Inter" pitchFamily="34" charset="-122"/>
                <a:cs typeface="Inter" pitchFamily="34" charset="-120"/>
              </a:rPr>
              <a:t>Too strict</a:t>
            </a:r>
            <a:pPr indent="0" marL="0">
              <a:lnSpc>
                <a:spcPct val="130000"/>
              </a:lnSpc>
              <a:buNone/>
            </a:pPr>
            <a:r>
              <a:rPr lang="en-US" sz="1150" dirty="0">
                <a:solidFill>
                  <a:srgbClr val="3F3F3F"/>
                </a:solidFill>
                <a:latin typeface="Inter" pitchFamily="34" charset="0"/>
                <a:ea typeface="Inter" pitchFamily="34" charset="-122"/>
                <a:cs typeface="Inter" pitchFamily="34" charset="-120"/>
              </a:rPr>
              <a:t> and you reject real people.
</a:t>
            </a:r>
            <a:pPr indent="0" marL="0">
              <a:lnSpc>
                <a:spcPct val="130000"/>
              </a:lnSpc>
              <a:buNone/>
            </a:pPr>
            <a:r>
              <a:rPr lang="en-US" sz="1150" b="1" dirty="0">
                <a:solidFill>
                  <a:srgbClr val="0D0D0D"/>
                </a:solidFill>
                <a:latin typeface="Inter" pitchFamily="34" charset="0"/>
                <a:ea typeface="Inter" pitchFamily="34" charset="-122"/>
                <a:cs typeface="Inter" pitchFamily="34" charset="-120"/>
              </a:rPr>
              <a:t>Too loose</a:t>
            </a:r>
            <a:pPr indent="0" marL="0">
              <a:lnSpc>
                <a:spcPct val="130000"/>
              </a:lnSpc>
              <a:buNone/>
            </a:pPr>
            <a:r>
              <a:rPr lang="en-US" sz="1150" dirty="0">
                <a:solidFill>
                  <a:srgbClr val="3F3F3F"/>
                </a:solidFill>
                <a:latin typeface="Inter" pitchFamily="34" charset="0"/>
                <a:ea typeface="Inter" pitchFamily="34" charset="-122"/>
                <a:cs typeface="Inter" pitchFamily="34" charset="-120"/>
              </a:rPr>
              <a:t> and you let fakes through.</a:t>
            </a:r>
            <a:endParaRPr lang="en-US" sz="1150" dirty="0"/>
          </a:p>
          <a:p>
            <a:pPr indent="0" marL="0">
              <a:lnSpc>
                <a:spcPct val="130000"/>
              </a:lnSpc>
              <a:buNone/>
            </a:pPr>
            <a:r>
              <a:rPr lang="en-US" sz="1150" dirty="0">
                <a:solidFill>
                  <a:srgbClr val="3F3F3F"/>
                </a:solidFill>
                <a:latin typeface="Inter" pitchFamily="34" charset="0"/>
                <a:ea typeface="Inter" pitchFamily="34" charset="-122"/>
                <a:cs typeface="Inter" pitchFamily="34" charset="-120"/>
              </a:rPr>
              <a:t>EER is the point where those two errors are equal — one number for the whole trade-off.</a:t>
            </a:r>
            <a:endParaRPr lang="en-US" sz="1150" dirty="0"/>
          </a:p>
        </p:txBody>
      </p:sp>
      <p:sp>
        <p:nvSpPr>
          <p:cNvPr id="60" name="Shape 58"/>
          <p:cNvSpPr/>
          <p:nvPr/>
        </p:nvSpPr>
        <p:spPr>
          <a:xfrm>
            <a:off x="7589520" y="4572000"/>
            <a:ext cx="3550615" cy="0"/>
          </a:xfrm>
          <a:prstGeom prst="line">
            <a:avLst/>
          </a:prstGeom>
          <a:noFill/>
          <a:ln w="19050">
            <a:solidFill>
              <a:srgbClr val="0D0D0D"/>
            </a:solidFill>
            <a:prstDash val="solid"/>
          </a:ln>
        </p:spPr>
      </p:sp>
      <p:sp>
        <p:nvSpPr>
          <p:cNvPr id="61" name="Shape 59"/>
          <p:cNvSpPr/>
          <p:nvPr/>
        </p:nvSpPr>
        <p:spPr>
          <a:xfrm>
            <a:off x="7589520" y="4498848"/>
            <a:ext cx="0" cy="146304"/>
          </a:xfrm>
          <a:prstGeom prst="line">
            <a:avLst/>
          </a:prstGeom>
          <a:noFill/>
          <a:ln w="19050">
            <a:solidFill>
              <a:srgbClr val="0D0D0D"/>
            </a:solidFill>
            <a:prstDash val="solid"/>
          </a:ln>
        </p:spPr>
      </p:sp>
      <p:sp>
        <p:nvSpPr>
          <p:cNvPr id="62" name="Text 60"/>
          <p:cNvSpPr txBox="1"/>
          <p:nvPr/>
        </p:nvSpPr>
        <p:spPr>
          <a:xfrm>
            <a:off x="7132320" y="4700016"/>
            <a:ext cx="914400" cy="237744"/>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0 %</a:t>
            </a:r>
            <a:endParaRPr lang="en-US" sz="1200" dirty="0"/>
          </a:p>
        </p:txBody>
      </p:sp>
      <p:sp>
        <p:nvSpPr>
          <p:cNvPr id="63" name="Text 61"/>
          <p:cNvSpPr txBox="1"/>
          <p:nvPr/>
        </p:nvSpPr>
        <p:spPr>
          <a:xfrm>
            <a:off x="6903720" y="4937760"/>
            <a:ext cx="1371600" cy="237744"/>
          </a:xfrm>
          <a:prstGeom prst="rect">
            <a:avLst/>
          </a:prstGeom>
          <a:noFill/>
          <a:ln/>
        </p:spPr>
        <p:txBody>
          <a:bodyPr wrap="square" lIns="0" tIns="0" rIns="0" bIns="0" rtlCol="0" anchor="ctr"/>
          <a:lstStyle/>
          <a:p>
            <a:pPr algn="ctr" indent="0" marL="0">
              <a:buNone/>
            </a:pPr>
            <a:r>
              <a:rPr lang="en-US" sz="1000" dirty="0">
                <a:solidFill>
                  <a:srgbClr val="8C8C8C"/>
                </a:solidFill>
                <a:latin typeface="Inter" pitchFamily="34" charset="0"/>
                <a:ea typeface="Inter" pitchFamily="34" charset="-122"/>
                <a:cs typeface="Inter" pitchFamily="34" charset="-120"/>
              </a:rPr>
              <a:t>perfect</a:t>
            </a:r>
            <a:endParaRPr lang="en-US" sz="1000" dirty="0"/>
          </a:p>
        </p:txBody>
      </p:sp>
      <p:sp>
        <p:nvSpPr>
          <p:cNvPr id="64" name="Shape 62"/>
          <p:cNvSpPr/>
          <p:nvPr/>
        </p:nvSpPr>
        <p:spPr>
          <a:xfrm>
            <a:off x="9364828" y="4498848"/>
            <a:ext cx="0" cy="146304"/>
          </a:xfrm>
          <a:prstGeom prst="line">
            <a:avLst/>
          </a:prstGeom>
          <a:noFill/>
          <a:ln w="19050">
            <a:solidFill>
              <a:srgbClr val="0D0D0D"/>
            </a:solidFill>
            <a:prstDash val="solid"/>
          </a:ln>
        </p:spPr>
      </p:sp>
      <p:sp>
        <p:nvSpPr>
          <p:cNvPr id="65" name="Text 63"/>
          <p:cNvSpPr txBox="1"/>
          <p:nvPr/>
        </p:nvSpPr>
        <p:spPr>
          <a:xfrm>
            <a:off x="8907628" y="4700016"/>
            <a:ext cx="914400" cy="237744"/>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25 %</a:t>
            </a:r>
            <a:endParaRPr lang="en-US" sz="1200" dirty="0"/>
          </a:p>
        </p:txBody>
      </p:sp>
      <p:sp>
        <p:nvSpPr>
          <p:cNvPr id="66" name="Shape 64"/>
          <p:cNvSpPr/>
          <p:nvPr/>
        </p:nvSpPr>
        <p:spPr>
          <a:xfrm>
            <a:off x="11140135" y="4498848"/>
            <a:ext cx="0" cy="146304"/>
          </a:xfrm>
          <a:prstGeom prst="line">
            <a:avLst/>
          </a:prstGeom>
          <a:noFill/>
          <a:ln w="19050">
            <a:solidFill>
              <a:srgbClr val="0D0D0D"/>
            </a:solidFill>
            <a:prstDash val="solid"/>
          </a:ln>
        </p:spPr>
      </p:sp>
      <p:sp>
        <p:nvSpPr>
          <p:cNvPr id="67" name="Text 65"/>
          <p:cNvSpPr txBox="1"/>
          <p:nvPr/>
        </p:nvSpPr>
        <p:spPr>
          <a:xfrm>
            <a:off x="10682935" y="4700016"/>
            <a:ext cx="914400" cy="237744"/>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50 %</a:t>
            </a:r>
            <a:endParaRPr lang="en-US" sz="1200" dirty="0"/>
          </a:p>
        </p:txBody>
      </p:sp>
      <p:sp>
        <p:nvSpPr>
          <p:cNvPr id="68" name="Text 66"/>
          <p:cNvSpPr txBox="1"/>
          <p:nvPr/>
        </p:nvSpPr>
        <p:spPr>
          <a:xfrm>
            <a:off x="10454335" y="4937760"/>
            <a:ext cx="1371600" cy="237744"/>
          </a:xfrm>
          <a:prstGeom prst="rect">
            <a:avLst/>
          </a:prstGeom>
          <a:noFill/>
          <a:ln/>
        </p:spPr>
        <p:txBody>
          <a:bodyPr wrap="square" lIns="0" tIns="0" rIns="0" bIns="0" rtlCol="0" anchor="ctr"/>
          <a:lstStyle/>
          <a:p>
            <a:pPr algn="ctr" indent="0" marL="0">
              <a:buNone/>
            </a:pPr>
            <a:r>
              <a:rPr lang="en-US" sz="1000" dirty="0">
                <a:solidFill>
                  <a:srgbClr val="8C8C8C"/>
                </a:solidFill>
                <a:latin typeface="Inter" pitchFamily="34" charset="0"/>
                <a:ea typeface="Inter" pitchFamily="34" charset="-122"/>
                <a:cs typeface="Inter" pitchFamily="34" charset="-120"/>
              </a:rPr>
              <a:t>a coin flip</a:t>
            </a:r>
            <a:endParaRPr lang="en-US" sz="1000" dirty="0"/>
          </a:p>
        </p:txBody>
      </p:sp>
      <p:sp>
        <p:nvSpPr>
          <p:cNvPr id="69" name="Shape 67"/>
          <p:cNvSpPr/>
          <p:nvPr/>
        </p:nvSpPr>
        <p:spPr>
          <a:xfrm>
            <a:off x="7589520" y="4297680"/>
            <a:ext cx="426074" cy="128016"/>
          </a:xfrm>
          <a:prstGeom prst="rect">
            <a:avLst/>
          </a:prstGeom>
          <a:solidFill>
            <a:srgbClr val="FFE800"/>
          </a:solidFill>
          <a:ln w="12700">
            <a:solidFill>
              <a:srgbClr val="FFE800"/>
            </a:solidFill>
            <a:prstDash val="solid"/>
          </a:ln>
        </p:spPr>
      </p:sp>
      <p:sp>
        <p:nvSpPr>
          <p:cNvPr id="70" name="Text 68"/>
          <p:cNvSpPr txBox="1"/>
          <p:nvPr/>
        </p:nvSpPr>
        <p:spPr>
          <a:xfrm>
            <a:off x="7589520" y="4005072"/>
            <a:ext cx="3550615" cy="237744"/>
          </a:xfrm>
          <a:prstGeom prst="rect">
            <a:avLst/>
          </a:prstGeom>
          <a:noFill/>
          <a:ln/>
        </p:spPr>
        <p:txBody>
          <a:bodyPr wrap="square" lIns="0" tIns="0" rIns="0" bIns="0" rtlCol="0" anchor="ctr"/>
          <a:lstStyle/>
          <a:p>
            <a:pPr indent="0" marL="0">
              <a:buNone/>
            </a:pPr>
            <a:r>
              <a:rPr lang="en-US" sz="1000" dirty="0">
                <a:solidFill>
                  <a:srgbClr val="8A6D00"/>
                </a:solidFill>
                <a:latin typeface="Inter" pitchFamily="34" charset="0"/>
                <a:ea typeface="Inter" pitchFamily="34" charset="-122"/>
                <a:cs typeface="Inter" pitchFamily="34" charset="-120"/>
              </a:rPr>
              <a:t>where a working detector lives</a:t>
            </a:r>
            <a:endParaRPr lang="en-US" sz="1000" dirty="0"/>
          </a:p>
        </p:txBody>
      </p:sp>
      <p:sp>
        <p:nvSpPr>
          <p:cNvPr id="71" name="Text 69"/>
          <p:cNvSpPr txBox="1"/>
          <p:nvPr/>
        </p:nvSpPr>
        <p:spPr>
          <a:xfrm>
            <a:off x="7589520" y="5349240"/>
            <a:ext cx="3779215" cy="457200"/>
          </a:xfrm>
          <a:prstGeom prst="rect">
            <a:avLst/>
          </a:prstGeom>
          <a:noFill/>
          <a:ln/>
        </p:spPr>
        <p:txBody>
          <a:bodyPr wrap="square" lIns="0" tIns="0" rIns="0" bIns="0" rtlCol="0" anchor="ctr"/>
          <a:lstStyle/>
          <a:p>
            <a:pPr indent="0" marL="0">
              <a:lnSpc>
                <a:spcPct val="125000"/>
              </a:lnSpc>
              <a:buNone/>
            </a:pPr>
            <a:r>
              <a:rPr lang="en-US" sz="1250" b="1" dirty="0">
                <a:solidFill>
                  <a:srgbClr val="0D0D0D"/>
                </a:solidFill>
                <a:latin typeface="Inter" pitchFamily="34" charset="0"/>
                <a:ea typeface="Inter" pitchFamily="34" charset="-122"/>
                <a:cs typeface="Inter" pitchFamily="34" charset="-120"/>
              </a:rPr>
              <a:t>Lower is better. Every number in this talk is an EER.</a:t>
            </a:r>
            <a:endParaRPr lang="en-US" sz="1250" dirty="0"/>
          </a:p>
        </p:txBody>
      </p:sp>
      <p:pic>
        <p:nvPicPr>
          <p:cNvPr id="72"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73" name="Text 70"/>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74" name="Text 71"/>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METHODOLOGY  ·  1 OF 3</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300" b="1" dirty="0">
                <a:solidFill>
                  <a:srgbClr val="0D0D0D"/>
                </a:solidFill>
                <a:latin typeface="Inter" pitchFamily="34" charset="0"/>
                <a:ea typeface="Inter" pitchFamily="34" charset="-122"/>
                <a:cs typeface="Inter" pitchFamily="34" charset="-120"/>
              </a:rPr>
              <a:t>Every one of the 864</a:t>
            </a:r>
            <a:pPr indent="0" marL="0">
              <a:buNone/>
            </a:pPr>
            <a:r>
              <a:rPr lang="en-US" sz="3300" b="1" dirty="0">
                <a:solidFill>
                  <a:srgbClr val="BDBDBD"/>
                </a:solidFill>
                <a:latin typeface="Inter" pitchFamily="34" charset="0"/>
                <a:ea typeface="Inter" pitchFamily="34" charset="-122"/>
                <a:cs typeface="Inter" pitchFamily="34" charset="-120"/>
              </a:rPr>
              <a:t> is this same pipeline.</a:t>
            </a:r>
            <a:endParaRPr lang="en-US" sz="3300" dirty="0"/>
          </a:p>
        </p:txBody>
      </p:sp>
      <p:sp>
        <p:nvSpPr>
          <p:cNvPr id="4" name="Shape 2"/>
          <p:cNvSpPr/>
          <p:nvPr/>
        </p:nvSpPr>
        <p:spPr>
          <a:xfrm>
            <a:off x="731520" y="2240280"/>
            <a:ext cx="1589989" cy="822960"/>
          </a:xfrm>
          <a:prstGeom prst="roundRect">
            <a:avLst>
              <a:gd name="adj" fmla="val 6667"/>
            </a:avLst>
          </a:prstGeom>
          <a:solidFill>
            <a:srgbClr val="F7F7F5"/>
          </a:solidFill>
          <a:ln w="9525">
            <a:solidFill>
              <a:srgbClr val="BDBDBD"/>
            </a:solidFill>
            <a:prstDash val="solid"/>
          </a:ln>
        </p:spPr>
      </p:sp>
      <p:sp>
        <p:nvSpPr>
          <p:cNvPr id="5" name="Text 3"/>
          <p:cNvSpPr txBox="1"/>
          <p:nvPr/>
        </p:nvSpPr>
        <p:spPr>
          <a:xfrm>
            <a:off x="731520" y="2240280"/>
            <a:ext cx="1589989" cy="822960"/>
          </a:xfrm>
          <a:prstGeom prst="rect">
            <a:avLst/>
          </a:prstGeom>
          <a:noFill/>
          <a:ln/>
        </p:spPr>
        <p:txBody>
          <a:bodyPr wrap="square" lIns="0" tIns="0" rIns="0" bIns="0" rtlCol="0" anchor="ctr"/>
          <a:lstStyle/>
          <a:p>
            <a:pPr algn="ctr" indent="0" marL="0">
              <a:buNone/>
            </a:pPr>
            <a:r>
              <a:rPr lang="en-US" sz="1400" b="1" dirty="0">
                <a:solidFill>
                  <a:srgbClr val="8C8C8C"/>
                </a:solidFill>
                <a:latin typeface="Inter" pitchFamily="34" charset="0"/>
                <a:ea typeface="Inter" pitchFamily="34" charset="-122"/>
                <a:cs typeface="Inter" pitchFamily="34" charset="-120"/>
              </a:rPr>
              <a:t>audio</a:t>
            </a:r>
            <a:endParaRPr lang="en-US" sz="1400" dirty="0"/>
          </a:p>
        </p:txBody>
      </p:sp>
      <p:sp>
        <p:nvSpPr>
          <p:cNvPr id="6" name="Shape 4"/>
          <p:cNvSpPr/>
          <p:nvPr/>
        </p:nvSpPr>
        <p:spPr>
          <a:xfrm>
            <a:off x="2367229" y="2651760"/>
            <a:ext cx="146304" cy="0"/>
          </a:xfrm>
          <a:prstGeom prst="line">
            <a:avLst/>
          </a:prstGeom>
          <a:noFill/>
          <a:ln w="15875">
            <a:solidFill>
              <a:srgbClr val="BDBDBD"/>
            </a:solidFill>
            <a:prstDash val="solid"/>
            <a:tailEnd type="triangle"/>
          </a:ln>
        </p:spPr>
      </p:sp>
      <p:sp>
        <p:nvSpPr>
          <p:cNvPr id="7" name="Shape 5"/>
          <p:cNvSpPr/>
          <p:nvPr/>
        </p:nvSpPr>
        <p:spPr>
          <a:xfrm>
            <a:off x="2559253" y="2240280"/>
            <a:ext cx="1589989" cy="822960"/>
          </a:xfrm>
          <a:prstGeom prst="roundRect">
            <a:avLst>
              <a:gd name="adj" fmla="val 6667"/>
            </a:avLst>
          </a:prstGeom>
          <a:solidFill>
            <a:srgbClr val="FFFFFF"/>
          </a:solidFill>
          <a:ln w="19050">
            <a:solidFill>
              <a:srgbClr val="0D0D0D"/>
            </a:solidFill>
            <a:prstDash val="solid"/>
          </a:ln>
        </p:spPr>
      </p:sp>
      <p:sp>
        <p:nvSpPr>
          <p:cNvPr id="8" name="Text 6"/>
          <p:cNvSpPr txBox="1"/>
          <p:nvPr/>
        </p:nvSpPr>
        <p:spPr>
          <a:xfrm>
            <a:off x="2559253" y="2240280"/>
            <a:ext cx="1589989" cy="822960"/>
          </a:xfrm>
          <a:prstGeom prst="rect">
            <a:avLst/>
          </a:prstGeom>
          <a:noFill/>
          <a:ln/>
        </p:spPr>
        <p:txBody>
          <a:bodyPr wrap="square" lIns="0" tIns="0" rIns="0" bIns="0" rtlCol="0" anchor="ctr"/>
          <a:lstStyle/>
          <a:p>
            <a:pPr algn="ctr" indent="0" marL="0">
              <a:buNone/>
            </a:pPr>
            <a:r>
              <a:rPr lang="en-US" sz="1400" b="1" dirty="0">
                <a:solidFill>
                  <a:srgbClr val="0D0D0D"/>
                </a:solidFill>
                <a:latin typeface="Inter" pitchFamily="34" charset="0"/>
                <a:ea typeface="Inter" pitchFamily="34" charset="-122"/>
                <a:cs typeface="Inter" pitchFamily="34" charset="-120"/>
              </a:rPr>
              <a:t>front-end</a:t>
            </a:r>
            <a:endParaRPr lang="en-US" sz="1400" dirty="0"/>
          </a:p>
        </p:txBody>
      </p:sp>
      <p:sp>
        <p:nvSpPr>
          <p:cNvPr id="9" name="Shape 7"/>
          <p:cNvSpPr/>
          <p:nvPr/>
        </p:nvSpPr>
        <p:spPr>
          <a:xfrm>
            <a:off x="4194962" y="2651760"/>
            <a:ext cx="146304" cy="0"/>
          </a:xfrm>
          <a:prstGeom prst="line">
            <a:avLst/>
          </a:prstGeom>
          <a:noFill/>
          <a:ln w="15875">
            <a:solidFill>
              <a:srgbClr val="BDBDBD"/>
            </a:solidFill>
            <a:prstDash val="solid"/>
            <a:tailEnd type="triangle"/>
          </a:ln>
        </p:spPr>
      </p:sp>
      <p:sp>
        <p:nvSpPr>
          <p:cNvPr id="10" name="Shape 8"/>
          <p:cNvSpPr/>
          <p:nvPr/>
        </p:nvSpPr>
        <p:spPr>
          <a:xfrm>
            <a:off x="4386986" y="2240280"/>
            <a:ext cx="1589989" cy="822960"/>
          </a:xfrm>
          <a:prstGeom prst="roundRect">
            <a:avLst>
              <a:gd name="adj" fmla="val 6667"/>
            </a:avLst>
          </a:prstGeom>
          <a:solidFill>
            <a:srgbClr val="F7F7F5"/>
          </a:solidFill>
          <a:ln w="9525">
            <a:solidFill>
              <a:srgbClr val="BDBDBD"/>
            </a:solidFill>
            <a:prstDash val="solid"/>
          </a:ln>
        </p:spPr>
      </p:sp>
      <p:sp>
        <p:nvSpPr>
          <p:cNvPr id="11" name="Text 9"/>
          <p:cNvSpPr txBox="1"/>
          <p:nvPr/>
        </p:nvSpPr>
        <p:spPr>
          <a:xfrm>
            <a:off x="4386986" y="2240280"/>
            <a:ext cx="1589989" cy="822960"/>
          </a:xfrm>
          <a:prstGeom prst="rect">
            <a:avLst/>
          </a:prstGeom>
          <a:noFill/>
          <a:ln/>
        </p:spPr>
        <p:txBody>
          <a:bodyPr wrap="square" lIns="0" tIns="0" rIns="0" bIns="0" rtlCol="0" anchor="ctr"/>
          <a:lstStyle/>
          <a:p>
            <a:pPr algn="ctr" indent="0" marL="0">
              <a:buNone/>
            </a:pPr>
            <a:r>
              <a:rPr lang="en-US" sz="1400" b="1" dirty="0">
                <a:solidFill>
                  <a:srgbClr val="8C8C8C"/>
                </a:solidFill>
                <a:latin typeface="Inter" pitchFamily="34" charset="0"/>
                <a:ea typeface="Inter" pitchFamily="34" charset="-122"/>
                <a:cs typeface="Inter" pitchFamily="34" charset="-120"/>
              </a:rPr>
              <a:t>LCNN stem</a:t>
            </a:r>
            <a:endParaRPr lang="en-US" sz="1400" dirty="0"/>
          </a:p>
        </p:txBody>
      </p:sp>
      <p:sp>
        <p:nvSpPr>
          <p:cNvPr id="12" name="Shape 10"/>
          <p:cNvSpPr/>
          <p:nvPr/>
        </p:nvSpPr>
        <p:spPr>
          <a:xfrm>
            <a:off x="6022696" y="2651760"/>
            <a:ext cx="146304" cy="0"/>
          </a:xfrm>
          <a:prstGeom prst="line">
            <a:avLst/>
          </a:prstGeom>
          <a:noFill/>
          <a:ln w="15875">
            <a:solidFill>
              <a:srgbClr val="BDBDBD"/>
            </a:solidFill>
            <a:prstDash val="solid"/>
            <a:tailEnd type="triangle"/>
          </a:ln>
        </p:spPr>
      </p:sp>
      <p:sp>
        <p:nvSpPr>
          <p:cNvPr id="13" name="Shape 11"/>
          <p:cNvSpPr/>
          <p:nvPr/>
        </p:nvSpPr>
        <p:spPr>
          <a:xfrm>
            <a:off x="6214720" y="2240280"/>
            <a:ext cx="1589989" cy="822960"/>
          </a:xfrm>
          <a:prstGeom prst="roundRect">
            <a:avLst>
              <a:gd name="adj" fmla="val 6667"/>
            </a:avLst>
          </a:prstGeom>
          <a:solidFill>
            <a:srgbClr val="FFFFFF"/>
          </a:solidFill>
          <a:ln w="19050">
            <a:solidFill>
              <a:srgbClr val="0D0D0D"/>
            </a:solidFill>
            <a:prstDash val="solid"/>
          </a:ln>
        </p:spPr>
      </p:sp>
      <p:sp>
        <p:nvSpPr>
          <p:cNvPr id="14" name="Text 12"/>
          <p:cNvSpPr txBox="1"/>
          <p:nvPr/>
        </p:nvSpPr>
        <p:spPr>
          <a:xfrm>
            <a:off x="6214720" y="2240280"/>
            <a:ext cx="1589989" cy="822960"/>
          </a:xfrm>
          <a:prstGeom prst="rect">
            <a:avLst/>
          </a:prstGeom>
          <a:noFill/>
          <a:ln/>
        </p:spPr>
        <p:txBody>
          <a:bodyPr wrap="square" lIns="0" tIns="0" rIns="0" bIns="0" rtlCol="0" anchor="ctr"/>
          <a:lstStyle/>
          <a:p>
            <a:pPr algn="ctr" indent="0" marL="0">
              <a:buNone/>
            </a:pPr>
            <a:r>
              <a:rPr lang="en-US" sz="1400" b="1" dirty="0">
                <a:solidFill>
                  <a:srgbClr val="0D0D0D"/>
                </a:solidFill>
                <a:latin typeface="Inter" pitchFamily="34" charset="0"/>
                <a:ea typeface="Inter" pitchFamily="34" charset="-122"/>
                <a:cs typeface="Inter" pitchFamily="34" charset="-120"/>
              </a:rPr>
              <a:t>pooling</a:t>
            </a:r>
            <a:endParaRPr lang="en-US" sz="1400" dirty="0"/>
          </a:p>
        </p:txBody>
      </p:sp>
      <p:sp>
        <p:nvSpPr>
          <p:cNvPr id="15" name="Shape 13"/>
          <p:cNvSpPr/>
          <p:nvPr/>
        </p:nvSpPr>
        <p:spPr>
          <a:xfrm>
            <a:off x="7850429" y="2651760"/>
            <a:ext cx="146304" cy="0"/>
          </a:xfrm>
          <a:prstGeom prst="line">
            <a:avLst/>
          </a:prstGeom>
          <a:noFill/>
          <a:ln w="15875">
            <a:solidFill>
              <a:srgbClr val="BDBDBD"/>
            </a:solidFill>
            <a:prstDash val="solid"/>
            <a:tailEnd type="triangle"/>
          </a:ln>
        </p:spPr>
      </p:sp>
      <p:sp>
        <p:nvSpPr>
          <p:cNvPr id="16" name="Shape 14"/>
          <p:cNvSpPr/>
          <p:nvPr/>
        </p:nvSpPr>
        <p:spPr>
          <a:xfrm>
            <a:off x="8042453" y="2240280"/>
            <a:ext cx="1589989" cy="822960"/>
          </a:xfrm>
          <a:prstGeom prst="roundRect">
            <a:avLst>
              <a:gd name="adj" fmla="val 6667"/>
            </a:avLst>
          </a:prstGeom>
          <a:solidFill>
            <a:srgbClr val="FFFFFF"/>
          </a:solidFill>
          <a:ln w="19050">
            <a:solidFill>
              <a:srgbClr val="0D0D0D"/>
            </a:solidFill>
            <a:prstDash val="solid"/>
          </a:ln>
        </p:spPr>
      </p:sp>
      <p:sp>
        <p:nvSpPr>
          <p:cNvPr id="17" name="Text 15"/>
          <p:cNvSpPr txBox="1"/>
          <p:nvPr/>
        </p:nvSpPr>
        <p:spPr>
          <a:xfrm>
            <a:off x="8042453" y="2240280"/>
            <a:ext cx="1589989" cy="822960"/>
          </a:xfrm>
          <a:prstGeom prst="rect">
            <a:avLst/>
          </a:prstGeom>
          <a:noFill/>
          <a:ln/>
        </p:spPr>
        <p:txBody>
          <a:bodyPr wrap="square" lIns="0" tIns="0" rIns="0" bIns="0" rtlCol="0" anchor="ctr"/>
          <a:lstStyle/>
          <a:p>
            <a:pPr algn="ctr" indent="0" marL="0">
              <a:buNone/>
            </a:pPr>
            <a:r>
              <a:rPr lang="en-US" sz="1400" b="1" dirty="0">
                <a:solidFill>
                  <a:srgbClr val="0D0D0D"/>
                </a:solidFill>
                <a:latin typeface="Inter" pitchFamily="34" charset="0"/>
                <a:ea typeface="Inter" pitchFamily="34" charset="-122"/>
                <a:cs typeface="Inter" pitchFamily="34" charset="-120"/>
              </a:rPr>
              <a:t>loss head</a:t>
            </a:r>
            <a:endParaRPr lang="en-US" sz="1400" dirty="0"/>
          </a:p>
        </p:txBody>
      </p:sp>
      <p:sp>
        <p:nvSpPr>
          <p:cNvPr id="18" name="Shape 16"/>
          <p:cNvSpPr/>
          <p:nvPr/>
        </p:nvSpPr>
        <p:spPr>
          <a:xfrm>
            <a:off x="9678162" y="2651760"/>
            <a:ext cx="146304" cy="0"/>
          </a:xfrm>
          <a:prstGeom prst="line">
            <a:avLst/>
          </a:prstGeom>
          <a:noFill/>
          <a:ln w="15875">
            <a:solidFill>
              <a:srgbClr val="BDBDBD"/>
            </a:solidFill>
            <a:prstDash val="solid"/>
            <a:tailEnd type="triangle"/>
          </a:ln>
        </p:spPr>
      </p:sp>
      <p:sp>
        <p:nvSpPr>
          <p:cNvPr id="19" name="Shape 17"/>
          <p:cNvSpPr/>
          <p:nvPr/>
        </p:nvSpPr>
        <p:spPr>
          <a:xfrm>
            <a:off x="9870186" y="2240280"/>
            <a:ext cx="1589989" cy="822960"/>
          </a:xfrm>
          <a:prstGeom prst="roundRect">
            <a:avLst>
              <a:gd name="adj" fmla="val 6667"/>
            </a:avLst>
          </a:prstGeom>
          <a:solidFill>
            <a:srgbClr val="F7F7F5"/>
          </a:solidFill>
          <a:ln w="9525">
            <a:solidFill>
              <a:srgbClr val="BDBDBD"/>
            </a:solidFill>
            <a:prstDash val="solid"/>
          </a:ln>
        </p:spPr>
      </p:sp>
      <p:sp>
        <p:nvSpPr>
          <p:cNvPr id="20" name="Text 18"/>
          <p:cNvSpPr txBox="1"/>
          <p:nvPr/>
        </p:nvSpPr>
        <p:spPr>
          <a:xfrm>
            <a:off x="9870186" y="2240280"/>
            <a:ext cx="1589989" cy="822960"/>
          </a:xfrm>
          <a:prstGeom prst="rect">
            <a:avLst/>
          </a:prstGeom>
          <a:noFill/>
          <a:ln/>
        </p:spPr>
        <p:txBody>
          <a:bodyPr wrap="square" lIns="0" tIns="0" rIns="0" bIns="0" rtlCol="0" anchor="ctr"/>
          <a:lstStyle/>
          <a:p>
            <a:pPr algn="ctr" indent="0" marL="0">
              <a:buNone/>
            </a:pPr>
            <a:r>
              <a:rPr lang="en-US" sz="1400" b="1" dirty="0">
                <a:solidFill>
                  <a:srgbClr val="8C8C8C"/>
                </a:solidFill>
                <a:latin typeface="Inter" pitchFamily="34" charset="0"/>
                <a:ea typeface="Inter" pitchFamily="34" charset="-122"/>
                <a:cs typeface="Inter" pitchFamily="34" charset="-120"/>
              </a:rPr>
              <a:t>score</a:t>
            </a:r>
            <a:endParaRPr lang="en-US" sz="1400" dirty="0"/>
          </a:p>
        </p:txBody>
      </p:sp>
      <p:sp>
        <p:nvSpPr>
          <p:cNvPr id="21" name="Shape 19"/>
          <p:cNvSpPr/>
          <p:nvPr/>
        </p:nvSpPr>
        <p:spPr>
          <a:xfrm>
            <a:off x="2559253" y="3172968"/>
            <a:ext cx="1589989" cy="45720"/>
          </a:xfrm>
          <a:prstGeom prst="rect">
            <a:avLst/>
          </a:prstGeom>
          <a:solidFill>
            <a:srgbClr val="FFE800"/>
          </a:solidFill>
          <a:ln w="12700">
            <a:solidFill>
              <a:srgbClr val="FFE800"/>
            </a:solidFill>
            <a:prstDash val="solid"/>
          </a:ln>
        </p:spPr>
      </p:sp>
      <p:sp>
        <p:nvSpPr>
          <p:cNvPr id="22" name="Text 20"/>
          <p:cNvSpPr txBox="1"/>
          <p:nvPr/>
        </p:nvSpPr>
        <p:spPr>
          <a:xfrm>
            <a:off x="2559253" y="3337560"/>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Spectrogram</a:t>
            </a:r>
            <a:endParaRPr lang="en-US" sz="1300" dirty="0"/>
          </a:p>
        </p:txBody>
      </p:sp>
      <p:sp>
        <p:nvSpPr>
          <p:cNvPr id="23" name="Text 21"/>
          <p:cNvSpPr txBox="1"/>
          <p:nvPr/>
        </p:nvSpPr>
        <p:spPr>
          <a:xfrm>
            <a:off x="2559253" y="3666744"/>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LFCC</a:t>
            </a:r>
            <a:endParaRPr lang="en-US" sz="1300" dirty="0"/>
          </a:p>
        </p:txBody>
      </p:sp>
      <p:sp>
        <p:nvSpPr>
          <p:cNvPr id="24" name="Text 22"/>
          <p:cNvSpPr txBox="1"/>
          <p:nvPr/>
        </p:nvSpPr>
        <p:spPr>
          <a:xfrm>
            <a:off x="2559253" y="3995928"/>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MFCC</a:t>
            </a:r>
            <a:endParaRPr lang="en-US" sz="1300" dirty="0"/>
          </a:p>
        </p:txBody>
      </p:sp>
      <p:sp>
        <p:nvSpPr>
          <p:cNvPr id="25" name="Text 23"/>
          <p:cNvSpPr txBox="1"/>
          <p:nvPr/>
        </p:nvSpPr>
        <p:spPr>
          <a:xfrm>
            <a:off x="2559253" y="4325112"/>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CQCC</a:t>
            </a:r>
            <a:endParaRPr lang="en-US" sz="1300" dirty="0"/>
          </a:p>
        </p:txBody>
      </p:sp>
      <p:sp>
        <p:nvSpPr>
          <p:cNvPr id="26" name="Shape 24"/>
          <p:cNvSpPr/>
          <p:nvPr/>
        </p:nvSpPr>
        <p:spPr>
          <a:xfrm>
            <a:off x="6214720" y="3172968"/>
            <a:ext cx="1589989" cy="45720"/>
          </a:xfrm>
          <a:prstGeom prst="rect">
            <a:avLst/>
          </a:prstGeom>
          <a:solidFill>
            <a:srgbClr val="FFE800"/>
          </a:solidFill>
          <a:ln w="12700">
            <a:solidFill>
              <a:srgbClr val="FFE800"/>
            </a:solidFill>
            <a:prstDash val="solid"/>
          </a:ln>
        </p:spPr>
      </p:sp>
      <p:sp>
        <p:nvSpPr>
          <p:cNvPr id="27" name="Text 25"/>
          <p:cNvSpPr txBox="1"/>
          <p:nvPr/>
        </p:nvSpPr>
        <p:spPr>
          <a:xfrm>
            <a:off x="6214720" y="3337560"/>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attention</a:t>
            </a:r>
            <a:endParaRPr lang="en-US" sz="1300" dirty="0"/>
          </a:p>
        </p:txBody>
      </p:sp>
      <p:sp>
        <p:nvSpPr>
          <p:cNvPr id="28" name="Text 26"/>
          <p:cNvSpPr txBox="1"/>
          <p:nvPr/>
        </p:nvSpPr>
        <p:spPr>
          <a:xfrm>
            <a:off x="6214720" y="3666744"/>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trim-pad</a:t>
            </a:r>
            <a:endParaRPr lang="en-US" sz="1300" dirty="0"/>
          </a:p>
        </p:txBody>
      </p:sp>
      <p:sp>
        <p:nvSpPr>
          <p:cNvPr id="29" name="Text 27"/>
          <p:cNvSpPr txBox="1"/>
          <p:nvPr/>
        </p:nvSpPr>
        <p:spPr>
          <a:xfrm>
            <a:off x="6214720" y="3995928"/>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LSTM-sum</a:t>
            </a:r>
            <a:endParaRPr lang="en-US" sz="1300" dirty="0"/>
          </a:p>
        </p:txBody>
      </p:sp>
      <p:sp>
        <p:nvSpPr>
          <p:cNvPr id="30" name="Shape 28"/>
          <p:cNvSpPr/>
          <p:nvPr/>
        </p:nvSpPr>
        <p:spPr>
          <a:xfrm>
            <a:off x="8042453" y="3172968"/>
            <a:ext cx="1589989" cy="45720"/>
          </a:xfrm>
          <a:prstGeom prst="rect">
            <a:avLst/>
          </a:prstGeom>
          <a:solidFill>
            <a:srgbClr val="FFE800"/>
          </a:solidFill>
          <a:ln w="12700">
            <a:solidFill>
              <a:srgbClr val="FFE800"/>
            </a:solidFill>
            <a:prstDash val="solid"/>
          </a:ln>
        </p:spPr>
      </p:sp>
      <p:sp>
        <p:nvSpPr>
          <p:cNvPr id="31" name="Text 29"/>
          <p:cNvSpPr txBox="1"/>
          <p:nvPr/>
        </p:nvSpPr>
        <p:spPr>
          <a:xfrm>
            <a:off x="8042453" y="3337560"/>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AM-Softmax</a:t>
            </a:r>
            <a:endParaRPr lang="en-US" sz="1300" dirty="0"/>
          </a:p>
        </p:txBody>
      </p:sp>
      <p:sp>
        <p:nvSpPr>
          <p:cNvPr id="32" name="Text 30"/>
          <p:cNvSpPr txBox="1"/>
          <p:nvPr/>
        </p:nvSpPr>
        <p:spPr>
          <a:xfrm>
            <a:off x="8042453" y="3666744"/>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OC-Softmax</a:t>
            </a:r>
            <a:endParaRPr lang="en-US" sz="1300" dirty="0"/>
          </a:p>
        </p:txBody>
      </p:sp>
      <p:sp>
        <p:nvSpPr>
          <p:cNvPr id="33" name="Text 31"/>
          <p:cNvSpPr txBox="1"/>
          <p:nvPr/>
        </p:nvSpPr>
        <p:spPr>
          <a:xfrm>
            <a:off x="8042453" y="3995928"/>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P2S-Grad</a:t>
            </a:r>
            <a:endParaRPr lang="en-US" sz="1300" dirty="0"/>
          </a:p>
        </p:txBody>
      </p:sp>
      <p:sp>
        <p:nvSpPr>
          <p:cNvPr id="34" name="Text 32"/>
          <p:cNvSpPr txBox="1"/>
          <p:nvPr/>
        </p:nvSpPr>
        <p:spPr>
          <a:xfrm>
            <a:off x="8042453" y="4325112"/>
            <a:ext cx="1589989" cy="292608"/>
          </a:xfrm>
          <a:prstGeom prst="rect">
            <a:avLst/>
          </a:prstGeom>
          <a:noFill/>
          <a:ln/>
        </p:spPr>
        <p:txBody>
          <a:bodyPr wrap="square" lIns="0" tIns="0" rIns="0" bIns="0" rtlCol="0" anchor="ctr"/>
          <a:lstStyle/>
          <a:p>
            <a:pPr algn="ctr" indent="0" marL="0">
              <a:buNone/>
            </a:pPr>
            <a:r>
              <a:rPr lang="en-US" sz="1300" dirty="0">
                <a:solidFill>
                  <a:srgbClr val="0D0D0D"/>
                </a:solidFill>
                <a:latin typeface="Inter" pitchFamily="34" charset="0"/>
                <a:ea typeface="Inter" pitchFamily="34" charset="-122"/>
                <a:cs typeface="Inter" pitchFamily="34" charset="-120"/>
              </a:rPr>
              <a:t>Sigmoid</a:t>
            </a:r>
            <a:endParaRPr lang="en-US" sz="1300" dirty="0"/>
          </a:p>
        </p:txBody>
      </p:sp>
      <p:sp>
        <p:nvSpPr>
          <p:cNvPr id="35" name="Text 33"/>
          <p:cNvSpPr txBox="1"/>
          <p:nvPr/>
        </p:nvSpPr>
        <p:spPr>
          <a:xfrm>
            <a:off x="731520" y="4956048"/>
            <a:ext cx="10728655" cy="274320"/>
          </a:xfrm>
          <a:prstGeom prst="rect">
            <a:avLst/>
          </a:prstGeom>
          <a:noFill/>
          <a:ln/>
        </p:spPr>
        <p:txBody>
          <a:bodyPr wrap="square" lIns="0" tIns="0" rIns="0" bIns="0" rtlCol="0" anchor="ctr"/>
          <a:lstStyle/>
          <a:p>
            <a:pPr algn="ctr" indent="0" marL="0">
              <a:buNone/>
            </a:pPr>
            <a:r>
              <a:rPr lang="en-US" sz="1200" dirty="0">
                <a:solidFill>
                  <a:srgbClr val="8C8C8C"/>
                </a:solidFill>
                <a:latin typeface="Inter" pitchFamily="34" charset="0"/>
                <a:ea typeface="Inter" pitchFamily="34" charset="-122"/>
                <a:cs typeface="Inter" pitchFamily="34" charset="-120"/>
              </a:rPr>
              <a:t>black outline = the three axes we varied</a:t>
            </a:r>
            <a:endParaRPr lang="en-US" sz="1200" dirty="0"/>
          </a:p>
        </p:txBody>
      </p:sp>
      <p:sp>
        <p:nvSpPr>
          <p:cNvPr id="36" name="Text 34"/>
          <p:cNvSpPr txBox="1"/>
          <p:nvPr/>
        </p:nvSpPr>
        <p:spPr>
          <a:xfrm>
            <a:off x="731520" y="56692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Three axes, one stem.</a:t>
            </a:r>
            <a:pPr indent="0" marL="0">
              <a:buNone/>
            </a:pPr>
            <a:r>
              <a:rPr lang="en-US" sz="1500" dirty="0">
                <a:solidFill>
                  <a:srgbClr val="8C8C8C"/>
                </a:solidFill>
                <a:latin typeface="Inter" pitchFamily="34" charset="0"/>
                <a:ea typeface="Inter" pitchFamily="34" charset="-122"/>
                <a:cs typeface="Inter" pitchFamily="34" charset="-120"/>
              </a:rPr>
              <a:t> 48 architectures × 3 training conditions × 6 seeds = 864 models.</a:t>
            </a:r>
            <a:endParaRPr lang="en-US" sz="1500" dirty="0"/>
          </a:p>
        </p:txBody>
      </p:sp>
      <p:sp>
        <p:nvSpPr>
          <p:cNvPr id="37" name="Text 35"/>
          <p:cNvSpPr txBox="1"/>
          <p:nvPr/>
        </p:nvSpPr>
        <p:spPr>
          <a:xfrm>
            <a:off x="731520" y="6053328"/>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Sec. 3.2 – 3.3 and Table 3.</a:t>
            </a:r>
            <a:endParaRPr lang="en-US" sz="900" dirty="0"/>
          </a:p>
        </p:txBody>
      </p:sp>
      <p:pic>
        <p:nvPicPr>
          <p:cNvPr id="38"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39" name="Text 36"/>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40" name="Text 37"/>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METHODOLOGY  ·  2 OF 3</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Two corpora,</a:t>
            </a:r>
            <a:pPr indent="0" marL="0">
              <a:buNone/>
            </a:pPr>
            <a:r>
              <a:rPr lang="en-US" sz="3400" b="1" dirty="0">
                <a:solidFill>
                  <a:srgbClr val="BDBDBD"/>
                </a:solidFill>
                <a:latin typeface="Inter" pitchFamily="34" charset="0"/>
                <a:ea typeface="Inter" pitchFamily="34" charset="-122"/>
                <a:cs typeface="Inter" pitchFamily="34" charset="-120"/>
              </a:rPr>
              <a:t> three splits each.</a:t>
            </a:r>
            <a:endParaRPr lang="en-US" sz="3400" dirty="0"/>
          </a:p>
        </p:txBody>
      </p:sp>
      <p:sp>
        <p:nvSpPr>
          <p:cNvPr id="4" name="Text 2"/>
          <p:cNvSpPr txBox="1"/>
          <p:nvPr/>
        </p:nvSpPr>
        <p:spPr>
          <a:xfrm>
            <a:off x="2834640" y="2240280"/>
            <a:ext cx="2875178" cy="256032"/>
          </a:xfrm>
          <a:prstGeom prst="rect">
            <a:avLst/>
          </a:prstGeom>
          <a:noFill/>
          <a:ln/>
        </p:spPr>
        <p:txBody>
          <a:bodyPr wrap="square" lIns="0" tIns="0" rIns="0" bIns="0" rtlCol="0" anchor="ctr"/>
          <a:lstStyle/>
          <a:p>
            <a:pPr algn="ctr" indent="0" marL="0">
              <a:buNone/>
            </a:pPr>
            <a:r>
              <a:rPr lang="en-US" sz="1000" b="1" spc="180" kern="0" dirty="0">
                <a:solidFill>
                  <a:srgbClr val="8C8C8C"/>
                </a:solidFill>
                <a:latin typeface="Inter" pitchFamily="34" charset="0"/>
                <a:ea typeface="Inter" pitchFamily="34" charset="-122"/>
                <a:cs typeface="Inter" pitchFamily="34" charset="-120"/>
              </a:rPr>
              <a:t>TRAIN</a:t>
            </a:r>
            <a:endParaRPr lang="en-US" sz="1000" dirty="0"/>
          </a:p>
        </p:txBody>
      </p:sp>
      <p:sp>
        <p:nvSpPr>
          <p:cNvPr id="5" name="Text 3"/>
          <p:cNvSpPr txBox="1"/>
          <p:nvPr/>
        </p:nvSpPr>
        <p:spPr>
          <a:xfrm>
            <a:off x="5709818" y="2240280"/>
            <a:ext cx="2875178" cy="256032"/>
          </a:xfrm>
          <a:prstGeom prst="rect">
            <a:avLst/>
          </a:prstGeom>
          <a:noFill/>
          <a:ln/>
        </p:spPr>
        <p:txBody>
          <a:bodyPr wrap="square" lIns="0" tIns="0" rIns="0" bIns="0" rtlCol="0" anchor="ctr"/>
          <a:lstStyle/>
          <a:p>
            <a:pPr algn="ctr" indent="0" marL="0">
              <a:buNone/>
            </a:pPr>
            <a:r>
              <a:rPr lang="en-US" sz="1000" b="1" spc="180" kern="0" dirty="0">
                <a:solidFill>
                  <a:srgbClr val="8C8C8C"/>
                </a:solidFill>
                <a:latin typeface="Inter" pitchFamily="34" charset="0"/>
                <a:ea typeface="Inter" pitchFamily="34" charset="-122"/>
                <a:cs typeface="Inter" pitchFamily="34" charset="-120"/>
              </a:rPr>
              <a:t>DEV</a:t>
            </a:r>
            <a:endParaRPr lang="en-US" sz="1000" dirty="0"/>
          </a:p>
        </p:txBody>
      </p:sp>
      <p:sp>
        <p:nvSpPr>
          <p:cNvPr id="6" name="Text 4"/>
          <p:cNvSpPr txBox="1"/>
          <p:nvPr/>
        </p:nvSpPr>
        <p:spPr>
          <a:xfrm>
            <a:off x="8584997" y="2240280"/>
            <a:ext cx="2875178" cy="256032"/>
          </a:xfrm>
          <a:prstGeom prst="rect">
            <a:avLst/>
          </a:prstGeom>
          <a:noFill/>
          <a:ln/>
        </p:spPr>
        <p:txBody>
          <a:bodyPr wrap="square" lIns="0" tIns="0" rIns="0" bIns="0" rtlCol="0" anchor="ctr"/>
          <a:lstStyle/>
          <a:p>
            <a:pPr algn="ctr" indent="0" marL="0">
              <a:buNone/>
            </a:pPr>
            <a:r>
              <a:rPr lang="en-US" sz="1000" b="1" spc="180" kern="0" dirty="0">
                <a:solidFill>
                  <a:srgbClr val="8C8C8C"/>
                </a:solidFill>
                <a:latin typeface="Inter" pitchFamily="34" charset="0"/>
                <a:ea typeface="Inter" pitchFamily="34" charset="-122"/>
                <a:cs typeface="Inter" pitchFamily="34" charset="-120"/>
              </a:rPr>
              <a:t>TEST</a:t>
            </a:r>
            <a:endParaRPr lang="en-US" sz="1000" dirty="0"/>
          </a:p>
        </p:txBody>
      </p:sp>
      <p:sp>
        <p:nvSpPr>
          <p:cNvPr id="7" name="Shape 5"/>
          <p:cNvSpPr/>
          <p:nvPr/>
        </p:nvSpPr>
        <p:spPr>
          <a:xfrm>
            <a:off x="731520" y="2551176"/>
            <a:ext cx="10728655" cy="0"/>
          </a:xfrm>
          <a:prstGeom prst="line">
            <a:avLst/>
          </a:prstGeom>
          <a:noFill/>
          <a:ln w="12700">
            <a:solidFill>
              <a:srgbClr val="E6E6E6"/>
            </a:solidFill>
            <a:prstDash val="solid"/>
          </a:ln>
        </p:spPr>
      </p:sp>
      <p:sp>
        <p:nvSpPr>
          <p:cNvPr id="8" name="Text 6"/>
          <p:cNvSpPr txBox="1"/>
          <p:nvPr/>
        </p:nvSpPr>
        <p:spPr>
          <a:xfrm>
            <a:off x="731520" y="2935224"/>
            <a:ext cx="2103120" cy="457200"/>
          </a:xfrm>
          <a:prstGeom prst="rect">
            <a:avLst/>
          </a:prstGeom>
          <a:noFill/>
          <a:ln/>
        </p:spPr>
        <p:txBody>
          <a:bodyPr wrap="square" lIns="0" tIns="0" rIns="0" bIns="0" rtlCol="0" anchor="ctr"/>
          <a:lstStyle/>
          <a:p>
            <a:pPr indent="0" marL="0">
              <a:buNone/>
            </a:pPr>
            <a:r>
              <a:rPr lang="en-US" sz="2000" b="1" dirty="0">
                <a:solidFill>
                  <a:srgbClr val="0D0D0D"/>
                </a:solidFill>
                <a:latin typeface="Inter" pitchFamily="34" charset="0"/>
                <a:ea typeface="Inter" pitchFamily="34" charset="-122"/>
                <a:cs typeface="Inter" pitchFamily="34" charset="-120"/>
              </a:rPr>
              <a:t>English</a:t>
            </a:r>
            <a:endParaRPr lang="en-US" sz="2000" dirty="0"/>
          </a:p>
        </p:txBody>
      </p:sp>
      <p:sp>
        <p:nvSpPr>
          <p:cNvPr id="9" name="Text 7"/>
          <p:cNvSpPr txBox="1"/>
          <p:nvPr/>
        </p:nvSpPr>
        <p:spPr>
          <a:xfrm>
            <a:off x="2834640" y="2788920"/>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20.9 %</a:t>
            </a:r>
            <a:endParaRPr lang="en-US" sz="3200" dirty="0"/>
          </a:p>
        </p:txBody>
      </p:sp>
      <p:sp>
        <p:nvSpPr>
          <p:cNvPr id="10" name="Text 8"/>
          <p:cNvSpPr txBox="1"/>
          <p:nvPr/>
        </p:nvSpPr>
        <p:spPr>
          <a:xfrm>
            <a:off x="2834640" y="3374136"/>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25,380  utterances</a:t>
            </a:r>
            <a:endParaRPr lang="en-US" sz="1000" dirty="0"/>
          </a:p>
        </p:txBody>
      </p:sp>
      <p:sp>
        <p:nvSpPr>
          <p:cNvPr id="11" name="Text 9"/>
          <p:cNvSpPr txBox="1"/>
          <p:nvPr/>
        </p:nvSpPr>
        <p:spPr>
          <a:xfrm>
            <a:off x="5709818" y="2788920"/>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20.5 %</a:t>
            </a:r>
            <a:endParaRPr lang="en-US" sz="3200" dirty="0"/>
          </a:p>
        </p:txBody>
      </p:sp>
      <p:sp>
        <p:nvSpPr>
          <p:cNvPr id="12" name="Text 10"/>
          <p:cNvSpPr txBox="1"/>
          <p:nvPr/>
        </p:nvSpPr>
        <p:spPr>
          <a:xfrm>
            <a:off x="5709818" y="3374136"/>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24,844  utterances</a:t>
            </a:r>
            <a:endParaRPr lang="en-US" sz="1000" dirty="0"/>
          </a:p>
        </p:txBody>
      </p:sp>
      <p:sp>
        <p:nvSpPr>
          <p:cNvPr id="13" name="Text 11"/>
          <p:cNvSpPr txBox="1"/>
          <p:nvPr/>
        </p:nvSpPr>
        <p:spPr>
          <a:xfrm>
            <a:off x="8584997" y="2788920"/>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58.6 %</a:t>
            </a:r>
            <a:endParaRPr lang="en-US" sz="3200" dirty="0"/>
          </a:p>
        </p:txBody>
      </p:sp>
      <p:sp>
        <p:nvSpPr>
          <p:cNvPr id="14" name="Text 12"/>
          <p:cNvSpPr txBox="1"/>
          <p:nvPr/>
        </p:nvSpPr>
        <p:spPr>
          <a:xfrm>
            <a:off x="8584997" y="3374136"/>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71,237  utterances</a:t>
            </a:r>
            <a:endParaRPr lang="en-US" sz="1000" dirty="0"/>
          </a:p>
        </p:txBody>
      </p:sp>
      <p:sp>
        <p:nvSpPr>
          <p:cNvPr id="15" name="Shape 13"/>
          <p:cNvSpPr/>
          <p:nvPr/>
        </p:nvSpPr>
        <p:spPr>
          <a:xfrm>
            <a:off x="594360" y="3959352"/>
            <a:ext cx="11002975" cy="1115568"/>
          </a:xfrm>
          <a:prstGeom prst="roundRect">
            <a:avLst>
              <a:gd name="adj" fmla="val 4918"/>
            </a:avLst>
          </a:prstGeom>
          <a:solidFill>
            <a:srgbClr val="FFFBCC"/>
          </a:solidFill>
          <a:ln w="15875">
            <a:solidFill>
              <a:srgbClr val="FFE800"/>
            </a:solidFill>
            <a:prstDash val="solid"/>
          </a:ln>
        </p:spPr>
      </p:sp>
      <p:sp>
        <p:nvSpPr>
          <p:cNvPr id="16" name="Text 14"/>
          <p:cNvSpPr txBox="1"/>
          <p:nvPr/>
        </p:nvSpPr>
        <p:spPr>
          <a:xfrm>
            <a:off x="731520" y="4233672"/>
            <a:ext cx="2103120" cy="457200"/>
          </a:xfrm>
          <a:prstGeom prst="rect">
            <a:avLst/>
          </a:prstGeom>
          <a:noFill/>
          <a:ln/>
        </p:spPr>
        <p:txBody>
          <a:bodyPr wrap="square" lIns="0" tIns="0" rIns="0" bIns="0" rtlCol="0" anchor="ctr"/>
          <a:lstStyle/>
          <a:p>
            <a:pPr indent="0" marL="0">
              <a:buNone/>
            </a:pPr>
            <a:r>
              <a:rPr lang="en-US" sz="2000" b="1" dirty="0">
                <a:solidFill>
                  <a:srgbClr val="0D0D0D"/>
                </a:solidFill>
                <a:latin typeface="Inter" pitchFamily="34" charset="0"/>
                <a:ea typeface="Inter" pitchFamily="34" charset="-122"/>
                <a:cs typeface="Inter" pitchFamily="34" charset="-120"/>
              </a:rPr>
              <a:t>Spanish</a:t>
            </a:r>
            <a:endParaRPr lang="en-US" sz="2000" dirty="0"/>
          </a:p>
        </p:txBody>
      </p:sp>
      <p:sp>
        <p:nvSpPr>
          <p:cNvPr id="17" name="Text 15"/>
          <p:cNvSpPr txBox="1"/>
          <p:nvPr/>
        </p:nvSpPr>
        <p:spPr>
          <a:xfrm>
            <a:off x="2834640" y="4087368"/>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80.4 %</a:t>
            </a:r>
            <a:endParaRPr lang="en-US" sz="3200" dirty="0"/>
          </a:p>
        </p:txBody>
      </p:sp>
      <p:sp>
        <p:nvSpPr>
          <p:cNvPr id="18" name="Text 16"/>
          <p:cNvSpPr txBox="1"/>
          <p:nvPr/>
        </p:nvSpPr>
        <p:spPr>
          <a:xfrm>
            <a:off x="2834640" y="4672584"/>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34,684  utterances</a:t>
            </a:r>
            <a:endParaRPr lang="en-US" sz="1000" dirty="0"/>
          </a:p>
        </p:txBody>
      </p:sp>
      <p:sp>
        <p:nvSpPr>
          <p:cNvPr id="19" name="Text 17"/>
          <p:cNvSpPr txBox="1"/>
          <p:nvPr/>
        </p:nvSpPr>
        <p:spPr>
          <a:xfrm>
            <a:off x="5709818" y="4087368"/>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8.5 %</a:t>
            </a:r>
            <a:endParaRPr lang="en-US" sz="3200" dirty="0"/>
          </a:p>
        </p:txBody>
      </p:sp>
      <p:sp>
        <p:nvSpPr>
          <p:cNvPr id="20" name="Text 18"/>
          <p:cNvSpPr txBox="1"/>
          <p:nvPr/>
        </p:nvSpPr>
        <p:spPr>
          <a:xfrm>
            <a:off x="5709818" y="4672584"/>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3,658  utterances</a:t>
            </a:r>
            <a:endParaRPr lang="en-US" sz="1000" dirty="0"/>
          </a:p>
        </p:txBody>
      </p:sp>
      <p:sp>
        <p:nvSpPr>
          <p:cNvPr id="21" name="Text 19"/>
          <p:cNvSpPr txBox="1"/>
          <p:nvPr/>
        </p:nvSpPr>
        <p:spPr>
          <a:xfrm>
            <a:off x="8584997" y="4087368"/>
            <a:ext cx="2875178" cy="566928"/>
          </a:xfrm>
          <a:prstGeom prst="rect">
            <a:avLst/>
          </a:prstGeom>
          <a:noFill/>
          <a:ln/>
        </p:spPr>
        <p:txBody>
          <a:bodyPr wrap="square" lIns="0" tIns="0" rIns="0" bIns="0" rtlCol="0" anchor="ctr"/>
          <a:lstStyle/>
          <a:p>
            <a:pPr algn="ctr" indent="0" marL="0">
              <a:buNone/>
            </a:pPr>
            <a:r>
              <a:rPr lang="en-US" sz="3200" b="1" dirty="0">
                <a:solidFill>
                  <a:srgbClr val="0D0D0D"/>
                </a:solidFill>
                <a:latin typeface="Inter" pitchFamily="34" charset="0"/>
                <a:ea typeface="Inter" pitchFamily="34" charset="-122"/>
                <a:cs typeface="Inter" pitchFamily="34" charset="-120"/>
              </a:rPr>
              <a:t>11.1 %</a:t>
            </a:r>
            <a:endParaRPr lang="en-US" sz="3200" dirty="0"/>
          </a:p>
        </p:txBody>
      </p:sp>
      <p:sp>
        <p:nvSpPr>
          <p:cNvPr id="22" name="Text 20"/>
          <p:cNvSpPr txBox="1"/>
          <p:nvPr/>
        </p:nvSpPr>
        <p:spPr>
          <a:xfrm>
            <a:off x="8584997" y="4672584"/>
            <a:ext cx="2875178" cy="256032"/>
          </a:xfrm>
          <a:prstGeom prst="rect">
            <a:avLst/>
          </a:prstGeom>
          <a:noFill/>
          <a:ln/>
        </p:spPr>
        <p:txBody>
          <a:bodyPr wrap="square" lIns="0" tIns="0" rIns="0" bIns="0" rtlCol="0" anchor="ctr"/>
          <a:lstStyle/>
          <a:p>
            <a:pPr algn="ctr" indent="0" marL="0">
              <a:buNone/>
            </a:pPr>
            <a:r>
              <a:rPr lang="en-US" sz="1000" dirty="0">
                <a:solidFill>
                  <a:srgbClr val="8C8C8C"/>
                </a:solidFill>
                <a:latin typeface="Consolas" pitchFamily="34" charset="0"/>
                <a:ea typeface="Consolas" pitchFamily="34" charset="-122"/>
                <a:cs typeface="Consolas" pitchFamily="34" charset="-120"/>
              </a:rPr>
              <a:t>4,809  utterances</a:t>
            </a:r>
            <a:endParaRPr lang="en-US" sz="1000" dirty="0"/>
          </a:p>
        </p:txBody>
      </p:sp>
      <p:sp>
        <p:nvSpPr>
          <p:cNvPr id="23" name="Text 21"/>
          <p:cNvSpPr txBox="1"/>
          <p:nvPr/>
        </p:nvSpPr>
        <p:spPr>
          <a:xfrm>
            <a:off x="731520" y="5266944"/>
            <a:ext cx="10728655" cy="274320"/>
          </a:xfrm>
          <a:prstGeom prst="rect">
            <a:avLst/>
          </a:prstGeom>
          <a:noFill/>
          <a:ln/>
        </p:spPr>
        <p:txBody>
          <a:bodyPr wrap="square" lIns="0" tIns="0" rIns="0" bIns="0" rtlCol="0" anchor="ctr"/>
          <a:lstStyle/>
          <a:p>
            <a:pPr indent="0" marL="0">
              <a:buNone/>
            </a:pPr>
            <a:r>
              <a:rPr lang="en-US" sz="1150" dirty="0">
                <a:solidFill>
                  <a:srgbClr val="3F3F3F"/>
                </a:solidFill>
                <a:latin typeface="Inter" pitchFamily="34" charset="0"/>
                <a:ea typeface="Inter" pitchFamily="34" charset="-122"/>
                <a:cs typeface="Inter" pitchFamily="34" charset="-120"/>
              </a:rPr>
              <a:t>Combined is the two training sets merged and the two dev sets merged — joint training, evaluated on each language’s own test partition.</a:t>
            </a:r>
            <a:endParaRPr lang="en-US" sz="1150" dirty="0"/>
          </a:p>
        </p:txBody>
      </p:sp>
      <p:sp>
        <p:nvSpPr>
          <p:cNvPr id="24" name="Text 22"/>
          <p:cNvSpPr txBox="1"/>
          <p:nvPr/>
        </p:nvSpPr>
        <p:spPr>
          <a:xfrm>
            <a:off x="731520" y="5705856"/>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Split in opposite shapes.</a:t>
            </a:r>
            <a:pPr indent="0" marL="0">
              <a:buNone/>
            </a:pPr>
            <a:r>
              <a:rPr lang="en-US" sz="1500" dirty="0">
                <a:solidFill>
                  <a:srgbClr val="8C8C8C"/>
                </a:solidFill>
                <a:latin typeface="Inter" pitchFamily="34" charset="0"/>
                <a:ea typeface="Inter" pitchFamily="34" charset="-122"/>
                <a:cs typeface="Inter" pitchFamily="34" charset="-120"/>
              </a:rPr>
              <a:t> English tests on most of itself; Spanish trains on most of itself.</a:t>
            </a:r>
            <a:endParaRPr lang="en-US" sz="1500" dirty="0"/>
          </a:p>
        </p:txBody>
      </p:sp>
      <p:sp>
        <p:nvSpPr>
          <p:cNvPr id="25" name="Text 23"/>
          <p:cNvSpPr txBox="1"/>
          <p:nvPr/>
        </p:nvSpPr>
        <p:spPr>
          <a:xfrm>
            <a:off x="731520" y="6053328"/>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4.</a:t>
            </a:r>
            <a:endParaRPr lang="en-US" sz="900" dirty="0"/>
          </a:p>
        </p:txBody>
      </p:sp>
      <p:pic>
        <p:nvPicPr>
          <p:cNvPr id="26"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27" name="Text 24"/>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28" name="Text 25"/>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METHODOLOGY  ·  3 OF 3</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300" b="1" dirty="0">
                <a:solidFill>
                  <a:srgbClr val="0D0D0D"/>
                </a:solidFill>
                <a:latin typeface="Inter" pitchFamily="34" charset="0"/>
                <a:ea typeface="Inter" pitchFamily="34" charset="-122"/>
                <a:cs typeface="Inter" pitchFamily="34" charset="-120"/>
              </a:rPr>
              <a:t>Six seeds,</a:t>
            </a:r>
            <a:pPr indent="0" marL="0">
              <a:buNone/>
            </a:pPr>
            <a:r>
              <a:rPr lang="en-US" sz="3300" b="1" dirty="0">
                <a:solidFill>
                  <a:srgbClr val="BDBDBD"/>
                </a:solidFill>
                <a:latin typeface="Inter" pitchFamily="34" charset="0"/>
                <a:ea typeface="Inter" pitchFamily="34" charset="-122"/>
                <a:cs typeface="Inter" pitchFamily="34" charset="-120"/>
              </a:rPr>
              <a:t> not one run.</a:t>
            </a:r>
            <a:endParaRPr lang="en-US" sz="3300" dirty="0"/>
          </a:p>
        </p:txBody>
      </p:sp>
      <p:sp>
        <p:nvSpPr>
          <p:cNvPr id="4" name="Shape 2"/>
          <p:cNvSpPr/>
          <p:nvPr/>
        </p:nvSpPr>
        <p:spPr>
          <a:xfrm>
            <a:off x="731520" y="2487168"/>
            <a:ext cx="7818120" cy="384048"/>
          </a:xfrm>
          <a:prstGeom prst="rect">
            <a:avLst/>
          </a:prstGeom>
          <a:solidFill>
            <a:srgbClr val="FFE800"/>
          </a:solidFill>
          <a:ln w="12700">
            <a:solidFill>
              <a:srgbClr val="FFE800"/>
            </a:solidFill>
            <a:prstDash val="solid"/>
          </a:ln>
        </p:spPr>
      </p:sp>
      <p:sp>
        <p:nvSpPr>
          <p:cNvPr id="5" name="Text 3"/>
          <p:cNvSpPr txBox="1"/>
          <p:nvPr/>
        </p:nvSpPr>
        <p:spPr>
          <a:xfrm>
            <a:off x="731520" y="2286000"/>
            <a:ext cx="10728655" cy="640080"/>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Every configuration was trained six times.</a:t>
            </a:r>
            <a:endParaRPr lang="en-US" sz="3000" dirty="0"/>
          </a:p>
        </p:txBody>
      </p:sp>
      <p:sp>
        <p:nvSpPr>
          <p:cNvPr id="6" name="Text 4"/>
          <p:cNvSpPr txBox="1"/>
          <p:nvPr/>
        </p:nvSpPr>
        <p:spPr>
          <a:xfrm>
            <a:off x="731520" y="3154680"/>
            <a:ext cx="8412480" cy="822960"/>
          </a:xfrm>
          <a:prstGeom prst="rect">
            <a:avLst/>
          </a:prstGeom>
          <a:noFill/>
          <a:ln/>
        </p:spPr>
        <p:txBody>
          <a:bodyPr wrap="square" lIns="0" tIns="0" rIns="0" bIns="0" rtlCol="0" anchor="ctr"/>
          <a:lstStyle/>
          <a:p>
            <a:pPr indent="0" marL="0">
              <a:lnSpc>
                <a:spcPct val="130000"/>
              </a:lnSpc>
              <a:buNone/>
            </a:pPr>
            <a:r>
              <a:rPr lang="en-US" sz="1600" dirty="0">
                <a:solidFill>
                  <a:srgbClr val="3F3F3F"/>
                </a:solidFill>
                <a:latin typeface="Inter" pitchFamily="34" charset="0"/>
                <a:ea typeface="Inter" pitchFamily="34" charset="-122"/>
                <a:cs typeface="Inter" pitchFamily="34" charset="-120"/>
              </a:rPr>
              <a:t>Different random seed each time. So nothing in this talk is one lucky run — every number you will see is a median over six.</a:t>
            </a:r>
            <a:endParaRPr lang="en-US" sz="1600" dirty="0"/>
          </a:p>
        </p:txBody>
      </p:sp>
      <p:sp>
        <p:nvSpPr>
          <p:cNvPr id="7" name="Shape 5"/>
          <p:cNvSpPr/>
          <p:nvPr/>
        </p:nvSpPr>
        <p:spPr>
          <a:xfrm>
            <a:off x="731520" y="4434840"/>
            <a:ext cx="3210458" cy="0"/>
          </a:xfrm>
          <a:prstGeom prst="line">
            <a:avLst/>
          </a:prstGeom>
          <a:noFill/>
          <a:ln w="19050">
            <a:solidFill>
              <a:srgbClr val="0D0D0D"/>
            </a:solidFill>
            <a:prstDash val="solid"/>
          </a:ln>
        </p:spPr>
      </p:sp>
      <p:sp>
        <p:nvSpPr>
          <p:cNvPr id="8" name="Text 6"/>
          <p:cNvSpPr txBox="1"/>
          <p:nvPr/>
        </p:nvSpPr>
        <p:spPr>
          <a:xfrm>
            <a:off x="731520" y="4553712"/>
            <a:ext cx="3210458" cy="310896"/>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Wilcoxon signed-rank</a:t>
            </a:r>
            <a:endParaRPr lang="en-US" sz="1600" dirty="0"/>
          </a:p>
        </p:txBody>
      </p:sp>
      <p:sp>
        <p:nvSpPr>
          <p:cNvPr id="9" name="Text 7"/>
          <p:cNvSpPr txBox="1"/>
          <p:nvPr/>
        </p:nvSpPr>
        <p:spPr>
          <a:xfrm>
            <a:off x="731520" y="4882896"/>
            <a:ext cx="3210458" cy="274320"/>
          </a:xfrm>
          <a:prstGeom prst="rect">
            <a:avLst/>
          </a:prstGeom>
          <a:noFill/>
          <a:ln/>
        </p:spPr>
        <p:txBody>
          <a:bodyPr wrap="square" lIns="0" tIns="0" rIns="0" bIns="0" rtlCol="0" anchor="ctr"/>
          <a:lstStyle/>
          <a:p>
            <a:pPr indent="0" marL="0">
              <a:buNone/>
            </a:pPr>
            <a:r>
              <a:rPr lang="en-US" sz="1200" dirty="0">
                <a:solidFill>
                  <a:srgbClr val="8C8C8C"/>
                </a:solidFill>
                <a:latin typeface="Inter" pitchFamily="34" charset="0"/>
                <a:ea typeface="Inter" pitchFamily="34" charset="-122"/>
                <a:cs typeface="Inter" pitchFamily="34" charset="-120"/>
              </a:rPr>
              <a:t>on seed-matched pairs</a:t>
            </a:r>
            <a:endParaRPr lang="en-US" sz="1200" dirty="0"/>
          </a:p>
        </p:txBody>
      </p:sp>
      <p:sp>
        <p:nvSpPr>
          <p:cNvPr id="10" name="Shape 8"/>
          <p:cNvSpPr/>
          <p:nvPr/>
        </p:nvSpPr>
        <p:spPr>
          <a:xfrm>
            <a:off x="4490618" y="4434840"/>
            <a:ext cx="3210458" cy="0"/>
          </a:xfrm>
          <a:prstGeom prst="line">
            <a:avLst/>
          </a:prstGeom>
          <a:noFill/>
          <a:ln w="19050">
            <a:solidFill>
              <a:srgbClr val="0D0D0D"/>
            </a:solidFill>
            <a:prstDash val="solid"/>
          </a:ln>
        </p:spPr>
      </p:sp>
      <p:sp>
        <p:nvSpPr>
          <p:cNvPr id="11" name="Text 9"/>
          <p:cNvSpPr txBox="1"/>
          <p:nvPr/>
        </p:nvSpPr>
        <p:spPr>
          <a:xfrm>
            <a:off x="4490618" y="4553712"/>
            <a:ext cx="3210458" cy="310896"/>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Cohen’s d</a:t>
            </a:r>
            <a:endParaRPr lang="en-US" sz="1600" dirty="0"/>
          </a:p>
        </p:txBody>
      </p:sp>
      <p:sp>
        <p:nvSpPr>
          <p:cNvPr id="12" name="Text 10"/>
          <p:cNvSpPr txBox="1"/>
          <p:nvPr/>
        </p:nvSpPr>
        <p:spPr>
          <a:xfrm>
            <a:off x="4490618" y="4882896"/>
            <a:ext cx="3210458" cy="274320"/>
          </a:xfrm>
          <a:prstGeom prst="rect">
            <a:avLst/>
          </a:prstGeom>
          <a:noFill/>
          <a:ln/>
        </p:spPr>
        <p:txBody>
          <a:bodyPr wrap="square" lIns="0" tIns="0" rIns="0" bIns="0" rtlCol="0" anchor="ctr"/>
          <a:lstStyle/>
          <a:p>
            <a:pPr indent="0" marL="0">
              <a:buNone/>
            </a:pPr>
            <a:r>
              <a:rPr lang="en-US" sz="1200" dirty="0">
                <a:solidFill>
                  <a:srgbClr val="8C8C8C"/>
                </a:solidFill>
                <a:latin typeface="Inter" pitchFamily="34" charset="0"/>
                <a:ea typeface="Inter" pitchFamily="34" charset="-122"/>
                <a:cs typeface="Inter" pitchFamily="34" charset="-120"/>
              </a:rPr>
              <a:t>for effect size</a:t>
            </a:r>
            <a:endParaRPr lang="en-US" sz="1200" dirty="0"/>
          </a:p>
        </p:txBody>
      </p:sp>
      <p:sp>
        <p:nvSpPr>
          <p:cNvPr id="13" name="Shape 11"/>
          <p:cNvSpPr/>
          <p:nvPr/>
        </p:nvSpPr>
        <p:spPr>
          <a:xfrm>
            <a:off x="8249717" y="4434840"/>
            <a:ext cx="3210458" cy="0"/>
          </a:xfrm>
          <a:prstGeom prst="line">
            <a:avLst/>
          </a:prstGeom>
          <a:noFill/>
          <a:ln w="19050">
            <a:solidFill>
              <a:srgbClr val="0D0D0D"/>
            </a:solidFill>
            <a:prstDash val="solid"/>
          </a:ln>
        </p:spPr>
      </p:sp>
      <p:sp>
        <p:nvSpPr>
          <p:cNvPr id="14" name="Text 12"/>
          <p:cNvSpPr txBox="1"/>
          <p:nvPr/>
        </p:nvSpPr>
        <p:spPr>
          <a:xfrm>
            <a:off x="8249717" y="4553712"/>
            <a:ext cx="3210458" cy="310896"/>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Bonferroni</a:t>
            </a:r>
            <a:endParaRPr lang="en-US" sz="1600" dirty="0"/>
          </a:p>
        </p:txBody>
      </p:sp>
      <p:sp>
        <p:nvSpPr>
          <p:cNvPr id="15" name="Text 13"/>
          <p:cNvSpPr txBox="1"/>
          <p:nvPr/>
        </p:nvSpPr>
        <p:spPr>
          <a:xfrm>
            <a:off x="8249717" y="4882896"/>
            <a:ext cx="3210458" cy="274320"/>
          </a:xfrm>
          <a:prstGeom prst="rect">
            <a:avLst/>
          </a:prstGeom>
          <a:noFill/>
          <a:ln/>
        </p:spPr>
        <p:txBody>
          <a:bodyPr wrap="square" lIns="0" tIns="0" rIns="0" bIns="0" rtlCol="0" anchor="ctr"/>
          <a:lstStyle/>
          <a:p>
            <a:pPr indent="0" marL="0">
              <a:buNone/>
            </a:pPr>
            <a:r>
              <a:rPr lang="en-US" sz="1200" dirty="0">
                <a:solidFill>
                  <a:srgbClr val="8C8C8C"/>
                </a:solidFill>
                <a:latin typeface="Inter" pitchFamily="34" charset="0"/>
                <a:ea typeface="Inter" pitchFamily="34" charset="-122"/>
                <a:cs typeface="Inter" pitchFamily="34" charset="-120"/>
              </a:rPr>
              <a:t>for multiple comparisons</a:t>
            </a:r>
            <a:endParaRPr lang="en-US" sz="1200" dirty="0"/>
          </a:p>
        </p:txBody>
      </p:sp>
      <p:sp>
        <p:nvSpPr>
          <p:cNvPr id="16" name="Text 14"/>
          <p:cNvSpPr txBox="1"/>
          <p:nvPr/>
        </p:nvSpPr>
        <p:spPr>
          <a:xfrm>
            <a:off x="731520" y="576072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One run per configuration would have let us crown a winner.</a:t>
            </a:r>
            <a:pPr indent="0" marL="0">
              <a:buNone/>
            </a:pPr>
            <a:r>
              <a:rPr lang="en-US" sz="1500" dirty="0">
                <a:solidFill>
                  <a:srgbClr val="8C8C8C"/>
                </a:solidFill>
                <a:latin typeface="Inter" pitchFamily="34" charset="0"/>
                <a:ea typeface="Inter" pitchFamily="34" charset="-122"/>
                <a:cs typeface="Inter" pitchFamily="34" charset="-120"/>
              </a:rPr>
              <a:t> Six will not.</a:t>
            </a:r>
            <a:endParaRPr lang="en-US" sz="1500" dirty="0"/>
          </a:p>
        </p:txBody>
      </p:sp>
      <p:pic>
        <p:nvPicPr>
          <p:cNvPr id="17"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8" name="Text 15"/>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9" name="Text 16"/>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WHAT WE TESTED  ·  48 ARCHITECTURES, THREE TIMES OVER</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200" b="1" dirty="0">
                <a:solidFill>
                  <a:srgbClr val="0D0D0D"/>
                </a:solidFill>
                <a:latin typeface="Inter" pitchFamily="34" charset="0"/>
                <a:ea typeface="Inter" pitchFamily="34" charset="-122"/>
                <a:cs typeface="Inter" pitchFamily="34" charset="-120"/>
              </a:rPr>
              <a:t>The same grid, three times.</a:t>
            </a:r>
            <a:pPr indent="0" marL="0">
              <a:buNone/>
            </a:pPr>
            <a:r>
              <a:rPr lang="en-US" sz="3200" b="1" dirty="0">
                <a:solidFill>
                  <a:srgbClr val="BDBDBD"/>
                </a:solidFill>
                <a:latin typeface="Inter" pitchFamily="34" charset="0"/>
                <a:ea typeface="Inter" pitchFamily="34" charset="-122"/>
                <a:cs typeface="Inter" pitchFamily="34" charset="-120"/>
              </a:rPr>
              <a:t> Only the data changes.</a:t>
            </a:r>
            <a:endParaRPr lang="en-US" sz="3200" dirty="0"/>
          </a:p>
        </p:txBody>
      </p:sp>
      <p:sp>
        <p:nvSpPr>
          <p:cNvPr id="4" name="Text 2"/>
          <p:cNvSpPr txBox="1"/>
          <p:nvPr/>
        </p:nvSpPr>
        <p:spPr>
          <a:xfrm>
            <a:off x="731520" y="2743200"/>
            <a:ext cx="1033272" cy="244932"/>
          </a:xfrm>
          <a:prstGeom prst="rect">
            <a:avLst/>
          </a:prstGeom>
          <a:noFill/>
          <a:ln/>
        </p:spPr>
        <p:txBody>
          <a:bodyPr wrap="square" lIns="0" tIns="0" rIns="0" bIns="0" rtlCol="0" anchor="ctr"/>
          <a:lstStyle/>
          <a:p>
            <a:pPr indent="0" marL="0">
              <a:buNone/>
            </a:pPr>
            <a:r>
              <a:rPr lang="en-US" sz="950" b="1" dirty="0">
                <a:solidFill>
                  <a:srgbClr val="0D0D0D"/>
                </a:solidFill>
                <a:latin typeface="Inter" pitchFamily="34" charset="0"/>
                <a:ea typeface="Inter" pitchFamily="34" charset="-122"/>
                <a:cs typeface="Inter" pitchFamily="34" charset="-120"/>
              </a:rPr>
              <a:t>CQCC</a:t>
            </a:r>
            <a:endParaRPr lang="en-US" sz="950" dirty="0"/>
          </a:p>
        </p:txBody>
      </p:sp>
      <p:sp>
        <p:nvSpPr>
          <p:cNvPr id="5" name="Text 3"/>
          <p:cNvSpPr txBox="1"/>
          <p:nvPr/>
        </p:nvSpPr>
        <p:spPr>
          <a:xfrm>
            <a:off x="731520" y="2988132"/>
            <a:ext cx="1033272" cy="244932"/>
          </a:xfrm>
          <a:prstGeom prst="rect">
            <a:avLst/>
          </a:prstGeom>
          <a:noFill/>
          <a:ln/>
        </p:spPr>
        <p:txBody>
          <a:bodyPr wrap="square" lIns="0" tIns="0" rIns="0" bIns="0" rtlCol="0" anchor="ctr"/>
          <a:lstStyle/>
          <a:p>
            <a:pPr indent="0" marL="0">
              <a:buNone/>
            </a:pPr>
            <a:r>
              <a:rPr lang="en-US" sz="950" b="1" dirty="0">
                <a:solidFill>
                  <a:srgbClr val="0D0D0D"/>
                </a:solidFill>
                <a:latin typeface="Inter" pitchFamily="34" charset="0"/>
                <a:ea typeface="Inter" pitchFamily="34" charset="-122"/>
                <a:cs typeface="Inter" pitchFamily="34" charset="-120"/>
              </a:rPr>
              <a:t>Spectrogram</a:t>
            </a:r>
            <a:endParaRPr lang="en-US" sz="950" dirty="0"/>
          </a:p>
        </p:txBody>
      </p:sp>
      <p:sp>
        <p:nvSpPr>
          <p:cNvPr id="6" name="Text 4"/>
          <p:cNvSpPr txBox="1"/>
          <p:nvPr/>
        </p:nvSpPr>
        <p:spPr>
          <a:xfrm>
            <a:off x="731520" y="3233064"/>
            <a:ext cx="1033272" cy="244932"/>
          </a:xfrm>
          <a:prstGeom prst="rect">
            <a:avLst/>
          </a:prstGeom>
          <a:noFill/>
          <a:ln/>
        </p:spPr>
        <p:txBody>
          <a:bodyPr wrap="square" lIns="0" tIns="0" rIns="0" bIns="0" rtlCol="0" anchor="ctr"/>
          <a:lstStyle/>
          <a:p>
            <a:pPr indent="0" marL="0">
              <a:buNone/>
            </a:pPr>
            <a:r>
              <a:rPr lang="en-US" sz="950" b="1" dirty="0">
                <a:solidFill>
                  <a:srgbClr val="0D0D0D"/>
                </a:solidFill>
                <a:latin typeface="Inter" pitchFamily="34" charset="0"/>
                <a:ea typeface="Inter" pitchFamily="34" charset="-122"/>
                <a:cs typeface="Inter" pitchFamily="34" charset="-120"/>
              </a:rPr>
              <a:t>MFCC</a:t>
            </a:r>
            <a:endParaRPr lang="en-US" sz="950" dirty="0"/>
          </a:p>
        </p:txBody>
      </p:sp>
      <p:sp>
        <p:nvSpPr>
          <p:cNvPr id="7" name="Text 5"/>
          <p:cNvSpPr txBox="1"/>
          <p:nvPr/>
        </p:nvSpPr>
        <p:spPr>
          <a:xfrm>
            <a:off x="731520" y="3477997"/>
            <a:ext cx="1033272" cy="244932"/>
          </a:xfrm>
          <a:prstGeom prst="rect">
            <a:avLst/>
          </a:prstGeom>
          <a:noFill/>
          <a:ln/>
        </p:spPr>
        <p:txBody>
          <a:bodyPr wrap="square" lIns="0" tIns="0" rIns="0" bIns="0" rtlCol="0" anchor="ctr"/>
          <a:lstStyle/>
          <a:p>
            <a:pPr indent="0" marL="0">
              <a:buNone/>
            </a:pPr>
            <a:r>
              <a:rPr lang="en-US" sz="950" b="1" dirty="0">
                <a:solidFill>
                  <a:srgbClr val="0D0D0D"/>
                </a:solidFill>
                <a:latin typeface="Inter" pitchFamily="34" charset="0"/>
                <a:ea typeface="Inter" pitchFamily="34" charset="-122"/>
                <a:cs typeface="Inter" pitchFamily="34" charset="-120"/>
              </a:rPr>
              <a:t>LFCC</a:t>
            </a:r>
            <a:endParaRPr lang="en-US" sz="950" dirty="0"/>
          </a:p>
        </p:txBody>
      </p:sp>
      <p:sp>
        <p:nvSpPr>
          <p:cNvPr id="8" name="Text 6"/>
          <p:cNvSpPr txBox="1"/>
          <p:nvPr/>
        </p:nvSpPr>
        <p:spPr>
          <a:xfrm>
            <a:off x="1874520" y="1965960"/>
            <a:ext cx="2939186" cy="201168"/>
          </a:xfrm>
          <a:prstGeom prst="rect">
            <a:avLst/>
          </a:prstGeom>
          <a:noFill/>
          <a:ln/>
        </p:spPr>
        <p:txBody>
          <a:bodyPr wrap="square" lIns="0" tIns="0" rIns="0" bIns="0" rtlCol="0" anchor="ctr"/>
          <a:lstStyle/>
          <a:p>
            <a:pPr indent="0" marL="0">
              <a:buNone/>
            </a:pPr>
            <a:r>
              <a:rPr lang="en-US" sz="850" b="1" spc="150" kern="0" dirty="0">
                <a:solidFill>
                  <a:srgbClr val="8C8C8C"/>
                </a:solidFill>
                <a:latin typeface="Inter" pitchFamily="34" charset="0"/>
                <a:ea typeface="Inter" pitchFamily="34" charset="-122"/>
                <a:cs typeface="Inter" pitchFamily="34" charset="-120"/>
              </a:rPr>
              <a:t>TRAINED ON</a:t>
            </a:r>
            <a:endParaRPr lang="en-US" sz="850" dirty="0"/>
          </a:p>
        </p:txBody>
      </p:sp>
      <p:sp>
        <p:nvSpPr>
          <p:cNvPr id="9" name="Text 7"/>
          <p:cNvSpPr txBox="1"/>
          <p:nvPr/>
        </p:nvSpPr>
        <p:spPr>
          <a:xfrm>
            <a:off x="1874520" y="2157984"/>
            <a:ext cx="2939186" cy="292608"/>
          </a:xfrm>
          <a:prstGeom prst="rect">
            <a:avLst/>
          </a:prstGeom>
          <a:noFill/>
          <a:ln/>
        </p:spPr>
        <p:txBody>
          <a:bodyPr wrap="square" lIns="0" tIns="0" rIns="0" bIns="0" rtlCol="0" anchor="ctr"/>
          <a:lstStyle/>
          <a:p>
            <a:pPr indent="0" marL="0">
              <a:buNone/>
            </a:pPr>
            <a:r>
              <a:rPr lang="en-US" sz="1800" b="1" dirty="0">
                <a:solidFill>
                  <a:srgbClr val="0D0D0D"/>
                </a:solidFill>
                <a:latin typeface="Inter" pitchFamily="34" charset="0"/>
                <a:ea typeface="Inter" pitchFamily="34" charset="-122"/>
                <a:cs typeface="Inter" pitchFamily="34" charset="-120"/>
              </a:rPr>
              <a:t>ENGLISH</a:t>
            </a:r>
            <a:endParaRPr lang="en-US" sz="1800" dirty="0"/>
          </a:p>
        </p:txBody>
      </p:sp>
      <p:sp>
        <p:nvSpPr>
          <p:cNvPr id="10" name="Text 8"/>
          <p:cNvSpPr txBox="1"/>
          <p:nvPr/>
        </p:nvSpPr>
        <p:spPr>
          <a:xfrm>
            <a:off x="1874520" y="2468880"/>
            <a:ext cx="2939186" cy="237744"/>
          </a:xfrm>
          <a:prstGeom prst="rect">
            <a:avLst/>
          </a:prstGeom>
          <a:noFill/>
          <a:ln/>
        </p:spPr>
        <p:txBody>
          <a:bodyPr wrap="square" lIns="0" tIns="0" rIns="0" bIns="0" rtlCol="0" anchor="ctr"/>
          <a:lstStyle/>
          <a:p>
            <a:pPr indent="0" marL="0">
              <a:buNone/>
            </a:pPr>
            <a:r>
              <a:rPr lang="en-US" sz="1050" dirty="0">
                <a:solidFill>
                  <a:srgbClr val="3F3F3F"/>
                </a:solidFill>
                <a:latin typeface="Inter" pitchFamily="34" charset="0"/>
                <a:ea typeface="Inter" pitchFamily="34" charset="-122"/>
                <a:cs typeface="Inter" pitchFamily="34" charset="-120"/>
              </a:rPr>
              <a:t>tested on English</a:t>
            </a:r>
            <a:endParaRPr lang="en-US" sz="1050" dirty="0"/>
          </a:p>
        </p:txBody>
      </p:sp>
      <p:sp>
        <p:nvSpPr>
          <p:cNvPr id="11" name="Shape 9"/>
          <p:cNvSpPr/>
          <p:nvPr/>
        </p:nvSpPr>
        <p:spPr>
          <a:xfrm>
            <a:off x="1874520" y="2743200"/>
            <a:ext cx="226644" cy="226644"/>
          </a:xfrm>
          <a:prstGeom prst="rect">
            <a:avLst/>
          </a:prstGeom>
          <a:solidFill>
            <a:srgbClr val="A3A3A1"/>
          </a:solidFill>
          <a:ln w="6350">
            <a:solidFill>
              <a:srgbClr val="FFFFFF"/>
            </a:solidFill>
            <a:prstDash val="solid"/>
          </a:ln>
        </p:spPr>
      </p:sp>
      <p:sp>
        <p:nvSpPr>
          <p:cNvPr id="12" name="Shape 10"/>
          <p:cNvSpPr/>
          <p:nvPr/>
        </p:nvSpPr>
        <p:spPr>
          <a:xfrm>
            <a:off x="2119452" y="2743200"/>
            <a:ext cx="226644" cy="226644"/>
          </a:xfrm>
          <a:prstGeom prst="rect">
            <a:avLst/>
          </a:prstGeom>
          <a:solidFill>
            <a:srgbClr val="A4A4A2"/>
          </a:solidFill>
          <a:ln w="6350">
            <a:solidFill>
              <a:srgbClr val="FFFFFF"/>
            </a:solidFill>
            <a:prstDash val="solid"/>
          </a:ln>
        </p:spPr>
      </p:sp>
      <p:sp>
        <p:nvSpPr>
          <p:cNvPr id="13" name="Shape 11"/>
          <p:cNvSpPr/>
          <p:nvPr/>
        </p:nvSpPr>
        <p:spPr>
          <a:xfrm>
            <a:off x="2364384" y="2743200"/>
            <a:ext cx="226644" cy="226644"/>
          </a:xfrm>
          <a:prstGeom prst="rect">
            <a:avLst/>
          </a:prstGeom>
          <a:solidFill>
            <a:srgbClr val="A0A09F"/>
          </a:solidFill>
          <a:ln w="6350">
            <a:solidFill>
              <a:srgbClr val="FFFFFF"/>
            </a:solidFill>
            <a:prstDash val="solid"/>
          </a:ln>
        </p:spPr>
      </p:sp>
      <p:sp>
        <p:nvSpPr>
          <p:cNvPr id="14" name="Shape 12"/>
          <p:cNvSpPr/>
          <p:nvPr/>
        </p:nvSpPr>
        <p:spPr>
          <a:xfrm>
            <a:off x="2609317" y="2743200"/>
            <a:ext cx="226644" cy="226644"/>
          </a:xfrm>
          <a:prstGeom prst="rect">
            <a:avLst/>
          </a:prstGeom>
          <a:solidFill>
            <a:srgbClr val="ADADAC"/>
          </a:solidFill>
          <a:ln w="6350">
            <a:solidFill>
              <a:srgbClr val="FFFFFF"/>
            </a:solidFill>
            <a:prstDash val="solid"/>
          </a:ln>
        </p:spPr>
      </p:sp>
      <p:sp>
        <p:nvSpPr>
          <p:cNvPr id="15" name="Shape 13"/>
          <p:cNvSpPr/>
          <p:nvPr/>
        </p:nvSpPr>
        <p:spPr>
          <a:xfrm>
            <a:off x="2854249" y="2743200"/>
            <a:ext cx="226644" cy="226644"/>
          </a:xfrm>
          <a:prstGeom prst="rect">
            <a:avLst/>
          </a:prstGeom>
          <a:solidFill>
            <a:srgbClr val="B4B4B3"/>
          </a:solidFill>
          <a:ln w="6350">
            <a:solidFill>
              <a:srgbClr val="FFFFFF"/>
            </a:solidFill>
            <a:prstDash val="solid"/>
          </a:ln>
        </p:spPr>
      </p:sp>
      <p:sp>
        <p:nvSpPr>
          <p:cNvPr id="16" name="Shape 14"/>
          <p:cNvSpPr/>
          <p:nvPr/>
        </p:nvSpPr>
        <p:spPr>
          <a:xfrm>
            <a:off x="3099181" y="2743200"/>
            <a:ext cx="226644" cy="226644"/>
          </a:xfrm>
          <a:prstGeom prst="rect">
            <a:avLst/>
          </a:prstGeom>
          <a:solidFill>
            <a:srgbClr val="B2B2B1"/>
          </a:solidFill>
          <a:ln w="6350">
            <a:solidFill>
              <a:srgbClr val="FFFFFF"/>
            </a:solidFill>
            <a:prstDash val="solid"/>
          </a:ln>
        </p:spPr>
      </p:sp>
      <p:sp>
        <p:nvSpPr>
          <p:cNvPr id="17" name="Shape 15"/>
          <p:cNvSpPr/>
          <p:nvPr/>
        </p:nvSpPr>
        <p:spPr>
          <a:xfrm>
            <a:off x="3344113" y="2743200"/>
            <a:ext cx="226644" cy="226644"/>
          </a:xfrm>
          <a:prstGeom prst="rect">
            <a:avLst/>
          </a:prstGeom>
          <a:solidFill>
            <a:srgbClr val="B0B0AE"/>
          </a:solidFill>
          <a:ln w="6350">
            <a:solidFill>
              <a:srgbClr val="FFFFFF"/>
            </a:solidFill>
            <a:prstDash val="solid"/>
          </a:ln>
        </p:spPr>
      </p:sp>
      <p:sp>
        <p:nvSpPr>
          <p:cNvPr id="18" name="Shape 16"/>
          <p:cNvSpPr/>
          <p:nvPr/>
        </p:nvSpPr>
        <p:spPr>
          <a:xfrm>
            <a:off x="3589045" y="2743200"/>
            <a:ext cx="226644" cy="226644"/>
          </a:xfrm>
          <a:prstGeom prst="rect">
            <a:avLst/>
          </a:prstGeom>
          <a:solidFill>
            <a:srgbClr val="B3B3B1"/>
          </a:solidFill>
          <a:ln w="6350">
            <a:solidFill>
              <a:srgbClr val="FFFFFF"/>
            </a:solidFill>
            <a:prstDash val="solid"/>
          </a:ln>
        </p:spPr>
      </p:sp>
      <p:sp>
        <p:nvSpPr>
          <p:cNvPr id="19" name="Shape 17"/>
          <p:cNvSpPr/>
          <p:nvPr/>
        </p:nvSpPr>
        <p:spPr>
          <a:xfrm>
            <a:off x="3833978" y="2743200"/>
            <a:ext cx="226644" cy="226644"/>
          </a:xfrm>
          <a:prstGeom prst="rect">
            <a:avLst/>
          </a:prstGeom>
          <a:solidFill>
            <a:srgbClr val="ADADAC"/>
          </a:solidFill>
          <a:ln w="6350">
            <a:solidFill>
              <a:srgbClr val="FFFFFF"/>
            </a:solidFill>
            <a:prstDash val="solid"/>
          </a:ln>
        </p:spPr>
      </p:sp>
      <p:sp>
        <p:nvSpPr>
          <p:cNvPr id="20" name="Shape 18"/>
          <p:cNvSpPr/>
          <p:nvPr/>
        </p:nvSpPr>
        <p:spPr>
          <a:xfrm>
            <a:off x="4078910" y="2743200"/>
            <a:ext cx="226644" cy="226644"/>
          </a:xfrm>
          <a:prstGeom prst="rect">
            <a:avLst/>
          </a:prstGeom>
          <a:solidFill>
            <a:srgbClr val="9D9D9C"/>
          </a:solidFill>
          <a:ln w="6350">
            <a:solidFill>
              <a:srgbClr val="FFFFFF"/>
            </a:solidFill>
            <a:prstDash val="solid"/>
          </a:ln>
        </p:spPr>
      </p:sp>
      <p:sp>
        <p:nvSpPr>
          <p:cNvPr id="21" name="Shape 19"/>
          <p:cNvSpPr/>
          <p:nvPr/>
        </p:nvSpPr>
        <p:spPr>
          <a:xfrm>
            <a:off x="4323842" y="2743200"/>
            <a:ext cx="226644" cy="226644"/>
          </a:xfrm>
          <a:prstGeom prst="rect">
            <a:avLst/>
          </a:prstGeom>
          <a:solidFill>
            <a:srgbClr val="B2B2B0"/>
          </a:solidFill>
          <a:ln w="6350">
            <a:solidFill>
              <a:srgbClr val="FFFFFF"/>
            </a:solidFill>
            <a:prstDash val="solid"/>
          </a:ln>
        </p:spPr>
      </p:sp>
      <p:sp>
        <p:nvSpPr>
          <p:cNvPr id="22" name="Shape 20"/>
          <p:cNvSpPr/>
          <p:nvPr/>
        </p:nvSpPr>
        <p:spPr>
          <a:xfrm>
            <a:off x="4568774" y="2743200"/>
            <a:ext cx="226644" cy="226644"/>
          </a:xfrm>
          <a:prstGeom prst="rect">
            <a:avLst/>
          </a:prstGeom>
          <a:solidFill>
            <a:srgbClr val="B3B3B1"/>
          </a:solidFill>
          <a:ln w="6350">
            <a:solidFill>
              <a:srgbClr val="FFFFFF"/>
            </a:solidFill>
            <a:prstDash val="solid"/>
          </a:ln>
        </p:spPr>
      </p:sp>
      <p:sp>
        <p:nvSpPr>
          <p:cNvPr id="23" name="Shape 21"/>
          <p:cNvSpPr/>
          <p:nvPr/>
        </p:nvSpPr>
        <p:spPr>
          <a:xfrm>
            <a:off x="1874520" y="2988132"/>
            <a:ext cx="226644" cy="226644"/>
          </a:xfrm>
          <a:prstGeom prst="rect">
            <a:avLst/>
          </a:prstGeom>
          <a:solidFill>
            <a:srgbClr val="BBBBBA"/>
          </a:solidFill>
          <a:ln w="6350">
            <a:solidFill>
              <a:srgbClr val="FFFFFF"/>
            </a:solidFill>
            <a:prstDash val="solid"/>
          </a:ln>
        </p:spPr>
      </p:sp>
      <p:sp>
        <p:nvSpPr>
          <p:cNvPr id="24" name="Shape 22"/>
          <p:cNvSpPr/>
          <p:nvPr/>
        </p:nvSpPr>
        <p:spPr>
          <a:xfrm>
            <a:off x="2119452" y="2988132"/>
            <a:ext cx="226644" cy="226644"/>
          </a:xfrm>
          <a:prstGeom prst="rect">
            <a:avLst/>
          </a:prstGeom>
          <a:solidFill>
            <a:srgbClr val="B9B9B8"/>
          </a:solidFill>
          <a:ln w="6350">
            <a:solidFill>
              <a:srgbClr val="FFFFFF"/>
            </a:solidFill>
            <a:prstDash val="solid"/>
          </a:ln>
        </p:spPr>
      </p:sp>
      <p:sp>
        <p:nvSpPr>
          <p:cNvPr id="25" name="Shape 23"/>
          <p:cNvSpPr/>
          <p:nvPr/>
        </p:nvSpPr>
        <p:spPr>
          <a:xfrm>
            <a:off x="2364384" y="2988132"/>
            <a:ext cx="226644" cy="226644"/>
          </a:xfrm>
          <a:prstGeom prst="rect">
            <a:avLst/>
          </a:prstGeom>
          <a:solidFill>
            <a:srgbClr val="C3C3C1"/>
          </a:solidFill>
          <a:ln w="6350">
            <a:solidFill>
              <a:srgbClr val="FFFFFF"/>
            </a:solidFill>
            <a:prstDash val="solid"/>
          </a:ln>
        </p:spPr>
      </p:sp>
      <p:sp>
        <p:nvSpPr>
          <p:cNvPr id="26" name="Shape 24"/>
          <p:cNvSpPr/>
          <p:nvPr/>
        </p:nvSpPr>
        <p:spPr>
          <a:xfrm>
            <a:off x="2609317" y="2988132"/>
            <a:ext cx="226644" cy="226644"/>
          </a:xfrm>
          <a:prstGeom prst="rect">
            <a:avLst/>
          </a:prstGeom>
          <a:solidFill>
            <a:srgbClr val="B8B8B6"/>
          </a:solidFill>
          <a:ln w="6350">
            <a:solidFill>
              <a:srgbClr val="FFFFFF"/>
            </a:solidFill>
            <a:prstDash val="solid"/>
          </a:ln>
        </p:spPr>
      </p:sp>
      <p:sp>
        <p:nvSpPr>
          <p:cNvPr id="27" name="Shape 25"/>
          <p:cNvSpPr/>
          <p:nvPr/>
        </p:nvSpPr>
        <p:spPr>
          <a:xfrm>
            <a:off x="2854249" y="2988132"/>
            <a:ext cx="226644" cy="226644"/>
          </a:xfrm>
          <a:prstGeom prst="rect">
            <a:avLst/>
          </a:prstGeom>
          <a:solidFill>
            <a:srgbClr val="CDCDCB"/>
          </a:solidFill>
          <a:ln w="6350">
            <a:solidFill>
              <a:srgbClr val="FFFFFF"/>
            </a:solidFill>
            <a:prstDash val="solid"/>
          </a:ln>
        </p:spPr>
      </p:sp>
      <p:sp>
        <p:nvSpPr>
          <p:cNvPr id="28" name="Shape 26"/>
          <p:cNvSpPr/>
          <p:nvPr/>
        </p:nvSpPr>
        <p:spPr>
          <a:xfrm>
            <a:off x="3099181" y="2988132"/>
            <a:ext cx="226644" cy="226644"/>
          </a:xfrm>
          <a:prstGeom prst="rect">
            <a:avLst/>
          </a:prstGeom>
          <a:solidFill>
            <a:srgbClr val="D0D0CF"/>
          </a:solidFill>
          <a:ln w="6350">
            <a:solidFill>
              <a:srgbClr val="FFFFFF"/>
            </a:solidFill>
            <a:prstDash val="solid"/>
          </a:ln>
        </p:spPr>
      </p:sp>
      <p:sp>
        <p:nvSpPr>
          <p:cNvPr id="29" name="Shape 27"/>
          <p:cNvSpPr/>
          <p:nvPr/>
        </p:nvSpPr>
        <p:spPr>
          <a:xfrm>
            <a:off x="3344113" y="2988132"/>
            <a:ext cx="226644" cy="226644"/>
          </a:xfrm>
          <a:prstGeom prst="rect">
            <a:avLst/>
          </a:prstGeom>
          <a:solidFill>
            <a:srgbClr val="B8B8B6"/>
          </a:solidFill>
          <a:ln w="6350">
            <a:solidFill>
              <a:srgbClr val="FFFFFF"/>
            </a:solidFill>
            <a:prstDash val="solid"/>
          </a:ln>
        </p:spPr>
      </p:sp>
      <p:sp>
        <p:nvSpPr>
          <p:cNvPr id="30" name="Shape 28"/>
          <p:cNvSpPr/>
          <p:nvPr/>
        </p:nvSpPr>
        <p:spPr>
          <a:xfrm>
            <a:off x="3589045" y="2988132"/>
            <a:ext cx="226644" cy="226644"/>
          </a:xfrm>
          <a:prstGeom prst="rect">
            <a:avLst/>
          </a:prstGeom>
          <a:solidFill>
            <a:srgbClr val="BEBEBD"/>
          </a:solidFill>
          <a:ln w="6350">
            <a:solidFill>
              <a:srgbClr val="FFFFFF"/>
            </a:solidFill>
            <a:prstDash val="solid"/>
          </a:ln>
        </p:spPr>
      </p:sp>
      <p:sp>
        <p:nvSpPr>
          <p:cNvPr id="31" name="Shape 29"/>
          <p:cNvSpPr/>
          <p:nvPr/>
        </p:nvSpPr>
        <p:spPr>
          <a:xfrm>
            <a:off x="3833978" y="2988132"/>
            <a:ext cx="226644" cy="226644"/>
          </a:xfrm>
          <a:prstGeom prst="rect">
            <a:avLst/>
          </a:prstGeom>
          <a:solidFill>
            <a:srgbClr val="C9C9C7"/>
          </a:solidFill>
          <a:ln w="6350">
            <a:solidFill>
              <a:srgbClr val="FFFFFF"/>
            </a:solidFill>
            <a:prstDash val="solid"/>
          </a:ln>
        </p:spPr>
      </p:sp>
      <p:sp>
        <p:nvSpPr>
          <p:cNvPr id="32" name="Shape 30"/>
          <p:cNvSpPr/>
          <p:nvPr/>
        </p:nvSpPr>
        <p:spPr>
          <a:xfrm>
            <a:off x="4078910" y="2988132"/>
            <a:ext cx="226644" cy="226644"/>
          </a:xfrm>
          <a:prstGeom prst="rect">
            <a:avLst/>
          </a:prstGeom>
          <a:solidFill>
            <a:srgbClr val="C1C1C0"/>
          </a:solidFill>
          <a:ln w="6350">
            <a:solidFill>
              <a:srgbClr val="FFFFFF"/>
            </a:solidFill>
            <a:prstDash val="solid"/>
          </a:ln>
        </p:spPr>
      </p:sp>
      <p:sp>
        <p:nvSpPr>
          <p:cNvPr id="33" name="Shape 31"/>
          <p:cNvSpPr/>
          <p:nvPr/>
        </p:nvSpPr>
        <p:spPr>
          <a:xfrm>
            <a:off x="4323842" y="2988132"/>
            <a:ext cx="226644" cy="226644"/>
          </a:xfrm>
          <a:prstGeom prst="rect">
            <a:avLst/>
          </a:prstGeom>
          <a:solidFill>
            <a:srgbClr val="C5C5C3"/>
          </a:solidFill>
          <a:ln w="6350">
            <a:solidFill>
              <a:srgbClr val="FFFFFF"/>
            </a:solidFill>
            <a:prstDash val="solid"/>
          </a:ln>
        </p:spPr>
      </p:sp>
      <p:sp>
        <p:nvSpPr>
          <p:cNvPr id="34" name="Shape 32"/>
          <p:cNvSpPr/>
          <p:nvPr/>
        </p:nvSpPr>
        <p:spPr>
          <a:xfrm>
            <a:off x="4568774" y="2988132"/>
            <a:ext cx="226644" cy="226644"/>
          </a:xfrm>
          <a:prstGeom prst="rect">
            <a:avLst/>
          </a:prstGeom>
          <a:solidFill>
            <a:srgbClr val="C8C8C7"/>
          </a:solidFill>
          <a:ln w="6350">
            <a:solidFill>
              <a:srgbClr val="FFFFFF"/>
            </a:solidFill>
            <a:prstDash val="solid"/>
          </a:ln>
        </p:spPr>
      </p:sp>
      <p:sp>
        <p:nvSpPr>
          <p:cNvPr id="35" name="Shape 33"/>
          <p:cNvSpPr/>
          <p:nvPr/>
        </p:nvSpPr>
        <p:spPr>
          <a:xfrm>
            <a:off x="1874520" y="3233064"/>
            <a:ext cx="226644" cy="226644"/>
          </a:xfrm>
          <a:prstGeom prst="rect">
            <a:avLst/>
          </a:prstGeom>
          <a:solidFill>
            <a:srgbClr val="C5C5C4"/>
          </a:solidFill>
          <a:ln w="6350">
            <a:solidFill>
              <a:srgbClr val="FFFFFF"/>
            </a:solidFill>
            <a:prstDash val="solid"/>
          </a:ln>
        </p:spPr>
      </p:sp>
      <p:sp>
        <p:nvSpPr>
          <p:cNvPr id="36" name="Shape 34"/>
          <p:cNvSpPr/>
          <p:nvPr/>
        </p:nvSpPr>
        <p:spPr>
          <a:xfrm>
            <a:off x="2119452" y="3233064"/>
            <a:ext cx="226644" cy="226644"/>
          </a:xfrm>
          <a:prstGeom prst="rect">
            <a:avLst/>
          </a:prstGeom>
          <a:solidFill>
            <a:srgbClr val="A9A9A8"/>
          </a:solidFill>
          <a:ln w="6350">
            <a:solidFill>
              <a:srgbClr val="FFFFFF"/>
            </a:solidFill>
            <a:prstDash val="solid"/>
          </a:ln>
        </p:spPr>
      </p:sp>
      <p:sp>
        <p:nvSpPr>
          <p:cNvPr id="37" name="Shape 35"/>
          <p:cNvSpPr/>
          <p:nvPr/>
        </p:nvSpPr>
        <p:spPr>
          <a:xfrm>
            <a:off x="2364384" y="3233064"/>
            <a:ext cx="226644" cy="226644"/>
          </a:xfrm>
          <a:prstGeom prst="rect">
            <a:avLst/>
          </a:prstGeom>
          <a:solidFill>
            <a:srgbClr val="C2C2C1"/>
          </a:solidFill>
          <a:ln w="6350">
            <a:solidFill>
              <a:srgbClr val="FFFFFF"/>
            </a:solidFill>
            <a:prstDash val="solid"/>
          </a:ln>
        </p:spPr>
      </p:sp>
      <p:sp>
        <p:nvSpPr>
          <p:cNvPr id="38" name="Shape 36"/>
          <p:cNvSpPr/>
          <p:nvPr/>
        </p:nvSpPr>
        <p:spPr>
          <a:xfrm>
            <a:off x="2609317" y="3233064"/>
            <a:ext cx="226644" cy="226644"/>
          </a:xfrm>
          <a:prstGeom prst="rect">
            <a:avLst/>
          </a:prstGeom>
          <a:solidFill>
            <a:srgbClr val="D5D5D3"/>
          </a:solidFill>
          <a:ln w="6350">
            <a:solidFill>
              <a:srgbClr val="FFFFFF"/>
            </a:solidFill>
            <a:prstDash val="solid"/>
          </a:ln>
        </p:spPr>
      </p:sp>
      <p:sp>
        <p:nvSpPr>
          <p:cNvPr id="39" name="Shape 37"/>
          <p:cNvSpPr/>
          <p:nvPr/>
        </p:nvSpPr>
        <p:spPr>
          <a:xfrm>
            <a:off x="2854249" y="3233064"/>
            <a:ext cx="226644" cy="226644"/>
          </a:xfrm>
          <a:prstGeom prst="rect">
            <a:avLst/>
          </a:prstGeom>
          <a:solidFill>
            <a:srgbClr val="D7D7D5"/>
          </a:solidFill>
          <a:ln w="6350">
            <a:solidFill>
              <a:srgbClr val="FFFFFF"/>
            </a:solidFill>
            <a:prstDash val="solid"/>
          </a:ln>
        </p:spPr>
      </p:sp>
      <p:sp>
        <p:nvSpPr>
          <p:cNvPr id="40" name="Shape 38"/>
          <p:cNvSpPr/>
          <p:nvPr/>
        </p:nvSpPr>
        <p:spPr>
          <a:xfrm>
            <a:off x="3099181" y="3233064"/>
            <a:ext cx="226644" cy="226644"/>
          </a:xfrm>
          <a:prstGeom prst="rect">
            <a:avLst/>
          </a:prstGeom>
          <a:solidFill>
            <a:srgbClr val="D7D7D6"/>
          </a:solidFill>
          <a:ln w="6350">
            <a:solidFill>
              <a:srgbClr val="FFFFFF"/>
            </a:solidFill>
            <a:prstDash val="solid"/>
          </a:ln>
        </p:spPr>
      </p:sp>
      <p:sp>
        <p:nvSpPr>
          <p:cNvPr id="41" name="Shape 39"/>
          <p:cNvSpPr/>
          <p:nvPr/>
        </p:nvSpPr>
        <p:spPr>
          <a:xfrm>
            <a:off x="3344113" y="3233064"/>
            <a:ext cx="226644" cy="226644"/>
          </a:xfrm>
          <a:prstGeom prst="rect">
            <a:avLst/>
          </a:prstGeom>
          <a:solidFill>
            <a:srgbClr val="CECECC"/>
          </a:solidFill>
          <a:ln w="6350">
            <a:solidFill>
              <a:srgbClr val="FFFFFF"/>
            </a:solidFill>
            <a:prstDash val="solid"/>
          </a:ln>
        </p:spPr>
      </p:sp>
      <p:sp>
        <p:nvSpPr>
          <p:cNvPr id="42" name="Shape 40"/>
          <p:cNvSpPr/>
          <p:nvPr/>
        </p:nvSpPr>
        <p:spPr>
          <a:xfrm>
            <a:off x="3589045" y="3233064"/>
            <a:ext cx="226644" cy="226644"/>
          </a:xfrm>
          <a:prstGeom prst="rect">
            <a:avLst/>
          </a:prstGeom>
          <a:solidFill>
            <a:srgbClr val="C5C5C3"/>
          </a:solidFill>
          <a:ln w="6350">
            <a:solidFill>
              <a:srgbClr val="FFFFFF"/>
            </a:solidFill>
            <a:prstDash val="solid"/>
          </a:ln>
        </p:spPr>
      </p:sp>
      <p:sp>
        <p:nvSpPr>
          <p:cNvPr id="43" name="Shape 41"/>
          <p:cNvSpPr/>
          <p:nvPr/>
        </p:nvSpPr>
        <p:spPr>
          <a:xfrm>
            <a:off x="3833978" y="3233064"/>
            <a:ext cx="226644" cy="226644"/>
          </a:xfrm>
          <a:prstGeom prst="rect">
            <a:avLst/>
          </a:prstGeom>
          <a:solidFill>
            <a:srgbClr val="D0D0CE"/>
          </a:solidFill>
          <a:ln w="6350">
            <a:solidFill>
              <a:srgbClr val="FFFFFF"/>
            </a:solidFill>
            <a:prstDash val="solid"/>
          </a:ln>
        </p:spPr>
      </p:sp>
      <p:sp>
        <p:nvSpPr>
          <p:cNvPr id="44" name="Shape 42"/>
          <p:cNvSpPr/>
          <p:nvPr/>
        </p:nvSpPr>
        <p:spPr>
          <a:xfrm>
            <a:off x="4078910" y="3233064"/>
            <a:ext cx="226644" cy="226644"/>
          </a:xfrm>
          <a:prstGeom prst="rect">
            <a:avLst/>
          </a:prstGeom>
          <a:solidFill>
            <a:srgbClr val="D0D0CE"/>
          </a:solidFill>
          <a:ln w="6350">
            <a:solidFill>
              <a:srgbClr val="FFFFFF"/>
            </a:solidFill>
            <a:prstDash val="solid"/>
          </a:ln>
        </p:spPr>
      </p:sp>
      <p:sp>
        <p:nvSpPr>
          <p:cNvPr id="45" name="Shape 43"/>
          <p:cNvSpPr/>
          <p:nvPr/>
        </p:nvSpPr>
        <p:spPr>
          <a:xfrm>
            <a:off x="4323842" y="3233064"/>
            <a:ext cx="226644" cy="226644"/>
          </a:xfrm>
          <a:prstGeom prst="rect">
            <a:avLst/>
          </a:prstGeom>
          <a:solidFill>
            <a:srgbClr val="D0D0CE"/>
          </a:solidFill>
          <a:ln w="6350">
            <a:solidFill>
              <a:srgbClr val="FFFFFF"/>
            </a:solidFill>
            <a:prstDash val="solid"/>
          </a:ln>
        </p:spPr>
      </p:sp>
      <p:sp>
        <p:nvSpPr>
          <p:cNvPr id="46" name="Shape 44"/>
          <p:cNvSpPr/>
          <p:nvPr/>
        </p:nvSpPr>
        <p:spPr>
          <a:xfrm>
            <a:off x="4568774" y="3233064"/>
            <a:ext cx="226644" cy="226644"/>
          </a:xfrm>
          <a:prstGeom prst="rect">
            <a:avLst/>
          </a:prstGeom>
          <a:solidFill>
            <a:srgbClr val="D0D0CF"/>
          </a:solidFill>
          <a:ln w="6350">
            <a:solidFill>
              <a:srgbClr val="FFFFFF"/>
            </a:solidFill>
            <a:prstDash val="solid"/>
          </a:ln>
        </p:spPr>
      </p:sp>
      <p:sp>
        <p:nvSpPr>
          <p:cNvPr id="47" name="Shape 45"/>
          <p:cNvSpPr/>
          <p:nvPr/>
        </p:nvSpPr>
        <p:spPr>
          <a:xfrm>
            <a:off x="1874520" y="3477997"/>
            <a:ext cx="226644" cy="226644"/>
          </a:xfrm>
          <a:prstGeom prst="rect">
            <a:avLst/>
          </a:prstGeom>
          <a:solidFill>
            <a:srgbClr val="CACAC9"/>
          </a:solidFill>
          <a:ln w="6350">
            <a:solidFill>
              <a:srgbClr val="FFFFFF"/>
            </a:solidFill>
            <a:prstDash val="solid"/>
          </a:ln>
        </p:spPr>
      </p:sp>
      <p:sp>
        <p:nvSpPr>
          <p:cNvPr id="48" name="Shape 46"/>
          <p:cNvSpPr/>
          <p:nvPr/>
        </p:nvSpPr>
        <p:spPr>
          <a:xfrm>
            <a:off x="2119452" y="3477997"/>
            <a:ext cx="226644" cy="226644"/>
          </a:xfrm>
          <a:prstGeom prst="rect">
            <a:avLst/>
          </a:prstGeom>
          <a:solidFill>
            <a:srgbClr val="B9B9B7"/>
          </a:solidFill>
          <a:ln w="6350">
            <a:solidFill>
              <a:srgbClr val="FFFFFF"/>
            </a:solidFill>
            <a:prstDash val="solid"/>
          </a:ln>
        </p:spPr>
      </p:sp>
      <p:sp>
        <p:nvSpPr>
          <p:cNvPr id="49" name="Shape 47"/>
          <p:cNvSpPr/>
          <p:nvPr/>
        </p:nvSpPr>
        <p:spPr>
          <a:xfrm>
            <a:off x="2364384" y="3477997"/>
            <a:ext cx="226644" cy="226644"/>
          </a:xfrm>
          <a:prstGeom prst="rect">
            <a:avLst/>
          </a:prstGeom>
          <a:solidFill>
            <a:srgbClr val="C6C6C4"/>
          </a:solidFill>
          <a:ln w="6350">
            <a:solidFill>
              <a:srgbClr val="FFFFFF"/>
            </a:solidFill>
            <a:prstDash val="solid"/>
          </a:ln>
        </p:spPr>
      </p:sp>
      <p:sp>
        <p:nvSpPr>
          <p:cNvPr id="50" name="Shape 48"/>
          <p:cNvSpPr/>
          <p:nvPr/>
        </p:nvSpPr>
        <p:spPr>
          <a:xfrm>
            <a:off x="2609317" y="3477997"/>
            <a:ext cx="226644" cy="226644"/>
          </a:xfrm>
          <a:prstGeom prst="rect">
            <a:avLst/>
          </a:prstGeom>
          <a:solidFill>
            <a:srgbClr val="D0D0CF"/>
          </a:solidFill>
          <a:ln w="6350">
            <a:solidFill>
              <a:srgbClr val="FFFFFF"/>
            </a:solidFill>
            <a:prstDash val="solid"/>
          </a:ln>
        </p:spPr>
      </p:sp>
      <p:sp>
        <p:nvSpPr>
          <p:cNvPr id="51" name="Shape 49"/>
          <p:cNvSpPr/>
          <p:nvPr/>
        </p:nvSpPr>
        <p:spPr>
          <a:xfrm>
            <a:off x="2854249" y="3477997"/>
            <a:ext cx="226644" cy="226644"/>
          </a:xfrm>
          <a:prstGeom prst="rect">
            <a:avLst/>
          </a:prstGeom>
          <a:solidFill>
            <a:srgbClr val="D7D7D5"/>
          </a:solidFill>
          <a:ln w="6350">
            <a:solidFill>
              <a:srgbClr val="FFFFFF"/>
            </a:solidFill>
            <a:prstDash val="solid"/>
          </a:ln>
        </p:spPr>
      </p:sp>
      <p:sp>
        <p:nvSpPr>
          <p:cNvPr id="52" name="Shape 50"/>
          <p:cNvSpPr/>
          <p:nvPr/>
        </p:nvSpPr>
        <p:spPr>
          <a:xfrm>
            <a:off x="3099181" y="3477997"/>
            <a:ext cx="226644" cy="226644"/>
          </a:xfrm>
          <a:prstGeom prst="rect">
            <a:avLst/>
          </a:prstGeom>
          <a:solidFill>
            <a:srgbClr val="D9D9D8"/>
          </a:solidFill>
          <a:ln w="6350">
            <a:solidFill>
              <a:srgbClr val="FFFFFF"/>
            </a:solidFill>
            <a:prstDash val="solid"/>
          </a:ln>
        </p:spPr>
      </p:sp>
      <p:sp>
        <p:nvSpPr>
          <p:cNvPr id="53" name="Shape 51"/>
          <p:cNvSpPr/>
          <p:nvPr/>
        </p:nvSpPr>
        <p:spPr>
          <a:xfrm>
            <a:off x="3344113" y="3477997"/>
            <a:ext cx="226644" cy="226644"/>
          </a:xfrm>
          <a:prstGeom prst="rect">
            <a:avLst/>
          </a:prstGeom>
          <a:solidFill>
            <a:srgbClr val="D6D6D4"/>
          </a:solidFill>
          <a:ln w="6350">
            <a:solidFill>
              <a:srgbClr val="FFFFFF"/>
            </a:solidFill>
            <a:prstDash val="solid"/>
          </a:ln>
        </p:spPr>
      </p:sp>
      <p:sp>
        <p:nvSpPr>
          <p:cNvPr id="54" name="Shape 52"/>
          <p:cNvSpPr/>
          <p:nvPr/>
        </p:nvSpPr>
        <p:spPr>
          <a:xfrm>
            <a:off x="3589045" y="3477997"/>
            <a:ext cx="226644" cy="226644"/>
          </a:xfrm>
          <a:prstGeom prst="rect">
            <a:avLst/>
          </a:prstGeom>
          <a:solidFill>
            <a:srgbClr val="D7D7D5"/>
          </a:solidFill>
          <a:ln w="6350">
            <a:solidFill>
              <a:srgbClr val="FFFFFF"/>
            </a:solidFill>
            <a:prstDash val="solid"/>
          </a:ln>
        </p:spPr>
      </p:sp>
      <p:sp>
        <p:nvSpPr>
          <p:cNvPr id="55" name="Shape 53"/>
          <p:cNvSpPr/>
          <p:nvPr/>
        </p:nvSpPr>
        <p:spPr>
          <a:xfrm>
            <a:off x="3833978" y="3477997"/>
            <a:ext cx="226644" cy="226644"/>
          </a:xfrm>
          <a:prstGeom prst="rect">
            <a:avLst/>
          </a:prstGeom>
          <a:solidFill>
            <a:srgbClr val="D8D8D6"/>
          </a:solidFill>
          <a:ln w="6350">
            <a:solidFill>
              <a:srgbClr val="FFFFFF"/>
            </a:solidFill>
            <a:prstDash val="solid"/>
          </a:ln>
        </p:spPr>
      </p:sp>
      <p:sp>
        <p:nvSpPr>
          <p:cNvPr id="56" name="Shape 54"/>
          <p:cNvSpPr/>
          <p:nvPr/>
        </p:nvSpPr>
        <p:spPr>
          <a:xfrm>
            <a:off x="4078910" y="3477997"/>
            <a:ext cx="226644" cy="226644"/>
          </a:xfrm>
          <a:prstGeom prst="rect">
            <a:avLst/>
          </a:prstGeom>
          <a:solidFill>
            <a:srgbClr val="CDCDCC"/>
          </a:solidFill>
          <a:ln w="6350">
            <a:solidFill>
              <a:srgbClr val="FFFFFF"/>
            </a:solidFill>
            <a:prstDash val="solid"/>
          </a:ln>
        </p:spPr>
      </p:sp>
      <p:sp>
        <p:nvSpPr>
          <p:cNvPr id="57" name="Shape 55"/>
          <p:cNvSpPr/>
          <p:nvPr/>
        </p:nvSpPr>
        <p:spPr>
          <a:xfrm>
            <a:off x="4323842" y="3477997"/>
            <a:ext cx="226644" cy="226644"/>
          </a:xfrm>
          <a:prstGeom prst="rect">
            <a:avLst/>
          </a:prstGeom>
          <a:solidFill>
            <a:srgbClr val="D5D5D3"/>
          </a:solidFill>
          <a:ln w="6350">
            <a:solidFill>
              <a:srgbClr val="FFFFFF"/>
            </a:solidFill>
            <a:prstDash val="solid"/>
          </a:ln>
        </p:spPr>
      </p:sp>
      <p:sp>
        <p:nvSpPr>
          <p:cNvPr id="58" name="Shape 56"/>
          <p:cNvSpPr/>
          <p:nvPr/>
        </p:nvSpPr>
        <p:spPr>
          <a:xfrm>
            <a:off x="4568774" y="3477997"/>
            <a:ext cx="226644" cy="226644"/>
          </a:xfrm>
          <a:prstGeom prst="rect">
            <a:avLst/>
          </a:prstGeom>
          <a:solidFill>
            <a:srgbClr val="D2D2D0"/>
          </a:solidFill>
          <a:ln w="6350">
            <a:solidFill>
              <a:srgbClr val="FFFFFF"/>
            </a:solidFill>
            <a:prstDash val="solid"/>
          </a:ln>
        </p:spPr>
      </p:sp>
      <p:sp>
        <p:nvSpPr>
          <p:cNvPr id="59" name="Text 57"/>
          <p:cNvSpPr txBox="1"/>
          <p:nvPr/>
        </p:nvSpPr>
        <p:spPr>
          <a:xfrm>
            <a:off x="1874520"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AM</a:t>
            </a:r>
            <a:endParaRPr lang="en-US" sz="850" dirty="0"/>
          </a:p>
        </p:txBody>
      </p:sp>
      <p:sp>
        <p:nvSpPr>
          <p:cNvPr id="60" name="Text 58"/>
          <p:cNvSpPr txBox="1"/>
          <p:nvPr/>
        </p:nvSpPr>
        <p:spPr>
          <a:xfrm>
            <a:off x="2609317"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P2S</a:t>
            </a:r>
            <a:endParaRPr lang="en-US" sz="850" dirty="0"/>
          </a:p>
        </p:txBody>
      </p:sp>
      <p:sp>
        <p:nvSpPr>
          <p:cNvPr id="61" name="Text 59"/>
          <p:cNvSpPr txBox="1"/>
          <p:nvPr/>
        </p:nvSpPr>
        <p:spPr>
          <a:xfrm>
            <a:off x="3344113"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OC</a:t>
            </a:r>
            <a:endParaRPr lang="en-US" sz="850" dirty="0"/>
          </a:p>
        </p:txBody>
      </p:sp>
      <p:sp>
        <p:nvSpPr>
          <p:cNvPr id="62" name="Text 60"/>
          <p:cNvSpPr txBox="1"/>
          <p:nvPr/>
        </p:nvSpPr>
        <p:spPr>
          <a:xfrm>
            <a:off x="4078910"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Sig</a:t>
            </a:r>
            <a:endParaRPr lang="en-US" sz="850" dirty="0"/>
          </a:p>
        </p:txBody>
      </p:sp>
      <p:sp>
        <p:nvSpPr>
          <p:cNvPr id="63" name="Text 61"/>
          <p:cNvSpPr txBox="1"/>
          <p:nvPr/>
        </p:nvSpPr>
        <p:spPr>
          <a:xfrm>
            <a:off x="1874520" y="4033825"/>
            <a:ext cx="2939186"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best 2.67 %</a:t>
            </a:r>
            <a:endParaRPr lang="en-US" sz="1300" dirty="0"/>
          </a:p>
        </p:txBody>
      </p:sp>
      <p:sp>
        <p:nvSpPr>
          <p:cNvPr id="64" name="Text 62"/>
          <p:cNvSpPr txBox="1"/>
          <p:nvPr/>
        </p:nvSpPr>
        <p:spPr>
          <a:xfrm>
            <a:off x="5197754" y="1965960"/>
            <a:ext cx="2939186" cy="201168"/>
          </a:xfrm>
          <a:prstGeom prst="rect">
            <a:avLst/>
          </a:prstGeom>
          <a:noFill/>
          <a:ln/>
        </p:spPr>
        <p:txBody>
          <a:bodyPr wrap="square" lIns="0" tIns="0" rIns="0" bIns="0" rtlCol="0" anchor="ctr"/>
          <a:lstStyle/>
          <a:p>
            <a:pPr indent="0" marL="0">
              <a:buNone/>
            </a:pPr>
            <a:r>
              <a:rPr lang="en-US" sz="850" b="1" spc="150" kern="0" dirty="0">
                <a:solidFill>
                  <a:srgbClr val="8C8C8C"/>
                </a:solidFill>
                <a:latin typeface="Inter" pitchFamily="34" charset="0"/>
                <a:ea typeface="Inter" pitchFamily="34" charset="-122"/>
                <a:cs typeface="Inter" pitchFamily="34" charset="-120"/>
              </a:rPr>
              <a:t>TRAINED ON</a:t>
            </a:r>
            <a:endParaRPr lang="en-US" sz="850" dirty="0"/>
          </a:p>
        </p:txBody>
      </p:sp>
      <p:sp>
        <p:nvSpPr>
          <p:cNvPr id="65" name="Text 63"/>
          <p:cNvSpPr txBox="1"/>
          <p:nvPr/>
        </p:nvSpPr>
        <p:spPr>
          <a:xfrm>
            <a:off x="5197754" y="2157984"/>
            <a:ext cx="2939186" cy="292608"/>
          </a:xfrm>
          <a:prstGeom prst="rect">
            <a:avLst/>
          </a:prstGeom>
          <a:noFill/>
          <a:ln/>
        </p:spPr>
        <p:txBody>
          <a:bodyPr wrap="square" lIns="0" tIns="0" rIns="0" bIns="0" rtlCol="0" anchor="ctr"/>
          <a:lstStyle/>
          <a:p>
            <a:pPr indent="0" marL="0">
              <a:buNone/>
            </a:pPr>
            <a:r>
              <a:rPr lang="en-US" sz="1800" b="1" dirty="0">
                <a:solidFill>
                  <a:srgbClr val="8A6D00"/>
                </a:solidFill>
                <a:latin typeface="Inter" pitchFamily="34" charset="0"/>
                <a:ea typeface="Inter" pitchFamily="34" charset="-122"/>
                <a:cs typeface="Inter" pitchFamily="34" charset="-120"/>
              </a:rPr>
              <a:t>SPANISH</a:t>
            </a:r>
            <a:endParaRPr lang="en-US" sz="1800" dirty="0"/>
          </a:p>
        </p:txBody>
      </p:sp>
      <p:sp>
        <p:nvSpPr>
          <p:cNvPr id="66" name="Text 64"/>
          <p:cNvSpPr txBox="1"/>
          <p:nvPr/>
        </p:nvSpPr>
        <p:spPr>
          <a:xfrm>
            <a:off x="5197754" y="2468880"/>
            <a:ext cx="2939186" cy="237744"/>
          </a:xfrm>
          <a:prstGeom prst="rect">
            <a:avLst/>
          </a:prstGeom>
          <a:noFill/>
          <a:ln/>
        </p:spPr>
        <p:txBody>
          <a:bodyPr wrap="square" lIns="0" tIns="0" rIns="0" bIns="0" rtlCol="0" anchor="ctr"/>
          <a:lstStyle/>
          <a:p>
            <a:pPr indent="0" marL="0">
              <a:buNone/>
            </a:pPr>
            <a:r>
              <a:rPr lang="en-US" sz="1050" dirty="0">
                <a:solidFill>
                  <a:srgbClr val="3F3F3F"/>
                </a:solidFill>
                <a:latin typeface="Inter" pitchFamily="34" charset="0"/>
                <a:ea typeface="Inter" pitchFamily="34" charset="-122"/>
                <a:cs typeface="Inter" pitchFamily="34" charset="-120"/>
              </a:rPr>
              <a:t>tested on Spanish</a:t>
            </a:r>
            <a:endParaRPr lang="en-US" sz="1050" dirty="0"/>
          </a:p>
        </p:txBody>
      </p:sp>
      <p:sp>
        <p:nvSpPr>
          <p:cNvPr id="67" name="Shape 65"/>
          <p:cNvSpPr/>
          <p:nvPr/>
        </p:nvSpPr>
        <p:spPr>
          <a:xfrm>
            <a:off x="5197754" y="2743200"/>
            <a:ext cx="226644" cy="226644"/>
          </a:xfrm>
          <a:prstGeom prst="rect">
            <a:avLst/>
          </a:prstGeom>
          <a:solidFill>
            <a:srgbClr val="E8E8E6"/>
          </a:solidFill>
          <a:ln w="6350">
            <a:solidFill>
              <a:srgbClr val="FFFFFF"/>
            </a:solidFill>
            <a:prstDash val="solid"/>
          </a:ln>
        </p:spPr>
      </p:sp>
      <p:sp>
        <p:nvSpPr>
          <p:cNvPr id="68" name="Shape 66"/>
          <p:cNvSpPr/>
          <p:nvPr/>
        </p:nvSpPr>
        <p:spPr>
          <a:xfrm>
            <a:off x="5442687" y="2743200"/>
            <a:ext cx="226644" cy="226644"/>
          </a:xfrm>
          <a:prstGeom prst="rect">
            <a:avLst/>
          </a:prstGeom>
          <a:solidFill>
            <a:srgbClr val="C9C9C7"/>
          </a:solidFill>
          <a:ln w="6350">
            <a:solidFill>
              <a:srgbClr val="FFFFFF"/>
            </a:solidFill>
            <a:prstDash val="solid"/>
          </a:ln>
        </p:spPr>
      </p:sp>
      <p:sp>
        <p:nvSpPr>
          <p:cNvPr id="69" name="Shape 67"/>
          <p:cNvSpPr/>
          <p:nvPr/>
        </p:nvSpPr>
        <p:spPr>
          <a:xfrm>
            <a:off x="5687619" y="2743200"/>
            <a:ext cx="226644" cy="226644"/>
          </a:xfrm>
          <a:prstGeom prst="rect">
            <a:avLst/>
          </a:prstGeom>
          <a:solidFill>
            <a:srgbClr val="DBDBD9"/>
          </a:solidFill>
          <a:ln w="6350">
            <a:solidFill>
              <a:srgbClr val="FFFFFF"/>
            </a:solidFill>
            <a:prstDash val="solid"/>
          </a:ln>
        </p:spPr>
      </p:sp>
      <p:sp>
        <p:nvSpPr>
          <p:cNvPr id="70" name="Shape 68"/>
          <p:cNvSpPr/>
          <p:nvPr/>
        </p:nvSpPr>
        <p:spPr>
          <a:xfrm>
            <a:off x="5932551" y="2743200"/>
            <a:ext cx="226644" cy="226644"/>
          </a:xfrm>
          <a:prstGeom prst="rect">
            <a:avLst/>
          </a:prstGeom>
          <a:solidFill>
            <a:srgbClr val="F0F0EE"/>
          </a:solidFill>
          <a:ln w="6350">
            <a:solidFill>
              <a:srgbClr val="FFFFFF"/>
            </a:solidFill>
            <a:prstDash val="solid"/>
          </a:ln>
        </p:spPr>
      </p:sp>
      <p:sp>
        <p:nvSpPr>
          <p:cNvPr id="71" name="Shape 69"/>
          <p:cNvSpPr/>
          <p:nvPr/>
        </p:nvSpPr>
        <p:spPr>
          <a:xfrm>
            <a:off x="6177483" y="2743200"/>
            <a:ext cx="226644" cy="226644"/>
          </a:xfrm>
          <a:prstGeom prst="rect">
            <a:avLst/>
          </a:prstGeom>
          <a:solidFill>
            <a:srgbClr val="CCCCCA"/>
          </a:solidFill>
          <a:ln w="6350">
            <a:solidFill>
              <a:srgbClr val="FFFFFF"/>
            </a:solidFill>
            <a:prstDash val="solid"/>
          </a:ln>
        </p:spPr>
      </p:sp>
      <p:sp>
        <p:nvSpPr>
          <p:cNvPr id="72" name="Shape 70"/>
          <p:cNvSpPr/>
          <p:nvPr/>
        </p:nvSpPr>
        <p:spPr>
          <a:xfrm>
            <a:off x="6422415" y="2743200"/>
            <a:ext cx="226644" cy="226644"/>
          </a:xfrm>
          <a:prstGeom prst="rect">
            <a:avLst/>
          </a:prstGeom>
          <a:solidFill>
            <a:srgbClr val="D9D9D7"/>
          </a:solidFill>
          <a:ln w="6350">
            <a:solidFill>
              <a:srgbClr val="FFFFFF"/>
            </a:solidFill>
            <a:prstDash val="solid"/>
          </a:ln>
        </p:spPr>
      </p:sp>
      <p:sp>
        <p:nvSpPr>
          <p:cNvPr id="73" name="Shape 71"/>
          <p:cNvSpPr/>
          <p:nvPr/>
        </p:nvSpPr>
        <p:spPr>
          <a:xfrm>
            <a:off x="6667348" y="2743200"/>
            <a:ext cx="226644" cy="226644"/>
          </a:xfrm>
          <a:prstGeom prst="rect">
            <a:avLst/>
          </a:prstGeom>
          <a:solidFill>
            <a:srgbClr val="D9D9D7"/>
          </a:solidFill>
          <a:ln w="6350">
            <a:solidFill>
              <a:srgbClr val="FFFFFF"/>
            </a:solidFill>
            <a:prstDash val="solid"/>
          </a:ln>
        </p:spPr>
      </p:sp>
      <p:sp>
        <p:nvSpPr>
          <p:cNvPr id="74" name="Shape 72"/>
          <p:cNvSpPr/>
          <p:nvPr/>
        </p:nvSpPr>
        <p:spPr>
          <a:xfrm>
            <a:off x="6912280" y="2743200"/>
            <a:ext cx="226644" cy="226644"/>
          </a:xfrm>
          <a:prstGeom prst="rect">
            <a:avLst/>
          </a:prstGeom>
          <a:solidFill>
            <a:srgbClr val="C2C2C1"/>
          </a:solidFill>
          <a:ln w="6350">
            <a:solidFill>
              <a:srgbClr val="FFFFFF"/>
            </a:solidFill>
            <a:prstDash val="solid"/>
          </a:ln>
        </p:spPr>
      </p:sp>
      <p:sp>
        <p:nvSpPr>
          <p:cNvPr id="75" name="Shape 73"/>
          <p:cNvSpPr/>
          <p:nvPr/>
        </p:nvSpPr>
        <p:spPr>
          <a:xfrm>
            <a:off x="7157212" y="2743200"/>
            <a:ext cx="226644" cy="226644"/>
          </a:xfrm>
          <a:prstGeom prst="rect">
            <a:avLst/>
          </a:prstGeom>
          <a:solidFill>
            <a:srgbClr val="E9E9E7"/>
          </a:solidFill>
          <a:ln w="6350">
            <a:solidFill>
              <a:srgbClr val="FFFFFF"/>
            </a:solidFill>
            <a:prstDash val="solid"/>
          </a:ln>
        </p:spPr>
      </p:sp>
      <p:sp>
        <p:nvSpPr>
          <p:cNvPr id="76" name="Shape 74"/>
          <p:cNvSpPr/>
          <p:nvPr/>
        </p:nvSpPr>
        <p:spPr>
          <a:xfrm>
            <a:off x="7402144" y="2743200"/>
            <a:ext cx="226644" cy="226644"/>
          </a:xfrm>
          <a:prstGeom prst="rect">
            <a:avLst/>
          </a:prstGeom>
          <a:solidFill>
            <a:srgbClr val="E9E9E7"/>
          </a:solidFill>
          <a:ln w="6350">
            <a:solidFill>
              <a:srgbClr val="FFFFFF"/>
            </a:solidFill>
            <a:prstDash val="solid"/>
          </a:ln>
        </p:spPr>
      </p:sp>
      <p:sp>
        <p:nvSpPr>
          <p:cNvPr id="77" name="Shape 75"/>
          <p:cNvSpPr/>
          <p:nvPr/>
        </p:nvSpPr>
        <p:spPr>
          <a:xfrm>
            <a:off x="7647076" y="2743200"/>
            <a:ext cx="226644" cy="226644"/>
          </a:xfrm>
          <a:prstGeom prst="rect">
            <a:avLst/>
          </a:prstGeom>
          <a:solidFill>
            <a:srgbClr val="D2D2D0"/>
          </a:solidFill>
          <a:ln w="6350">
            <a:solidFill>
              <a:srgbClr val="FFFFFF"/>
            </a:solidFill>
            <a:prstDash val="solid"/>
          </a:ln>
        </p:spPr>
      </p:sp>
      <p:sp>
        <p:nvSpPr>
          <p:cNvPr id="78" name="Shape 76"/>
          <p:cNvSpPr/>
          <p:nvPr/>
        </p:nvSpPr>
        <p:spPr>
          <a:xfrm>
            <a:off x="7892009" y="2743200"/>
            <a:ext cx="226644" cy="226644"/>
          </a:xfrm>
          <a:prstGeom prst="rect">
            <a:avLst/>
          </a:prstGeom>
          <a:solidFill>
            <a:srgbClr val="DBDBD9"/>
          </a:solidFill>
          <a:ln w="6350">
            <a:solidFill>
              <a:srgbClr val="FFFFFF"/>
            </a:solidFill>
            <a:prstDash val="solid"/>
          </a:ln>
        </p:spPr>
      </p:sp>
      <p:sp>
        <p:nvSpPr>
          <p:cNvPr id="79" name="Shape 77"/>
          <p:cNvSpPr/>
          <p:nvPr/>
        </p:nvSpPr>
        <p:spPr>
          <a:xfrm>
            <a:off x="5197754" y="2988132"/>
            <a:ext cx="226644" cy="226644"/>
          </a:xfrm>
          <a:prstGeom prst="rect">
            <a:avLst/>
          </a:prstGeom>
          <a:solidFill>
            <a:srgbClr val="383838"/>
          </a:solidFill>
          <a:ln w="6350">
            <a:solidFill>
              <a:srgbClr val="FFFFFF"/>
            </a:solidFill>
            <a:prstDash val="solid"/>
          </a:ln>
        </p:spPr>
      </p:sp>
      <p:sp>
        <p:nvSpPr>
          <p:cNvPr id="80" name="Shape 78"/>
          <p:cNvSpPr/>
          <p:nvPr/>
        </p:nvSpPr>
        <p:spPr>
          <a:xfrm>
            <a:off x="5442687" y="2988132"/>
            <a:ext cx="226644" cy="226644"/>
          </a:xfrm>
          <a:prstGeom prst="rect">
            <a:avLst/>
          </a:prstGeom>
          <a:solidFill>
            <a:srgbClr val="2F2F2E"/>
          </a:solidFill>
          <a:ln w="6350">
            <a:solidFill>
              <a:srgbClr val="FFFFFF"/>
            </a:solidFill>
            <a:prstDash val="solid"/>
          </a:ln>
        </p:spPr>
      </p:sp>
      <p:sp>
        <p:nvSpPr>
          <p:cNvPr id="81" name="Shape 79"/>
          <p:cNvSpPr/>
          <p:nvPr/>
        </p:nvSpPr>
        <p:spPr>
          <a:xfrm>
            <a:off x="5687619" y="2988132"/>
            <a:ext cx="226644" cy="226644"/>
          </a:xfrm>
          <a:prstGeom prst="rect">
            <a:avLst/>
          </a:prstGeom>
          <a:solidFill>
            <a:srgbClr val="363636"/>
          </a:solidFill>
          <a:ln w="6350">
            <a:solidFill>
              <a:srgbClr val="FFFFFF"/>
            </a:solidFill>
            <a:prstDash val="solid"/>
          </a:ln>
        </p:spPr>
      </p:sp>
      <p:sp>
        <p:nvSpPr>
          <p:cNvPr id="82" name="Shape 80"/>
          <p:cNvSpPr/>
          <p:nvPr/>
        </p:nvSpPr>
        <p:spPr>
          <a:xfrm>
            <a:off x="5932551" y="2988132"/>
            <a:ext cx="226644" cy="226644"/>
          </a:xfrm>
          <a:prstGeom prst="rect">
            <a:avLst/>
          </a:prstGeom>
          <a:solidFill>
            <a:srgbClr val="70706F"/>
          </a:solidFill>
          <a:ln w="6350">
            <a:solidFill>
              <a:srgbClr val="FFFFFF"/>
            </a:solidFill>
            <a:prstDash val="solid"/>
          </a:ln>
        </p:spPr>
      </p:sp>
      <p:sp>
        <p:nvSpPr>
          <p:cNvPr id="83" name="Shape 81"/>
          <p:cNvSpPr/>
          <p:nvPr/>
        </p:nvSpPr>
        <p:spPr>
          <a:xfrm>
            <a:off x="6177483" y="2988132"/>
            <a:ext cx="226644" cy="226644"/>
          </a:xfrm>
          <a:prstGeom prst="rect">
            <a:avLst/>
          </a:prstGeom>
          <a:solidFill>
            <a:srgbClr val="373737"/>
          </a:solidFill>
          <a:ln w="6350">
            <a:solidFill>
              <a:srgbClr val="FFFFFF"/>
            </a:solidFill>
            <a:prstDash val="solid"/>
          </a:ln>
        </p:spPr>
      </p:sp>
      <p:sp>
        <p:nvSpPr>
          <p:cNvPr id="84" name="Shape 82"/>
          <p:cNvSpPr/>
          <p:nvPr/>
        </p:nvSpPr>
        <p:spPr>
          <a:xfrm>
            <a:off x="6422415" y="2988132"/>
            <a:ext cx="226644" cy="226644"/>
          </a:xfrm>
          <a:prstGeom prst="rect">
            <a:avLst/>
          </a:prstGeom>
          <a:solidFill>
            <a:srgbClr val="1E1E1E"/>
          </a:solidFill>
          <a:ln w="6350">
            <a:solidFill>
              <a:srgbClr val="FFFFFF"/>
            </a:solidFill>
            <a:prstDash val="solid"/>
          </a:ln>
        </p:spPr>
      </p:sp>
      <p:sp>
        <p:nvSpPr>
          <p:cNvPr id="85" name="Shape 83"/>
          <p:cNvSpPr/>
          <p:nvPr/>
        </p:nvSpPr>
        <p:spPr>
          <a:xfrm>
            <a:off x="6667348" y="2988132"/>
            <a:ext cx="226644" cy="226644"/>
          </a:xfrm>
          <a:prstGeom prst="rect">
            <a:avLst/>
          </a:prstGeom>
          <a:solidFill>
            <a:srgbClr val="474746"/>
          </a:solidFill>
          <a:ln w="6350">
            <a:solidFill>
              <a:srgbClr val="FFFFFF"/>
            </a:solidFill>
            <a:prstDash val="solid"/>
          </a:ln>
        </p:spPr>
      </p:sp>
      <p:sp>
        <p:nvSpPr>
          <p:cNvPr id="86" name="Shape 84"/>
          <p:cNvSpPr/>
          <p:nvPr/>
        </p:nvSpPr>
        <p:spPr>
          <a:xfrm>
            <a:off x="6912280" y="2988132"/>
            <a:ext cx="226644" cy="226644"/>
          </a:xfrm>
          <a:prstGeom prst="rect">
            <a:avLst/>
          </a:prstGeom>
          <a:solidFill>
            <a:srgbClr val="353535"/>
          </a:solidFill>
          <a:ln w="6350">
            <a:solidFill>
              <a:srgbClr val="FFFFFF"/>
            </a:solidFill>
            <a:prstDash val="solid"/>
          </a:ln>
        </p:spPr>
      </p:sp>
      <p:sp>
        <p:nvSpPr>
          <p:cNvPr id="87" name="Shape 85"/>
          <p:cNvSpPr/>
          <p:nvPr/>
        </p:nvSpPr>
        <p:spPr>
          <a:xfrm>
            <a:off x="7157212" y="2988132"/>
            <a:ext cx="226644" cy="226644"/>
          </a:xfrm>
          <a:prstGeom prst="rect">
            <a:avLst/>
          </a:prstGeom>
          <a:solidFill>
            <a:srgbClr val="474747"/>
          </a:solidFill>
          <a:ln w="6350">
            <a:solidFill>
              <a:srgbClr val="FFFFFF"/>
            </a:solidFill>
            <a:prstDash val="solid"/>
          </a:ln>
        </p:spPr>
      </p:sp>
      <p:sp>
        <p:nvSpPr>
          <p:cNvPr id="88" name="Shape 86"/>
          <p:cNvSpPr/>
          <p:nvPr/>
        </p:nvSpPr>
        <p:spPr>
          <a:xfrm>
            <a:off x="7402144" y="2988132"/>
            <a:ext cx="226644" cy="226644"/>
          </a:xfrm>
          <a:prstGeom prst="rect">
            <a:avLst/>
          </a:prstGeom>
          <a:solidFill>
            <a:srgbClr val="141414"/>
          </a:solidFill>
          <a:ln w="6350">
            <a:solidFill>
              <a:srgbClr val="FFFFFF"/>
            </a:solidFill>
            <a:prstDash val="solid"/>
          </a:ln>
        </p:spPr>
      </p:sp>
      <p:sp>
        <p:nvSpPr>
          <p:cNvPr id="89" name="Shape 87"/>
          <p:cNvSpPr/>
          <p:nvPr/>
        </p:nvSpPr>
        <p:spPr>
          <a:xfrm>
            <a:off x="7647076" y="2988132"/>
            <a:ext cx="226644" cy="226644"/>
          </a:xfrm>
          <a:prstGeom prst="rect">
            <a:avLst/>
          </a:prstGeom>
          <a:solidFill>
            <a:srgbClr val="161616"/>
          </a:solidFill>
          <a:ln w="6350">
            <a:solidFill>
              <a:srgbClr val="FFFFFF"/>
            </a:solidFill>
            <a:prstDash val="solid"/>
          </a:ln>
        </p:spPr>
      </p:sp>
      <p:sp>
        <p:nvSpPr>
          <p:cNvPr id="90" name="Shape 88"/>
          <p:cNvSpPr/>
          <p:nvPr/>
        </p:nvSpPr>
        <p:spPr>
          <a:xfrm>
            <a:off x="7892009" y="2988132"/>
            <a:ext cx="226644" cy="226644"/>
          </a:xfrm>
          <a:prstGeom prst="rect">
            <a:avLst/>
          </a:prstGeom>
          <a:solidFill>
            <a:srgbClr val="1D1D1D"/>
          </a:solidFill>
          <a:ln w="6350">
            <a:solidFill>
              <a:srgbClr val="FFFFFF"/>
            </a:solidFill>
            <a:prstDash val="solid"/>
          </a:ln>
        </p:spPr>
      </p:sp>
      <p:sp>
        <p:nvSpPr>
          <p:cNvPr id="91" name="Shape 89"/>
          <p:cNvSpPr/>
          <p:nvPr/>
        </p:nvSpPr>
        <p:spPr>
          <a:xfrm>
            <a:off x="5197754" y="3233064"/>
            <a:ext cx="226644" cy="226644"/>
          </a:xfrm>
          <a:prstGeom prst="rect">
            <a:avLst/>
          </a:prstGeom>
          <a:solidFill>
            <a:srgbClr val="EBEBE9"/>
          </a:solidFill>
          <a:ln w="6350">
            <a:solidFill>
              <a:srgbClr val="FFFFFF"/>
            </a:solidFill>
            <a:prstDash val="solid"/>
          </a:ln>
        </p:spPr>
      </p:sp>
      <p:sp>
        <p:nvSpPr>
          <p:cNvPr id="92" name="Shape 90"/>
          <p:cNvSpPr/>
          <p:nvPr/>
        </p:nvSpPr>
        <p:spPr>
          <a:xfrm>
            <a:off x="5442687" y="3233064"/>
            <a:ext cx="226644" cy="226644"/>
          </a:xfrm>
          <a:prstGeom prst="rect">
            <a:avLst/>
          </a:prstGeom>
          <a:solidFill>
            <a:srgbClr val="CDCDCB"/>
          </a:solidFill>
          <a:ln w="6350">
            <a:solidFill>
              <a:srgbClr val="FFFFFF"/>
            </a:solidFill>
            <a:prstDash val="solid"/>
          </a:ln>
        </p:spPr>
      </p:sp>
      <p:sp>
        <p:nvSpPr>
          <p:cNvPr id="93" name="Shape 91"/>
          <p:cNvSpPr/>
          <p:nvPr/>
        </p:nvSpPr>
        <p:spPr>
          <a:xfrm>
            <a:off x="5687619" y="3233064"/>
            <a:ext cx="226644" cy="226644"/>
          </a:xfrm>
          <a:prstGeom prst="rect">
            <a:avLst/>
          </a:prstGeom>
          <a:solidFill>
            <a:srgbClr val="F0F0EE"/>
          </a:solidFill>
          <a:ln w="6350">
            <a:solidFill>
              <a:srgbClr val="FFFFFF"/>
            </a:solidFill>
            <a:prstDash val="solid"/>
          </a:ln>
        </p:spPr>
      </p:sp>
      <p:sp>
        <p:nvSpPr>
          <p:cNvPr id="94" name="Shape 92"/>
          <p:cNvSpPr/>
          <p:nvPr/>
        </p:nvSpPr>
        <p:spPr>
          <a:xfrm>
            <a:off x="5932551" y="3233064"/>
            <a:ext cx="226644" cy="226644"/>
          </a:xfrm>
          <a:prstGeom prst="rect">
            <a:avLst/>
          </a:prstGeom>
          <a:solidFill>
            <a:srgbClr val="F2F2F0"/>
          </a:solidFill>
          <a:ln w="6350">
            <a:solidFill>
              <a:srgbClr val="FFFFFF"/>
            </a:solidFill>
            <a:prstDash val="solid"/>
          </a:ln>
        </p:spPr>
      </p:sp>
      <p:sp>
        <p:nvSpPr>
          <p:cNvPr id="95" name="Shape 93"/>
          <p:cNvSpPr/>
          <p:nvPr/>
        </p:nvSpPr>
        <p:spPr>
          <a:xfrm>
            <a:off x="6177483" y="3233064"/>
            <a:ext cx="226644" cy="226644"/>
          </a:xfrm>
          <a:prstGeom prst="rect">
            <a:avLst/>
          </a:prstGeom>
          <a:solidFill>
            <a:srgbClr val="D4D4D3"/>
          </a:solidFill>
          <a:ln w="6350">
            <a:solidFill>
              <a:srgbClr val="FFFFFF"/>
            </a:solidFill>
            <a:prstDash val="solid"/>
          </a:ln>
        </p:spPr>
      </p:sp>
      <p:sp>
        <p:nvSpPr>
          <p:cNvPr id="96" name="Shape 94"/>
          <p:cNvSpPr/>
          <p:nvPr/>
        </p:nvSpPr>
        <p:spPr>
          <a:xfrm>
            <a:off x="6422415" y="3233064"/>
            <a:ext cx="226644" cy="226644"/>
          </a:xfrm>
          <a:prstGeom prst="rect">
            <a:avLst/>
          </a:prstGeom>
          <a:solidFill>
            <a:srgbClr val="EAEAE8"/>
          </a:solidFill>
          <a:ln w="6350">
            <a:solidFill>
              <a:srgbClr val="FFFFFF"/>
            </a:solidFill>
            <a:prstDash val="solid"/>
          </a:ln>
        </p:spPr>
      </p:sp>
      <p:sp>
        <p:nvSpPr>
          <p:cNvPr id="97" name="Shape 95"/>
          <p:cNvSpPr/>
          <p:nvPr/>
        </p:nvSpPr>
        <p:spPr>
          <a:xfrm>
            <a:off x="6667348" y="3233064"/>
            <a:ext cx="226644" cy="226644"/>
          </a:xfrm>
          <a:prstGeom prst="rect">
            <a:avLst/>
          </a:prstGeom>
          <a:solidFill>
            <a:srgbClr val="EEEEEC"/>
          </a:solidFill>
          <a:ln w="6350">
            <a:solidFill>
              <a:srgbClr val="FFFFFF"/>
            </a:solidFill>
            <a:prstDash val="solid"/>
          </a:ln>
        </p:spPr>
      </p:sp>
      <p:sp>
        <p:nvSpPr>
          <p:cNvPr id="98" name="Shape 96"/>
          <p:cNvSpPr/>
          <p:nvPr/>
        </p:nvSpPr>
        <p:spPr>
          <a:xfrm>
            <a:off x="6912280" y="3233064"/>
            <a:ext cx="226644" cy="226644"/>
          </a:xfrm>
          <a:prstGeom prst="rect">
            <a:avLst/>
          </a:prstGeom>
          <a:solidFill>
            <a:srgbClr val="D1D1CF"/>
          </a:solidFill>
          <a:ln w="6350">
            <a:solidFill>
              <a:srgbClr val="FFFFFF"/>
            </a:solidFill>
            <a:prstDash val="solid"/>
          </a:ln>
        </p:spPr>
      </p:sp>
      <p:sp>
        <p:nvSpPr>
          <p:cNvPr id="99" name="Shape 97"/>
          <p:cNvSpPr/>
          <p:nvPr/>
        </p:nvSpPr>
        <p:spPr>
          <a:xfrm>
            <a:off x="7157212" y="3233064"/>
            <a:ext cx="226644" cy="226644"/>
          </a:xfrm>
          <a:prstGeom prst="rect">
            <a:avLst/>
          </a:prstGeom>
          <a:solidFill>
            <a:srgbClr val="E8E8E6"/>
          </a:solidFill>
          <a:ln w="6350">
            <a:solidFill>
              <a:srgbClr val="FFFFFF"/>
            </a:solidFill>
            <a:prstDash val="solid"/>
          </a:ln>
        </p:spPr>
      </p:sp>
      <p:sp>
        <p:nvSpPr>
          <p:cNvPr id="100" name="Shape 98"/>
          <p:cNvSpPr/>
          <p:nvPr/>
        </p:nvSpPr>
        <p:spPr>
          <a:xfrm>
            <a:off x="7402144" y="3233064"/>
            <a:ext cx="226644" cy="226644"/>
          </a:xfrm>
          <a:prstGeom prst="rect">
            <a:avLst/>
          </a:prstGeom>
          <a:solidFill>
            <a:srgbClr val="E4E4E2"/>
          </a:solidFill>
          <a:ln w="6350">
            <a:solidFill>
              <a:srgbClr val="FFFFFF"/>
            </a:solidFill>
            <a:prstDash val="solid"/>
          </a:ln>
        </p:spPr>
      </p:sp>
      <p:sp>
        <p:nvSpPr>
          <p:cNvPr id="101" name="Shape 99"/>
          <p:cNvSpPr/>
          <p:nvPr/>
        </p:nvSpPr>
        <p:spPr>
          <a:xfrm>
            <a:off x="7647076" y="3233064"/>
            <a:ext cx="226644" cy="226644"/>
          </a:xfrm>
          <a:prstGeom prst="rect">
            <a:avLst/>
          </a:prstGeom>
          <a:solidFill>
            <a:srgbClr val="D3D3D1"/>
          </a:solidFill>
          <a:ln w="6350">
            <a:solidFill>
              <a:srgbClr val="FFFFFF"/>
            </a:solidFill>
            <a:prstDash val="solid"/>
          </a:ln>
        </p:spPr>
      </p:sp>
      <p:sp>
        <p:nvSpPr>
          <p:cNvPr id="102" name="Shape 100"/>
          <p:cNvSpPr/>
          <p:nvPr/>
        </p:nvSpPr>
        <p:spPr>
          <a:xfrm>
            <a:off x="7892009" y="3233064"/>
            <a:ext cx="226644" cy="226644"/>
          </a:xfrm>
          <a:prstGeom prst="rect">
            <a:avLst/>
          </a:prstGeom>
          <a:solidFill>
            <a:srgbClr val="F2F2F0"/>
          </a:solidFill>
          <a:ln w="6350">
            <a:solidFill>
              <a:srgbClr val="FFFFFF"/>
            </a:solidFill>
            <a:prstDash val="solid"/>
          </a:ln>
        </p:spPr>
      </p:sp>
      <p:sp>
        <p:nvSpPr>
          <p:cNvPr id="103" name="Shape 101"/>
          <p:cNvSpPr/>
          <p:nvPr/>
        </p:nvSpPr>
        <p:spPr>
          <a:xfrm>
            <a:off x="5197754" y="3477997"/>
            <a:ext cx="226644" cy="226644"/>
          </a:xfrm>
          <a:prstGeom prst="rect">
            <a:avLst/>
          </a:prstGeom>
          <a:solidFill>
            <a:srgbClr val="E7E7E6"/>
          </a:solidFill>
          <a:ln w="6350">
            <a:solidFill>
              <a:srgbClr val="FFFFFF"/>
            </a:solidFill>
            <a:prstDash val="solid"/>
          </a:ln>
        </p:spPr>
      </p:sp>
      <p:sp>
        <p:nvSpPr>
          <p:cNvPr id="104" name="Shape 102"/>
          <p:cNvSpPr/>
          <p:nvPr/>
        </p:nvSpPr>
        <p:spPr>
          <a:xfrm>
            <a:off x="5442687" y="3477997"/>
            <a:ext cx="226644" cy="226644"/>
          </a:xfrm>
          <a:prstGeom prst="rect">
            <a:avLst/>
          </a:prstGeom>
          <a:solidFill>
            <a:srgbClr val="CFCFCD"/>
          </a:solidFill>
          <a:ln w="6350">
            <a:solidFill>
              <a:srgbClr val="FFFFFF"/>
            </a:solidFill>
            <a:prstDash val="solid"/>
          </a:ln>
        </p:spPr>
      </p:sp>
      <p:sp>
        <p:nvSpPr>
          <p:cNvPr id="105" name="Shape 103"/>
          <p:cNvSpPr/>
          <p:nvPr/>
        </p:nvSpPr>
        <p:spPr>
          <a:xfrm>
            <a:off x="5687619" y="3477997"/>
            <a:ext cx="226644" cy="226644"/>
          </a:xfrm>
          <a:prstGeom prst="rect">
            <a:avLst/>
          </a:prstGeom>
          <a:solidFill>
            <a:srgbClr val="F2F2F0"/>
          </a:solidFill>
          <a:ln w="6350">
            <a:solidFill>
              <a:srgbClr val="FFFFFF"/>
            </a:solidFill>
            <a:prstDash val="solid"/>
          </a:ln>
        </p:spPr>
      </p:sp>
      <p:sp>
        <p:nvSpPr>
          <p:cNvPr id="106" name="Shape 104"/>
          <p:cNvSpPr/>
          <p:nvPr/>
        </p:nvSpPr>
        <p:spPr>
          <a:xfrm>
            <a:off x="5932551" y="3477997"/>
            <a:ext cx="226644" cy="226644"/>
          </a:xfrm>
          <a:prstGeom prst="rect">
            <a:avLst/>
          </a:prstGeom>
          <a:solidFill>
            <a:srgbClr val="F5F5F3"/>
          </a:solidFill>
          <a:ln w="6350">
            <a:solidFill>
              <a:srgbClr val="FFFFFF"/>
            </a:solidFill>
            <a:prstDash val="solid"/>
          </a:ln>
        </p:spPr>
      </p:sp>
      <p:sp>
        <p:nvSpPr>
          <p:cNvPr id="107" name="Shape 105"/>
          <p:cNvSpPr/>
          <p:nvPr/>
        </p:nvSpPr>
        <p:spPr>
          <a:xfrm>
            <a:off x="6177483" y="3477997"/>
            <a:ext cx="226644" cy="226644"/>
          </a:xfrm>
          <a:prstGeom prst="rect">
            <a:avLst/>
          </a:prstGeom>
          <a:solidFill>
            <a:srgbClr val="CFCFCE"/>
          </a:solidFill>
          <a:ln w="6350">
            <a:solidFill>
              <a:srgbClr val="FFFFFF"/>
            </a:solidFill>
            <a:prstDash val="solid"/>
          </a:ln>
        </p:spPr>
      </p:sp>
      <p:sp>
        <p:nvSpPr>
          <p:cNvPr id="108" name="Shape 106"/>
          <p:cNvSpPr/>
          <p:nvPr/>
        </p:nvSpPr>
        <p:spPr>
          <a:xfrm>
            <a:off x="6422415" y="3477997"/>
            <a:ext cx="226644" cy="226644"/>
          </a:xfrm>
          <a:prstGeom prst="rect">
            <a:avLst/>
          </a:prstGeom>
          <a:solidFill>
            <a:srgbClr val="DDDDDB"/>
          </a:solidFill>
          <a:ln w="6350">
            <a:solidFill>
              <a:srgbClr val="FFFFFF"/>
            </a:solidFill>
            <a:prstDash val="solid"/>
          </a:ln>
        </p:spPr>
      </p:sp>
      <p:sp>
        <p:nvSpPr>
          <p:cNvPr id="109" name="Shape 107"/>
          <p:cNvSpPr/>
          <p:nvPr/>
        </p:nvSpPr>
        <p:spPr>
          <a:xfrm>
            <a:off x="6667348" y="3477997"/>
            <a:ext cx="226644" cy="226644"/>
          </a:xfrm>
          <a:prstGeom prst="rect">
            <a:avLst/>
          </a:prstGeom>
          <a:solidFill>
            <a:srgbClr val="EFEFED"/>
          </a:solidFill>
          <a:ln w="6350">
            <a:solidFill>
              <a:srgbClr val="FFFFFF"/>
            </a:solidFill>
            <a:prstDash val="solid"/>
          </a:ln>
        </p:spPr>
      </p:sp>
      <p:sp>
        <p:nvSpPr>
          <p:cNvPr id="110" name="Shape 108"/>
          <p:cNvSpPr/>
          <p:nvPr/>
        </p:nvSpPr>
        <p:spPr>
          <a:xfrm>
            <a:off x="6912280" y="3477997"/>
            <a:ext cx="226644" cy="226644"/>
          </a:xfrm>
          <a:prstGeom prst="rect">
            <a:avLst/>
          </a:prstGeom>
          <a:solidFill>
            <a:srgbClr val="CCCCCA"/>
          </a:solidFill>
          <a:ln w="6350">
            <a:solidFill>
              <a:srgbClr val="FFFFFF"/>
            </a:solidFill>
            <a:prstDash val="solid"/>
          </a:ln>
        </p:spPr>
      </p:sp>
      <p:sp>
        <p:nvSpPr>
          <p:cNvPr id="111" name="Shape 109"/>
          <p:cNvSpPr/>
          <p:nvPr/>
        </p:nvSpPr>
        <p:spPr>
          <a:xfrm>
            <a:off x="7157212" y="3477997"/>
            <a:ext cx="226644" cy="226644"/>
          </a:xfrm>
          <a:prstGeom prst="rect">
            <a:avLst/>
          </a:prstGeom>
          <a:solidFill>
            <a:srgbClr val="E9E9E7"/>
          </a:solidFill>
          <a:ln w="6350">
            <a:solidFill>
              <a:srgbClr val="FFFFFF"/>
            </a:solidFill>
            <a:prstDash val="solid"/>
          </a:ln>
        </p:spPr>
      </p:sp>
      <p:sp>
        <p:nvSpPr>
          <p:cNvPr id="112" name="Shape 110"/>
          <p:cNvSpPr/>
          <p:nvPr/>
        </p:nvSpPr>
        <p:spPr>
          <a:xfrm>
            <a:off x="7402144" y="3477997"/>
            <a:ext cx="226644" cy="226644"/>
          </a:xfrm>
          <a:prstGeom prst="rect">
            <a:avLst/>
          </a:prstGeom>
          <a:solidFill>
            <a:srgbClr val="F2F2F0"/>
          </a:solidFill>
          <a:ln w="6350">
            <a:solidFill>
              <a:srgbClr val="FFFFFF"/>
            </a:solidFill>
            <a:prstDash val="solid"/>
          </a:ln>
        </p:spPr>
      </p:sp>
      <p:sp>
        <p:nvSpPr>
          <p:cNvPr id="113" name="Shape 111"/>
          <p:cNvSpPr/>
          <p:nvPr/>
        </p:nvSpPr>
        <p:spPr>
          <a:xfrm>
            <a:off x="7647076" y="3477997"/>
            <a:ext cx="226644" cy="226644"/>
          </a:xfrm>
          <a:prstGeom prst="rect">
            <a:avLst/>
          </a:prstGeom>
          <a:solidFill>
            <a:srgbClr val="CACAC8"/>
          </a:solidFill>
          <a:ln w="6350">
            <a:solidFill>
              <a:srgbClr val="FFFFFF"/>
            </a:solidFill>
            <a:prstDash val="solid"/>
          </a:ln>
        </p:spPr>
      </p:sp>
      <p:sp>
        <p:nvSpPr>
          <p:cNvPr id="114" name="Shape 112"/>
          <p:cNvSpPr/>
          <p:nvPr/>
        </p:nvSpPr>
        <p:spPr>
          <a:xfrm>
            <a:off x="7892009" y="3477997"/>
            <a:ext cx="226644" cy="226644"/>
          </a:xfrm>
          <a:prstGeom prst="rect">
            <a:avLst/>
          </a:prstGeom>
          <a:solidFill>
            <a:srgbClr val="F1F1EF"/>
          </a:solidFill>
          <a:ln w="6350">
            <a:solidFill>
              <a:srgbClr val="FFFFFF"/>
            </a:solidFill>
            <a:prstDash val="solid"/>
          </a:ln>
        </p:spPr>
      </p:sp>
      <p:sp>
        <p:nvSpPr>
          <p:cNvPr id="115" name="Text 113"/>
          <p:cNvSpPr txBox="1"/>
          <p:nvPr/>
        </p:nvSpPr>
        <p:spPr>
          <a:xfrm>
            <a:off x="5197754"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AM</a:t>
            </a:r>
            <a:endParaRPr lang="en-US" sz="850" dirty="0"/>
          </a:p>
        </p:txBody>
      </p:sp>
      <p:sp>
        <p:nvSpPr>
          <p:cNvPr id="116" name="Text 114"/>
          <p:cNvSpPr txBox="1"/>
          <p:nvPr/>
        </p:nvSpPr>
        <p:spPr>
          <a:xfrm>
            <a:off x="5932551"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P2S</a:t>
            </a:r>
            <a:endParaRPr lang="en-US" sz="850" dirty="0"/>
          </a:p>
        </p:txBody>
      </p:sp>
      <p:sp>
        <p:nvSpPr>
          <p:cNvPr id="117" name="Text 115"/>
          <p:cNvSpPr txBox="1"/>
          <p:nvPr/>
        </p:nvSpPr>
        <p:spPr>
          <a:xfrm>
            <a:off x="6667348"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OC</a:t>
            </a:r>
            <a:endParaRPr lang="en-US" sz="850" dirty="0"/>
          </a:p>
        </p:txBody>
      </p:sp>
      <p:sp>
        <p:nvSpPr>
          <p:cNvPr id="118" name="Text 116"/>
          <p:cNvSpPr txBox="1"/>
          <p:nvPr/>
        </p:nvSpPr>
        <p:spPr>
          <a:xfrm>
            <a:off x="7402144"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Sig</a:t>
            </a:r>
            <a:endParaRPr lang="en-US" sz="850" dirty="0"/>
          </a:p>
        </p:txBody>
      </p:sp>
      <p:sp>
        <p:nvSpPr>
          <p:cNvPr id="119" name="Text 117"/>
          <p:cNvSpPr txBox="1"/>
          <p:nvPr/>
        </p:nvSpPr>
        <p:spPr>
          <a:xfrm>
            <a:off x="5197754" y="4033825"/>
            <a:ext cx="2939186"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best 0.14 %</a:t>
            </a:r>
            <a:endParaRPr lang="en-US" sz="1300" dirty="0"/>
          </a:p>
        </p:txBody>
      </p:sp>
      <p:sp>
        <p:nvSpPr>
          <p:cNvPr id="120" name="Text 118"/>
          <p:cNvSpPr txBox="1"/>
          <p:nvPr/>
        </p:nvSpPr>
        <p:spPr>
          <a:xfrm>
            <a:off x="8520989" y="1965960"/>
            <a:ext cx="2939186" cy="201168"/>
          </a:xfrm>
          <a:prstGeom prst="rect">
            <a:avLst/>
          </a:prstGeom>
          <a:noFill/>
          <a:ln/>
        </p:spPr>
        <p:txBody>
          <a:bodyPr wrap="square" lIns="0" tIns="0" rIns="0" bIns="0" rtlCol="0" anchor="ctr"/>
          <a:lstStyle/>
          <a:p>
            <a:pPr indent="0" marL="0">
              <a:buNone/>
            </a:pPr>
            <a:r>
              <a:rPr lang="en-US" sz="850" b="1" spc="150" kern="0" dirty="0">
                <a:solidFill>
                  <a:srgbClr val="8C8C8C"/>
                </a:solidFill>
                <a:latin typeface="Inter" pitchFamily="34" charset="0"/>
                <a:ea typeface="Inter" pitchFamily="34" charset="-122"/>
                <a:cs typeface="Inter" pitchFamily="34" charset="-120"/>
              </a:rPr>
              <a:t>TRAINED ON</a:t>
            </a:r>
            <a:endParaRPr lang="en-US" sz="850" dirty="0"/>
          </a:p>
        </p:txBody>
      </p:sp>
      <p:sp>
        <p:nvSpPr>
          <p:cNvPr id="121" name="Text 119"/>
          <p:cNvSpPr txBox="1"/>
          <p:nvPr/>
        </p:nvSpPr>
        <p:spPr>
          <a:xfrm>
            <a:off x="8520989" y="2157984"/>
            <a:ext cx="2939186" cy="292608"/>
          </a:xfrm>
          <a:prstGeom prst="rect">
            <a:avLst/>
          </a:prstGeom>
          <a:noFill/>
          <a:ln/>
        </p:spPr>
        <p:txBody>
          <a:bodyPr wrap="square" lIns="0" tIns="0" rIns="0" bIns="0" rtlCol="0" anchor="ctr"/>
          <a:lstStyle/>
          <a:p>
            <a:pPr indent="0" marL="0">
              <a:buNone/>
            </a:pPr>
            <a:r>
              <a:rPr lang="en-US" sz="1800" b="1" dirty="0">
                <a:solidFill>
                  <a:srgbClr val="0D0D0D"/>
                </a:solidFill>
                <a:latin typeface="Inter" pitchFamily="34" charset="0"/>
                <a:ea typeface="Inter" pitchFamily="34" charset="-122"/>
                <a:cs typeface="Inter" pitchFamily="34" charset="-120"/>
              </a:rPr>
              <a:t>BOTH, MERGED</a:t>
            </a:r>
            <a:endParaRPr lang="en-US" sz="1800" dirty="0"/>
          </a:p>
        </p:txBody>
      </p:sp>
      <p:sp>
        <p:nvSpPr>
          <p:cNvPr id="122" name="Text 120"/>
          <p:cNvSpPr txBox="1"/>
          <p:nvPr/>
        </p:nvSpPr>
        <p:spPr>
          <a:xfrm>
            <a:off x="8520989" y="2468880"/>
            <a:ext cx="2939186" cy="237744"/>
          </a:xfrm>
          <a:prstGeom prst="rect">
            <a:avLst/>
          </a:prstGeom>
          <a:noFill/>
          <a:ln/>
        </p:spPr>
        <p:txBody>
          <a:bodyPr wrap="square" lIns="0" tIns="0" rIns="0" bIns="0" rtlCol="0" anchor="ctr"/>
          <a:lstStyle/>
          <a:p>
            <a:pPr indent="0" marL="0">
              <a:buNone/>
            </a:pPr>
            <a:r>
              <a:rPr lang="en-US" sz="1050" dirty="0">
                <a:solidFill>
                  <a:srgbClr val="3F3F3F"/>
                </a:solidFill>
                <a:latin typeface="Inter" pitchFamily="34" charset="0"/>
                <a:ea typeface="Inter" pitchFamily="34" charset="-122"/>
                <a:cs typeface="Inter" pitchFamily="34" charset="-120"/>
              </a:rPr>
              <a:t>tested on Spanish</a:t>
            </a:r>
            <a:endParaRPr lang="en-US" sz="1050" dirty="0"/>
          </a:p>
        </p:txBody>
      </p:sp>
      <p:sp>
        <p:nvSpPr>
          <p:cNvPr id="123" name="Shape 121"/>
          <p:cNvSpPr/>
          <p:nvPr/>
        </p:nvSpPr>
        <p:spPr>
          <a:xfrm>
            <a:off x="8520989" y="2743200"/>
            <a:ext cx="226644" cy="226644"/>
          </a:xfrm>
          <a:prstGeom prst="rect">
            <a:avLst/>
          </a:prstGeom>
          <a:solidFill>
            <a:srgbClr val="EAEAE8"/>
          </a:solidFill>
          <a:ln w="6350">
            <a:solidFill>
              <a:srgbClr val="FFFFFF"/>
            </a:solidFill>
            <a:prstDash val="solid"/>
          </a:ln>
        </p:spPr>
      </p:sp>
      <p:sp>
        <p:nvSpPr>
          <p:cNvPr id="124" name="Shape 122"/>
          <p:cNvSpPr/>
          <p:nvPr/>
        </p:nvSpPr>
        <p:spPr>
          <a:xfrm>
            <a:off x="8765921" y="2743200"/>
            <a:ext cx="226644" cy="226644"/>
          </a:xfrm>
          <a:prstGeom prst="rect">
            <a:avLst/>
          </a:prstGeom>
          <a:solidFill>
            <a:srgbClr val="EAEAE8"/>
          </a:solidFill>
          <a:ln w="6350">
            <a:solidFill>
              <a:srgbClr val="FFFFFF"/>
            </a:solidFill>
            <a:prstDash val="solid"/>
          </a:ln>
        </p:spPr>
      </p:sp>
      <p:sp>
        <p:nvSpPr>
          <p:cNvPr id="125" name="Shape 123"/>
          <p:cNvSpPr/>
          <p:nvPr/>
        </p:nvSpPr>
        <p:spPr>
          <a:xfrm>
            <a:off x="9010853" y="2743200"/>
            <a:ext cx="226644" cy="226644"/>
          </a:xfrm>
          <a:prstGeom prst="rect">
            <a:avLst/>
          </a:prstGeom>
          <a:solidFill>
            <a:srgbClr val="ECECEA"/>
          </a:solidFill>
          <a:ln w="6350">
            <a:solidFill>
              <a:srgbClr val="FFFFFF"/>
            </a:solidFill>
            <a:prstDash val="solid"/>
          </a:ln>
        </p:spPr>
      </p:sp>
      <p:sp>
        <p:nvSpPr>
          <p:cNvPr id="126" name="Shape 124"/>
          <p:cNvSpPr/>
          <p:nvPr/>
        </p:nvSpPr>
        <p:spPr>
          <a:xfrm>
            <a:off x="9255785" y="2743200"/>
            <a:ext cx="226644" cy="226644"/>
          </a:xfrm>
          <a:prstGeom prst="rect">
            <a:avLst/>
          </a:prstGeom>
          <a:solidFill>
            <a:srgbClr val="ECECEA"/>
          </a:solidFill>
          <a:ln w="6350">
            <a:solidFill>
              <a:srgbClr val="FFFFFF"/>
            </a:solidFill>
            <a:prstDash val="solid"/>
          </a:ln>
        </p:spPr>
      </p:sp>
      <p:sp>
        <p:nvSpPr>
          <p:cNvPr id="127" name="Shape 125"/>
          <p:cNvSpPr/>
          <p:nvPr/>
        </p:nvSpPr>
        <p:spPr>
          <a:xfrm>
            <a:off x="9500718" y="2743200"/>
            <a:ext cx="226644" cy="226644"/>
          </a:xfrm>
          <a:prstGeom prst="rect">
            <a:avLst/>
          </a:prstGeom>
          <a:solidFill>
            <a:srgbClr val="EDEDEB"/>
          </a:solidFill>
          <a:ln w="6350">
            <a:solidFill>
              <a:srgbClr val="FFFFFF"/>
            </a:solidFill>
            <a:prstDash val="solid"/>
          </a:ln>
        </p:spPr>
      </p:sp>
      <p:sp>
        <p:nvSpPr>
          <p:cNvPr id="128" name="Shape 126"/>
          <p:cNvSpPr/>
          <p:nvPr/>
        </p:nvSpPr>
        <p:spPr>
          <a:xfrm>
            <a:off x="9745650" y="2743200"/>
            <a:ext cx="226644" cy="226644"/>
          </a:xfrm>
          <a:prstGeom prst="rect">
            <a:avLst/>
          </a:prstGeom>
          <a:solidFill>
            <a:srgbClr val="F2F2F0"/>
          </a:solidFill>
          <a:ln w="6350">
            <a:solidFill>
              <a:srgbClr val="FFFFFF"/>
            </a:solidFill>
            <a:prstDash val="solid"/>
          </a:ln>
        </p:spPr>
      </p:sp>
      <p:sp>
        <p:nvSpPr>
          <p:cNvPr id="129" name="Shape 127"/>
          <p:cNvSpPr/>
          <p:nvPr/>
        </p:nvSpPr>
        <p:spPr>
          <a:xfrm>
            <a:off x="9990582" y="2743200"/>
            <a:ext cx="226644" cy="226644"/>
          </a:xfrm>
          <a:prstGeom prst="rect">
            <a:avLst/>
          </a:prstGeom>
          <a:solidFill>
            <a:srgbClr val="EDEDEB"/>
          </a:solidFill>
          <a:ln w="6350">
            <a:solidFill>
              <a:srgbClr val="FFFFFF"/>
            </a:solidFill>
            <a:prstDash val="solid"/>
          </a:ln>
        </p:spPr>
      </p:sp>
      <p:sp>
        <p:nvSpPr>
          <p:cNvPr id="130" name="Shape 128"/>
          <p:cNvSpPr/>
          <p:nvPr/>
        </p:nvSpPr>
        <p:spPr>
          <a:xfrm>
            <a:off x="10235514" y="2743200"/>
            <a:ext cx="226644" cy="226644"/>
          </a:xfrm>
          <a:prstGeom prst="rect">
            <a:avLst/>
          </a:prstGeom>
          <a:solidFill>
            <a:srgbClr val="ECECEA"/>
          </a:solidFill>
          <a:ln w="6350">
            <a:solidFill>
              <a:srgbClr val="FFFFFF"/>
            </a:solidFill>
            <a:prstDash val="solid"/>
          </a:ln>
        </p:spPr>
      </p:sp>
      <p:sp>
        <p:nvSpPr>
          <p:cNvPr id="131" name="Shape 129"/>
          <p:cNvSpPr/>
          <p:nvPr/>
        </p:nvSpPr>
        <p:spPr>
          <a:xfrm>
            <a:off x="10480446" y="2743200"/>
            <a:ext cx="226644" cy="226644"/>
          </a:xfrm>
          <a:prstGeom prst="rect">
            <a:avLst/>
          </a:prstGeom>
          <a:solidFill>
            <a:srgbClr val="E9E9E7"/>
          </a:solidFill>
          <a:ln w="6350">
            <a:solidFill>
              <a:srgbClr val="FFFFFF"/>
            </a:solidFill>
            <a:prstDash val="solid"/>
          </a:ln>
        </p:spPr>
      </p:sp>
      <p:sp>
        <p:nvSpPr>
          <p:cNvPr id="132" name="Shape 130"/>
          <p:cNvSpPr/>
          <p:nvPr/>
        </p:nvSpPr>
        <p:spPr>
          <a:xfrm>
            <a:off x="10725379" y="2743200"/>
            <a:ext cx="226644" cy="226644"/>
          </a:xfrm>
          <a:prstGeom prst="rect">
            <a:avLst/>
          </a:prstGeom>
          <a:solidFill>
            <a:srgbClr val="D6D6D4"/>
          </a:solidFill>
          <a:ln w="6350">
            <a:solidFill>
              <a:srgbClr val="FFFFFF"/>
            </a:solidFill>
            <a:prstDash val="solid"/>
          </a:ln>
        </p:spPr>
      </p:sp>
      <p:sp>
        <p:nvSpPr>
          <p:cNvPr id="133" name="Shape 131"/>
          <p:cNvSpPr/>
          <p:nvPr/>
        </p:nvSpPr>
        <p:spPr>
          <a:xfrm>
            <a:off x="10970311" y="2743200"/>
            <a:ext cx="226644" cy="226644"/>
          </a:xfrm>
          <a:prstGeom prst="rect">
            <a:avLst/>
          </a:prstGeom>
          <a:solidFill>
            <a:srgbClr val="E8E8E6"/>
          </a:solidFill>
          <a:ln w="6350">
            <a:solidFill>
              <a:srgbClr val="FFFFFF"/>
            </a:solidFill>
            <a:prstDash val="solid"/>
          </a:ln>
        </p:spPr>
      </p:sp>
      <p:sp>
        <p:nvSpPr>
          <p:cNvPr id="134" name="Shape 132"/>
          <p:cNvSpPr/>
          <p:nvPr/>
        </p:nvSpPr>
        <p:spPr>
          <a:xfrm>
            <a:off x="11215243" y="2743200"/>
            <a:ext cx="226644" cy="226644"/>
          </a:xfrm>
          <a:prstGeom prst="rect">
            <a:avLst/>
          </a:prstGeom>
          <a:solidFill>
            <a:srgbClr val="EEEEEC"/>
          </a:solidFill>
          <a:ln w="6350">
            <a:solidFill>
              <a:srgbClr val="FFFFFF"/>
            </a:solidFill>
            <a:prstDash val="solid"/>
          </a:ln>
        </p:spPr>
      </p:sp>
      <p:sp>
        <p:nvSpPr>
          <p:cNvPr id="135" name="Shape 133"/>
          <p:cNvSpPr/>
          <p:nvPr/>
        </p:nvSpPr>
        <p:spPr>
          <a:xfrm>
            <a:off x="8520989" y="2988132"/>
            <a:ext cx="226644" cy="226644"/>
          </a:xfrm>
          <a:prstGeom prst="rect">
            <a:avLst/>
          </a:prstGeom>
          <a:solidFill>
            <a:srgbClr val="383838"/>
          </a:solidFill>
          <a:ln w="6350">
            <a:solidFill>
              <a:srgbClr val="FFFFFF"/>
            </a:solidFill>
            <a:prstDash val="solid"/>
          </a:ln>
        </p:spPr>
      </p:sp>
      <p:sp>
        <p:nvSpPr>
          <p:cNvPr id="136" name="Shape 134"/>
          <p:cNvSpPr/>
          <p:nvPr/>
        </p:nvSpPr>
        <p:spPr>
          <a:xfrm>
            <a:off x="8765921" y="2988132"/>
            <a:ext cx="226644" cy="226644"/>
          </a:xfrm>
          <a:prstGeom prst="rect">
            <a:avLst/>
          </a:prstGeom>
          <a:solidFill>
            <a:srgbClr val="0F0F0F"/>
          </a:solidFill>
          <a:ln w="6350">
            <a:solidFill>
              <a:srgbClr val="FFFFFF"/>
            </a:solidFill>
            <a:prstDash val="solid"/>
          </a:ln>
        </p:spPr>
      </p:sp>
      <p:sp>
        <p:nvSpPr>
          <p:cNvPr id="137" name="Shape 135"/>
          <p:cNvSpPr/>
          <p:nvPr/>
        </p:nvSpPr>
        <p:spPr>
          <a:xfrm>
            <a:off x="9010853" y="2988132"/>
            <a:ext cx="226644" cy="226644"/>
          </a:xfrm>
          <a:prstGeom prst="rect">
            <a:avLst/>
          </a:prstGeom>
          <a:solidFill>
            <a:srgbClr val="4D4D4D"/>
          </a:solidFill>
          <a:ln w="6350">
            <a:solidFill>
              <a:srgbClr val="FFFFFF"/>
            </a:solidFill>
            <a:prstDash val="solid"/>
          </a:ln>
        </p:spPr>
      </p:sp>
      <p:sp>
        <p:nvSpPr>
          <p:cNvPr id="138" name="Shape 136"/>
          <p:cNvSpPr/>
          <p:nvPr/>
        </p:nvSpPr>
        <p:spPr>
          <a:xfrm>
            <a:off x="9255785" y="2988132"/>
            <a:ext cx="226644" cy="226644"/>
          </a:xfrm>
          <a:prstGeom prst="rect">
            <a:avLst/>
          </a:prstGeom>
          <a:solidFill>
            <a:srgbClr val="414140"/>
          </a:solidFill>
          <a:ln w="6350">
            <a:solidFill>
              <a:srgbClr val="FFFFFF"/>
            </a:solidFill>
            <a:prstDash val="solid"/>
          </a:ln>
        </p:spPr>
      </p:sp>
      <p:sp>
        <p:nvSpPr>
          <p:cNvPr id="139" name="Shape 137"/>
          <p:cNvSpPr/>
          <p:nvPr/>
        </p:nvSpPr>
        <p:spPr>
          <a:xfrm>
            <a:off x="9500718" y="2988132"/>
            <a:ext cx="226644" cy="226644"/>
          </a:xfrm>
          <a:prstGeom prst="rect">
            <a:avLst/>
          </a:prstGeom>
          <a:solidFill>
            <a:srgbClr val="40403F"/>
          </a:solidFill>
          <a:ln w="6350">
            <a:solidFill>
              <a:srgbClr val="FFFFFF"/>
            </a:solidFill>
            <a:prstDash val="solid"/>
          </a:ln>
        </p:spPr>
      </p:sp>
      <p:sp>
        <p:nvSpPr>
          <p:cNvPr id="140" name="Shape 138"/>
          <p:cNvSpPr/>
          <p:nvPr/>
        </p:nvSpPr>
        <p:spPr>
          <a:xfrm>
            <a:off x="9745650" y="2988132"/>
            <a:ext cx="226644" cy="226644"/>
          </a:xfrm>
          <a:prstGeom prst="rect">
            <a:avLst/>
          </a:prstGeom>
          <a:solidFill>
            <a:srgbClr val="4C4C4B"/>
          </a:solidFill>
          <a:ln w="6350">
            <a:solidFill>
              <a:srgbClr val="FFFFFF"/>
            </a:solidFill>
            <a:prstDash val="solid"/>
          </a:ln>
        </p:spPr>
      </p:sp>
      <p:sp>
        <p:nvSpPr>
          <p:cNvPr id="141" name="Shape 139"/>
          <p:cNvSpPr/>
          <p:nvPr/>
        </p:nvSpPr>
        <p:spPr>
          <a:xfrm>
            <a:off x="9990582" y="2988132"/>
            <a:ext cx="226644" cy="226644"/>
          </a:xfrm>
          <a:prstGeom prst="rect">
            <a:avLst/>
          </a:prstGeom>
          <a:solidFill>
            <a:srgbClr val="30302F"/>
          </a:solidFill>
          <a:ln w="6350">
            <a:solidFill>
              <a:srgbClr val="FFFFFF"/>
            </a:solidFill>
            <a:prstDash val="solid"/>
          </a:ln>
        </p:spPr>
      </p:sp>
      <p:sp>
        <p:nvSpPr>
          <p:cNvPr id="142" name="Shape 140"/>
          <p:cNvSpPr/>
          <p:nvPr/>
        </p:nvSpPr>
        <p:spPr>
          <a:xfrm>
            <a:off x="10235514" y="2988132"/>
            <a:ext cx="226644" cy="226644"/>
          </a:xfrm>
          <a:prstGeom prst="rect">
            <a:avLst/>
          </a:prstGeom>
          <a:solidFill>
            <a:srgbClr val="363636"/>
          </a:solidFill>
          <a:ln w="6350">
            <a:solidFill>
              <a:srgbClr val="FFFFFF"/>
            </a:solidFill>
            <a:prstDash val="solid"/>
          </a:ln>
        </p:spPr>
      </p:sp>
      <p:sp>
        <p:nvSpPr>
          <p:cNvPr id="143" name="Shape 141"/>
          <p:cNvSpPr/>
          <p:nvPr/>
        </p:nvSpPr>
        <p:spPr>
          <a:xfrm>
            <a:off x="10480446" y="2988132"/>
            <a:ext cx="226644" cy="226644"/>
          </a:xfrm>
          <a:prstGeom prst="rect">
            <a:avLst/>
          </a:prstGeom>
          <a:solidFill>
            <a:srgbClr val="515150"/>
          </a:solidFill>
          <a:ln w="6350">
            <a:solidFill>
              <a:srgbClr val="FFFFFF"/>
            </a:solidFill>
            <a:prstDash val="solid"/>
          </a:ln>
        </p:spPr>
      </p:sp>
      <p:sp>
        <p:nvSpPr>
          <p:cNvPr id="144" name="Shape 142"/>
          <p:cNvSpPr/>
          <p:nvPr/>
        </p:nvSpPr>
        <p:spPr>
          <a:xfrm>
            <a:off x="10725379" y="2988132"/>
            <a:ext cx="226644" cy="226644"/>
          </a:xfrm>
          <a:prstGeom prst="rect">
            <a:avLst/>
          </a:prstGeom>
          <a:solidFill>
            <a:srgbClr val="3D3D3D"/>
          </a:solidFill>
          <a:ln w="6350">
            <a:solidFill>
              <a:srgbClr val="FFFFFF"/>
            </a:solidFill>
            <a:prstDash val="solid"/>
          </a:ln>
        </p:spPr>
      </p:sp>
      <p:sp>
        <p:nvSpPr>
          <p:cNvPr id="145" name="Shape 143"/>
          <p:cNvSpPr/>
          <p:nvPr/>
        </p:nvSpPr>
        <p:spPr>
          <a:xfrm>
            <a:off x="10970311" y="2988132"/>
            <a:ext cx="226644" cy="226644"/>
          </a:xfrm>
          <a:prstGeom prst="rect">
            <a:avLst/>
          </a:prstGeom>
          <a:solidFill>
            <a:srgbClr val="282828"/>
          </a:solidFill>
          <a:ln w="6350">
            <a:solidFill>
              <a:srgbClr val="FFFFFF"/>
            </a:solidFill>
            <a:prstDash val="solid"/>
          </a:ln>
        </p:spPr>
      </p:sp>
      <p:sp>
        <p:nvSpPr>
          <p:cNvPr id="146" name="Shape 144"/>
          <p:cNvSpPr/>
          <p:nvPr/>
        </p:nvSpPr>
        <p:spPr>
          <a:xfrm>
            <a:off x="11215243" y="2988132"/>
            <a:ext cx="226644" cy="226644"/>
          </a:xfrm>
          <a:prstGeom prst="rect">
            <a:avLst/>
          </a:prstGeom>
          <a:solidFill>
            <a:srgbClr val="3A3A3A"/>
          </a:solidFill>
          <a:ln w="6350">
            <a:solidFill>
              <a:srgbClr val="FFFFFF"/>
            </a:solidFill>
            <a:prstDash val="solid"/>
          </a:ln>
        </p:spPr>
      </p:sp>
      <p:sp>
        <p:nvSpPr>
          <p:cNvPr id="147" name="Shape 145"/>
          <p:cNvSpPr/>
          <p:nvPr/>
        </p:nvSpPr>
        <p:spPr>
          <a:xfrm>
            <a:off x="8520989" y="3233064"/>
            <a:ext cx="226644" cy="226644"/>
          </a:xfrm>
          <a:prstGeom prst="rect">
            <a:avLst/>
          </a:prstGeom>
          <a:solidFill>
            <a:srgbClr val="F4F4F2"/>
          </a:solidFill>
          <a:ln w="6350">
            <a:solidFill>
              <a:srgbClr val="FFFFFF"/>
            </a:solidFill>
            <a:prstDash val="solid"/>
          </a:ln>
        </p:spPr>
      </p:sp>
      <p:sp>
        <p:nvSpPr>
          <p:cNvPr id="148" name="Shape 146"/>
          <p:cNvSpPr/>
          <p:nvPr/>
        </p:nvSpPr>
        <p:spPr>
          <a:xfrm>
            <a:off x="8765921" y="3233064"/>
            <a:ext cx="226644" cy="226644"/>
          </a:xfrm>
          <a:prstGeom prst="rect">
            <a:avLst/>
          </a:prstGeom>
          <a:solidFill>
            <a:srgbClr val="F2F2F0"/>
          </a:solidFill>
          <a:ln w="6350">
            <a:solidFill>
              <a:srgbClr val="FFFFFF"/>
            </a:solidFill>
            <a:prstDash val="solid"/>
          </a:ln>
        </p:spPr>
      </p:sp>
      <p:sp>
        <p:nvSpPr>
          <p:cNvPr id="149" name="Shape 147"/>
          <p:cNvSpPr/>
          <p:nvPr/>
        </p:nvSpPr>
        <p:spPr>
          <a:xfrm>
            <a:off x="9010853" y="3233064"/>
            <a:ext cx="226644" cy="226644"/>
          </a:xfrm>
          <a:prstGeom prst="rect">
            <a:avLst/>
          </a:prstGeom>
          <a:solidFill>
            <a:srgbClr val="F6F6F4"/>
          </a:solidFill>
          <a:ln w="6350">
            <a:solidFill>
              <a:srgbClr val="FFFFFF"/>
            </a:solidFill>
            <a:prstDash val="solid"/>
          </a:ln>
        </p:spPr>
      </p:sp>
      <p:sp>
        <p:nvSpPr>
          <p:cNvPr id="150" name="Shape 148"/>
          <p:cNvSpPr/>
          <p:nvPr/>
        </p:nvSpPr>
        <p:spPr>
          <a:xfrm>
            <a:off x="9255785" y="3233064"/>
            <a:ext cx="226644" cy="226644"/>
          </a:xfrm>
          <a:prstGeom prst="rect">
            <a:avLst/>
          </a:prstGeom>
          <a:solidFill>
            <a:srgbClr val="F5F5F3"/>
          </a:solidFill>
          <a:ln w="6350">
            <a:solidFill>
              <a:srgbClr val="FFFFFF"/>
            </a:solidFill>
            <a:prstDash val="solid"/>
          </a:ln>
        </p:spPr>
      </p:sp>
      <p:sp>
        <p:nvSpPr>
          <p:cNvPr id="151" name="Shape 149"/>
          <p:cNvSpPr/>
          <p:nvPr/>
        </p:nvSpPr>
        <p:spPr>
          <a:xfrm>
            <a:off x="9500718" y="3233064"/>
            <a:ext cx="226644" cy="226644"/>
          </a:xfrm>
          <a:prstGeom prst="rect">
            <a:avLst/>
          </a:prstGeom>
          <a:solidFill>
            <a:srgbClr val="F5F5F3"/>
          </a:solidFill>
          <a:ln w="6350">
            <a:solidFill>
              <a:srgbClr val="FFFFFF"/>
            </a:solidFill>
            <a:prstDash val="solid"/>
          </a:ln>
        </p:spPr>
      </p:sp>
      <p:sp>
        <p:nvSpPr>
          <p:cNvPr id="152" name="Shape 150"/>
          <p:cNvSpPr/>
          <p:nvPr/>
        </p:nvSpPr>
        <p:spPr>
          <a:xfrm>
            <a:off x="9745650" y="3233064"/>
            <a:ext cx="226644" cy="226644"/>
          </a:xfrm>
          <a:prstGeom prst="rect">
            <a:avLst/>
          </a:prstGeom>
          <a:solidFill>
            <a:srgbClr val="F3F3F1"/>
          </a:solidFill>
          <a:ln w="6350">
            <a:solidFill>
              <a:srgbClr val="FFFFFF"/>
            </a:solidFill>
            <a:prstDash val="solid"/>
          </a:ln>
        </p:spPr>
      </p:sp>
      <p:sp>
        <p:nvSpPr>
          <p:cNvPr id="153" name="Shape 151"/>
          <p:cNvSpPr/>
          <p:nvPr/>
        </p:nvSpPr>
        <p:spPr>
          <a:xfrm>
            <a:off x="9990582" y="3233064"/>
            <a:ext cx="226644" cy="226644"/>
          </a:xfrm>
          <a:prstGeom prst="rect">
            <a:avLst/>
          </a:prstGeom>
          <a:solidFill>
            <a:srgbClr val="F3F3F1"/>
          </a:solidFill>
          <a:ln w="6350">
            <a:solidFill>
              <a:srgbClr val="FFFFFF"/>
            </a:solidFill>
            <a:prstDash val="solid"/>
          </a:ln>
        </p:spPr>
      </p:sp>
      <p:sp>
        <p:nvSpPr>
          <p:cNvPr id="154" name="Shape 152"/>
          <p:cNvSpPr/>
          <p:nvPr/>
        </p:nvSpPr>
        <p:spPr>
          <a:xfrm>
            <a:off x="10235514" y="3233064"/>
            <a:ext cx="226644" cy="226644"/>
          </a:xfrm>
          <a:prstGeom prst="rect">
            <a:avLst/>
          </a:prstGeom>
          <a:solidFill>
            <a:srgbClr val="F4F4F2"/>
          </a:solidFill>
          <a:ln w="6350">
            <a:solidFill>
              <a:srgbClr val="FFFFFF"/>
            </a:solidFill>
            <a:prstDash val="solid"/>
          </a:ln>
        </p:spPr>
      </p:sp>
      <p:sp>
        <p:nvSpPr>
          <p:cNvPr id="155" name="Shape 153"/>
          <p:cNvSpPr/>
          <p:nvPr/>
        </p:nvSpPr>
        <p:spPr>
          <a:xfrm>
            <a:off x="10480446" y="3233064"/>
            <a:ext cx="226644" cy="226644"/>
          </a:xfrm>
          <a:prstGeom prst="rect">
            <a:avLst/>
          </a:prstGeom>
          <a:solidFill>
            <a:srgbClr val="F2F2F0"/>
          </a:solidFill>
          <a:ln w="6350">
            <a:solidFill>
              <a:srgbClr val="FFFFFF"/>
            </a:solidFill>
            <a:prstDash val="solid"/>
          </a:ln>
        </p:spPr>
      </p:sp>
      <p:sp>
        <p:nvSpPr>
          <p:cNvPr id="156" name="Shape 154"/>
          <p:cNvSpPr/>
          <p:nvPr/>
        </p:nvSpPr>
        <p:spPr>
          <a:xfrm>
            <a:off x="10725379" y="3233064"/>
            <a:ext cx="226644" cy="226644"/>
          </a:xfrm>
          <a:prstGeom prst="rect">
            <a:avLst/>
          </a:prstGeom>
          <a:solidFill>
            <a:srgbClr val="F1F1EF"/>
          </a:solidFill>
          <a:ln w="6350">
            <a:solidFill>
              <a:srgbClr val="FFFFFF"/>
            </a:solidFill>
            <a:prstDash val="solid"/>
          </a:ln>
        </p:spPr>
      </p:sp>
      <p:sp>
        <p:nvSpPr>
          <p:cNvPr id="157" name="Shape 155"/>
          <p:cNvSpPr/>
          <p:nvPr/>
        </p:nvSpPr>
        <p:spPr>
          <a:xfrm>
            <a:off x="10970311" y="3233064"/>
            <a:ext cx="226644" cy="226644"/>
          </a:xfrm>
          <a:prstGeom prst="rect">
            <a:avLst/>
          </a:prstGeom>
          <a:solidFill>
            <a:srgbClr val="F3F3F1"/>
          </a:solidFill>
          <a:ln w="6350">
            <a:solidFill>
              <a:srgbClr val="FFFFFF"/>
            </a:solidFill>
            <a:prstDash val="solid"/>
          </a:ln>
        </p:spPr>
      </p:sp>
      <p:sp>
        <p:nvSpPr>
          <p:cNvPr id="158" name="Shape 156"/>
          <p:cNvSpPr/>
          <p:nvPr/>
        </p:nvSpPr>
        <p:spPr>
          <a:xfrm>
            <a:off x="11215243" y="3233064"/>
            <a:ext cx="226644" cy="226644"/>
          </a:xfrm>
          <a:prstGeom prst="rect">
            <a:avLst/>
          </a:prstGeom>
          <a:solidFill>
            <a:srgbClr val="F2F2F0"/>
          </a:solidFill>
          <a:ln w="6350">
            <a:solidFill>
              <a:srgbClr val="FFFFFF"/>
            </a:solidFill>
            <a:prstDash val="solid"/>
          </a:ln>
        </p:spPr>
      </p:sp>
      <p:sp>
        <p:nvSpPr>
          <p:cNvPr id="159" name="Shape 157"/>
          <p:cNvSpPr/>
          <p:nvPr/>
        </p:nvSpPr>
        <p:spPr>
          <a:xfrm>
            <a:off x="8520989" y="3477997"/>
            <a:ext cx="226644" cy="226644"/>
          </a:xfrm>
          <a:prstGeom prst="rect">
            <a:avLst/>
          </a:prstGeom>
          <a:solidFill>
            <a:srgbClr val="F4F4F2"/>
          </a:solidFill>
          <a:ln w="6350">
            <a:solidFill>
              <a:srgbClr val="FFFFFF"/>
            </a:solidFill>
            <a:prstDash val="solid"/>
          </a:ln>
        </p:spPr>
      </p:sp>
      <p:sp>
        <p:nvSpPr>
          <p:cNvPr id="160" name="Shape 158"/>
          <p:cNvSpPr/>
          <p:nvPr/>
        </p:nvSpPr>
        <p:spPr>
          <a:xfrm>
            <a:off x="8765921" y="3477997"/>
            <a:ext cx="226644" cy="226644"/>
          </a:xfrm>
          <a:prstGeom prst="rect">
            <a:avLst/>
          </a:prstGeom>
          <a:solidFill>
            <a:srgbClr val="F4F4F2"/>
          </a:solidFill>
          <a:ln w="6350">
            <a:solidFill>
              <a:srgbClr val="FFFFFF"/>
            </a:solidFill>
            <a:prstDash val="solid"/>
          </a:ln>
        </p:spPr>
      </p:sp>
      <p:sp>
        <p:nvSpPr>
          <p:cNvPr id="161" name="Shape 159"/>
          <p:cNvSpPr/>
          <p:nvPr/>
        </p:nvSpPr>
        <p:spPr>
          <a:xfrm>
            <a:off x="9010853" y="3477997"/>
            <a:ext cx="226644" cy="226644"/>
          </a:xfrm>
          <a:prstGeom prst="rect">
            <a:avLst/>
          </a:prstGeom>
          <a:solidFill>
            <a:srgbClr val="F3F3F1"/>
          </a:solidFill>
          <a:ln w="6350">
            <a:solidFill>
              <a:srgbClr val="FFFFFF"/>
            </a:solidFill>
            <a:prstDash val="solid"/>
          </a:ln>
        </p:spPr>
      </p:sp>
      <p:sp>
        <p:nvSpPr>
          <p:cNvPr id="162" name="Shape 160"/>
          <p:cNvSpPr/>
          <p:nvPr/>
        </p:nvSpPr>
        <p:spPr>
          <a:xfrm>
            <a:off x="9255785" y="3477997"/>
            <a:ext cx="226644" cy="226644"/>
          </a:xfrm>
          <a:prstGeom prst="rect">
            <a:avLst/>
          </a:prstGeom>
          <a:solidFill>
            <a:srgbClr val="F5F5F3"/>
          </a:solidFill>
          <a:ln w="6350">
            <a:solidFill>
              <a:srgbClr val="FFFFFF"/>
            </a:solidFill>
            <a:prstDash val="solid"/>
          </a:ln>
        </p:spPr>
      </p:sp>
      <p:sp>
        <p:nvSpPr>
          <p:cNvPr id="163" name="Shape 161"/>
          <p:cNvSpPr/>
          <p:nvPr/>
        </p:nvSpPr>
        <p:spPr>
          <a:xfrm>
            <a:off x="9500718" y="3477997"/>
            <a:ext cx="226644" cy="226644"/>
          </a:xfrm>
          <a:prstGeom prst="rect">
            <a:avLst/>
          </a:prstGeom>
          <a:solidFill>
            <a:srgbClr val="F4F4F2"/>
          </a:solidFill>
          <a:ln w="6350">
            <a:solidFill>
              <a:srgbClr val="FFFFFF"/>
            </a:solidFill>
            <a:prstDash val="solid"/>
          </a:ln>
        </p:spPr>
      </p:sp>
      <p:sp>
        <p:nvSpPr>
          <p:cNvPr id="164" name="Shape 162"/>
          <p:cNvSpPr/>
          <p:nvPr/>
        </p:nvSpPr>
        <p:spPr>
          <a:xfrm>
            <a:off x="9745650" y="3477997"/>
            <a:ext cx="226644" cy="226644"/>
          </a:xfrm>
          <a:prstGeom prst="rect">
            <a:avLst/>
          </a:prstGeom>
          <a:solidFill>
            <a:srgbClr val="F4F4F2"/>
          </a:solidFill>
          <a:ln w="6350">
            <a:solidFill>
              <a:srgbClr val="FFFFFF"/>
            </a:solidFill>
            <a:prstDash val="solid"/>
          </a:ln>
        </p:spPr>
      </p:sp>
      <p:sp>
        <p:nvSpPr>
          <p:cNvPr id="165" name="Shape 163"/>
          <p:cNvSpPr/>
          <p:nvPr/>
        </p:nvSpPr>
        <p:spPr>
          <a:xfrm>
            <a:off x="9990582" y="3477997"/>
            <a:ext cx="226644" cy="226644"/>
          </a:xfrm>
          <a:prstGeom prst="rect">
            <a:avLst/>
          </a:prstGeom>
          <a:solidFill>
            <a:srgbClr val="F2F2F0"/>
          </a:solidFill>
          <a:ln w="6350">
            <a:solidFill>
              <a:srgbClr val="FFFFFF"/>
            </a:solidFill>
            <a:prstDash val="solid"/>
          </a:ln>
        </p:spPr>
      </p:sp>
      <p:sp>
        <p:nvSpPr>
          <p:cNvPr id="166" name="Shape 164"/>
          <p:cNvSpPr/>
          <p:nvPr/>
        </p:nvSpPr>
        <p:spPr>
          <a:xfrm>
            <a:off x="10235514" y="3477997"/>
            <a:ext cx="226644" cy="226644"/>
          </a:xfrm>
          <a:prstGeom prst="rect">
            <a:avLst/>
          </a:prstGeom>
          <a:solidFill>
            <a:srgbClr val="F3F3F1"/>
          </a:solidFill>
          <a:ln w="6350">
            <a:solidFill>
              <a:srgbClr val="FFFFFF"/>
            </a:solidFill>
            <a:prstDash val="solid"/>
          </a:ln>
        </p:spPr>
      </p:sp>
      <p:sp>
        <p:nvSpPr>
          <p:cNvPr id="167" name="Shape 165"/>
          <p:cNvSpPr/>
          <p:nvPr/>
        </p:nvSpPr>
        <p:spPr>
          <a:xfrm>
            <a:off x="10480446" y="3477997"/>
            <a:ext cx="226644" cy="226644"/>
          </a:xfrm>
          <a:prstGeom prst="rect">
            <a:avLst/>
          </a:prstGeom>
          <a:solidFill>
            <a:srgbClr val="F4F4F2"/>
          </a:solidFill>
          <a:ln w="6350">
            <a:solidFill>
              <a:srgbClr val="FFFFFF"/>
            </a:solidFill>
            <a:prstDash val="solid"/>
          </a:ln>
        </p:spPr>
      </p:sp>
      <p:sp>
        <p:nvSpPr>
          <p:cNvPr id="168" name="Shape 166"/>
          <p:cNvSpPr/>
          <p:nvPr/>
        </p:nvSpPr>
        <p:spPr>
          <a:xfrm>
            <a:off x="10725379" y="3477997"/>
            <a:ext cx="226644" cy="226644"/>
          </a:xfrm>
          <a:prstGeom prst="rect">
            <a:avLst/>
          </a:prstGeom>
          <a:solidFill>
            <a:srgbClr val="ECECEB"/>
          </a:solidFill>
          <a:ln w="6350">
            <a:solidFill>
              <a:srgbClr val="FFFFFF"/>
            </a:solidFill>
            <a:prstDash val="solid"/>
          </a:ln>
        </p:spPr>
      </p:sp>
      <p:sp>
        <p:nvSpPr>
          <p:cNvPr id="169" name="Shape 167"/>
          <p:cNvSpPr/>
          <p:nvPr/>
        </p:nvSpPr>
        <p:spPr>
          <a:xfrm>
            <a:off x="10970311" y="3477997"/>
            <a:ext cx="226644" cy="226644"/>
          </a:xfrm>
          <a:prstGeom prst="rect">
            <a:avLst/>
          </a:prstGeom>
          <a:solidFill>
            <a:srgbClr val="F4F4F2"/>
          </a:solidFill>
          <a:ln w="6350">
            <a:solidFill>
              <a:srgbClr val="FFFFFF"/>
            </a:solidFill>
            <a:prstDash val="solid"/>
          </a:ln>
        </p:spPr>
      </p:sp>
      <p:sp>
        <p:nvSpPr>
          <p:cNvPr id="170" name="Shape 168"/>
          <p:cNvSpPr/>
          <p:nvPr/>
        </p:nvSpPr>
        <p:spPr>
          <a:xfrm>
            <a:off x="11215243" y="3477997"/>
            <a:ext cx="226644" cy="226644"/>
          </a:xfrm>
          <a:prstGeom prst="rect">
            <a:avLst/>
          </a:prstGeom>
          <a:solidFill>
            <a:srgbClr val="F5F5F3"/>
          </a:solidFill>
          <a:ln w="6350">
            <a:solidFill>
              <a:srgbClr val="FFFFFF"/>
            </a:solidFill>
            <a:prstDash val="solid"/>
          </a:ln>
        </p:spPr>
      </p:sp>
      <p:sp>
        <p:nvSpPr>
          <p:cNvPr id="171" name="Text 169"/>
          <p:cNvSpPr txBox="1"/>
          <p:nvPr/>
        </p:nvSpPr>
        <p:spPr>
          <a:xfrm>
            <a:off x="8520989"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AM</a:t>
            </a:r>
            <a:endParaRPr lang="en-US" sz="850" dirty="0"/>
          </a:p>
        </p:txBody>
      </p:sp>
      <p:sp>
        <p:nvSpPr>
          <p:cNvPr id="172" name="Text 170"/>
          <p:cNvSpPr txBox="1"/>
          <p:nvPr/>
        </p:nvSpPr>
        <p:spPr>
          <a:xfrm>
            <a:off x="9255785"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P2S</a:t>
            </a:r>
            <a:endParaRPr lang="en-US" sz="850" dirty="0"/>
          </a:p>
        </p:txBody>
      </p:sp>
      <p:sp>
        <p:nvSpPr>
          <p:cNvPr id="173" name="Text 171"/>
          <p:cNvSpPr txBox="1"/>
          <p:nvPr/>
        </p:nvSpPr>
        <p:spPr>
          <a:xfrm>
            <a:off x="9990582"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OC</a:t>
            </a:r>
            <a:endParaRPr lang="en-US" sz="850" dirty="0"/>
          </a:p>
        </p:txBody>
      </p:sp>
      <p:sp>
        <p:nvSpPr>
          <p:cNvPr id="174" name="Text 172"/>
          <p:cNvSpPr txBox="1"/>
          <p:nvPr/>
        </p:nvSpPr>
        <p:spPr>
          <a:xfrm>
            <a:off x="10725379" y="3777793"/>
            <a:ext cx="734797" cy="219456"/>
          </a:xfrm>
          <a:prstGeom prst="rect">
            <a:avLst/>
          </a:prstGeom>
          <a:noFill/>
          <a:ln/>
        </p:spPr>
        <p:txBody>
          <a:bodyPr wrap="square" lIns="0" tIns="0" rIns="0" bIns="0" rtlCol="0" anchor="ctr"/>
          <a:lstStyle/>
          <a:p>
            <a:pPr algn="ctr" indent="0" marL="0">
              <a:buNone/>
            </a:pPr>
            <a:r>
              <a:rPr lang="en-US" sz="850" dirty="0">
                <a:solidFill>
                  <a:srgbClr val="BDBDBD"/>
                </a:solidFill>
                <a:latin typeface="Inter" pitchFamily="34" charset="0"/>
                <a:ea typeface="Inter" pitchFamily="34" charset="-122"/>
                <a:cs typeface="Inter" pitchFamily="34" charset="-120"/>
              </a:rPr>
              <a:t>Sig</a:t>
            </a:r>
            <a:endParaRPr lang="en-US" sz="850" dirty="0"/>
          </a:p>
        </p:txBody>
      </p:sp>
      <p:sp>
        <p:nvSpPr>
          <p:cNvPr id="175" name="Text 173"/>
          <p:cNvSpPr txBox="1"/>
          <p:nvPr/>
        </p:nvSpPr>
        <p:spPr>
          <a:xfrm>
            <a:off x="8520989" y="4033825"/>
            <a:ext cx="2939186"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best 0.087 %</a:t>
            </a:r>
            <a:endParaRPr lang="en-US" sz="1300" dirty="0"/>
          </a:p>
        </p:txBody>
      </p:sp>
      <p:sp>
        <p:nvSpPr>
          <p:cNvPr id="176" name="Shape 174"/>
          <p:cNvSpPr/>
          <p:nvPr/>
        </p:nvSpPr>
        <p:spPr>
          <a:xfrm>
            <a:off x="5014874" y="3110598"/>
            <a:ext cx="146304" cy="0"/>
          </a:xfrm>
          <a:prstGeom prst="line">
            <a:avLst/>
          </a:prstGeom>
          <a:noFill/>
          <a:ln w="25400">
            <a:solidFill>
              <a:srgbClr val="8A6D00"/>
            </a:solidFill>
            <a:prstDash val="solid"/>
            <a:headEnd type="triangle"/>
          </a:ln>
        </p:spPr>
      </p:sp>
      <p:sp>
        <p:nvSpPr>
          <p:cNvPr id="177" name="Text 175"/>
          <p:cNvSpPr txBox="1"/>
          <p:nvPr/>
        </p:nvSpPr>
        <p:spPr>
          <a:xfrm>
            <a:off x="731520" y="4381297"/>
            <a:ext cx="10728655" cy="274320"/>
          </a:xfrm>
          <a:prstGeom prst="rect">
            <a:avLst/>
          </a:prstGeom>
          <a:noFill/>
          <a:ln/>
        </p:spPr>
        <p:txBody>
          <a:bodyPr wrap="square" lIns="0" tIns="0" rIns="0" bIns="0" rtlCol="0" anchor="ctr"/>
          <a:lstStyle/>
          <a:p>
            <a:pPr algn="r" indent="0" marL="0">
              <a:buNone/>
            </a:pPr>
            <a:r>
              <a:rPr lang="en-US" sz="1100" dirty="0">
                <a:solidFill>
                  <a:srgbClr val="8A6D00"/>
                </a:solidFill>
                <a:latin typeface="Inter" pitchFamily="34" charset="0"/>
                <a:ea typeface="Inter" pitchFamily="34" charset="-122"/>
                <a:cs typeface="Inter" pitchFamily="34" charset="-120"/>
              </a:rPr>
              <a:t>the Spectrogram row stays bad in both Spanish conditions</a:t>
            </a:r>
            <a:endParaRPr lang="en-US" sz="1100" dirty="0"/>
          </a:p>
        </p:txBody>
      </p:sp>
      <p:sp>
        <p:nvSpPr>
          <p:cNvPr id="178" name="Shape 176"/>
          <p:cNvSpPr/>
          <p:nvPr/>
        </p:nvSpPr>
        <p:spPr>
          <a:xfrm>
            <a:off x="731520" y="4754880"/>
            <a:ext cx="118872" cy="164592"/>
          </a:xfrm>
          <a:prstGeom prst="rect">
            <a:avLst/>
          </a:prstGeom>
          <a:solidFill>
            <a:srgbClr val="F7F7F5"/>
          </a:solidFill>
          <a:ln w="12700">
            <a:solidFill>
              <a:srgbClr val="F7F7F5"/>
            </a:solidFill>
            <a:prstDash val="solid"/>
          </a:ln>
        </p:spPr>
      </p:sp>
      <p:sp>
        <p:nvSpPr>
          <p:cNvPr id="179" name="Shape 177"/>
          <p:cNvSpPr/>
          <p:nvPr/>
        </p:nvSpPr>
        <p:spPr>
          <a:xfrm>
            <a:off x="850392" y="4754880"/>
            <a:ext cx="118872" cy="164592"/>
          </a:xfrm>
          <a:prstGeom prst="rect">
            <a:avLst/>
          </a:prstGeom>
          <a:solidFill>
            <a:srgbClr val="EEEEEC"/>
          </a:solidFill>
          <a:ln w="12700">
            <a:solidFill>
              <a:srgbClr val="EEEEEC"/>
            </a:solidFill>
            <a:prstDash val="solid"/>
          </a:ln>
        </p:spPr>
      </p:sp>
      <p:sp>
        <p:nvSpPr>
          <p:cNvPr id="180" name="Shape 178"/>
          <p:cNvSpPr/>
          <p:nvPr/>
        </p:nvSpPr>
        <p:spPr>
          <a:xfrm>
            <a:off x="969264" y="4754880"/>
            <a:ext cx="118872" cy="164592"/>
          </a:xfrm>
          <a:prstGeom prst="rect">
            <a:avLst/>
          </a:prstGeom>
          <a:solidFill>
            <a:srgbClr val="E6E6E4"/>
          </a:solidFill>
          <a:ln w="12700">
            <a:solidFill>
              <a:srgbClr val="E6E6E4"/>
            </a:solidFill>
            <a:prstDash val="solid"/>
          </a:ln>
        </p:spPr>
      </p:sp>
      <p:sp>
        <p:nvSpPr>
          <p:cNvPr id="181" name="Shape 179"/>
          <p:cNvSpPr/>
          <p:nvPr/>
        </p:nvSpPr>
        <p:spPr>
          <a:xfrm>
            <a:off x="1088136" y="4754880"/>
            <a:ext cx="118872" cy="164592"/>
          </a:xfrm>
          <a:prstGeom prst="rect">
            <a:avLst/>
          </a:prstGeom>
          <a:solidFill>
            <a:srgbClr val="DDDDDB"/>
          </a:solidFill>
          <a:ln w="12700">
            <a:solidFill>
              <a:srgbClr val="DDDDDB"/>
            </a:solidFill>
            <a:prstDash val="solid"/>
          </a:ln>
        </p:spPr>
      </p:sp>
      <p:sp>
        <p:nvSpPr>
          <p:cNvPr id="182" name="Shape 180"/>
          <p:cNvSpPr/>
          <p:nvPr/>
        </p:nvSpPr>
        <p:spPr>
          <a:xfrm>
            <a:off x="1207008" y="4754880"/>
            <a:ext cx="118872" cy="164592"/>
          </a:xfrm>
          <a:prstGeom prst="rect">
            <a:avLst/>
          </a:prstGeom>
          <a:solidFill>
            <a:srgbClr val="D4D4D3"/>
          </a:solidFill>
          <a:ln w="12700">
            <a:solidFill>
              <a:srgbClr val="D4D4D3"/>
            </a:solidFill>
            <a:prstDash val="solid"/>
          </a:ln>
        </p:spPr>
      </p:sp>
      <p:sp>
        <p:nvSpPr>
          <p:cNvPr id="183" name="Shape 181"/>
          <p:cNvSpPr/>
          <p:nvPr/>
        </p:nvSpPr>
        <p:spPr>
          <a:xfrm>
            <a:off x="1325880" y="4754880"/>
            <a:ext cx="118872" cy="164592"/>
          </a:xfrm>
          <a:prstGeom prst="rect">
            <a:avLst/>
          </a:prstGeom>
          <a:solidFill>
            <a:srgbClr val="CCCCCA"/>
          </a:solidFill>
          <a:ln w="12700">
            <a:solidFill>
              <a:srgbClr val="CCCCCA"/>
            </a:solidFill>
            <a:prstDash val="solid"/>
          </a:ln>
        </p:spPr>
      </p:sp>
      <p:sp>
        <p:nvSpPr>
          <p:cNvPr id="184" name="Shape 182"/>
          <p:cNvSpPr/>
          <p:nvPr/>
        </p:nvSpPr>
        <p:spPr>
          <a:xfrm>
            <a:off x="1444752" y="4754880"/>
            <a:ext cx="118872" cy="164592"/>
          </a:xfrm>
          <a:prstGeom prst="rect">
            <a:avLst/>
          </a:prstGeom>
          <a:solidFill>
            <a:srgbClr val="C3C3C1"/>
          </a:solidFill>
          <a:ln w="12700">
            <a:solidFill>
              <a:srgbClr val="C3C3C1"/>
            </a:solidFill>
            <a:prstDash val="solid"/>
          </a:ln>
        </p:spPr>
      </p:sp>
      <p:sp>
        <p:nvSpPr>
          <p:cNvPr id="185" name="Shape 183"/>
          <p:cNvSpPr/>
          <p:nvPr/>
        </p:nvSpPr>
        <p:spPr>
          <a:xfrm>
            <a:off x="1563624" y="4754880"/>
            <a:ext cx="118872" cy="164592"/>
          </a:xfrm>
          <a:prstGeom prst="rect">
            <a:avLst/>
          </a:prstGeom>
          <a:solidFill>
            <a:srgbClr val="BABAB9"/>
          </a:solidFill>
          <a:ln w="12700">
            <a:solidFill>
              <a:srgbClr val="BABAB9"/>
            </a:solidFill>
            <a:prstDash val="solid"/>
          </a:ln>
        </p:spPr>
      </p:sp>
      <p:sp>
        <p:nvSpPr>
          <p:cNvPr id="186" name="Shape 184"/>
          <p:cNvSpPr/>
          <p:nvPr/>
        </p:nvSpPr>
        <p:spPr>
          <a:xfrm>
            <a:off x="1682496" y="4754880"/>
            <a:ext cx="118872" cy="164592"/>
          </a:xfrm>
          <a:prstGeom prst="rect">
            <a:avLst/>
          </a:prstGeom>
          <a:solidFill>
            <a:srgbClr val="B2B2B0"/>
          </a:solidFill>
          <a:ln w="12700">
            <a:solidFill>
              <a:srgbClr val="B2B2B0"/>
            </a:solidFill>
            <a:prstDash val="solid"/>
          </a:ln>
        </p:spPr>
      </p:sp>
      <p:sp>
        <p:nvSpPr>
          <p:cNvPr id="187" name="Shape 185"/>
          <p:cNvSpPr/>
          <p:nvPr/>
        </p:nvSpPr>
        <p:spPr>
          <a:xfrm>
            <a:off x="1801368" y="4754880"/>
            <a:ext cx="118872" cy="164592"/>
          </a:xfrm>
          <a:prstGeom prst="rect">
            <a:avLst/>
          </a:prstGeom>
          <a:solidFill>
            <a:srgbClr val="A9A9A8"/>
          </a:solidFill>
          <a:ln w="12700">
            <a:solidFill>
              <a:srgbClr val="A9A9A8"/>
            </a:solidFill>
            <a:prstDash val="solid"/>
          </a:ln>
        </p:spPr>
      </p:sp>
      <p:sp>
        <p:nvSpPr>
          <p:cNvPr id="188" name="Shape 186"/>
          <p:cNvSpPr/>
          <p:nvPr/>
        </p:nvSpPr>
        <p:spPr>
          <a:xfrm>
            <a:off x="1920240" y="4754880"/>
            <a:ext cx="118872" cy="164592"/>
          </a:xfrm>
          <a:prstGeom prst="rect">
            <a:avLst/>
          </a:prstGeom>
          <a:solidFill>
            <a:srgbClr val="A0A09F"/>
          </a:solidFill>
          <a:ln w="12700">
            <a:solidFill>
              <a:srgbClr val="A0A09F"/>
            </a:solidFill>
            <a:prstDash val="solid"/>
          </a:ln>
        </p:spPr>
      </p:sp>
      <p:sp>
        <p:nvSpPr>
          <p:cNvPr id="189" name="Shape 187"/>
          <p:cNvSpPr/>
          <p:nvPr/>
        </p:nvSpPr>
        <p:spPr>
          <a:xfrm>
            <a:off x="2039112" y="4754880"/>
            <a:ext cx="118872" cy="164592"/>
          </a:xfrm>
          <a:prstGeom prst="rect">
            <a:avLst/>
          </a:prstGeom>
          <a:solidFill>
            <a:srgbClr val="989896"/>
          </a:solidFill>
          <a:ln w="12700">
            <a:solidFill>
              <a:srgbClr val="989896"/>
            </a:solidFill>
            <a:prstDash val="solid"/>
          </a:ln>
        </p:spPr>
      </p:sp>
      <p:sp>
        <p:nvSpPr>
          <p:cNvPr id="190" name="Shape 188"/>
          <p:cNvSpPr/>
          <p:nvPr/>
        </p:nvSpPr>
        <p:spPr>
          <a:xfrm>
            <a:off x="2157984" y="4754880"/>
            <a:ext cx="118872" cy="164592"/>
          </a:xfrm>
          <a:prstGeom prst="rect">
            <a:avLst/>
          </a:prstGeom>
          <a:solidFill>
            <a:srgbClr val="8F8F8E"/>
          </a:solidFill>
          <a:ln w="12700">
            <a:solidFill>
              <a:srgbClr val="8F8F8E"/>
            </a:solidFill>
            <a:prstDash val="solid"/>
          </a:ln>
        </p:spPr>
      </p:sp>
      <p:sp>
        <p:nvSpPr>
          <p:cNvPr id="191" name="Shape 189"/>
          <p:cNvSpPr/>
          <p:nvPr/>
        </p:nvSpPr>
        <p:spPr>
          <a:xfrm>
            <a:off x="2276856" y="4754880"/>
            <a:ext cx="118872" cy="164592"/>
          </a:xfrm>
          <a:prstGeom prst="rect">
            <a:avLst/>
          </a:prstGeom>
          <a:solidFill>
            <a:srgbClr val="868685"/>
          </a:solidFill>
          <a:ln w="12700">
            <a:solidFill>
              <a:srgbClr val="868685"/>
            </a:solidFill>
            <a:prstDash val="solid"/>
          </a:ln>
        </p:spPr>
      </p:sp>
      <p:sp>
        <p:nvSpPr>
          <p:cNvPr id="192" name="Shape 190"/>
          <p:cNvSpPr/>
          <p:nvPr/>
        </p:nvSpPr>
        <p:spPr>
          <a:xfrm>
            <a:off x="2395728" y="4754880"/>
            <a:ext cx="118872" cy="164592"/>
          </a:xfrm>
          <a:prstGeom prst="rect">
            <a:avLst/>
          </a:prstGeom>
          <a:solidFill>
            <a:srgbClr val="7E7E7D"/>
          </a:solidFill>
          <a:ln w="12700">
            <a:solidFill>
              <a:srgbClr val="7E7E7D"/>
            </a:solidFill>
            <a:prstDash val="solid"/>
          </a:ln>
        </p:spPr>
      </p:sp>
      <p:sp>
        <p:nvSpPr>
          <p:cNvPr id="193" name="Shape 191"/>
          <p:cNvSpPr/>
          <p:nvPr/>
        </p:nvSpPr>
        <p:spPr>
          <a:xfrm>
            <a:off x="2514600" y="4754880"/>
            <a:ext cx="118872" cy="164592"/>
          </a:xfrm>
          <a:prstGeom prst="rect">
            <a:avLst/>
          </a:prstGeom>
          <a:solidFill>
            <a:srgbClr val="757574"/>
          </a:solidFill>
          <a:ln w="12700">
            <a:solidFill>
              <a:srgbClr val="757574"/>
            </a:solidFill>
            <a:prstDash val="solid"/>
          </a:ln>
        </p:spPr>
      </p:sp>
      <p:sp>
        <p:nvSpPr>
          <p:cNvPr id="194" name="Shape 192"/>
          <p:cNvSpPr/>
          <p:nvPr/>
        </p:nvSpPr>
        <p:spPr>
          <a:xfrm>
            <a:off x="2633472" y="4754880"/>
            <a:ext cx="118872" cy="164592"/>
          </a:xfrm>
          <a:prstGeom prst="rect">
            <a:avLst/>
          </a:prstGeom>
          <a:solidFill>
            <a:srgbClr val="6C6C6C"/>
          </a:solidFill>
          <a:ln w="12700">
            <a:solidFill>
              <a:srgbClr val="6C6C6C"/>
            </a:solidFill>
            <a:prstDash val="solid"/>
          </a:ln>
        </p:spPr>
      </p:sp>
      <p:sp>
        <p:nvSpPr>
          <p:cNvPr id="195" name="Shape 193"/>
          <p:cNvSpPr/>
          <p:nvPr/>
        </p:nvSpPr>
        <p:spPr>
          <a:xfrm>
            <a:off x="2752344" y="4754880"/>
            <a:ext cx="118872" cy="164592"/>
          </a:xfrm>
          <a:prstGeom prst="rect">
            <a:avLst/>
          </a:prstGeom>
          <a:solidFill>
            <a:srgbClr val="646463"/>
          </a:solidFill>
          <a:ln w="12700">
            <a:solidFill>
              <a:srgbClr val="646463"/>
            </a:solidFill>
            <a:prstDash val="solid"/>
          </a:ln>
        </p:spPr>
      </p:sp>
      <p:sp>
        <p:nvSpPr>
          <p:cNvPr id="196" name="Shape 194"/>
          <p:cNvSpPr/>
          <p:nvPr/>
        </p:nvSpPr>
        <p:spPr>
          <a:xfrm>
            <a:off x="2871216" y="4754880"/>
            <a:ext cx="118872" cy="164592"/>
          </a:xfrm>
          <a:prstGeom prst="rect">
            <a:avLst/>
          </a:prstGeom>
          <a:solidFill>
            <a:srgbClr val="5B5B5A"/>
          </a:solidFill>
          <a:ln w="12700">
            <a:solidFill>
              <a:srgbClr val="5B5B5A"/>
            </a:solidFill>
            <a:prstDash val="solid"/>
          </a:ln>
        </p:spPr>
      </p:sp>
      <p:sp>
        <p:nvSpPr>
          <p:cNvPr id="197" name="Shape 195"/>
          <p:cNvSpPr/>
          <p:nvPr/>
        </p:nvSpPr>
        <p:spPr>
          <a:xfrm>
            <a:off x="2990088" y="4754880"/>
            <a:ext cx="118872" cy="164592"/>
          </a:xfrm>
          <a:prstGeom prst="rect">
            <a:avLst/>
          </a:prstGeom>
          <a:solidFill>
            <a:srgbClr val="525252"/>
          </a:solidFill>
          <a:ln w="12700">
            <a:solidFill>
              <a:srgbClr val="525252"/>
            </a:solidFill>
            <a:prstDash val="solid"/>
          </a:ln>
        </p:spPr>
      </p:sp>
      <p:sp>
        <p:nvSpPr>
          <p:cNvPr id="198" name="Shape 196"/>
          <p:cNvSpPr/>
          <p:nvPr/>
        </p:nvSpPr>
        <p:spPr>
          <a:xfrm>
            <a:off x="3108960" y="4754880"/>
            <a:ext cx="118872" cy="164592"/>
          </a:xfrm>
          <a:prstGeom prst="rect">
            <a:avLst/>
          </a:prstGeom>
          <a:solidFill>
            <a:srgbClr val="4A4A49"/>
          </a:solidFill>
          <a:ln w="12700">
            <a:solidFill>
              <a:srgbClr val="4A4A49"/>
            </a:solidFill>
            <a:prstDash val="solid"/>
          </a:ln>
        </p:spPr>
      </p:sp>
      <p:sp>
        <p:nvSpPr>
          <p:cNvPr id="199" name="Shape 197"/>
          <p:cNvSpPr/>
          <p:nvPr/>
        </p:nvSpPr>
        <p:spPr>
          <a:xfrm>
            <a:off x="3227832" y="4754880"/>
            <a:ext cx="118872" cy="164592"/>
          </a:xfrm>
          <a:prstGeom prst="rect">
            <a:avLst/>
          </a:prstGeom>
          <a:solidFill>
            <a:srgbClr val="414141"/>
          </a:solidFill>
          <a:ln w="12700">
            <a:solidFill>
              <a:srgbClr val="414141"/>
            </a:solidFill>
            <a:prstDash val="solid"/>
          </a:ln>
        </p:spPr>
      </p:sp>
      <p:sp>
        <p:nvSpPr>
          <p:cNvPr id="200" name="Shape 198"/>
          <p:cNvSpPr/>
          <p:nvPr/>
        </p:nvSpPr>
        <p:spPr>
          <a:xfrm>
            <a:off x="3346704" y="4754880"/>
            <a:ext cx="118872" cy="164592"/>
          </a:xfrm>
          <a:prstGeom prst="rect">
            <a:avLst/>
          </a:prstGeom>
          <a:solidFill>
            <a:srgbClr val="383838"/>
          </a:solidFill>
          <a:ln w="12700">
            <a:solidFill>
              <a:srgbClr val="383838"/>
            </a:solidFill>
            <a:prstDash val="solid"/>
          </a:ln>
        </p:spPr>
      </p:sp>
      <p:sp>
        <p:nvSpPr>
          <p:cNvPr id="201" name="Shape 199"/>
          <p:cNvSpPr/>
          <p:nvPr/>
        </p:nvSpPr>
        <p:spPr>
          <a:xfrm>
            <a:off x="3465576" y="4754880"/>
            <a:ext cx="118872" cy="164592"/>
          </a:xfrm>
          <a:prstGeom prst="rect">
            <a:avLst/>
          </a:prstGeom>
          <a:solidFill>
            <a:srgbClr val="30302F"/>
          </a:solidFill>
          <a:ln w="12700">
            <a:solidFill>
              <a:srgbClr val="30302F"/>
            </a:solidFill>
            <a:prstDash val="solid"/>
          </a:ln>
        </p:spPr>
      </p:sp>
      <p:sp>
        <p:nvSpPr>
          <p:cNvPr id="202" name="Shape 200"/>
          <p:cNvSpPr/>
          <p:nvPr/>
        </p:nvSpPr>
        <p:spPr>
          <a:xfrm>
            <a:off x="3584448" y="4754880"/>
            <a:ext cx="118872" cy="164592"/>
          </a:xfrm>
          <a:prstGeom prst="rect">
            <a:avLst/>
          </a:prstGeom>
          <a:solidFill>
            <a:srgbClr val="272727"/>
          </a:solidFill>
          <a:ln w="12700">
            <a:solidFill>
              <a:srgbClr val="272727"/>
            </a:solidFill>
            <a:prstDash val="solid"/>
          </a:ln>
        </p:spPr>
      </p:sp>
      <p:sp>
        <p:nvSpPr>
          <p:cNvPr id="203" name="Shape 201"/>
          <p:cNvSpPr/>
          <p:nvPr/>
        </p:nvSpPr>
        <p:spPr>
          <a:xfrm>
            <a:off x="3703320" y="4754880"/>
            <a:ext cx="118872" cy="164592"/>
          </a:xfrm>
          <a:prstGeom prst="rect">
            <a:avLst/>
          </a:prstGeom>
          <a:solidFill>
            <a:srgbClr val="1E1E1E"/>
          </a:solidFill>
          <a:ln w="12700">
            <a:solidFill>
              <a:srgbClr val="1E1E1E"/>
            </a:solidFill>
            <a:prstDash val="solid"/>
          </a:ln>
        </p:spPr>
      </p:sp>
      <p:sp>
        <p:nvSpPr>
          <p:cNvPr id="204" name="Shape 202"/>
          <p:cNvSpPr/>
          <p:nvPr/>
        </p:nvSpPr>
        <p:spPr>
          <a:xfrm>
            <a:off x="3822192" y="4754880"/>
            <a:ext cx="118872" cy="164592"/>
          </a:xfrm>
          <a:prstGeom prst="rect">
            <a:avLst/>
          </a:prstGeom>
          <a:solidFill>
            <a:srgbClr val="161616"/>
          </a:solidFill>
          <a:ln w="12700">
            <a:solidFill>
              <a:srgbClr val="161616"/>
            </a:solidFill>
            <a:prstDash val="solid"/>
          </a:ln>
        </p:spPr>
      </p:sp>
      <p:sp>
        <p:nvSpPr>
          <p:cNvPr id="205" name="Shape 203"/>
          <p:cNvSpPr/>
          <p:nvPr/>
        </p:nvSpPr>
        <p:spPr>
          <a:xfrm>
            <a:off x="3941064" y="4754880"/>
            <a:ext cx="118872" cy="164592"/>
          </a:xfrm>
          <a:prstGeom prst="rect">
            <a:avLst/>
          </a:prstGeom>
          <a:solidFill>
            <a:srgbClr val="0D0D0D"/>
          </a:solidFill>
          <a:ln w="12700">
            <a:solidFill>
              <a:srgbClr val="0D0D0D"/>
            </a:solidFill>
            <a:prstDash val="solid"/>
          </a:ln>
        </p:spPr>
      </p:sp>
      <p:sp>
        <p:nvSpPr>
          <p:cNvPr id="206" name="Text 204"/>
          <p:cNvSpPr txBox="1"/>
          <p:nvPr/>
        </p:nvSpPr>
        <p:spPr>
          <a:xfrm>
            <a:off x="685800" y="4946904"/>
            <a:ext cx="548640" cy="219456"/>
          </a:xfrm>
          <a:prstGeom prst="rect">
            <a:avLst/>
          </a:prstGeom>
          <a:noFill/>
          <a:ln/>
        </p:spPr>
        <p:txBody>
          <a:bodyPr wrap="square" lIns="0" tIns="0" rIns="0" bIns="0" rtlCol="0" anchor="ctr"/>
          <a:lstStyle/>
          <a:p>
            <a:pPr indent="0" marL="0">
              <a:buNone/>
            </a:pPr>
            <a:r>
              <a:rPr lang="en-US" sz="900" dirty="0">
                <a:solidFill>
                  <a:srgbClr val="8C8C8C"/>
                </a:solidFill>
                <a:latin typeface="Consolas" pitchFamily="34" charset="0"/>
                <a:ea typeface="Consolas" pitchFamily="34" charset="-122"/>
                <a:cs typeface="Consolas" pitchFamily="34" charset="-120"/>
              </a:rPr>
              <a:t>0 %</a:t>
            </a:r>
            <a:endParaRPr lang="en-US" sz="900" dirty="0"/>
          </a:p>
        </p:txBody>
      </p:sp>
      <p:sp>
        <p:nvSpPr>
          <p:cNvPr id="207" name="Text 205"/>
          <p:cNvSpPr txBox="1"/>
          <p:nvPr/>
        </p:nvSpPr>
        <p:spPr>
          <a:xfrm>
            <a:off x="3474720" y="4946904"/>
            <a:ext cx="731520" cy="219456"/>
          </a:xfrm>
          <a:prstGeom prst="rect">
            <a:avLst/>
          </a:prstGeom>
          <a:noFill/>
          <a:ln/>
        </p:spPr>
        <p:txBody>
          <a:bodyPr wrap="square" lIns="0" tIns="0" rIns="0" bIns="0" rtlCol="0" anchor="ctr"/>
          <a:lstStyle/>
          <a:p>
            <a:pPr indent="0" marL="0">
              <a:buNone/>
            </a:pPr>
            <a:r>
              <a:rPr lang="en-US" sz="900" dirty="0">
                <a:solidFill>
                  <a:srgbClr val="8C8C8C"/>
                </a:solidFill>
                <a:latin typeface="Consolas" pitchFamily="34" charset="0"/>
                <a:ea typeface="Consolas" pitchFamily="34" charset="-122"/>
                <a:cs typeface="Consolas" pitchFamily="34" charset="-120"/>
              </a:rPr>
              <a:t>21 %</a:t>
            </a:r>
            <a:endParaRPr lang="en-US" sz="900" dirty="0"/>
          </a:p>
        </p:txBody>
      </p:sp>
      <p:sp>
        <p:nvSpPr>
          <p:cNvPr id="208" name="Text 206"/>
          <p:cNvSpPr txBox="1"/>
          <p:nvPr/>
        </p:nvSpPr>
        <p:spPr>
          <a:xfrm>
            <a:off x="4663440" y="4736592"/>
            <a:ext cx="6796735" cy="502920"/>
          </a:xfrm>
          <a:prstGeom prst="rect">
            <a:avLst/>
          </a:prstGeom>
          <a:noFill/>
          <a:ln/>
        </p:spPr>
        <p:txBody>
          <a:bodyPr wrap="square" lIns="0" tIns="0" rIns="0" bIns="0" rtlCol="0" anchor="ctr"/>
          <a:lstStyle/>
          <a:p>
            <a:pPr indent="0" marL="0">
              <a:lnSpc>
                <a:spcPct val="125000"/>
              </a:lnSpc>
              <a:buNone/>
            </a:pPr>
            <a:r>
              <a:rPr lang="en-US" sz="1050" dirty="0">
                <a:solidFill>
                  <a:srgbClr val="3F3F3F"/>
                </a:solidFill>
                <a:latin typeface="Inter" pitchFamily="34" charset="0"/>
                <a:ea typeface="Inter" pitchFamily="34" charset="-122"/>
                <a:cs typeface="Inter" pitchFamily="34" charset="-120"/>
              </a:rPr>
              <a:t>EER — darker is worse.  Each square is one architecture: 4 feature extractors × 3 classifier variants × 4 loss functions (AM-softmax, OC-softmax, P2S-Grad, Sigmoid).</a:t>
            </a:r>
            <a:endParaRPr lang="en-US" sz="1050" dirty="0"/>
          </a:p>
        </p:txBody>
      </p:sp>
      <p:sp>
        <p:nvSpPr>
          <p:cNvPr id="209" name="Text 207"/>
          <p:cNvSpPr txBox="1"/>
          <p:nvPr/>
        </p:nvSpPr>
        <p:spPr>
          <a:xfrm>
            <a:off x="731520" y="5413248"/>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When the training language matches the test language, everything works.</a:t>
            </a:r>
            <a:pPr indent="0" marL="0">
              <a:buNone/>
            </a:pPr>
            <a:r>
              <a:rPr lang="en-US" sz="1500" dirty="0">
                <a:solidFill>
                  <a:srgbClr val="8C8C8C"/>
                </a:solidFill>
                <a:latin typeface="Inter" pitchFamily="34" charset="0"/>
                <a:ea typeface="Inter" pitchFamily="34" charset="-122"/>
                <a:cs typeface="Inter" pitchFamily="34" charset="-120"/>
              </a:rPr>
              <a:t> No single architecture wins: the top eight are statistically tied.</a:t>
            </a:r>
            <a:endParaRPr lang="en-US" sz="1500" dirty="0"/>
          </a:p>
        </p:txBody>
      </p:sp>
      <p:sp>
        <p:nvSpPr>
          <p:cNvPr id="210" name="Text 208"/>
          <p:cNvSpPr txBox="1"/>
          <p:nvPr/>
        </p:nvSpPr>
        <p:spPr>
          <a:xfrm>
            <a:off x="731520" y="598932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Tables 5, 7 and 8 — mean EER (%) over six seeds. Top eight on English: seed-matched Wilcoxon p &gt; 0.31, Cohen’s d = 0.22. Merged training is joint, not fine-tuning.</a:t>
            </a:r>
            <a:endParaRPr lang="en-US" sz="900" dirty="0"/>
          </a:p>
        </p:txBody>
      </p:sp>
      <p:pic>
        <p:nvPicPr>
          <p:cNvPr id="211"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212" name="Text 209"/>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213" name="Text 210"/>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COLLAPSE  ·  ALL 48 DETECTORS TRAINED ON ENGLISH</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Same models.</a:t>
            </a:r>
            <a:pPr indent="0" marL="0">
              <a:buNone/>
            </a:pPr>
            <a:r>
              <a:rPr lang="en-US" sz="3400" b="1" dirty="0">
                <a:solidFill>
                  <a:srgbClr val="BDBDBD"/>
                </a:solidFill>
                <a:latin typeface="Inter" pitchFamily="34" charset="0"/>
                <a:ea typeface="Inter" pitchFamily="34" charset="-122"/>
                <a:cs typeface="Inter" pitchFamily="34" charset="-120"/>
              </a:rPr>
              <a:t> We only changed the test language.</a:t>
            </a:r>
            <a:endParaRPr lang="en-US" sz="3400" dirty="0"/>
          </a:p>
        </p:txBody>
      </p:sp>
      <p:sp>
        <p:nvSpPr>
          <p:cNvPr id="4" name="Shape 2"/>
          <p:cNvSpPr/>
          <p:nvPr/>
        </p:nvSpPr>
        <p:spPr>
          <a:xfrm>
            <a:off x="3108960" y="2148840"/>
            <a:ext cx="0" cy="2990088"/>
          </a:xfrm>
          <a:prstGeom prst="line">
            <a:avLst/>
          </a:prstGeom>
          <a:noFill/>
          <a:ln w="12700">
            <a:solidFill>
              <a:srgbClr val="F0F0EE"/>
            </a:solidFill>
            <a:prstDash val="solid"/>
          </a:ln>
        </p:spPr>
      </p:sp>
      <p:sp>
        <p:nvSpPr>
          <p:cNvPr id="5" name="Shape 3"/>
          <p:cNvSpPr/>
          <p:nvPr/>
        </p:nvSpPr>
        <p:spPr>
          <a:xfrm>
            <a:off x="4262802" y="2148840"/>
            <a:ext cx="0" cy="2990088"/>
          </a:xfrm>
          <a:prstGeom prst="line">
            <a:avLst/>
          </a:prstGeom>
          <a:noFill/>
          <a:ln w="12700">
            <a:solidFill>
              <a:srgbClr val="F0F0EE"/>
            </a:solidFill>
            <a:prstDash val="solid"/>
          </a:ln>
        </p:spPr>
      </p:sp>
      <p:sp>
        <p:nvSpPr>
          <p:cNvPr id="6" name="Shape 4"/>
          <p:cNvSpPr/>
          <p:nvPr/>
        </p:nvSpPr>
        <p:spPr>
          <a:xfrm>
            <a:off x="5416644" y="2148840"/>
            <a:ext cx="0" cy="2990088"/>
          </a:xfrm>
          <a:prstGeom prst="line">
            <a:avLst/>
          </a:prstGeom>
          <a:noFill/>
          <a:ln w="12700">
            <a:solidFill>
              <a:srgbClr val="F0F0EE"/>
            </a:solidFill>
            <a:prstDash val="solid"/>
          </a:ln>
        </p:spPr>
      </p:sp>
      <p:sp>
        <p:nvSpPr>
          <p:cNvPr id="7" name="Shape 5"/>
          <p:cNvSpPr/>
          <p:nvPr/>
        </p:nvSpPr>
        <p:spPr>
          <a:xfrm>
            <a:off x="6570487" y="2148840"/>
            <a:ext cx="0" cy="2990088"/>
          </a:xfrm>
          <a:prstGeom prst="line">
            <a:avLst/>
          </a:prstGeom>
          <a:noFill/>
          <a:ln w="12700">
            <a:solidFill>
              <a:srgbClr val="F0F0EE"/>
            </a:solidFill>
            <a:prstDash val="solid"/>
          </a:ln>
        </p:spPr>
      </p:sp>
      <p:sp>
        <p:nvSpPr>
          <p:cNvPr id="8" name="Shape 6"/>
          <p:cNvSpPr/>
          <p:nvPr/>
        </p:nvSpPr>
        <p:spPr>
          <a:xfrm>
            <a:off x="7724329" y="2148840"/>
            <a:ext cx="0" cy="2990088"/>
          </a:xfrm>
          <a:prstGeom prst="line">
            <a:avLst/>
          </a:prstGeom>
          <a:noFill/>
          <a:ln w="12700">
            <a:solidFill>
              <a:srgbClr val="F0F0EE"/>
            </a:solidFill>
            <a:prstDash val="solid"/>
          </a:ln>
        </p:spPr>
      </p:sp>
      <p:sp>
        <p:nvSpPr>
          <p:cNvPr id="9" name="Shape 7"/>
          <p:cNvSpPr/>
          <p:nvPr/>
        </p:nvSpPr>
        <p:spPr>
          <a:xfrm>
            <a:off x="8878171" y="2148840"/>
            <a:ext cx="0" cy="2990088"/>
          </a:xfrm>
          <a:prstGeom prst="line">
            <a:avLst/>
          </a:prstGeom>
          <a:noFill/>
          <a:ln w="12700">
            <a:solidFill>
              <a:srgbClr val="F0F0EE"/>
            </a:solidFill>
            <a:prstDash val="solid"/>
          </a:ln>
        </p:spPr>
      </p:sp>
      <p:sp>
        <p:nvSpPr>
          <p:cNvPr id="10" name="Shape 8"/>
          <p:cNvSpPr/>
          <p:nvPr/>
        </p:nvSpPr>
        <p:spPr>
          <a:xfrm>
            <a:off x="10032013" y="2148840"/>
            <a:ext cx="0" cy="2990088"/>
          </a:xfrm>
          <a:prstGeom prst="line">
            <a:avLst/>
          </a:prstGeom>
          <a:noFill/>
          <a:ln w="12700">
            <a:solidFill>
              <a:srgbClr val="F0F0EE"/>
            </a:solidFill>
            <a:prstDash val="solid"/>
          </a:ln>
        </p:spPr>
      </p:sp>
      <p:sp>
        <p:nvSpPr>
          <p:cNvPr id="11" name="Shape 9"/>
          <p:cNvSpPr/>
          <p:nvPr/>
        </p:nvSpPr>
        <p:spPr>
          <a:xfrm>
            <a:off x="11185855" y="2148840"/>
            <a:ext cx="0" cy="2990088"/>
          </a:xfrm>
          <a:prstGeom prst="line">
            <a:avLst/>
          </a:prstGeom>
          <a:noFill/>
          <a:ln w="12700">
            <a:solidFill>
              <a:srgbClr val="F0F0EE"/>
            </a:solidFill>
            <a:prstDash val="solid"/>
          </a:ln>
        </p:spPr>
      </p:sp>
      <p:sp>
        <p:nvSpPr>
          <p:cNvPr id="12" name="Shape 10"/>
          <p:cNvSpPr/>
          <p:nvPr/>
        </p:nvSpPr>
        <p:spPr>
          <a:xfrm>
            <a:off x="8878171" y="2148840"/>
            <a:ext cx="0" cy="2990088"/>
          </a:xfrm>
          <a:prstGeom prst="line">
            <a:avLst/>
          </a:prstGeom>
          <a:noFill/>
          <a:ln w="15875">
            <a:solidFill>
              <a:srgbClr val="3F3F3F"/>
            </a:solidFill>
            <a:prstDash val="dash"/>
          </a:ln>
        </p:spPr>
      </p:sp>
      <p:sp>
        <p:nvSpPr>
          <p:cNvPr id="13" name="Text 11"/>
          <p:cNvSpPr txBox="1"/>
          <p:nvPr/>
        </p:nvSpPr>
        <p:spPr>
          <a:xfrm>
            <a:off x="7506571" y="1883664"/>
            <a:ext cx="2743200" cy="237744"/>
          </a:xfrm>
          <a:prstGeom prst="rect">
            <a:avLst/>
          </a:prstGeom>
          <a:noFill/>
          <a:ln/>
        </p:spPr>
        <p:txBody>
          <a:bodyPr wrap="square" lIns="0" tIns="0" rIns="0" bIns="0" rtlCol="0" anchor="ctr"/>
          <a:lstStyle/>
          <a:p>
            <a:pPr algn="ctr" indent="0" marL="0">
              <a:buNone/>
            </a:pPr>
            <a:r>
              <a:rPr lang="en-US" sz="1000" b="1" dirty="0">
                <a:solidFill>
                  <a:srgbClr val="3F3F3F"/>
                </a:solidFill>
                <a:latin typeface="Inter" pitchFamily="34" charset="0"/>
                <a:ea typeface="Inter" pitchFamily="34" charset="-122"/>
                <a:cs typeface="Inter" pitchFamily="34" charset="-120"/>
              </a:rPr>
              <a:t>50 % = a coin flip</a:t>
            </a:r>
            <a:endParaRPr lang="en-US" sz="1000" dirty="0"/>
          </a:p>
        </p:txBody>
      </p:sp>
      <p:sp>
        <p:nvSpPr>
          <p:cNvPr id="14" name="Text 12"/>
          <p:cNvSpPr txBox="1"/>
          <p:nvPr/>
        </p:nvSpPr>
        <p:spPr>
          <a:xfrm>
            <a:off x="731520" y="2478024"/>
            <a:ext cx="2194560" cy="274320"/>
          </a:xfrm>
          <a:prstGeom prst="rect">
            <a:avLst/>
          </a:prstGeom>
          <a:noFill/>
          <a:ln/>
        </p:spPr>
        <p:txBody>
          <a:bodyPr wrap="square" lIns="0" tIns="0" rIns="0" bIns="0" rtlCol="0" anchor="ctr"/>
          <a:lstStyle/>
          <a:p>
            <a:pPr indent="0" marL="0">
              <a:buNone/>
            </a:pPr>
            <a:r>
              <a:rPr lang="en-US" sz="1100" b="1" spc="120" kern="0" dirty="0">
                <a:solidFill>
                  <a:srgbClr val="0D0D0D"/>
                </a:solidFill>
                <a:latin typeface="Inter" pitchFamily="34" charset="0"/>
                <a:ea typeface="Inter" pitchFamily="34" charset="-122"/>
                <a:cs typeface="Inter" pitchFamily="34" charset="-120"/>
              </a:rPr>
              <a:t>TESTED ON ENGLISH</a:t>
            </a:r>
            <a:endParaRPr lang="en-US" sz="1100" dirty="0"/>
          </a:p>
        </p:txBody>
      </p:sp>
      <p:sp>
        <p:nvSpPr>
          <p:cNvPr id="15" name="Text 13"/>
          <p:cNvSpPr txBox="1"/>
          <p:nvPr/>
        </p:nvSpPr>
        <p:spPr>
          <a:xfrm>
            <a:off x="731520" y="2752344"/>
            <a:ext cx="2194560" cy="274320"/>
          </a:xfrm>
          <a:prstGeom prst="rect">
            <a:avLst/>
          </a:prstGeom>
          <a:noFill/>
          <a:ln/>
        </p:spPr>
        <p:txBody>
          <a:bodyPr wrap="square" lIns="0" tIns="0" rIns="0" bIns="0" rtlCol="0" anchor="ctr"/>
          <a:lstStyle/>
          <a:p>
            <a:pPr indent="0" marL="0">
              <a:buNone/>
            </a:pPr>
            <a:r>
              <a:rPr lang="en-US" sz="1100" i="1" dirty="0">
                <a:solidFill>
                  <a:srgbClr val="8C8C8C"/>
                </a:solidFill>
                <a:latin typeface="Inter" pitchFamily="34" charset="0"/>
                <a:ea typeface="Inter" pitchFamily="34" charset="-122"/>
                <a:cs typeface="Inter" pitchFamily="34" charset="-120"/>
              </a:rPr>
              <a:t>they work</a:t>
            </a:r>
            <a:endParaRPr lang="en-US" sz="1100" dirty="0"/>
          </a:p>
        </p:txBody>
      </p:sp>
      <p:sp>
        <p:nvSpPr>
          <p:cNvPr id="16" name="Shape 14"/>
          <p:cNvSpPr/>
          <p:nvPr/>
        </p:nvSpPr>
        <p:spPr>
          <a:xfrm>
            <a:off x="3417036" y="2532888"/>
            <a:ext cx="624229" cy="457200"/>
          </a:xfrm>
          <a:prstGeom prst="rect">
            <a:avLst/>
          </a:prstGeom>
          <a:solidFill>
            <a:srgbClr val="0D0D0D"/>
          </a:solidFill>
          <a:ln w="12700">
            <a:solidFill>
              <a:srgbClr val="0D0D0D"/>
            </a:solidFill>
            <a:prstDash val="solid"/>
          </a:ln>
        </p:spPr>
      </p:sp>
      <p:sp>
        <p:nvSpPr>
          <p:cNvPr id="17" name="Text 15"/>
          <p:cNvSpPr txBox="1"/>
          <p:nvPr/>
        </p:nvSpPr>
        <p:spPr>
          <a:xfrm>
            <a:off x="4187568" y="2569464"/>
            <a:ext cx="2377440" cy="38404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2.67 – 8.08 %</a:t>
            </a:r>
            <a:endParaRPr lang="en-US" sz="1600" dirty="0"/>
          </a:p>
        </p:txBody>
      </p:sp>
      <p:sp>
        <p:nvSpPr>
          <p:cNvPr id="18" name="Text 16"/>
          <p:cNvSpPr txBox="1"/>
          <p:nvPr/>
        </p:nvSpPr>
        <p:spPr>
          <a:xfrm>
            <a:off x="731520" y="4032504"/>
            <a:ext cx="2194560" cy="274320"/>
          </a:xfrm>
          <a:prstGeom prst="rect">
            <a:avLst/>
          </a:prstGeom>
          <a:noFill/>
          <a:ln/>
        </p:spPr>
        <p:txBody>
          <a:bodyPr wrap="square" lIns="0" tIns="0" rIns="0" bIns="0" rtlCol="0" anchor="ctr"/>
          <a:lstStyle/>
          <a:p>
            <a:pPr indent="0" marL="0">
              <a:buNone/>
            </a:pPr>
            <a:r>
              <a:rPr lang="en-US" sz="1100" b="1" spc="120" kern="0" dirty="0">
                <a:solidFill>
                  <a:srgbClr val="0D0D0D"/>
                </a:solidFill>
                <a:latin typeface="Inter" pitchFamily="34" charset="0"/>
                <a:ea typeface="Inter" pitchFamily="34" charset="-122"/>
                <a:cs typeface="Inter" pitchFamily="34" charset="-120"/>
              </a:rPr>
              <a:t>TESTED ON SPANISH</a:t>
            </a:r>
            <a:endParaRPr lang="en-US" sz="1100" dirty="0"/>
          </a:p>
        </p:txBody>
      </p:sp>
      <p:sp>
        <p:nvSpPr>
          <p:cNvPr id="19" name="Text 17"/>
          <p:cNvSpPr txBox="1"/>
          <p:nvPr/>
        </p:nvSpPr>
        <p:spPr>
          <a:xfrm>
            <a:off x="731520" y="4306824"/>
            <a:ext cx="2194560" cy="274320"/>
          </a:xfrm>
          <a:prstGeom prst="rect">
            <a:avLst/>
          </a:prstGeom>
          <a:noFill/>
          <a:ln/>
        </p:spPr>
        <p:txBody>
          <a:bodyPr wrap="square" lIns="0" tIns="0" rIns="0" bIns="0" rtlCol="0" anchor="ctr"/>
          <a:lstStyle/>
          <a:p>
            <a:pPr indent="0" marL="0">
              <a:buNone/>
            </a:pPr>
            <a:r>
              <a:rPr lang="en-US" sz="1100" i="1" dirty="0">
                <a:solidFill>
                  <a:srgbClr val="8C8C8C"/>
                </a:solidFill>
                <a:latin typeface="Inter" pitchFamily="34" charset="0"/>
                <a:ea typeface="Inter" pitchFamily="34" charset="-122"/>
                <a:cs typeface="Inter" pitchFamily="34" charset="-120"/>
              </a:rPr>
              <a:t>they stop working</a:t>
            </a:r>
            <a:endParaRPr lang="en-US" sz="1100" dirty="0"/>
          </a:p>
        </p:txBody>
      </p:sp>
      <p:sp>
        <p:nvSpPr>
          <p:cNvPr id="20" name="Shape 18"/>
          <p:cNvSpPr/>
          <p:nvPr/>
        </p:nvSpPr>
        <p:spPr>
          <a:xfrm>
            <a:off x="7078177" y="4087368"/>
            <a:ext cx="2376915" cy="457200"/>
          </a:xfrm>
          <a:prstGeom prst="rect">
            <a:avLst/>
          </a:prstGeom>
          <a:solidFill>
            <a:srgbClr val="FFE800"/>
          </a:solidFill>
          <a:ln w="12700">
            <a:solidFill>
              <a:srgbClr val="FFE800"/>
            </a:solidFill>
            <a:prstDash val="solid"/>
          </a:ln>
        </p:spPr>
      </p:sp>
      <p:sp>
        <p:nvSpPr>
          <p:cNvPr id="21" name="Text 19"/>
          <p:cNvSpPr txBox="1"/>
          <p:nvPr/>
        </p:nvSpPr>
        <p:spPr>
          <a:xfrm>
            <a:off x="9601396" y="4123944"/>
            <a:ext cx="2377440" cy="38404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34.4 – 55 %</a:t>
            </a:r>
            <a:endParaRPr lang="en-US" sz="1600" dirty="0"/>
          </a:p>
        </p:txBody>
      </p:sp>
      <p:sp>
        <p:nvSpPr>
          <p:cNvPr id="22" name="Shape 20"/>
          <p:cNvSpPr/>
          <p:nvPr/>
        </p:nvSpPr>
        <p:spPr>
          <a:xfrm>
            <a:off x="3801265" y="3127248"/>
            <a:ext cx="0" cy="822960"/>
          </a:xfrm>
          <a:prstGeom prst="line">
            <a:avLst/>
          </a:prstGeom>
          <a:noFill/>
          <a:ln w="25400">
            <a:solidFill>
              <a:srgbClr val="BDBDBD"/>
            </a:solidFill>
            <a:prstDash val="solid"/>
            <a:tailEnd type="triangle"/>
          </a:ln>
        </p:spPr>
      </p:sp>
      <p:sp>
        <p:nvSpPr>
          <p:cNvPr id="23" name="Text 21"/>
          <p:cNvSpPr txBox="1"/>
          <p:nvPr/>
        </p:nvSpPr>
        <p:spPr>
          <a:xfrm>
            <a:off x="3965857" y="3401568"/>
            <a:ext cx="2743200" cy="274320"/>
          </a:xfrm>
          <a:prstGeom prst="rect">
            <a:avLst/>
          </a:prstGeom>
          <a:noFill/>
          <a:ln/>
        </p:spPr>
        <p:txBody>
          <a:bodyPr wrap="square" lIns="0" tIns="0" rIns="0" bIns="0" rtlCol="0" anchor="ctr"/>
          <a:lstStyle/>
          <a:p>
            <a:pPr indent="0" marL="0">
              <a:buNone/>
            </a:pPr>
            <a:r>
              <a:rPr lang="en-US" sz="1100" dirty="0">
                <a:solidFill>
                  <a:srgbClr val="8C8C8C"/>
                </a:solidFill>
                <a:latin typeface="Inter" pitchFamily="34" charset="0"/>
                <a:ea typeface="Inter" pitchFamily="34" charset="-122"/>
                <a:cs typeface="Inter" pitchFamily="34" charset="-120"/>
              </a:rPr>
              <a:t>the same 48 models</a:t>
            </a:r>
            <a:endParaRPr lang="en-US" sz="1100" dirty="0"/>
          </a:p>
        </p:txBody>
      </p:sp>
      <p:sp>
        <p:nvSpPr>
          <p:cNvPr id="24" name="Shape 22"/>
          <p:cNvSpPr/>
          <p:nvPr/>
        </p:nvSpPr>
        <p:spPr>
          <a:xfrm>
            <a:off x="3108960" y="5138928"/>
            <a:ext cx="8076895" cy="0"/>
          </a:xfrm>
          <a:prstGeom prst="line">
            <a:avLst/>
          </a:prstGeom>
          <a:noFill/>
          <a:ln w="15875">
            <a:solidFill>
              <a:srgbClr val="0D0D0D"/>
            </a:solidFill>
            <a:prstDash val="solid"/>
          </a:ln>
        </p:spPr>
      </p:sp>
      <p:sp>
        <p:nvSpPr>
          <p:cNvPr id="25" name="Shape 23"/>
          <p:cNvSpPr/>
          <p:nvPr/>
        </p:nvSpPr>
        <p:spPr>
          <a:xfrm>
            <a:off x="3108960" y="5138928"/>
            <a:ext cx="0" cy="73152"/>
          </a:xfrm>
          <a:prstGeom prst="line">
            <a:avLst/>
          </a:prstGeom>
          <a:noFill/>
          <a:ln w="15875">
            <a:solidFill>
              <a:srgbClr val="0D0D0D"/>
            </a:solidFill>
            <a:prstDash val="solid"/>
          </a:ln>
        </p:spPr>
      </p:sp>
      <p:sp>
        <p:nvSpPr>
          <p:cNvPr id="26" name="Text 24"/>
          <p:cNvSpPr txBox="1"/>
          <p:nvPr/>
        </p:nvSpPr>
        <p:spPr>
          <a:xfrm>
            <a:off x="2788920"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a:t>
            </a:r>
            <a:endParaRPr lang="en-US" sz="950" dirty="0"/>
          </a:p>
        </p:txBody>
      </p:sp>
      <p:sp>
        <p:nvSpPr>
          <p:cNvPr id="27" name="Shape 25"/>
          <p:cNvSpPr/>
          <p:nvPr/>
        </p:nvSpPr>
        <p:spPr>
          <a:xfrm>
            <a:off x="4262802" y="5138928"/>
            <a:ext cx="0" cy="73152"/>
          </a:xfrm>
          <a:prstGeom prst="line">
            <a:avLst/>
          </a:prstGeom>
          <a:noFill/>
          <a:ln w="15875">
            <a:solidFill>
              <a:srgbClr val="0D0D0D"/>
            </a:solidFill>
            <a:prstDash val="solid"/>
          </a:ln>
        </p:spPr>
      </p:sp>
      <p:sp>
        <p:nvSpPr>
          <p:cNvPr id="28" name="Text 26"/>
          <p:cNvSpPr txBox="1"/>
          <p:nvPr/>
        </p:nvSpPr>
        <p:spPr>
          <a:xfrm>
            <a:off x="3942762"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10</a:t>
            </a:r>
            <a:endParaRPr lang="en-US" sz="950" dirty="0"/>
          </a:p>
        </p:txBody>
      </p:sp>
      <p:sp>
        <p:nvSpPr>
          <p:cNvPr id="29" name="Shape 27"/>
          <p:cNvSpPr/>
          <p:nvPr/>
        </p:nvSpPr>
        <p:spPr>
          <a:xfrm>
            <a:off x="5416644" y="5138928"/>
            <a:ext cx="0" cy="73152"/>
          </a:xfrm>
          <a:prstGeom prst="line">
            <a:avLst/>
          </a:prstGeom>
          <a:noFill/>
          <a:ln w="15875">
            <a:solidFill>
              <a:srgbClr val="0D0D0D"/>
            </a:solidFill>
            <a:prstDash val="solid"/>
          </a:ln>
        </p:spPr>
      </p:sp>
      <p:sp>
        <p:nvSpPr>
          <p:cNvPr id="30" name="Text 28"/>
          <p:cNvSpPr txBox="1"/>
          <p:nvPr/>
        </p:nvSpPr>
        <p:spPr>
          <a:xfrm>
            <a:off x="5096604"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20</a:t>
            </a:r>
            <a:endParaRPr lang="en-US" sz="950" dirty="0"/>
          </a:p>
        </p:txBody>
      </p:sp>
      <p:sp>
        <p:nvSpPr>
          <p:cNvPr id="31" name="Shape 29"/>
          <p:cNvSpPr/>
          <p:nvPr/>
        </p:nvSpPr>
        <p:spPr>
          <a:xfrm>
            <a:off x="6570487" y="5138928"/>
            <a:ext cx="0" cy="73152"/>
          </a:xfrm>
          <a:prstGeom prst="line">
            <a:avLst/>
          </a:prstGeom>
          <a:noFill/>
          <a:ln w="15875">
            <a:solidFill>
              <a:srgbClr val="0D0D0D"/>
            </a:solidFill>
            <a:prstDash val="solid"/>
          </a:ln>
        </p:spPr>
      </p:sp>
      <p:sp>
        <p:nvSpPr>
          <p:cNvPr id="32" name="Text 30"/>
          <p:cNvSpPr txBox="1"/>
          <p:nvPr/>
        </p:nvSpPr>
        <p:spPr>
          <a:xfrm>
            <a:off x="6250447"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30</a:t>
            </a:r>
            <a:endParaRPr lang="en-US" sz="950" dirty="0"/>
          </a:p>
        </p:txBody>
      </p:sp>
      <p:sp>
        <p:nvSpPr>
          <p:cNvPr id="33" name="Shape 31"/>
          <p:cNvSpPr/>
          <p:nvPr/>
        </p:nvSpPr>
        <p:spPr>
          <a:xfrm>
            <a:off x="7724329" y="5138928"/>
            <a:ext cx="0" cy="73152"/>
          </a:xfrm>
          <a:prstGeom prst="line">
            <a:avLst/>
          </a:prstGeom>
          <a:noFill/>
          <a:ln w="15875">
            <a:solidFill>
              <a:srgbClr val="0D0D0D"/>
            </a:solidFill>
            <a:prstDash val="solid"/>
          </a:ln>
        </p:spPr>
      </p:sp>
      <p:sp>
        <p:nvSpPr>
          <p:cNvPr id="34" name="Text 32"/>
          <p:cNvSpPr txBox="1"/>
          <p:nvPr/>
        </p:nvSpPr>
        <p:spPr>
          <a:xfrm>
            <a:off x="7404289"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40</a:t>
            </a:r>
            <a:endParaRPr lang="en-US" sz="950" dirty="0"/>
          </a:p>
        </p:txBody>
      </p:sp>
      <p:sp>
        <p:nvSpPr>
          <p:cNvPr id="35" name="Shape 33"/>
          <p:cNvSpPr/>
          <p:nvPr/>
        </p:nvSpPr>
        <p:spPr>
          <a:xfrm>
            <a:off x="8878171" y="5138928"/>
            <a:ext cx="0" cy="73152"/>
          </a:xfrm>
          <a:prstGeom prst="line">
            <a:avLst/>
          </a:prstGeom>
          <a:noFill/>
          <a:ln w="15875">
            <a:solidFill>
              <a:srgbClr val="0D0D0D"/>
            </a:solidFill>
            <a:prstDash val="solid"/>
          </a:ln>
        </p:spPr>
      </p:sp>
      <p:sp>
        <p:nvSpPr>
          <p:cNvPr id="36" name="Text 34"/>
          <p:cNvSpPr txBox="1"/>
          <p:nvPr/>
        </p:nvSpPr>
        <p:spPr>
          <a:xfrm>
            <a:off x="8558131"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50</a:t>
            </a:r>
            <a:endParaRPr lang="en-US" sz="950" dirty="0"/>
          </a:p>
        </p:txBody>
      </p:sp>
      <p:sp>
        <p:nvSpPr>
          <p:cNvPr id="37" name="Shape 35"/>
          <p:cNvSpPr/>
          <p:nvPr/>
        </p:nvSpPr>
        <p:spPr>
          <a:xfrm>
            <a:off x="10032013" y="5138928"/>
            <a:ext cx="0" cy="73152"/>
          </a:xfrm>
          <a:prstGeom prst="line">
            <a:avLst/>
          </a:prstGeom>
          <a:noFill/>
          <a:ln w="15875">
            <a:solidFill>
              <a:srgbClr val="0D0D0D"/>
            </a:solidFill>
            <a:prstDash val="solid"/>
          </a:ln>
        </p:spPr>
      </p:sp>
      <p:sp>
        <p:nvSpPr>
          <p:cNvPr id="38" name="Text 36"/>
          <p:cNvSpPr txBox="1"/>
          <p:nvPr/>
        </p:nvSpPr>
        <p:spPr>
          <a:xfrm>
            <a:off x="9711973"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60</a:t>
            </a:r>
            <a:endParaRPr lang="en-US" sz="950" dirty="0"/>
          </a:p>
        </p:txBody>
      </p:sp>
      <p:sp>
        <p:nvSpPr>
          <p:cNvPr id="39" name="Shape 37"/>
          <p:cNvSpPr/>
          <p:nvPr/>
        </p:nvSpPr>
        <p:spPr>
          <a:xfrm>
            <a:off x="11185855" y="5138928"/>
            <a:ext cx="0" cy="73152"/>
          </a:xfrm>
          <a:prstGeom prst="line">
            <a:avLst/>
          </a:prstGeom>
          <a:noFill/>
          <a:ln w="15875">
            <a:solidFill>
              <a:srgbClr val="0D0D0D"/>
            </a:solidFill>
            <a:prstDash val="solid"/>
          </a:ln>
        </p:spPr>
      </p:sp>
      <p:sp>
        <p:nvSpPr>
          <p:cNvPr id="40" name="Text 38"/>
          <p:cNvSpPr txBox="1"/>
          <p:nvPr/>
        </p:nvSpPr>
        <p:spPr>
          <a:xfrm>
            <a:off x="10865815" y="5248656"/>
            <a:ext cx="64008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70</a:t>
            </a:r>
            <a:endParaRPr lang="en-US" sz="950" dirty="0"/>
          </a:p>
        </p:txBody>
      </p:sp>
      <p:sp>
        <p:nvSpPr>
          <p:cNvPr id="41" name="Text 39"/>
          <p:cNvSpPr txBox="1"/>
          <p:nvPr/>
        </p:nvSpPr>
        <p:spPr>
          <a:xfrm>
            <a:off x="8259775" y="5541264"/>
            <a:ext cx="2926080" cy="237744"/>
          </a:xfrm>
          <a:prstGeom prst="rect">
            <a:avLst/>
          </a:prstGeom>
          <a:noFill/>
          <a:ln/>
        </p:spPr>
        <p:txBody>
          <a:bodyPr wrap="square" lIns="0" tIns="0" rIns="0" bIns="0" rtlCol="0" anchor="ctr"/>
          <a:lstStyle/>
          <a:p>
            <a:pPr algn="r" indent="0" marL="0">
              <a:buNone/>
            </a:pPr>
            <a:r>
              <a:rPr lang="en-US" sz="1000" dirty="0">
                <a:solidFill>
                  <a:srgbClr val="BDBDBD"/>
                </a:solidFill>
                <a:latin typeface="Inter" pitchFamily="34" charset="0"/>
                <a:ea typeface="Inter" pitchFamily="34" charset="-122"/>
                <a:cs typeface="Inter" pitchFamily="34" charset="-120"/>
              </a:rPr>
              <a:t>EER (%) — higher is worse</a:t>
            </a:r>
            <a:endParaRPr lang="en-US" sz="1000" dirty="0"/>
          </a:p>
        </p:txBody>
      </p:sp>
      <p:sp>
        <p:nvSpPr>
          <p:cNvPr id="42" name="Text 40"/>
          <p:cNvSpPr txBox="1"/>
          <p:nvPr/>
        </p:nvSpPr>
        <p:spPr>
          <a:xfrm>
            <a:off x="6339718" y="4773168"/>
            <a:ext cx="5120457" cy="256032"/>
          </a:xfrm>
          <a:prstGeom prst="rect">
            <a:avLst/>
          </a:prstGeom>
          <a:noFill/>
          <a:ln/>
        </p:spPr>
        <p:txBody>
          <a:bodyPr wrap="square" lIns="0" tIns="0" rIns="0" bIns="0" rtlCol="0" anchor="ctr"/>
          <a:lstStyle/>
          <a:p>
            <a:pPr indent="0" marL="0">
              <a:buNone/>
            </a:pPr>
            <a:r>
              <a:rPr lang="en-US" sz="1050" dirty="0">
                <a:solidFill>
                  <a:srgbClr val="8A6D00"/>
                </a:solidFill>
                <a:latin typeface="Inter" pitchFamily="34" charset="0"/>
                <a:ea typeface="Inter" pitchFamily="34" charset="-122"/>
                <a:cs typeface="Inter" pitchFamily="34" charset="-120"/>
              </a:rPr>
              <a:t>not one of the 48 lands below 34.4 %  ·  28 of them land above 40 %</a:t>
            </a:r>
            <a:endParaRPr lang="en-US" sz="1050" dirty="0"/>
          </a:p>
        </p:txBody>
      </p:sp>
      <p:sp>
        <p:nvSpPr>
          <p:cNvPr id="43" name="Text 41"/>
          <p:cNvSpPr txBox="1"/>
          <p:nvPr/>
        </p:nvSpPr>
        <p:spPr>
          <a:xfrm>
            <a:off x="731520" y="56692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Nothing about the models changed.</a:t>
            </a:r>
            <a:pPr indent="0" marL="0">
              <a:buNone/>
            </a:pPr>
            <a:r>
              <a:rPr lang="en-US" sz="1500" dirty="0">
                <a:solidFill>
                  <a:srgbClr val="8C8C8C"/>
                </a:solidFill>
                <a:latin typeface="Inter" pitchFamily="34" charset="0"/>
                <a:ea typeface="Inter" pitchFamily="34" charset="-122"/>
                <a:cs typeface="Inter" pitchFamily="34" charset="-120"/>
              </a:rPr>
              <a:t> Only what we asked them to listen to.</a:t>
            </a:r>
            <a:endParaRPr lang="en-US" sz="1500" dirty="0"/>
          </a:p>
        </p:txBody>
      </p:sp>
      <p:sp>
        <p:nvSpPr>
          <p:cNvPr id="44" name="Text 42"/>
          <p:cNvSpPr txBox="1"/>
          <p:nvPr/>
        </p:nvSpPr>
        <p:spPr>
          <a:xfrm>
            <a:off x="731520" y="6053328"/>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Top: 48 mean EERs, Table 5. Bottom: Sec. 4.2 — all 48 exceed 30 %, the lowest is 34.4 %, 28 exceed 40 %; the cepstral front-ends span 34 – 55 %.</a:t>
            </a:r>
            <a:endParaRPr lang="en-US" sz="900" dirty="0"/>
          </a:p>
        </p:txBody>
      </p:sp>
      <p:pic>
        <p:nvPicPr>
          <p:cNvPr id="45"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46" name="Text 4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47" name="Text 4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CULPRIT</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The gap is not uniform.</a:t>
            </a:r>
            <a:pPr indent="0" marL="0">
              <a:buNone/>
            </a:pPr>
            <a:r>
              <a:rPr lang="en-US" sz="3600" b="1" dirty="0">
                <a:solidFill>
                  <a:srgbClr val="BDBDBD"/>
                </a:solidFill>
                <a:latin typeface="Inter" pitchFamily="34" charset="0"/>
                <a:ea typeface="Inter" pitchFamily="34" charset="-122"/>
                <a:cs typeface="Inter" pitchFamily="34" charset="-120"/>
              </a:rPr>
              <a:t> It is voice conversion.</a:t>
            </a:r>
            <a:endParaRPr lang="en-US" sz="3600" dirty="0"/>
          </a:p>
        </p:txBody>
      </p:sp>
      <p:sp>
        <p:nvSpPr>
          <p:cNvPr id="4" name="Shape 2"/>
          <p:cNvSpPr/>
          <p:nvPr/>
        </p:nvSpPr>
        <p:spPr>
          <a:xfrm>
            <a:off x="1691640" y="5029200"/>
            <a:ext cx="6355080" cy="0"/>
          </a:xfrm>
          <a:prstGeom prst="line">
            <a:avLst/>
          </a:prstGeom>
          <a:noFill/>
          <a:ln w="19050">
            <a:solidFill>
              <a:srgbClr val="E6E6E6"/>
            </a:solidFill>
            <a:prstDash val="solid"/>
          </a:ln>
        </p:spPr>
      </p:sp>
      <p:sp>
        <p:nvSpPr>
          <p:cNvPr id="5" name="Text 3"/>
          <p:cNvSpPr txBox="1"/>
          <p:nvPr/>
        </p:nvSpPr>
        <p:spPr>
          <a:xfrm>
            <a:off x="1005840" y="4901184"/>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0</a:t>
            </a:r>
            <a:endParaRPr lang="en-US" sz="950" dirty="0"/>
          </a:p>
        </p:txBody>
      </p:sp>
      <p:sp>
        <p:nvSpPr>
          <p:cNvPr id="6" name="Shape 4"/>
          <p:cNvSpPr/>
          <p:nvPr/>
        </p:nvSpPr>
        <p:spPr>
          <a:xfrm>
            <a:off x="1691640" y="4624251"/>
            <a:ext cx="6355080" cy="0"/>
          </a:xfrm>
          <a:prstGeom prst="line">
            <a:avLst/>
          </a:prstGeom>
          <a:noFill/>
          <a:ln w="12700">
            <a:solidFill>
              <a:srgbClr val="F0F0EE"/>
            </a:solidFill>
            <a:prstDash val="solid"/>
          </a:ln>
        </p:spPr>
      </p:sp>
      <p:sp>
        <p:nvSpPr>
          <p:cNvPr id="7" name="Text 5"/>
          <p:cNvSpPr txBox="1"/>
          <p:nvPr/>
        </p:nvSpPr>
        <p:spPr>
          <a:xfrm>
            <a:off x="1005840" y="4496235"/>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10</a:t>
            </a:r>
            <a:endParaRPr lang="en-US" sz="950" dirty="0"/>
          </a:p>
        </p:txBody>
      </p:sp>
      <p:sp>
        <p:nvSpPr>
          <p:cNvPr id="8" name="Shape 6"/>
          <p:cNvSpPr/>
          <p:nvPr/>
        </p:nvSpPr>
        <p:spPr>
          <a:xfrm>
            <a:off x="1691640" y="4219303"/>
            <a:ext cx="6355080" cy="0"/>
          </a:xfrm>
          <a:prstGeom prst="line">
            <a:avLst/>
          </a:prstGeom>
          <a:noFill/>
          <a:ln w="12700">
            <a:solidFill>
              <a:srgbClr val="F0F0EE"/>
            </a:solidFill>
            <a:prstDash val="solid"/>
          </a:ln>
        </p:spPr>
      </p:sp>
      <p:sp>
        <p:nvSpPr>
          <p:cNvPr id="9" name="Text 7"/>
          <p:cNvSpPr txBox="1"/>
          <p:nvPr/>
        </p:nvSpPr>
        <p:spPr>
          <a:xfrm>
            <a:off x="1005840" y="4091287"/>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20</a:t>
            </a:r>
            <a:endParaRPr lang="en-US" sz="950" dirty="0"/>
          </a:p>
        </p:txBody>
      </p:sp>
      <p:sp>
        <p:nvSpPr>
          <p:cNvPr id="10" name="Shape 8"/>
          <p:cNvSpPr/>
          <p:nvPr/>
        </p:nvSpPr>
        <p:spPr>
          <a:xfrm>
            <a:off x="1691640" y="3814354"/>
            <a:ext cx="6355080" cy="0"/>
          </a:xfrm>
          <a:prstGeom prst="line">
            <a:avLst/>
          </a:prstGeom>
          <a:noFill/>
          <a:ln w="12700">
            <a:solidFill>
              <a:srgbClr val="F0F0EE"/>
            </a:solidFill>
            <a:prstDash val="solid"/>
          </a:ln>
        </p:spPr>
      </p:sp>
      <p:sp>
        <p:nvSpPr>
          <p:cNvPr id="11" name="Text 9"/>
          <p:cNvSpPr txBox="1"/>
          <p:nvPr/>
        </p:nvSpPr>
        <p:spPr>
          <a:xfrm>
            <a:off x="1005840" y="3686338"/>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30</a:t>
            </a:r>
            <a:endParaRPr lang="en-US" sz="950" dirty="0"/>
          </a:p>
        </p:txBody>
      </p:sp>
      <p:sp>
        <p:nvSpPr>
          <p:cNvPr id="12" name="Shape 10"/>
          <p:cNvSpPr/>
          <p:nvPr/>
        </p:nvSpPr>
        <p:spPr>
          <a:xfrm>
            <a:off x="1691640" y="3409406"/>
            <a:ext cx="6355080" cy="0"/>
          </a:xfrm>
          <a:prstGeom prst="line">
            <a:avLst/>
          </a:prstGeom>
          <a:noFill/>
          <a:ln w="12700">
            <a:solidFill>
              <a:srgbClr val="F0F0EE"/>
            </a:solidFill>
            <a:prstDash val="solid"/>
          </a:ln>
        </p:spPr>
      </p:sp>
      <p:sp>
        <p:nvSpPr>
          <p:cNvPr id="13" name="Text 11"/>
          <p:cNvSpPr txBox="1"/>
          <p:nvPr/>
        </p:nvSpPr>
        <p:spPr>
          <a:xfrm>
            <a:off x="1005840" y="3281390"/>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40</a:t>
            </a:r>
            <a:endParaRPr lang="en-US" sz="950" dirty="0"/>
          </a:p>
        </p:txBody>
      </p:sp>
      <p:sp>
        <p:nvSpPr>
          <p:cNvPr id="14" name="Shape 12"/>
          <p:cNvSpPr/>
          <p:nvPr/>
        </p:nvSpPr>
        <p:spPr>
          <a:xfrm>
            <a:off x="1691640" y="3004457"/>
            <a:ext cx="6355080" cy="0"/>
          </a:xfrm>
          <a:prstGeom prst="line">
            <a:avLst/>
          </a:prstGeom>
          <a:noFill/>
          <a:ln w="12700">
            <a:solidFill>
              <a:srgbClr val="F0F0EE"/>
            </a:solidFill>
            <a:prstDash val="solid"/>
          </a:ln>
        </p:spPr>
      </p:sp>
      <p:sp>
        <p:nvSpPr>
          <p:cNvPr id="15" name="Text 13"/>
          <p:cNvSpPr txBox="1"/>
          <p:nvPr/>
        </p:nvSpPr>
        <p:spPr>
          <a:xfrm>
            <a:off x="1005840" y="2876441"/>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50</a:t>
            </a:r>
            <a:endParaRPr lang="en-US" sz="950" dirty="0"/>
          </a:p>
        </p:txBody>
      </p:sp>
      <p:sp>
        <p:nvSpPr>
          <p:cNvPr id="16" name="Shape 14"/>
          <p:cNvSpPr/>
          <p:nvPr/>
        </p:nvSpPr>
        <p:spPr>
          <a:xfrm>
            <a:off x="1691640" y="2599509"/>
            <a:ext cx="6355080" cy="0"/>
          </a:xfrm>
          <a:prstGeom prst="line">
            <a:avLst/>
          </a:prstGeom>
          <a:noFill/>
          <a:ln w="12700">
            <a:solidFill>
              <a:srgbClr val="F0F0EE"/>
            </a:solidFill>
            <a:prstDash val="solid"/>
          </a:ln>
        </p:spPr>
      </p:sp>
      <p:sp>
        <p:nvSpPr>
          <p:cNvPr id="17" name="Text 15"/>
          <p:cNvSpPr txBox="1"/>
          <p:nvPr/>
        </p:nvSpPr>
        <p:spPr>
          <a:xfrm>
            <a:off x="1005840" y="2471493"/>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60</a:t>
            </a:r>
            <a:endParaRPr lang="en-US" sz="950" dirty="0"/>
          </a:p>
        </p:txBody>
      </p:sp>
      <p:sp>
        <p:nvSpPr>
          <p:cNvPr id="18" name="Shape 16"/>
          <p:cNvSpPr/>
          <p:nvPr/>
        </p:nvSpPr>
        <p:spPr>
          <a:xfrm>
            <a:off x="1691640" y="2194560"/>
            <a:ext cx="6355080" cy="0"/>
          </a:xfrm>
          <a:prstGeom prst="line">
            <a:avLst/>
          </a:prstGeom>
          <a:noFill/>
          <a:ln w="12700">
            <a:solidFill>
              <a:srgbClr val="F0F0EE"/>
            </a:solidFill>
            <a:prstDash val="solid"/>
          </a:ln>
        </p:spPr>
      </p:sp>
      <p:sp>
        <p:nvSpPr>
          <p:cNvPr id="19" name="Text 17"/>
          <p:cNvSpPr txBox="1"/>
          <p:nvPr/>
        </p:nvSpPr>
        <p:spPr>
          <a:xfrm>
            <a:off x="1005840" y="2066544"/>
            <a:ext cx="548640" cy="256032"/>
          </a:xfrm>
          <a:prstGeom prst="rect">
            <a:avLst/>
          </a:prstGeom>
          <a:noFill/>
          <a:ln/>
        </p:spPr>
        <p:txBody>
          <a:bodyPr wrap="square" lIns="0" tIns="0" rIns="0" bIns="0" rtlCol="0" anchor="ctr"/>
          <a:lstStyle/>
          <a:p>
            <a:pPr algn="r" indent="0" marL="0">
              <a:buNone/>
            </a:pPr>
            <a:r>
              <a:rPr lang="en-US" sz="950" dirty="0">
                <a:solidFill>
                  <a:srgbClr val="8C8C8C"/>
                </a:solidFill>
                <a:latin typeface="Consolas" pitchFamily="34" charset="0"/>
                <a:ea typeface="Consolas" pitchFamily="34" charset="-122"/>
                <a:cs typeface="Consolas" pitchFamily="34" charset="-120"/>
              </a:rPr>
              <a:t>70</a:t>
            </a:r>
            <a:endParaRPr lang="en-US" sz="950" dirty="0"/>
          </a:p>
        </p:txBody>
      </p:sp>
      <p:sp>
        <p:nvSpPr>
          <p:cNvPr id="20" name="Text 18"/>
          <p:cNvSpPr txBox="1"/>
          <p:nvPr/>
        </p:nvSpPr>
        <p:spPr>
          <a:xfrm>
            <a:off x="868680" y="1783080"/>
            <a:ext cx="1280160" cy="256032"/>
          </a:xfrm>
          <a:prstGeom prst="rect">
            <a:avLst/>
          </a:prstGeom>
          <a:noFill/>
          <a:ln/>
        </p:spPr>
        <p:txBody>
          <a:bodyPr wrap="square" lIns="0" tIns="0" rIns="0" bIns="0" rtlCol="0" anchor="ctr"/>
          <a:lstStyle/>
          <a:p>
            <a:pPr indent="0" marL="0">
              <a:buNone/>
            </a:pPr>
            <a:r>
              <a:rPr lang="en-US" sz="1000" dirty="0">
                <a:solidFill>
                  <a:srgbClr val="BDBDBD"/>
                </a:solidFill>
                <a:latin typeface="Inter" pitchFamily="34" charset="0"/>
                <a:ea typeface="Inter" pitchFamily="34" charset="-122"/>
                <a:cs typeface="Inter" pitchFamily="34" charset="-120"/>
              </a:rPr>
              <a:t>EER (%)</a:t>
            </a:r>
            <a:endParaRPr lang="en-US" sz="1000" dirty="0"/>
          </a:p>
        </p:txBody>
      </p:sp>
      <p:sp>
        <p:nvSpPr>
          <p:cNvPr id="21" name="Shape 19"/>
          <p:cNvSpPr/>
          <p:nvPr/>
        </p:nvSpPr>
        <p:spPr>
          <a:xfrm>
            <a:off x="1691640" y="3004457"/>
            <a:ext cx="6355080" cy="0"/>
          </a:xfrm>
          <a:prstGeom prst="line">
            <a:avLst/>
          </a:prstGeom>
          <a:noFill/>
          <a:ln w="15875">
            <a:solidFill>
              <a:srgbClr val="0D0D0D"/>
            </a:solidFill>
            <a:prstDash val="dash"/>
          </a:ln>
        </p:spPr>
      </p:sp>
      <p:sp>
        <p:nvSpPr>
          <p:cNvPr id="22" name="Text 20"/>
          <p:cNvSpPr txBox="1"/>
          <p:nvPr/>
        </p:nvSpPr>
        <p:spPr>
          <a:xfrm>
            <a:off x="6126480" y="2711849"/>
            <a:ext cx="1920240" cy="256032"/>
          </a:xfrm>
          <a:prstGeom prst="rect">
            <a:avLst/>
          </a:prstGeom>
          <a:noFill/>
          <a:ln/>
        </p:spPr>
        <p:txBody>
          <a:bodyPr wrap="square" lIns="0" tIns="0" rIns="0" bIns="0" rtlCol="0" anchor="ctr"/>
          <a:lstStyle/>
          <a:p>
            <a:pPr algn="r" indent="0" marL="0">
              <a:buNone/>
            </a:pPr>
            <a:r>
              <a:rPr lang="en-US" sz="1000" b="1" dirty="0">
                <a:solidFill>
                  <a:srgbClr val="0D0D0D"/>
                </a:solidFill>
                <a:latin typeface="Inter" pitchFamily="34" charset="0"/>
                <a:ea typeface="Inter" pitchFamily="34" charset="-122"/>
                <a:cs typeface="Inter" pitchFamily="34" charset="-120"/>
              </a:rPr>
              <a:t>50 % = coin flip</a:t>
            </a:r>
            <a:endParaRPr lang="en-US" sz="1000" dirty="0"/>
          </a:p>
        </p:txBody>
      </p:sp>
      <p:sp>
        <p:nvSpPr>
          <p:cNvPr id="23" name="Shape 21"/>
          <p:cNvSpPr/>
          <p:nvPr/>
        </p:nvSpPr>
        <p:spPr>
          <a:xfrm>
            <a:off x="1827657" y="2934806"/>
            <a:ext cx="804672" cy="2094394"/>
          </a:xfrm>
          <a:prstGeom prst="rect">
            <a:avLst/>
          </a:prstGeom>
          <a:solidFill>
            <a:srgbClr val="0D0D0D"/>
          </a:solidFill>
          <a:ln w="12700">
            <a:solidFill>
              <a:srgbClr val="0D0D0D"/>
            </a:solidFill>
            <a:prstDash val="solid"/>
          </a:ln>
        </p:spPr>
      </p:sp>
      <p:sp>
        <p:nvSpPr>
          <p:cNvPr id="24" name="Text 22"/>
          <p:cNvSpPr txBox="1"/>
          <p:nvPr/>
        </p:nvSpPr>
        <p:spPr>
          <a:xfrm>
            <a:off x="1452753" y="2642198"/>
            <a:ext cx="1554480" cy="256032"/>
          </a:xfrm>
          <a:prstGeom prst="rect">
            <a:avLst/>
          </a:prstGeom>
          <a:noFill/>
          <a:ln/>
        </p:spPr>
        <p:txBody>
          <a:bodyPr wrap="square" lIns="0" tIns="0" rIns="0" bIns="0" rtlCol="0" anchor="ctr"/>
          <a:lstStyle/>
          <a:p>
            <a:pPr algn="ctr" indent="0" marL="0">
              <a:buNone/>
            </a:pPr>
            <a:r>
              <a:rPr lang="en-US" sz="1100" b="1" dirty="0">
                <a:solidFill>
                  <a:srgbClr val="0D0D0D"/>
                </a:solidFill>
                <a:latin typeface="Consolas" pitchFamily="34" charset="0"/>
                <a:ea typeface="Consolas" pitchFamily="34" charset="-122"/>
                <a:cs typeface="Consolas" pitchFamily="34" charset="-120"/>
              </a:rPr>
              <a:t>51.72</a:t>
            </a:r>
            <a:endParaRPr lang="en-US" sz="1100" dirty="0"/>
          </a:p>
        </p:txBody>
      </p:sp>
      <p:sp>
        <p:nvSpPr>
          <p:cNvPr id="25" name="Shape 23"/>
          <p:cNvSpPr/>
          <p:nvPr/>
        </p:nvSpPr>
        <p:spPr>
          <a:xfrm>
            <a:off x="2705481" y="4965192"/>
            <a:ext cx="566928" cy="64008"/>
          </a:xfrm>
          <a:prstGeom prst="rect">
            <a:avLst/>
          </a:prstGeom>
          <a:solidFill>
            <a:srgbClr val="FFE800"/>
          </a:solidFill>
          <a:ln w="9525">
            <a:solidFill>
              <a:srgbClr val="8A6D00"/>
            </a:solidFill>
            <a:prstDash val="solid"/>
          </a:ln>
        </p:spPr>
      </p:sp>
      <p:sp>
        <p:nvSpPr>
          <p:cNvPr id="26" name="Text 24"/>
          <p:cNvSpPr txBox="1"/>
          <p:nvPr/>
        </p:nvSpPr>
        <p:spPr>
          <a:xfrm>
            <a:off x="1571625" y="5248656"/>
            <a:ext cx="1828800" cy="274320"/>
          </a:xfrm>
          <a:prstGeom prst="rect">
            <a:avLst/>
          </a:prstGeom>
          <a:noFill/>
          <a:ln/>
        </p:spPr>
        <p:txBody>
          <a:bodyPr wrap="square" lIns="0" tIns="0" rIns="0" bIns="0" rtlCol="0" anchor="ctr"/>
          <a:lstStyle/>
          <a:p>
            <a:pPr algn="ctr" indent="0" marL="0">
              <a:buNone/>
            </a:pPr>
            <a:r>
              <a:rPr lang="en-US" sz="1150" dirty="0">
                <a:solidFill>
                  <a:srgbClr val="3F3F3F"/>
                </a:solidFill>
                <a:latin typeface="Inter" pitchFamily="34" charset="0"/>
                <a:ea typeface="Inter" pitchFamily="34" charset="-122"/>
                <a:cs typeface="Inter" pitchFamily="34" charset="-120"/>
              </a:rPr>
              <a:t>CycleGAN</a:t>
            </a:r>
            <a:endParaRPr lang="en-US" sz="1150" dirty="0"/>
          </a:p>
        </p:txBody>
      </p:sp>
      <p:sp>
        <p:nvSpPr>
          <p:cNvPr id="27" name="Shape 25"/>
          <p:cNvSpPr/>
          <p:nvPr/>
        </p:nvSpPr>
        <p:spPr>
          <a:xfrm>
            <a:off x="3416427" y="2842883"/>
            <a:ext cx="804672" cy="2186317"/>
          </a:xfrm>
          <a:prstGeom prst="rect">
            <a:avLst/>
          </a:prstGeom>
          <a:solidFill>
            <a:srgbClr val="0D0D0D"/>
          </a:solidFill>
          <a:ln w="12700">
            <a:solidFill>
              <a:srgbClr val="0D0D0D"/>
            </a:solidFill>
            <a:prstDash val="solid"/>
          </a:ln>
        </p:spPr>
      </p:sp>
      <p:sp>
        <p:nvSpPr>
          <p:cNvPr id="28" name="Text 26"/>
          <p:cNvSpPr txBox="1"/>
          <p:nvPr/>
        </p:nvSpPr>
        <p:spPr>
          <a:xfrm>
            <a:off x="3041523" y="2550275"/>
            <a:ext cx="1554480" cy="256032"/>
          </a:xfrm>
          <a:prstGeom prst="rect">
            <a:avLst/>
          </a:prstGeom>
          <a:noFill/>
          <a:ln/>
        </p:spPr>
        <p:txBody>
          <a:bodyPr wrap="square" lIns="0" tIns="0" rIns="0" bIns="0" rtlCol="0" anchor="ctr"/>
          <a:lstStyle/>
          <a:p>
            <a:pPr algn="ctr" indent="0" marL="0">
              <a:buNone/>
            </a:pPr>
            <a:r>
              <a:rPr lang="en-US" sz="1100" b="1" dirty="0">
                <a:solidFill>
                  <a:srgbClr val="0D0D0D"/>
                </a:solidFill>
                <a:latin typeface="Consolas" pitchFamily="34" charset="0"/>
                <a:ea typeface="Consolas" pitchFamily="34" charset="-122"/>
                <a:cs typeface="Consolas" pitchFamily="34" charset="-120"/>
              </a:rPr>
              <a:t>53.99</a:t>
            </a:r>
            <a:endParaRPr lang="en-US" sz="1100" dirty="0"/>
          </a:p>
        </p:txBody>
      </p:sp>
      <p:sp>
        <p:nvSpPr>
          <p:cNvPr id="29" name="Shape 27"/>
          <p:cNvSpPr/>
          <p:nvPr/>
        </p:nvSpPr>
        <p:spPr>
          <a:xfrm>
            <a:off x="4294251" y="4965192"/>
            <a:ext cx="566928" cy="64008"/>
          </a:xfrm>
          <a:prstGeom prst="rect">
            <a:avLst/>
          </a:prstGeom>
          <a:solidFill>
            <a:srgbClr val="FFE800"/>
          </a:solidFill>
          <a:ln w="9525">
            <a:solidFill>
              <a:srgbClr val="8A6D00"/>
            </a:solidFill>
            <a:prstDash val="solid"/>
          </a:ln>
        </p:spPr>
      </p:sp>
      <p:sp>
        <p:nvSpPr>
          <p:cNvPr id="30" name="Text 28"/>
          <p:cNvSpPr txBox="1"/>
          <p:nvPr/>
        </p:nvSpPr>
        <p:spPr>
          <a:xfrm>
            <a:off x="3160395" y="5248656"/>
            <a:ext cx="1828800" cy="274320"/>
          </a:xfrm>
          <a:prstGeom prst="rect">
            <a:avLst/>
          </a:prstGeom>
          <a:noFill/>
          <a:ln/>
        </p:spPr>
        <p:txBody>
          <a:bodyPr wrap="square" lIns="0" tIns="0" rIns="0" bIns="0" rtlCol="0" anchor="ctr"/>
          <a:lstStyle/>
          <a:p>
            <a:pPr algn="ctr" indent="0" marL="0">
              <a:buNone/>
            </a:pPr>
            <a:r>
              <a:rPr lang="en-US" sz="1150" dirty="0">
                <a:solidFill>
                  <a:srgbClr val="3F3F3F"/>
                </a:solidFill>
                <a:latin typeface="Inter" pitchFamily="34" charset="0"/>
                <a:ea typeface="Inter" pitchFamily="34" charset="-122"/>
                <a:cs typeface="Inter" pitchFamily="34" charset="-120"/>
              </a:rPr>
              <a:t>DiffVC</a:t>
            </a:r>
            <a:endParaRPr lang="en-US" sz="1150" dirty="0"/>
          </a:p>
        </p:txBody>
      </p:sp>
      <p:sp>
        <p:nvSpPr>
          <p:cNvPr id="31" name="Shape 29"/>
          <p:cNvSpPr/>
          <p:nvPr/>
        </p:nvSpPr>
        <p:spPr>
          <a:xfrm>
            <a:off x="5005197" y="2363424"/>
            <a:ext cx="804672" cy="2665776"/>
          </a:xfrm>
          <a:prstGeom prst="rect">
            <a:avLst/>
          </a:prstGeom>
          <a:solidFill>
            <a:srgbClr val="0D0D0D"/>
          </a:solidFill>
          <a:ln w="12700">
            <a:solidFill>
              <a:srgbClr val="0D0D0D"/>
            </a:solidFill>
            <a:prstDash val="solid"/>
          </a:ln>
        </p:spPr>
      </p:sp>
      <p:sp>
        <p:nvSpPr>
          <p:cNvPr id="32" name="Text 30"/>
          <p:cNvSpPr txBox="1"/>
          <p:nvPr/>
        </p:nvSpPr>
        <p:spPr>
          <a:xfrm>
            <a:off x="4630293" y="2070816"/>
            <a:ext cx="1554480" cy="256032"/>
          </a:xfrm>
          <a:prstGeom prst="rect">
            <a:avLst/>
          </a:prstGeom>
          <a:noFill/>
          <a:ln/>
        </p:spPr>
        <p:txBody>
          <a:bodyPr wrap="square" lIns="0" tIns="0" rIns="0" bIns="0" rtlCol="0" anchor="ctr"/>
          <a:lstStyle/>
          <a:p>
            <a:pPr algn="ctr" indent="0" marL="0">
              <a:buNone/>
            </a:pPr>
            <a:r>
              <a:rPr lang="en-US" sz="1100" b="1" dirty="0">
                <a:solidFill>
                  <a:srgbClr val="0D0D0D"/>
                </a:solidFill>
                <a:latin typeface="Consolas" pitchFamily="34" charset="0"/>
                <a:ea typeface="Consolas" pitchFamily="34" charset="-122"/>
                <a:cs typeface="Consolas" pitchFamily="34" charset="-120"/>
              </a:rPr>
              <a:t>65.83</a:t>
            </a:r>
            <a:endParaRPr lang="en-US" sz="1100" dirty="0"/>
          </a:p>
        </p:txBody>
      </p:sp>
      <p:sp>
        <p:nvSpPr>
          <p:cNvPr id="33" name="Shape 31"/>
          <p:cNvSpPr/>
          <p:nvPr/>
        </p:nvSpPr>
        <p:spPr>
          <a:xfrm>
            <a:off x="5883021" y="4965192"/>
            <a:ext cx="566928" cy="64008"/>
          </a:xfrm>
          <a:prstGeom prst="rect">
            <a:avLst/>
          </a:prstGeom>
          <a:solidFill>
            <a:srgbClr val="FFE800"/>
          </a:solidFill>
          <a:ln w="9525">
            <a:solidFill>
              <a:srgbClr val="8A6D00"/>
            </a:solidFill>
            <a:prstDash val="solid"/>
          </a:ln>
        </p:spPr>
      </p:sp>
      <p:sp>
        <p:nvSpPr>
          <p:cNvPr id="34" name="Text 32"/>
          <p:cNvSpPr txBox="1"/>
          <p:nvPr/>
        </p:nvSpPr>
        <p:spPr>
          <a:xfrm>
            <a:off x="4749165" y="5248656"/>
            <a:ext cx="1828800" cy="274320"/>
          </a:xfrm>
          <a:prstGeom prst="rect">
            <a:avLst/>
          </a:prstGeom>
          <a:noFill/>
          <a:ln/>
        </p:spPr>
        <p:txBody>
          <a:bodyPr wrap="square" lIns="0" tIns="0" rIns="0" bIns="0" rtlCol="0" anchor="ctr"/>
          <a:lstStyle/>
          <a:p>
            <a:pPr algn="ctr" indent="0" marL="0">
              <a:buNone/>
            </a:pPr>
            <a:r>
              <a:rPr lang="en-US" sz="1150" dirty="0">
                <a:solidFill>
                  <a:srgbClr val="3F3F3F"/>
                </a:solidFill>
                <a:latin typeface="Inter" pitchFamily="34" charset="0"/>
                <a:ea typeface="Inter" pitchFamily="34" charset="-122"/>
                <a:cs typeface="Inter" pitchFamily="34" charset="-120"/>
              </a:rPr>
              <a:t>StarGAN</a:t>
            </a:r>
            <a:endParaRPr lang="en-US" sz="1150" dirty="0"/>
          </a:p>
        </p:txBody>
      </p:sp>
      <p:sp>
        <p:nvSpPr>
          <p:cNvPr id="35" name="Shape 33"/>
          <p:cNvSpPr/>
          <p:nvPr/>
        </p:nvSpPr>
        <p:spPr>
          <a:xfrm>
            <a:off x="6593967" y="4956714"/>
            <a:ext cx="804672" cy="72486"/>
          </a:xfrm>
          <a:prstGeom prst="rect">
            <a:avLst/>
          </a:prstGeom>
          <a:solidFill>
            <a:srgbClr val="0D0D0D"/>
          </a:solidFill>
          <a:ln w="12700">
            <a:solidFill>
              <a:srgbClr val="0D0D0D"/>
            </a:solidFill>
            <a:prstDash val="solid"/>
          </a:ln>
        </p:spPr>
      </p:sp>
      <p:sp>
        <p:nvSpPr>
          <p:cNvPr id="36" name="Text 34"/>
          <p:cNvSpPr txBox="1"/>
          <p:nvPr/>
        </p:nvSpPr>
        <p:spPr>
          <a:xfrm>
            <a:off x="6219063" y="4664106"/>
            <a:ext cx="1554480" cy="256032"/>
          </a:xfrm>
          <a:prstGeom prst="rect">
            <a:avLst/>
          </a:prstGeom>
          <a:noFill/>
          <a:ln/>
        </p:spPr>
        <p:txBody>
          <a:bodyPr wrap="square" lIns="0" tIns="0" rIns="0" bIns="0" rtlCol="0" anchor="ctr"/>
          <a:lstStyle/>
          <a:p>
            <a:pPr algn="ctr" indent="0" marL="0">
              <a:buNone/>
            </a:pPr>
            <a:r>
              <a:rPr lang="en-US" sz="1100" b="1" dirty="0">
                <a:solidFill>
                  <a:srgbClr val="0D0D0D"/>
                </a:solidFill>
                <a:latin typeface="Consolas" pitchFamily="34" charset="0"/>
                <a:ea typeface="Consolas" pitchFamily="34" charset="-122"/>
                <a:cs typeface="Consolas" pitchFamily="34" charset="-120"/>
              </a:rPr>
              <a:t>1.79</a:t>
            </a:r>
            <a:endParaRPr lang="en-US" sz="1100" dirty="0"/>
          </a:p>
        </p:txBody>
      </p:sp>
      <p:sp>
        <p:nvSpPr>
          <p:cNvPr id="37" name="Shape 35"/>
          <p:cNvSpPr/>
          <p:nvPr/>
        </p:nvSpPr>
        <p:spPr>
          <a:xfrm>
            <a:off x="7471791" y="4965192"/>
            <a:ext cx="566928" cy="64008"/>
          </a:xfrm>
          <a:prstGeom prst="rect">
            <a:avLst/>
          </a:prstGeom>
          <a:solidFill>
            <a:srgbClr val="FFE800"/>
          </a:solidFill>
          <a:ln w="9525">
            <a:solidFill>
              <a:srgbClr val="8A6D00"/>
            </a:solidFill>
            <a:prstDash val="solid"/>
          </a:ln>
        </p:spPr>
      </p:sp>
      <p:sp>
        <p:nvSpPr>
          <p:cNvPr id="38" name="Text 36"/>
          <p:cNvSpPr txBox="1"/>
          <p:nvPr/>
        </p:nvSpPr>
        <p:spPr>
          <a:xfrm>
            <a:off x="6337935" y="5248656"/>
            <a:ext cx="1828800" cy="274320"/>
          </a:xfrm>
          <a:prstGeom prst="rect">
            <a:avLst/>
          </a:prstGeom>
          <a:noFill/>
          <a:ln/>
        </p:spPr>
        <p:txBody>
          <a:bodyPr wrap="square" lIns="0" tIns="0" rIns="0" bIns="0" rtlCol="0" anchor="ctr"/>
          <a:lstStyle/>
          <a:p>
            <a:pPr algn="ctr" indent="0" marL="0">
              <a:buNone/>
            </a:pPr>
            <a:r>
              <a:rPr lang="en-US" sz="1150" dirty="0">
                <a:solidFill>
                  <a:srgbClr val="3F3F3F"/>
                </a:solidFill>
                <a:latin typeface="Inter" pitchFamily="34" charset="0"/>
                <a:ea typeface="Inter" pitchFamily="34" charset="-122"/>
                <a:cs typeface="Inter" pitchFamily="34" charset="-120"/>
              </a:rPr>
              <a:t>TTS</a:t>
            </a:r>
            <a:endParaRPr lang="en-US" sz="1150" dirty="0"/>
          </a:p>
        </p:txBody>
      </p:sp>
      <p:sp>
        <p:nvSpPr>
          <p:cNvPr id="39" name="Shape 37"/>
          <p:cNvSpPr/>
          <p:nvPr/>
        </p:nvSpPr>
        <p:spPr>
          <a:xfrm>
            <a:off x="1691640" y="1783080"/>
            <a:ext cx="182880" cy="182880"/>
          </a:xfrm>
          <a:prstGeom prst="rect">
            <a:avLst/>
          </a:prstGeom>
          <a:solidFill>
            <a:srgbClr val="0D0D0D"/>
          </a:solidFill>
          <a:ln w="12700">
            <a:solidFill>
              <a:srgbClr val="0D0D0D"/>
            </a:solidFill>
            <a:prstDash val="solid"/>
          </a:ln>
        </p:spPr>
      </p:sp>
      <p:sp>
        <p:nvSpPr>
          <p:cNvPr id="40" name="Text 38"/>
          <p:cNvSpPr txBox="1"/>
          <p:nvPr/>
        </p:nvSpPr>
        <p:spPr>
          <a:xfrm>
            <a:off x="1965960" y="1737360"/>
            <a:ext cx="164592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English-trained</a:t>
            </a:r>
            <a:endParaRPr lang="en-US" sz="1100" dirty="0"/>
          </a:p>
        </p:txBody>
      </p:sp>
      <p:sp>
        <p:nvSpPr>
          <p:cNvPr id="41" name="Shape 39"/>
          <p:cNvSpPr/>
          <p:nvPr/>
        </p:nvSpPr>
        <p:spPr>
          <a:xfrm>
            <a:off x="3794760" y="1856232"/>
            <a:ext cx="219456" cy="64008"/>
          </a:xfrm>
          <a:prstGeom prst="rect">
            <a:avLst/>
          </a:prstGeom>
          <a:solidFill>
            <a:srgbClr val="FFE800"/>
          </a:solidFill>
          <a:ln w="9525">
            <a:solidFill>
              <a:srgbClr val="8A6D00"/>
            </a:solidFill>
            <a:prstDash val="solid"/>
          </a:ln>
        </p:spPr>
      </p:sp>
      <p:sp>
        <p:nvSpPr>
          <p:cNvPr id="42" name="Text 40"/>
          <p:cNvSpPr txBox="1"/>
          <p:nvPr/>
        </p:nvSpPr>
        <p:spPr>
          <a:xfrm>
            <a:off x="4105656" y="1737360"/>
            <a:ext cx="420624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Spanish-trained — flat on zero: ≤ 0.01 % on all four attacks</a:t>
            </a:r>
            <a:endParaRPr lang="en-US" sz="1100" dirty="0"/>
          </a:p>
        </p:txBody>
      </p:sp>
      <p:sp>
        <p:nvSpPr>
          <p:cNvPr id="43" name="Text 41"/>
          <p:cNvSpPr txBox="1"/>
          <p:nvPr/>
        </p:nvSpPr>
        <p:spPr>
          <a:xfrm>
            <a:off x="8275320" y="2148840"/>
            <a:ext cx="3200400" cy="548640"/>
          </a:xfrm>
          <a:prstGeom prst="rect">
            <a:avLst/>
          </a:prstGeom>
          <a:noFill/>
          <a:ln/>
        </p:spPr>
        <p:txBody>
          <a:bodyPr wrap="square" lIns="0" tIns="0" rIns="0" bIns="0" rtlCol="0" anchor="ctr"/>
          <a:lstStyle/>
          <a:p>
            <a:pPr indent="0" marL="0">
              <a:lnSpc>
                <a:spcPct val="120000"/>
              </a:lnSpc>
              <a:buNone/>
            </a:pPr>
            <a:r>
              <a:rPr lang="en-US" sz="1300" b="1" dirty="0">
                <a:solidFill>
                  <a:srgbClr val="0D0D0D"/>
                </a:solidFill>
                <a:latin typeface="Inter" pitchFamily="34" charset="0"/>
                <a:ea typeface="Inter" pitchFamily="34" charset="-122"/>
                <a:cs typeface="Inter" pitchFamily="34" charset="-120"/>
              </a:rPr>
              <a:t>Three tall bars = voice conversion</a:t>
            </a:r>
            <a:endParaRPr lang="en-US" sz="1300" dirty="0"/>
          </a:p>
        </p:txBody>
      </p:sp>
      <p:sp>
        <p:nvSpPr>
          <p:cNvPr id="44" name="Text 42"/>
          <p:cNvSpPr txBox="1"/>
          <p:nvPr/>
        </p:nvSpPr>
        <p:spPr>
          <a:xfrm>
            <a:off x="8275320" y="2743200"/>
            <a:ext cx="3154680" cy="1371600"/>
          </a:xfrm>
          <a:prstGeom prst="rect">
            <a:avLst/>
          </a:prstGeom>
          <a:noFill/>
          <a:ln/>
        </p:spPr>
        <p:txBody>
          <a:bodyPr wrap="square" lIns="0" tIns="0" rIns="0" bIns="0" rtlCol="0" anchor="ctr"/>
          <a:lstStyle/>
          <a:p>
            <a:pPr indent="0" marL="0">
              <a:lnSpc>
                <a:spcPct val="130000"/>
              </a:lnSpc>
              <a:buNone/>
            </a:pPr>
            <a:r>
              <a:rPr lang="en-US" sz="1300" dirty="0">
                <a:solidFill>
                  <a:srgbClr val="3F3F3F"/>
                </a:solidFill>
                <a:latin typeface="Inter" pitchFamily="34" charset="0"/>
                <a:ea typeface="Inter" pitchFamily="34" charset="-122"/>
                <a:cs typeface="Inter" pitchFamily="34" charset="-120"/>
              </a:rPr>
              <a:t>66 % is </a:t>
            </a:r>
            <a:pPr indent="0" marL="0">
              <a:lnSpc>
                <a:spcPct val="130000"/>
              </a:lnSpc>
              <a:buNone/>
            </a:pPr>
            <a:r>
              <a:rPr lang="en-US" sz="1300" b="1" dirty="0">
                <a:solidFill>
                  <a:srgbClr val="0D0D0D"/>
                </a:solidFill>
                <a:latin typeface="Inter" pitchFamily="34" charset="0"/>
                <a:ea typeface="Inter" pitchFamily="34" charset="-122"/>
                <a:cs typeface="Inter" pitchFamily="34" charset="-120"/>
              </a:rPr>
              <a:t>worse than chance</a:t>
            </a:r>
            <a:pPr indent="0" marL="0">
              <a:lnSpc>
                <a:spcPct val="130000"/>
              </a:lnSpc>
              <a:buNone/>
            </a:pPr>
            <a:r>
              <a:rPr lang="en-US" sz="1300" dirty="0">
                <a:solidFill>
                  <a:srgbClr val="3F3F3F"/>
                </a:solidFill>
                <a:latin typeface="Inter" pitchFamily="34" charset="0"/>
                <a:ea typeface="Inter" pitchFamily="34" charset="-122"/>
                <a:cs typeface="Inter" pitchFamily="34" charset="-120"/>
              </a:rPr>
              <a:t> — that model is not confused, it is systematically wrong. You would do better inverting its answer.</a:t>
            </a:r>
            <a:endParaRPr lang="en-US" sz="1300" dirty="0"/>
          </a:p>
        </p:txBody>
      </p:sp>
      <p:sp>
        <p:nvSpPr>
          <p:cNvPr id="45" name="Shape 43"/>
          <p:cNvSpPr/>
          <p:nvPr/>
        </p:nvSpPr>
        <p:spPr>
          <a:xfrm>
            <a:off x="8275320" y="4251960"/>
            <a:ext cx="3154680" cy="0"/>
          </a:xfrm>
          <a:prstGeom prst="line">
            <a:avLst/>
          </a:prstGeom>
          <a:noFill/>
          <a:ln w="12700">
            <a:solidFill>
              <a:srgbClr val="E6E6E6"/>
            </a:solidFill>
            <a:prstDash val="solid"/>
          </a:ln>
        </p:spPr>
      </p:sp>
      <p:sp>
        <p:nvSpPr>
          <p:cNvPr id="46" name="Text 44"/>
          <p:cNvSpPr txBox="1"/>
          <p:nvPr/>
        </p:nvSpPr>
        <p:spPr>
          <a:xfrm>
            <a:off x="8275320" y="4434840"/>
            <a:ext cx="3154680" cy="109728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And the short bar is text-to-speech. Same model. Never saw a word of Spanish.</a:t>
            </a:r>
            <a:endParaRPr lang="en-US" sz="1250" dirty="0"/>
          </a:p>
        </p:txBody>
      </p:sp>
      <p:sp>
        <p:nvSpPr>
          <p:cNvPr id="47" name="Text 45"/>
          <p:cNvSpPr txBox="1"/>
          <p:nvPr/>
        </p:nvSpPr>
        <p:spPr>
          <a:xfrm>
            <a:off x="731520" y="571500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6 — LCNN-LSTM-sum · P2S-Grad.</a:t>
            </a:r>
            <a:endParaRPr lang="en-US" sz="900" dirty="0"/>
          </a:p>
        </p:txBody>
      </p:sp>
      <p:pic>
        <p:nvPicPr>
          <p:cNvPr id="48"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49" name="Text 46"/>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50" name="Text 47"/>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NUMBER TO REMEMBER  ·  TRAINED ON ENGLISH  ·  TESTED ON SPANISH  ·  TTS ATTACKS ONLY</a:t>
            </a:r>
            <a:endParaRPr lang="en-US" sz="1000" dirty="0"/>
          </a:p>
        </p:txBody>
      </p:sp>
      <p:sp>
        <p:nvSpPr>
          <p:cNvPr id="3" name="Shape 1"/>
          <p:cNvSpPr/>
          <p:nvPr/>
        </p:nvSpPr>
        <p:spPr>
          <a:xfrm>
            <a:off x="685800" y="2944368"/>
            <a:ext cx="6035040" cy="566928"/>
          </a:xfrm>
          <a:prstGeom prst="rect">
            <a:avLst/>
          </a:prstGeom>
          <a:solidFill>
            <a:srgbClr val="FFE800"/>
          </a:solidFill>
          <a:ln w="12700">
            <a:solidFill>
              <a:srgbClr val="FFE800"/>
            </a:solidFill>
            <a:prstDash val="solid"/>
          </a:ln>
        </p:spPr>
      </p:sp>
      <p:sp>
        <p:nvSpPr>
          <p:cNvPr id="4" name="Text 2"/>
          <p:cNvSpPr txBox="1"/>
          <p:nvPr/>
        </p:nvSpPr>
        <p:spPr>
          <a:xfrm>
            <a:off x="731520" y="1737360"/>
            <a:ext cx="7772400" cy="2011680"/>
          </a:xfrm>
          <a:prstGeom prst="rect">
            <a:avLst/>
          </a:prstGeom>
          <a:noFill/>
          <a:ln/>
        </p:spPr>
        <p:txBody>
          <a:bodyPr wrap="square" lIns="0" tIns="0" rIns="0" bIns="0" rtlCol="0" anchor="ctr"/>
          <a:lstStyle/>
          <a:p>
            <a:pPr indent="0" marL="0">
              <a:buNone/>
            </a:pPr>
            <a:r>
              <a:rPr lang="en-US" sz="15000" b="1" dirty="0">
                <a:solidFill>
                  <a:srgbClr val="0D0D0D"/>
                </a:solidFill>
                <a:latin typeface="Inter" pitchFamily="34" charset="0"/>
                <a:ea typeface="Inter" pitchFamily="34" charset="-122"/>
                <a:cs typeface="Inter" pitchFamily="34" charset="-120"/>
              </a:rPr>
              <a:t>1.79 %</a:t>
            </a:r>
            <a:endParaRPr lang="en-US" sz="15000" dirty="0"/>
          </a:p>
        </p:txBody>
      </p:sp>
      <p:sp>
        <p:nvSpPr>
          <p:cNvPr id="5" name="Text 3"/>
          <p:cNvSpPr txBox="1"/>
          <p:nvPr/>
        </p:nvSpPr>
        <p:spPr>
          <a:xfrm>
            <a:off x="731520" y="3977640"/>
            <a:ext cx="6949440" cy="822960"/>
          </a:xfrm>
          <a:prstGeom prst="rect">
            <a:avLst/>
          </a:prstGeom>
          <a:noFill/>
          <a:ln/>
        </p:spPr>
        <p:txBody>
          <a:bodyPr wrap="square" lIns="0" tIns="0" rIns="0" bIns="0" rtlCol="0" anchor="ctr"/>
          <a:lstStyle/>
          <a:p>
            <a:pPr indent="0" marL="0">
              <a:lnSpc>
                <a:spcPct val="128000"/>
              </a:lnSpc>
              <a:buNone/>
            </a:pPr>
            <a:r>
              <a:rPr lang="en-US" sz="1700" dirty="0">
                <a:solidFill>
                  <a:srgbClr val="3F3F3F"/>
                </a:solidFill>
                <a:latin typeface="Inter" pitchFamily="34" charset="0"/>
                <a:ea typeface="Inter" pitchFamily="34" charset="-122"/>
                <a:cs typeface="Inter" pitchFamily="34" charset="-120"/>
              </a:rPr>
              <a:t>The same broken condition as two slides ago</a:t>
            </a:r>
            <a:pPr indent="0" marL="0">
              <a:lnSpc>
                <a:spcPct val="128000"/>
              </a:lnSpc>
              <a:buNone/>
            </a:pPr>
            <a:r>
              <a:rPr lang="en-US" sz="1700" dirty="0">
                <a:solidFill>
                  <a:srgbClr val="3F3F3F"/>
                </a:solidFill>
                <a:latin typeface="Inter" pitchFamily="34" charset="0"/>
                <a:ea typeface="Inter" pitchFamily="34" charset="-122"/>
                <a:cs typeface="Inter" pitchFamily="34" charset="-120"/>
              </a:rPr>
              <a:t> — English-trained, Spanish-tested — </a:t>
            </a:r>
            <a:pPr indent="0" marL="0">
              <a:lnSpc>
                <a:spcPct val="128000"/>
              </a:lnSpc>
              <a:buNone/>
            </a:pPr>
            <a:r>
              <a:rPr lang="en-US" sz="1700" b="1" dirty="0">
                <a:solidFill>
                  <a:srgbClr val="0D0D0D"/>
                </a:solidFill>
                <a:latin typeface="Inter" pitchFamily="34" charset="0"/>
                <a:ea typeface="Inter" pitchFamily="34" charset="-122"/>
                <a:cs typeface="Inter" pitchFamily="34" charset="-120"/>
              </a:rPr>
              <a:t>sliced down to the synthesised attacks alone.</a:t>
            </a:r>
            <a:endParaRPr lang="en-US" sz="1700" dirty="0"/>
          </a:p>
        </p:txBody>
      </p:sp>
      <p:sp>
        <p:nvSpPr>
          <p:cNvPr id="6" name="Shape 4"/>
          <p:cNvSpPr/>
          <p:nvPr/>
        </p:nvSpPr>
        <p:spPr>
          <a:xfrm>
            <a:off x="7619695" y="3794760"/>
            <a:ext cx="3840480" cy="1691640"/>
          </a:xfrm>
          <a:prstGeom prst="roundRect">
            <a:avLst>
              <a:gd name="adj" fmla="val 3243"/>
            </a:avLst>
          </a:prstGeom>
          <a:solidFill>
            <a:srgbClr val="FFFFFF"/>
          </a:solidFill>
          <a:ln w="12700">
            <a:solidFill>
              <a:srgbClr val="0D0D0D"/>
            </a:solidFill>
            <a:prstDash val="solid"/>
          </a:ln>
        </p:spPr>
      </p:sp>
      <p:sp>
        <p:nvSpPr>
          <p:cNvPr id="7" name="Text 5"/>
          <p:cNvSpPr txBox="1"/>
          <p:nvPr/>
        </p:nvSpPr>
        <p:spPr>
          <a:xfrm>
            <a:off x="7848295" y="3950208"/>
            <a:ext cx="3474720" cy="274320"/>
          </a:xfrm>
          <a:prstGeom prst="rect">
            <a:avLst/>
          </a:prstGeom>
          <a:noFill/>
          <a:ln/>
        </p:spPr>
        <p:txBody>
          <a:bodyPr wrap="square" lIns="0" tIns="0" rIns="0" bIns="0" rtlCol="0" anchor="ctr"/>
          <a:lstStyle/>
          <a:p>
            <a:pPr indent="0" marL="0">
              <a:buNone/>
            </a:pPr>
            <a:r>
              <a:rPr lang="en-US" sz="1000" b="1" spc="140" kern="0" dirty="0">
                <a:solidFill>
                  <a:srgbClr val="8C8C8C"/>
                </a:solidFill>
                <a:latin typeface="Inter" pitchFamily="34" charset="0"/>
                <a:ea typeface="Inter" pitchFamily="34" charset="-122"/>
                <a:cs typeface="Inter" pitchFamily="34" charset="-120"/>
              </a:rPr>
              <a:t>Say this out loud</a:t>
            </a:r>
            <a:endParaRPr lang="en-US" sz="1000" dirty="0"/>
          </a:p>
        </p:txBody>
      </p:sp>
      <p:sp>
        <p:nvSpPr>
          <p:cNvPr id="8" name="Text 6"/>
          <p:cNvSpPr txBox="1"/>
          <p:nvPr/>
        </p:nvSpPr>
        <p:spPr>
          <a:xfrm>
            <a:off x="7848295" y="4251960"/>
            <a:ext cx="3474720" cy="1188720"/>
          </a:xfrm>
          <a:prstGeom prst="rect">
            <a:avLst/>
          </a:prstGeom>
          <a:noFill/>
          <a:ln/>
        </p:spPr>
        <p:txBody>
          <a:bodyPr wrap="square" lIns="0" tIns="0" rIns="0" bIns="0" rtlCol="0" anchor="ctr"/>
          <a:lstStyle/>
          <a:p>
            <a:pPr indent="0" marL="0">
              <a:lnSpc>
                <a:spcPct val="128000"/>
              </a:lnSpc>
              <a:buNone/>
            </a:pPr>
            <a:r>
              <a:rPr lang="en-US" sz="1150" dirty="0">
                <a:solidFill>
                  <a:srgbClr val="3F3F3F"/>
                </a:solidFill>
                <a:latin typeface="Inter" pitchFamily="34" charset="0"/>
                <a:ea typeface="Inter" pitchFamily="34" charset="-122"/>
                <a:cs typeface="Inter" pitchFamily="34" charset="-120"/>
              </a:rPr>
              <a:t>1.79 is the </a:t>
            </a:r>
            <a:pPr indent="0" marL="0">
              <a:lnSpc>
                <a:spcPct val="128000"/>
              </a:lnSpc>
              <a:buNone/>
            </a:pPr>
            <a:r>
              <a:rPr lang="en-US" sz="1150" b="1" dirty="0">
                <a:solidFill>
                  <a:srgbClr val="0D0D0D"/>
                </a:solidFill>
                <a:latin typeface="Inter" pitchFamily="34" charset="0"/>
                <a:ea typeface="Inter" pitchFamily="34" charset="-122"/>
                <a:cs typeface="Inter" pitchFamily="34" charset="-120"/>
              </a:rPr>
              <a:t>best</a:t>
            </a:r>
            <a:pPr indent="0" marL="0">
              <a:lnSpc>
                <a:spcPct val="128000"/>
              </a:lnSpc>
              <a:buNone/>
            </a:pPr>
            <a:r>
              <a:rPr lang="en-US" sz="1150" dirty="0">
                <a:solidFill>
                  <a:srgbClr val="3F3F3F"/>
                </a:solidFill>
                <a:latin typeface="Inter" pitchFamily="34" charset="0"/>
                <a:ea typeface="Inter" pitchFamily="34" charset="-122"/>
                <a:cs typeface="Inter" pitchFamily="34" charset="-120"/>
              </a:rPr>
              <a:t> English-trained model. Across back-ends the TTS column moves an order of magnitude — 1.79, 16.92, 46.11. And this is </a:t>
            </a:r>
            <a:pPr indent="0" marL="0">
              <a:lnSpc>
                <a:spcPct val="128000"/>
              </a:lnSpc>
              <a:buNone/>
            </a:pPr>
            <a:r>
              <a:rPr lang="en-US" sz="1150" b="1" dirty="0">
                <a:solidFill>
                  <a:srgbClr val="0D0D0D"/>
                </a:solidFill>
                <a:latin typeface="Inter" pitchFamily="34" charset="0"/>
                <a:ea typeface="Inter" pitchFamily="34" charset="-122"/>
                <a:cs typeface="Inter" pitchFamily="34" charset="-120"/>
              </a:rPr>
              <a:t>a single TTS column</a:t>
            </a:r>
            <a:pPr indent="0" marL="0">
              <a:lnSpc>
                <a:spcPct val="128000"/>
              </a:lnSpc>
              <a:buNone/>
            </a:pPr>
            <a:r>
              <a:rPr lang="en-US" sz="1150" dirty="0">
                <a:solidFill>
                  <a:srgbClr val="3F3F3F"/>
                </a:solidFill>
                <a:latin typeface="Inter" pitchFamily="34" charset="0"/>
                <a:ea typeface="Inter" pitchFamily="34" charset="-122"/>
                <a:cs typeface="Inter" pitchFamily="34" charset="-120"/>
              </a:rPr>
              <a:t> against three conversion families.</a:t>
            </a:r>
            <a:endParaRPr lang="en-US" sz="1150" dirty="0"/>
          </a:p>
        </p:txBody>
      </p:sp>
      <p:sp>
        <p:nvSpPr>
          <p:cNvPr id="9" name="Text 7"/>
          <p:cNvSpPr txBox="1"/>
          <p:nvPr/>
        </p:nvSpPr>
        <p:spPr>
          <a:xfrm>
            <a:off x="731520" y="576072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Vocoder artefacts survive the language change.</a:t>
            </a:r>
            <a:pPr indent="0" marL="0">
              <a:buNone/>
            </a:pPr>
            <a:r>
              <a:rPr lang="en-US" sz="1500" dirty="0">
                <a:solidFill>
                  <a:srgbClr val="8C8C8C"/>
                </a:solidFill>
                <a:latin typeface="Inter" pitchFamily="34" charset="0"/>
                <a:ea typeface="Inter" pitchFamily="34" charset="-122"/>
                <a:cs typeface="Inter" pitchFamily="34" charset="-120"/>
              </a:rPr>
              <a:t> Conversion artefacts do not.</a:t>
            </a:r>
            <a:endParaRPr lang="en-US" sz="1500" dirty="0"/>
          </a:p>
        </p:txBody>
      </p:sp>
      <p:pic>
        <p:nvPicPr>
          <p:cNvPr id="10"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1" name="Text 8"/>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2" name="Text 9"/>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BACK TO YOUR HANDS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Both were fake.</a:t>
            </a:r>
            <a:pPr indent="0" marL="0">
              <a:buNone/>
            </a:pPr>
            <a:r>
              <a:rPr lang="en-US" sz="3000" b="1" dirty="0">
                <a:solidFill>
                  <a:srgbClr val="BDBDBD"/>
                </a:solidFill>
                <a:latin typeface="Inter" pitchFamily="34" charset="0"/>
                <a:ea typeface="Inter" pitchFamily="34" charset="-122"/>
                <a:cs typeface="Inter" pitchFamily="34" charset="-120"/>
              </a:rPr>
              <a:t> You trusted the one the network misses.</a:t>
            </a:r>
            <a:endParaRPr lang="en-US" sz="3000" dirty="0"/>
          </a:p>
        </p:txBody>
      </p:sp>
      <p:sp>
        <p:nvSpPr>
          <p:cNvPr id="4" name="Shape 2"/>
          <p:cNvSpPr/>
          <p:nvPr/>
        </p:nvSpPr>
        <p:spPr>
          <a:xfrm>
            <a:off x="731520" y="2148840"/>
            <a:ext cx="5135728" cy="2606040"/>
          </a:xfrm>
          <a:prstGeom prst="roundRect">
            <a:avLst>
              <a:gd name="adj" fmla="val 2105"/>
            </a:avLst>
          </a:prstGeom>
          <a:solidFill>
            <a:srgbClr val="F7F7F5"/>
          </a:solidFill>
          <a:ln w="12700">
            <a:solidFill>
              <a:srgbClr val="E6E6E6"/>
            </a:solidFill>
            <a:prstDash val="solid"/>
          </a:ln>
        </p:spPr>
      </p:sp>
      <p:sp>
        <p:nvSpPr>
          <p:cNvPr id="5" name="Text 3"/>
          <p:cNvSpPr txBox="1"/>
          <p:nvPr/>
        </p:nvSpPr>
        <p:spPr>
          <a:xfrm>
            <a:off x="1188720" y="2331720"/>
            <a:ext cx="914400" cy="566928"/>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A</a:t>
            </a:r>
            <a:endParaRPr lang="en-US" sz="3600" dirty="0"/>
          </a:p>
        </p:txBody>
      </p:sp>
      <p:sp>
        <p:nvSpPr>
          <p:cNvPr id="6" name="Text 4"/>
          <p:cNvSpPr txBox="1"/>
          <p:nvPr/>
        </p:nvSpPr>
        <p:spPr>
          <a:xfrm>
            <a:off x="1188720" y="2926080"/>
            <a:ext cx="4221328" cy="329184"/>
          </a:xfrm>
          <a:prstGeom prst="rect">
            <a:avLst/>
          </a:prstGeom>
          <a:noFill/>
          <a:ln/>
        </p:spPr>
        <p:txBody>
          <a:bodyPr wrap="square" lIns="0" tIns="0" rIns="0" bIns="0" rtlCol="0" anchor="ctr"/>
          <a:lstStyle/>
          <a:p>
            <a:pPr indent="0" marL="0">
              <a:buNone/>
            </a:pPr>
            <a:r>
              <a:rPr lang="en-US" sz="1600" b="1" spc="120" kern="0" dirty="0">
                <a:solidFill>
                  <a:srgbClr val="0D0D0D"/>
                </a:solidFill>
                <a:latin typeface="Inter" pitchFamily="34" charset="0"/>
                <a:ea typeface="Inter" pitchFamily="34" charset="-122"/>
                <a:cs typeface="Inter" pitchFamily="34" charset="-120"/>
              </a:rPr>
              <a:t>TEXT-TO-SPEECH</a:t>
            </a:r>
            <a:endParaRPr lang="en-US" sz="1600" dirty="0"/>
          </a:p>
        </p:txBody>
      </p:sp>
      <p:sp>
        <p:nvSpPr>
          <p:cNvPr id="7" name="Text 5"/>
          <p:cNvSpPr txBox="1"/>
          <p:nvPr/>
        </p:nvSpPr>
        <p:spPr>
          <a:xfrm>
            <a:off x="1188720" y="3291840"/>
            <a:ext cx="4221328" cy="292608"/>
          </a:xfrm>
          <a:prstGeom prst="rect">
            <a:avLst/>
          </a:prstGeom>
          <a:noFill/>
          <a:ln/>
        </p:spPr>
        <p:txBody>
          <a:bodyPr wrap="square" lIns="0" tIns="0" rIns="0" bIns="0" rtlCol="0" anchor="ctr"/>
          <a:lstStyle/>
          <a:p>
            <a:pPr indent="0" marL="0">
              <a:buNone/>
            </a:pPr>
            <a:r>
              <a:rPr lang="en-US" sz="1400" i="1" dirty="0">
                <a:solidFill>
                  <a:srgbClr val="3F3F3F"/>
                </a:solidFill>
                <a:latin typeface="Inter" pitchFamily="34" charset="0"/>
                <a:ea typeface="Inter" pitchFamily="34" charset="-122"/>
                <a:cs typeface="Inter" pitchFamily="34" charset="-120"/>
              </a:rPr>
              <a:t>you flagged it</a:t>
            </a:r>
            <a:endParaRPr lang="en-US" sz="1400" dirty="0"/>
          </a:p>
        </p:txBody>
      </p:sp>
      <p:sp>
        <p:nvSpPr>
          <p:cNvPr id="8" name="Shape 6"/>
          <p:cNvSpPr/>
          <p:nvPr/>
        </p:nvSpPr>
        <p:spPr>
          <a:xfrm>
            <a:off x="1188720" y="3703320"/>
            <a:ext cx="4221328" cy="0"/>
          </a:xfrm>
          <a:prstGeom prst="line">
            <a:avLst/>
          </a:prstGeom>
          <a:noFill/>
          <a:ln w="12700">
            <a:solidFill>
              <a:srgbClr val="E6E6E6"/>
            </a:solidFill>
            <a:prstDash val="solid"/>
          </a:ln>
        </p:spPr>
      </p:sp>
      <p:sp>
        <p:nvSpPr>
          <p:cNvPr id="9" name="Text 7"/>
          <p:cNvSpPr txBox="1"/>
          <p:nvPr/>
        </p:nvSpPr>
        <p:spPr>
          <a:xfrm>
            <a:off x="1188720" y="3840480"/>
            <a:ext cx="4221328" cy="457200"/>
          </a:xfrm>
          <a:prstGeom prst="rect">
            <a:avLst/>
          </a:prstGeom>
          <a:noFill/>
          <a:ln/>
        </p:spPr>
        <p:txBody>
          <a:bodyPr wrap="square" lIns="0" tIns="0" rIns="0" bIns="0" rtlCol="0" anchor="ctr"/>
          <a:lstStyle/>
          <a:p>
            <a:pPr indent="0" marL="0">
              <a:buNone/>
            </a:pPr>
            <a:r>
              <a:rPr lang="en-US" sz="2800" b="1" dirty="0">
                <a:solidFill>
                  <a:srgbClr val="0D0D0D"/>
                </a:solidFill>
                <a:latin typeface="Inter" pitchFamily="34" charset="0"/>
                <a:ea typeface="Inter" pitchFamily="34" charset="-122"/>
                <a:cs typeface="Inter" pitchFamily="34" charset="-120"/>
              </a:rPr>
              <a:t>1.79 %</a:t>
            </a:r>
            <a:endParaRPr lang="en-US" sz="2800" dirty="0"/>
          </a:p>
        </p:txBody>
      </p:sp>
      <p:sp>
        <p:nvSpPr>
          <p:cNvPr id="10" name="Text 8"/>
          <p:cNvSpPr txBox="1"/>
          <p:nvPr/>
        </p:nvSpPr>
        <p:spPr>
          <a:xfrm>
            <a:off x="1188720" y="4315968"/>
            <a:ext cx="4221328" cy="292608"/>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the detector caught it too</a:t>
            </a:r>
            <a:endParaRPr lang="en-US" sz="1200" dirty="0"/>
          </a:p>
        </p:txBody>
      </p:sp>
      <p:sp>
        <p:nvSpPr>
          <p:cNvPr id="11" name="Shape 9"/>
          <p:cNvSpPr/>
          <p:nvPr/>
        </p:nvSpPr>
        <p:spPr>
          <a:xfrm>
            <a:off x="6324448" y="2148840"/>
            <a:ext cx="5135728" cy="2606040"/>
          </a:xfrm>
          <a:prstGeom prst="roundRect">
            <a:avLst>
              <a:gd name="adj" fmla="val 2105"/>
            </a:avLst>
          </a:prstGeom>
          <a:solidFill>
            <a:srgbClr val="FFFBCC"/>
          </a:solidFill>
          <a:ln w="19050">
            <a:solidFill>
              <a:srgbClr val="FFE800"/>
            </a:solidFill>
            <a:prstDash val="solid"/>
          </a:ln>
        </p:spPr>
      </p:sp>
      <p:sp>
        <p:nvSpPr>
          <p:cNvPr id="12" name="Text 10"/>
          <p:cNvSpPr txBox="1"/>
          <p:nvPr/>
        </p:nvSpPr>
        <p:spPr>
          <a:xfrm>
            <a:off x="6781648" y="2331720"/>
            <a:ext cx="914400" cy="566928"/>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B</a:t>
            </a:r>
            <a:endParaRPr lang="en-US" sz="3600" dirty="0"/>
          </a:p>
        </p:txBody>
      </p:sp>
      <p:sp>
        <p:nvSpPr>
          <p:cNvPr id="13" name="Text 11"/>
          <p:cNvSpPr txBox="1"/>
          <p:nvPr/>
        </p:nvSpPr>
        <p:spPr>
          <a:xfrm>
            <a:off x="6781648" y="2926080"/>
            <a:ext cx="4221328" cy="329184"/>
          </a:xfrm>
          <a:prstGeom prst="rect">
            <a:avLst/>
          </a:prstGeom>
          <a:noFill/>
          <a:ln/>
        </p:spPr>
        <p:txBody>
          <a:bodyPr wrap="square" lIns="0" tIns="0" rIns="0" bIns="0" rtlCol="0" anchor="ctr"/>
          <a:lstStyle/>
          <a:p>
            <a:pPr indent="0" marL="0">
              <a:buNone/>
            </a:pPr>
            <a:r>
              <a:rPr lang="en-US" sz="1600" b="1" spc="120" kern="0" dirty="0">
                <a:solidFill>
                  <a:srgbClr val="0D0D0D"/>
                </a:solidFill>
                <a:latin typeface="Inter" pitchFamily="34" charset="0"/>
                <a:ea typeface="Inter" pitchFamily="34" charset="-122"/>
                <a:cs typeface="Inter" pitchFamily="34" charset="-120"/>
              </a:rPr>
              <a:t>VOICE CONVERSION</a:t>
            </a:r>
            <a:endParaRPr lang="en-US" sz="1600" dirty="0"/>
          </a:p>
        </p:txBody>
      </p:sp>
      <p:sp>
        <p:nvSpPr>
          <p:cNvPr id="14" name="Text 12"/>
          <p:cNvSpPr txBox="1"/>
          <p:nvPr/>
        </p:nvSpPr>
        <p:spPr>
          <a:xfrm>
            <a:off x="6781648" y="3291840"/>
            <a:ext cx="4221328" cy="292608"/>
          </a:xfrm>
          <a:prstGeom prst="rect">
            <a:avLst/>
          </a:prstGeom>
          <a:noFill/>
          <a:ln/>
        </p:spPr>
        <p:txBody>
          <a:bodyPr wrap="square" lIns="0" tIns="0" rIns="0" bIns="0" rtlCol="0" anchor="ctr"/>
          <a:lstStyle/>
          <a:p>
            <a:pPr indent="0" marL="0">
              <a:buNone/>
            </a:pPr>
            <a:r>
              <a:rPr lang="en-US" sz="1400" i="1" dirty="0">
                <a:solidFill>
                  <a:srgbClr val="3F3F3F"/>
                </a:solidFill>
                <a:latin typeface="Inter" pitchFamily="34" charset="0"/>
                <a:ea typeface="Inter" pitchFamily="34" charset="-122"/>
                <a:cs typeface="Inter" pitchFamily="34" charset="-120"/>
              </a:rPr>
              <a:t>you trusted it</a:t>
            </a:r>
            <a:endParaRPr lang="en-US" sz="1400" dirty="0"/>
          </a:p>
        </p:txBody>
      </p:sp>
      <p:sp>
        <p:nvSpPr>
          <p:cNvPr id="15" name="Shape 13"/>
          <p:cNvSpPr/>
          <p:nvPr/>
        </p:nvSpPr>
        <p:spPr>
          <a:xfrm>
            <a:off x="6781648" y="3703320"/>
            <a:ext cx="4221328" cy="0"/>
          </a:xfrm>
          <a:prstGeom prst="line">
            <a:avLst/>
          </a:prstGeom>
          <a:noFill/>
          <a:ln w="12700">
            <a:solidFill>
              <a:srgbClr val="FFE800"/>
            </a:solidFill>
            <a:prstDash val="solid"/>
          </a:ln>
        </p:spPr>
      </p:sp>
      <p:sp>
        <p:nvSpPr>
          <p:cNvPr id="16" name="Text 14"/>
          <p:cNvSpPr txBox="1"/>
          <p:nvPr/>
        </p:nvSpPr>
        <p:spPr>
          <a:xfrm>
            <a:off x="6781648" y="3840480"/>
            <a:ext cx="4221328" cy="457200"/>
          </a:xfrm>
          <a:prstGeom prst="rect">
            <a:avLst/>
          </a:prstGeom>
          <a:noFill/>
          <a:ln/>
        </p:spPr>
        <p:txBody>
          <a:bodyPr wrap="square" lIns="0" tIns="0" rIns="0" bIns="0" rtlCol="0" anchor="ctr"/>
          <a:lstStyle/>
          <a:p>
            <a:pPr indent="0" marL="0">
              <a:buNone/>
            </a:pPr>
            <a:r>
              <a:rPr lang="en-US" sz="2800" b="1" dirty="0">
                <a:solidFill>
                  <a:srgbClr val="0D0D0D"/>
                </a:solidFill>
                <a:latin typeface="Inter" pitchFamily="34" charset="0"/>
                <a:ea typeface="Inter" pitchFamily="34" charset="-122"/>
                <a:cs typeface="Inter" pitchFamily="34" charset="-120"/>
              </a:rPr>
              <a:t>52 – 66 %</a:t>
            </a:r>
            <a:endParaRPr lang="en-US" sz="2800" dirty="0"/>
          </a:p>
        </p:txBody>
      </p:sp>
      <p:sp>
        <p:nvSpPr>
          <p:cNvPr id="17" name="Text 15"/>
          <p:cNvSpPr txBox="1"/>
          <p:nvPr/>
        </p:nvSpPr>
        <p:spPr>
          <a:xfrm>
            <a:off x="6781648" y="4315968"/>
            <a:ext cx="4221328" cy="292608"/>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the detector missed it too</a:t>
            </a:r>
            <a:endParaRPr lang="en-US" sz="1200" dirty="0"/>
          </a:p>
        </p:txBody>
      </p:sp>
      <p:sp>
        <p:nvSpPr>
          <p:cNvPr id="18" name="Text 16"/>
          <p:cNvSpPr txBox="1"/>
          <p:nvPr/>
        </p:nvSpPr>
        <p:spPr>
          <a:xfrm>
            <a:off x="731520" y="5029200"/>
            <a:ext cx="10728655" cy="731520"/>
          </a:xfrm>
          <a:prstGeom prst="rect">
            <a:avLst/>
          </a:prstGeom>
          <a:noFill/>
          <a:ln/>
        </p:spPr>
        <p:txBody>
          <a:bodyPr wrap="square" lIns="0" tIns="0" rIns="0" bIns="0" rtlCol="0" anchor="ctr"/>
          <a:lstStyle/>
          <a:p>
            <a:pPr algn="ctr" indent="0" marL="0">
              <a:lnSpc>
                <a:spcPct val="125000"/>
              </a:lnSpc>
              <a:buNone/>
            </a:pPr>
            <a:r>
              <a:rPr lang="en-US" sz="1800" dirty="0">
                <a:solidFill>
                  <a:srgbClr val="0D0D0D"/>
                </a:solidFill>
                <a:latin typeface="Inter" pitchFamily="34" charset="0"/>
                <a:ea typeface="Inter" pitchFamily="34" charset="-122"/>
                <a:cs typeface="Inter" pitchFamily="34" charset="-120"/>
              </a:rPr>
              <a:t>You failed at the same task, in the same direction, as a neural network trained on twenty-five thousand utterances.</a:t>
            </a:r>
            <a:endParaRPr lang="en-US" sz="1800" dirty="0"/>
          </a:p>
        </p:txBody>
      </p:sp>
      <p:sp>
        <p:nvSpPr>
          <p:cNvPr id="19" name="Text 17"/>
          <p:cNvSpPr txBox="1"/>
          <p:nvPr/>
        </p:nvSpPr>
        <p:spPr>
          <a:xfrm>
            <a:off x="731520" y="589788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EER for the best English-trained model on the Spanish evaluation set, by attack family — Table 6.</a:t>
            </a:r>
            <a:endParaRPr lang="en-US" sz="900" dirty="0"/>
          </a:p>
        </p:txBody>
      </p:sp>
      <p:pic>
        <p:nvPicPr>
          <p:cNvPr id="20"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21" name="Text 18"/>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22" name="Text 19"/>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FIX</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2900" b="1" dirty="0">
                <a:solidFill>
                  <a:srgbClr val="0D0D0D"/>
                </a:solidFill>
                <a:latin typeface="Inter" pitchFamily="34" charset="0"/>
                <a:ea typeface="Inter" pitchFamily="34" charset="-122"/>
                <a:cs typeface="Inter" pitchFamily="34" charset="-120"/>
              </a:rPr>
              <a:t>Adding Spanish fixes Spanish.</a:t>
            </a:r>
            <a:pPr indent="0" marL="0">
              <a:buNone/>
            </a:pPr>
            <a:r>
              <a:rPr lang="en-US" sz="2900" b="1" dirty="0">
                <a:solidFill>
                  <a:srgbClr val="BDBDBD"/>
                </a:solidFill>
                <a:latin typeface="Inter" pitchFamily="34" charset="0"/>
                <a:ea typeface="Inter" pitchFamily="34" charset="-122"/>
                <a:cs typeface="Inter" pitchFamily="34" charset="-120"/>
              </a:rPr>
              <a:t> The surprise is the price.</a:t>
            </a:r>
            <a:endParaRPr lang="en-US" sz="2900" dirty="0"/>
          </a:p>
        </p:txBody>
      </p:sp>
      <p:sp>
        <p:nvSpPr>
          <p:cNvPr id="4" name="Text 2"/>
          <p:cNvSpPr txBox="1"/>
          <p:nvPr/>
        </p:nvSpPr>
        <p:spPr>
          <a:xfrm>
            <a:off x="3154680" y="2331720"/>
            <a:ext cx="3291840" cy="256032"/>
          </a:xfrm>
          <a:prstGeom prst="rect">
            <a:avLst/>
          </a:prstGeom>
          <a:noFill/>
          <a:ln/>
        </p:spPr>
        <p:txBody>
          <a:bodyPr wrap="square" lIns="0" tIns="0" rIns="0" bIns="0" rtlCol="0" anchor="ctr"/>
          <a:lstStyle/>
          <a:p>
            <a:pPr indent="0" marL="0">
              <a:buNone/>
            </a:pPr>
            <a:r>
              <a:rPr lang="en-US" sz="1100" b="1" spc="120" kern="0" dirty="0">
                <a:solidFill>
                  <a:srgbClr val="0D0D0D"/>
                </a:solidFill>
                <a:latin typeface="Inter" pitchFamily="34" charset="0"/>
                <a:ea typeface="Inter" pitchFamily="34" charset="-122"/>
                <a:cs typeface="Inter" pitchFamily="34" charset="-120"/>
              </a:rPr>
              <a:t>ENGLISH-ONLY MODEL</a:t>
            </a:r>
            <a:endParaRPr lang="en-US" sz="1100" dirty="0"/>
          </a:p>
        </p:txBody>
      </p:sp>
      <p:sp>
        <p:nvSpPr>
          <p:cNvPr id="5" name="Text 3"/>
          <p:cNvSpPr txBox="1"/>
          <p:nvPr/>
        </p:nvSpPr>
        <p:spPr>
          <a:xfrm>
            <a:off x="3154680" y="2569464"/>
            <a:ext cx="3291840" cy="237744"/>
          </a:xfrm>
          <a:prstGeom prst="rect">
            <a:avLst/>
          </a:prstGeom>
          <a:noFill/>
          <a:ln/>
        </p:spPr>
        <p:txBody>
          <a:bodyPr wrap="square" lIns="0" tIns="0" rIns="0" bIns="0" rtlCol="0" anchor="ctr"/>
          <a:lstStyle/>
          <a:p>
            <a:pPr indent="0" marL="0">
              <a:buNone/>
            </a:pPr>
            <a:r>
              <a:rPr lang="en-US" sz="1050" dirty="0">
                <a:solidFill>
                  <a:srgbClr val="8C8C8C"/>
                </a:solidFill>
                <a:latin typeface="Inter" pitchFamily="34" charset="0"/>
                <a:ea typeface="Inter" pitchFamily="34" charset="-122"/>
                <a:cs typeface="Inter" pitchFamily="34" charset="-120"/>
              </a:rPr>
              <a:t>trained on ASVspoof 2019</a:t>
            </a:r>
            <a:endParaRPr lang="en-US" sz="1050" dirty="0"/>
          </a:p>
        </p:txBody>
      </p:sp>
      <p:sp>
        <p:nvSpPr>
          <p:cNvPr id="6" name="Text 4"/>
          <p:cNvSpPr txBox="1"/>
          <p:nvPr/>
        </p:nvSpPr>
        <p:spPr>
          <a:xfrm>
            <a:off x="6903720" y="2331720"/>
            <a:ext cx="3291840" cy="256032"/>
          </a:xfrm>
          <a:prstGeom prst="rect">
            <a:avLst/>
          </a:prstGeom>
          <a:noFill/>
          <a:ln/>
        </p:spPr>
        <p:txBody>
          <a:bodyPr wrap="square" lIns="0" tIns="0" rIns="0" bIns="0" rtlCol="0" anchor="ctr"/>
          <a:lstStyle/>
          <a:p>
            <a:pPr indent="0" marL="0">
              <a:buNone/>
            </a:pPr>
            <a:r>
              <a:rPr lang="en-US" sz="1100" b="1" spc="120" kern="0" dirty="0">
                <a:solidFill>
                  <a:srgbClr val="8A6D00"/>
                </a:solidFill>
                <a:latin typeface="Inter" pitchFamily="34" charset="0"/>
                <a:ea typeface="Inter" pitchFamily="34" charset="-122"/>
                <a:cs typeface="Inter" pitchFamily="34" charset="-120"/>
              </a:rPr>
              <a:t>BILINGUAL MODEL</a:t>
            </a:r>
            <a:endParaRPr lang="en-US" sz="1100" dirty="0"/>
          </a:p>
        </p:txBody>
      </p:sp>
      <p:sp>
        <p:nvSpPr>
          <p:cNvPr id="7" name="Text 5"/>
          <p:cNvSpPr txBox="1"/>
          <p:nvPr/>
        </p:nvSpPr>
        <p:spPr>
          <a:xfrm>
            <a:off x="6903720" y="2569464"/>
            <a:ext cx="3291840" cy="237744"/>
          </a:xfrm>
          <a:prstGeom prst="rect">
            <a:avLst/>
          </a:prstGeom>
          <a:noFill/>
          <a:ln/>
        </p:spPr>
        <p:txBody>
          <a:bodyPr wrap="square" lIns="0" tIns="0" rIns="0" bIns="0" rtlCol="0" anchor="ctr"/>
          <a:lstStyle/>
          <a:p>
            <a:pPr indent="0" marL="0">
              <a:buNone/>
            </a:pPr>
            <a:r>
              <a:rPr lang="en-US" sz="1050" dirty="0">
                <a:solidFill>
                  <a:srgbClr val="8C8C8C"/>
                </a:solidFill>
                <a:latin typeface="Inter" pitchFamily="34" charset="0"/>
                <a:ea typeface="Inter" pitchFamily="34" charset="-122"/>
                <a:cs typeface="Inter" pitchFamily="34" charset="-120"/>
              </a:rPr>
              <a:t>trained on both, merged</a:t>
            </a:r>
            <a:endParaRPr lang="en-US" sz="1050" dirty="0"/>
          </a:p>
        </p:txBody>
      </p:sp>
      <p:sp>
        <p:nvSpPr>
          <p:cNvPr id="8" name="Text 6"/>
          <p:cNvSpPr txBox="1"/>
          <p:nvPr/>
        </p:nvSpPr>
        <p:spPr>
          <a:xfrm>
            <a:off x="731520" y="3044952"/>
            <a:ext cx="2240280" cy="640080"/>
          </a:xfrm>
          <a:prstGeom prst="rect">
            <a:avLst/>
          </a:prstGeom>
          <a:noFill/>
          <a:ln/>
        </p:spPr>
        <p:txBody>
          <a:bodyPr wrap="square" lIns="0" tIns="0" rIns="0" bIns="0" rtlCol="0" anchor="ctr"/>
          <a:lstStyle/>
          <a:p>
            <a:pPr indent="0" marL="0">
              <a:lnSpc>
                <a:spcPct val="115000"/>
              </a:lnSpc>
              <a:buNone/>
            </a:pPr>
            <a:r>
              <a:rPr lang="en-US" sz="1300" b="1" dirty="0">
                <a:solidFill>
                  <a:srgbClr val="0D0D0D"/>
                </a:solidFill>
                <a:latin typeface="Inter" pitchFamily="34" charset="0"/>
                <a:ea typeface="Inter" pitchFamily="34" charset="-122"/>
                <a:cs typeface="Inter" pitchFamily="34" charset="-120"/>
              </a:rPr>
              <a:t>Tested on</a:t>
            </a:r>
            <a:endParaRPr lang="en-US" sz="1300" dirty="0"/>
          </a:p>
          <a:p>
            <a:pPr indent="0" marL="0">
              <a:lnSpc>
                <a:spcPct val="115000"/>
              </a:lnSpc>
              <a:buNone/>
            </a:pPr>
            <a:r>
              <a:rPr lang="en-US" sz="1300" b="1" dirty="0">
                <a:solidFill>
                  <a:srgbClr val="0D0D0D"/>
                </a:solidFill>
                <a:latin typeface="Inter" pitchFamily="34" charset="0"/>
                <a:ea typeface="Inter" pitchFamily="34" charset="-122"/>
                <a:cs typeface="Inter" pitchFamily="34" charset="-120"/>
              </a:rPr>
              <a:t>SPANISH</a:t>
            </a:r>
            <a:endParaRPr lang="en-US" sz="1300" dirty="0"/>
          </a:p>
        </p:txBody>
      </p:sp>
      <p:sp>
        <p:nvSpPr>
          <p:cNvPr id="9" name="Shape 7"/>
          <p:cNvSpPr/>
          <p:nvPr/>
        </p:nvSpPr>
        <p:spPr>
          <a:xfrm>
            <a:off x="2926080" y="2862072"/>
            <a:ext cx="3291840" cy="896112"/>
          </a:xfrm>
          <a:prstGeom prst="roundRect">
            <a:avLst>
              <a:gd name="adj" fmla="val 6122"/>
            </a:avLst>
          </a:prstGeom>
          <a:solidFill>
            <a:srgbClr val="F7F7F5"/>
          </a:solidFill>
          <a:ln w="12700">
            <a:solidFill>
              <a:srgbClr val="E6E6E6"/>
            </a:solidFill>
            <a:prstDash val="solid"/>
          </a:ln>
        </p:spPr>
      </p:sp>
      <p:sp>
        <p:nvSpPr>
          <p:cNvPr id="10" name="Text 8"/>
          <p:cNvSpPr txBox="1"/>
          <p:nvPr/>
        </p:nvSpPr>
        <p:spPr>
          <a:xfrm>
            <a:off x="3154680" y="2862072"/>
            <a:ext cx="2834640" cy="896112"/>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 &gt; 30 %</a:t>
            </a:r>
            <a:endParaRPr lang="en-US" sz="3000" dirty="0"/>
          </a:p>
        </p:txBody>
      </p:sp>
      <p:sp>
        <p:nvSpPr>
          <p:cNvPr id="11" name="Shape 9"/>
          <p:cNvSpPr/>
          <p:nvPr/>
        </p:nvSpPr>
        <p:spPr>
          <a:xfrm>
            <a:off x="6675120" y="2862072"/>
            <a:ext cx="3291840" cy="896112"/>
          </a:xfrm>
          <a:prstGeom prst="roundRect">
            <a:avLst>
              <a:gd name="adj" fmla="val 6122"/>
            </a:avLst>
          </a:prstGeom>
          <a:solidFill>
            <a:srgbClr val="FFFBCC"/>
          </a:solidFill>
          <a:ln w="19050">
            <a:solidFill>
              <a:srgbClr val="FFE800"/>
            </a:solidFill>
            <a:prstDash val="solid"/>
          </a:ln>
        </p:spPr>
      </p:sp>
      <p:sp>
        <p:nvSpPr>
          <p:cNvPr id="12" name="Text 10"/>
          <p:cNvSpPr txBox="1"/>
          <p:nvPr/>
        </p:nvSpPr>
        <p:spPr>
          <a:xfrm>
            <a:off x="6903720" y="2862072"/>
            <a:ext cx="2834640" cy="896112"/>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&lt; 0.2 %</a:t>
            </a:r>
            <a:endParaRPr lang="en-US" sz="3000" dirty="0"/>
          </a:p>
        </p:txBody>
      </p:sp>
      <p:sp>
        <p:nvSpPr>
          <p:cNvPr id="13" name="Shape 11"/>
          <p:cNvSpPr/>
          <p:nvPr/>
        </p:nvSpPr>
        <p:spPr>
          <a:xfrm>
            <a:off x="6263640" y="3310128"/>
            <a:ext cx="548640" cy="0"/>
          </a:xfrm>
          <a:prstGeom prst="line">
            <a:avLst/>
          </a:prstGeom>
          <a:noFill/>
          <a:ln w="19050">
            <a:solidFill>
              <a:srgbClr val="8A6D00"/>
            </a:solidFill>
            <a:prstDash val="solid"/>
            <a:tailEnd type="triangle"/>
          </a:ln>
        </p:spPr>
      </p:sp>
      <p:sp>
        <p:nvSpPr>
          <p:cNvPr id="14" name="Text 12"/>
          <p:cNvSpPr txBox="1"/>
          <p:nvPr/>
        </p:nvSpPr>
        <p:spPr>
          <a:xfrm>
            <a:off x="10104120" y="2953512"/>
            <a:ext cx="1371600" cy="713232"/>
          </a:xfrm>
          <a:prstGeom prst="rect">
            <a:avLst/>
          </a:prstGeom>
          <a:noFill/>
          <a:ln/>
        </p:spPr>
        <p:txBody>
          <a:bodyPr wrap="square" lIns="0" tIns="0" rIns="0" bIns="0" rtlCol="0" anchor="ctr"/>
          <a:lstStyle/>
          <a:p>
            <a:pPr indent="0" marL="0">
              <a:lnSpc>
                <a:spcPct val="120000"/>
              </a:lnSpc>
              <a:buNone/>
            </a:pPr>
            <a:r>
              <a:rPr lang="en-US" sz="1150" b="1" dirty="0">
                <a:solidFill>
                  <a:srgbClr val="8A6D00"/>
                </a:solidFill>
                <a:latin typeface="Inter" pitchFamily="34" charset="0"/>
                <a:ea typeface="Inter" pitchFamily="34" charset="-122"/>
                <a:cs typeface="Inter" pitchFamily="34" charset="-120"/>
              </a:rPr>
              <a:t>the fix</a:t>
            </a:r>
            <a:endParaRPr lang="en-US" sz="1150" dirty="0"/>
          </a:p>
        </p:txBody>
      </p:sp>
      <p:sp>
        <p:nvSpPr>
          <p:cNvPr id="15" name="Text 13"/>
          <p:cNvSpPr txBox="1"/>
          <p:nvPr/>
        </p:nvSpPr>
        <p:spPr>
          <a:xfrm>
            <a:off x="731520" y="4142232"/>
            <a:ext cx="2240280" cy="640080"/>
          </a:xfrm>
          <a:prstGeom prst="rect">
            <a:avLst/>
          </a:prstGeom>
          <a:noFill/>
          <a:ln/>
        </p:spPr>
        <p:txBody>
          <a:bodyPr wrap="square" lIns="0" tIns="0" rIns="0" bIns="0" rtlCol="0" anchor="ctr"/>
          <a:lstStyle/>
          <a:p>
            <a:pPr indent="0" marL="0">
              <a:lnSpc>
                <a:spcPct val="115000"/>
              </a:lnSpc>
              <a:buNone/>
            </a:pPr>
            <a:r>
              <a:rPr lang="en-US" sz="1300" b="1" dirty="0">
                <a:solidFill>
                  <a:srgbClr val="0D0D0D"/>
                </a:solidFill>
                <a:latin typeface="Inter" pitchFamily="34" charset="0"/>
                <a:ea typeface="Inter" pitchFamily="34" charset="-122"/>
                <a:cs typeface="Inter" pitchFamily="34" charset="-120"/>
              </a:rPr>
              <a:t>Tested on</a:t>
            </a:r>
            <a:endParaRPr lang="en-US" sz="1300" dirty="0"/>
          </a:p>
          <a:p>
            <a:pPr indent="0" marL="0">
              <a:lnSpc>
                <a:spcPct val="115000"/>
              </a:lnSpc>
              <a:buNone/>
            </a:pPr>
            <a:r>
              <a:rPr lang="en-US" sz="1300" b="1" dirty="0">
                <a:solidFill>
                  <a:srgbClr val="0D0D0D"/>
                </a:solidFill>
                <a:latin typeface="Inter" pitchFamily="34" charset="0"/>
                <a:ea typeface="Inter" pitchFamily="34" charset="-122"/>
                <a:cs typeface="Inter" pitchFamily="34" charset="-120"/>
              </a:rPr>
              <a:t>ENGLISH</a:t>
            </a:r>
            <a:endParaRPr lang="en-US" sz="1300" dirty="0"/>
          </a:p>
        </p:txBody>
      </p:sp>
      <p:sp>
        <p:nvSpPr>
          <p:cNvPr id="16" name="Shape 14"/>
          <p:cNvSpPr/>
          <p:nvPr/>
        </p:nvSpPr>
        <p:spPr>
          <a:xfrm>
            <a:off x="2926080" y="3959352"/>
            <a:ext cx="3291840" cy="896112"/>
          </a:xfrm>
          <a:prstGeom prst="roundRect">
            <a:avLst>
              <a:gd name="adj" fmla="val 6122"/>
            </a:avLst>
          </a:prstGeom>
          <a:solidFill>
            <a:srgbClr val="F7F7F5"/>
          </a:solidFill>
          <a:ln w="12700">
            <a:solidFill>
              <a:srgbClr val="E6E6E6"/>
            </a:solidFill>
            <a:prstDash val="solid"/>
          </a:ln>
        </p:spPr>
      </p:sp>
      <p:sp>
        <p:nvSpPr>
          <p:cNvPr id="17" name="Text 15"/>
          <p:cNvSpPr txBox="1"/>
          <p:nvPr/>
        </p:nvSpPr>
        <p:spPr>
          <a:xfrm>
            <a:off x="3154680" y="3959352"/>
            <a:ext cx="2834640" cy="896112"/>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2.67 %</a:t>
            </a:r>
            <a:endParaRPr lang="en-US" sz="3000" dirty="0"/>
          </a:p>
        </p:txBody>
      </p:sp>
      <p:sp>
        <p:nvSpPr>
          <p:cNvPr id="18" name="Shape 16"/>
          <p:cNvSpPr/>
          <p:nvPr/>
        </p:nvSpPr>
        <p:spPr>
          <a:xfrm>
            <a:off x="6675120" y="3959352"/>
            <a:ext cx="3291840" cy="896112"/>
          </a:xfrm>
          <a:prstGeom prst="roundRect">
            <a:avLst>
              <a:gd name="adj" fmla="val 6122"/>
            </a:avLst>
          </a:prstGeom>
          <a:solidFill>
            <a:srgbClr val="F7F7F5"/>
          </a:solidFill>
          <a:ln w="12700">
            <a:solidFill>
              <a:srgbClr val="E6E6E6"/>
            </a:solidFill>
            <a:prstDash val="solid"/>
          </a:ln>
        </p:spPr>
      </p:sp>
      <p:sp>
        <p:nvSpPr>
          <p:cNvPr id="19" name="Text 17"/>
          <p:cNvSpPr txBox="1"/>
          <p:nvPr/>
        </p:nvSpPr>
        <p:spPr>
          <a:xfrm>
            <a:off x="6903720" y="3959352"/>
            <a:ext cx="2834640" cy="896112"/>
          </a:xfrm>
          <a:prstGeom prst="rect">
            <a:avLst/>
          </a:prstGeom>
          <a:noFill/>
          <a:ln/>
        </p:spPr>
        <p:txBody>
          <a:bodyPr wrap="square" lIns="0" tIns="0" rIns="0" bIns="0" rtlCol="0" anchor="ctr"/>
          <a:lstStyle/>
          <a:p>
            <a:pPr indent="0" marL="0">
              <a:buNone/>
            </a:pPr>
            <a:r>
              <a:rPr lang="en-US" sz="3000" b="1" dirty="0">
                <a:solidFill>
                  <a:srgbClr val="0D0D0D"/>
                </a:solidFill>
                <a:latin typeface="Inter" pitchFamily="34" charset="0"/>
                <a:ea typeface="Inter" pitchFamily="34" charset="-122"/>
                <a:cs typeface="Inter" pitchFamily="34" charset="-120"/>
              </a:rPr>
              <a:t>3.64 %</a:t>
            </a:r>
            <a:endParaRPr lang="en-US" sz="3000" dirty="0"/>
          </a:p>
        </p:txBody>
      </p:sp>
      <p:sp>
        <p:nvSpPr>
          <p:cNvPr id="20" name="Shape 18"/>
          <p:cNvSpPr/>
          <p:nvPr/>
        </p:nvSpPr>
        <p:spPr>
          <a:xfrm>
            <a:off x="6263640" y="4407408"/>
            <a:ext cx="548640" cy="0"/>
          </a:xfrm>
          <a:prstGeom prst="line">
            <a:avLst/>
          </a:prstGeom>
          <a:noFill/>
          <a:ln w="19050">
            <a:solidFill>
              <a:srgbClr val="BDBDBD"/>
            </a:solidFill>
            <a:prstDash val="solid"/>
            <a:tailEnd type="triangle"/>
          </a:ln>
        </p:spPr>
      </p:sp>
      <p:sp>
        <p:nvSpPr>
          <p:cNvPr id="21" name="Text 19"/>
          <p:cNvSpPr txBox="1"/>
          <p:nvPr/>
        </p:nvSpPr>
        <p:spPr>
          <a:xfrm>
            <a:off x="10104120" y="4050792"/>
            <a:ext cx="1371600" cy="713232"/>
          </a:xfrm>
          <a:prstGeom prst="rect">
            <a:avLst/>
          </a:prstGeom>
          <a:noFill/>
          <a:ln/>
        </p:spPr>
        <p:txBody>
          <a:bodyPr wrap="square" lIns="0" tIns="0" rIns="0" bIns="0" rtlCol="0" anchor="ctr"/>
          <a:lstStyle/>
          <a:p>
            <a:pPr indent="0" marL="0">
              <a:lnSpc>
                <a:spcPct val="120000"/>
              </a:lnSpc>
              <a:buNone/>
            </a:pPr>
            <a:r>
              <a:rPr lang="en-US" sz="1150" dirty="0">
                <a:solidFill>
                  <a:srgbClr val="3F3F3F"/>
                </a:solidFill>
                <a:latin typeface="Inter" pitchFamily="34" charset="0"/>
                <a:ea typeface="Inter" pitchFamily="34" charset="-122"/>
                <a:cs typeface="Inter" pitchFamily="34" charset="-120"/>
              </a:rPr>
              <a:t>the cost:</a:t>
            </a:r>
            <a:endParaRPr lang="en-US" sz="1150" dirty="0"/>
          </a:p>
          <a:p>
            <a:pPr indent="0" marL="0">
              <a:lnSpc>
                <a:spcPct val="120000"/>
              </a:lnSpc>
              <a:buNone/>
            </a:pPr>
            <a:r>
              <a:rPr lang="en-US" sz="1150" dirty="0">
                <a:solidFill>
                  <a:srgbClr val="3F3F3F"/>
                </a:solidFill>
                <a:latin typeface="Inter" pitchFamily="34" charset="0"/>
                <a:ea typeface="Inter" pitchFamily="34" charset="-122"/>
                <a:cs typeface="Inter" pitchFamily="34" charset="-120"/>
              </a:rPr>
              <a:t>0.97 points</a:t>
            </a:r>
            <a:endParaRPr lang="en-US" sz="1150" dirty="0"/>
          </a:p>
        </p:txBody>
      </p:sp>
      <p:sp>
        <p:nvSpPr>
          <p:cNvPr id="22" name="Text 20"/>
          <p:cNvSpPr txBox="1"/>
          <p:nvPr/>
        </p:nvSpPr>
        <p:spPr>
          <a:xfrm>
            <a:off x="731520" y="5230368"/>
            <a:ext cx="10728655" cy="27432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You would expect a trade-off. There is barely one — so you do not need one detector per language.</a:t>
            </a:r>
            <a:endParaRPr lang="en-US" sz="1500" dirty="0"/>
          </a:p>
        </p:txBody>
      </p:sp>
      <p:sp>
        <p:nvSpPr>
          <p:cNvPr id="23" name="Text 21"/>
          <p:cNvSpPr txBox="1"/>
          <p:nvPr/>
        </p:nvSpPr>
        <p:spPr>
          <a:xfrm>
            <a:off x="731520" y="5532120"/>
            <a:ext cx="10728655" cy="566928"/>
          </a:xfrm>
          <a:prstGeom prst="rect">
            <a:avLst/>
          </a:prstGeom>
          <a:noFill/>
          <a:ln/>
        </p:spPr>
        <p:txBody>
          <a:bodyPr wrap="square" lIns="0" tIns="0" rIns="0" bIns="0" rtlCol="0" anchor="ctr"/>
          <a:lstStyle/>
          <a:p>
            <a:pPr indent="0" marL="0">
              <a:lnSpc>
                <a:spcPct val="125000"/>
              </a:lnSpc>
              <a:buNone/>
            </a:pPr>
            <a:r>
              <a:rPr lang="en-US" sz="1050" dirty="0">
                <a:solidFill>
                  <a:srgbClr val="8C8C8C"/>
                </a:solidFill>
                <a:latin typeface="Inter" pitchFamily="34" charset="0"/>
                <a:ea typeface="Inter" pitchFamily="34" charset="-122"/>
                <a:cs typeface="Inter" pitchFamily="34" charset="-120"/>
              </a:rPr>
              <a:t>Spanish-only training reaches 0.14 % on Spanish; the paper does not test it against the bilingual model, and on a 4,809-utterance partition that difference is not one to lean on. The merged corpus is also 57.7 % Spanish, so “bilingual training helped” and “there was simply more Spanish” are not separated here. Both are named as future work.</a:t>
            </a:r>
            <a:endParaRPr lang="en-US" sz="1050" dirty="0"/>
          </a:p>
        </p:txBody>
      </p:sp>
      <p:pic>
        <p:nvPicPr>
          <p:cNvPr id="24"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25" name="Text 22"/>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26" name="Text 23"/>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WHAT IS LEFT</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Accent barely moves it.</a:t>
            </a:r>
            <a:pPr indent="0" marL="0">
              <a:buNone/>
            </a:pPr>
            <a:r>
              <a:rPr lang="en-US" sz="3600" b="1" dirty="0">
                <a:solidFill>
                  <a:srgbClr val="BDBDBD"/>
                </a:solidFill>
                <a:latin typeface="Inter" pitchFamily="34" charset="0"/>
                <a:ea typeface="Inter" pitchFamily="34" charset="-122"/>
                <a:cs typeface="Inter" pitchFamily="34" charset="-120"/>
              </a:rPr>
              <a:t> Gender flips direction.</a:t>
            </a:r>
            <a:endParaRPr lang="en-US" sz="3600" dirty="0"/>
          </a:p>
        </p:txBody>
      </p:sp>
      <p:sp>
        <p:nvSpPr>
          <p:cNvPr id="4" name="Shape 2"/>
          <p:cNvSpPr/>
          <p:nvPr/>
        </p:nvSpPr>
        <p:spPr>
          <a:xfrm>
            <a:off x="2651760" y="2148840"/>
            <a:ext cx="0" cy="2560320"/>
          </a:xfrm>
          <a:prstGeom prst="line">
            <a:avLst/>
          </a:prstGeom>
          <a:noFill/>
          <a:ln w="12700">
            <a:solidFill>
              <a:srgbClr val="F0F0EE"/>
            </a:solidFill>
            <a:prstDash val="solid"/>
          </a:ln>
        </p:spPr>
      </p:sp>
      <p:sp>
        <p:nvSpPr>
          <p:cNvPr id="5" name="Text 3"/>
          <p:cNvSpPr txBox="1"/>
          <p:nvPr/>
        </p:nvSpPr>
        <p:spPr>
          <a:xfrm>
            <a:off x="2377440"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0.0</a:t>
            </a:r>
            <a:endParaRPr lang="en-US" sz="950" dirty="0"/>
          </a:p>
        </p:txBody>
      </p:sp>
      <p:sp>
        <p:nvSpPr>
          <p:cNvPr id="6" name="Shape 4"/>
          <p:cNvSpPr/>
          <p:nvPr/>
        </p:nvSpPr>
        <p:spPr>
          <a:xfrm>
            <a:off x="3723589" y="2148840"/>
            <a:ext cx="0" cy="2560320"/>
          </a:xfrm>
          <a:prstGeom prst="line">
            <a:avLst/>
          </a:prstGeom>
          <a:noFill/>
          <a:ln w="12700">
            <a:solidFill>
              <a:srgbClr val="F0F0EE"/>
            </a:solidFill>
            <a:prstDash val="solid"/>
          </a:ln>
        </p:spPr>
      </p:sp>
      <p:sp>
        <p:nvSpPr>
          <p:cNvPr id="7" name="Text 5"/>
          <p:cNvSpPr txBox="1"/>
          <p:nvPr/>
        </p:nvSpPr>
        <p:spPr>
          <a:xfrm>
            <a:off x="3449269"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0.1</a:t>
            </a:r>
            <a:endParaRPr lang="en-US" sz="950" dirty="0"/>
          </a:p>
        </p:txBody>
      </p:sp>
      <p:sp>
        <p:nvSpPr>
          <p:cNvPr id="8" name="Shape 6"/>
          <p:cNvSpPr/>
          <p:nvPr/>
        </p:nvSpPr>
        <p:spPr>
          <a:xfrm>
            <a:off x="4795418" y="2148840"/>
            <a:ext cx="0" cy="2560320"/>
          </a:xfrm>
          <a:prstGeom prst="line">
            <a:avLst/>
          </a:prstGeom>
          <a:noFill/>
          <a:ln w="12700">
            <a:solidFill>
              <a:srgbClr val="F0F0EE"/>
            </a:solidFill>
            <a:prstDash val="solid"/>
          </a:ln>
        </p:spPr>
      </p:sp>
      <p:sp>
        <p:nvSpPr>
          <p:cNvPr id="9" name="Text 7"/>
          <p:cNvSpPr txBox="1"/>
          <p:nvPr/>
        </p:nvSpPr>
        <p:spPr>
          <a:xfrm>
            <a:off x="4521098"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0.2</a:t>
            </a:r>
            <a:endParaRPr lang="en-US" sz="950" dirty="0"/>
          </a:p>
        </p:txBody>
      </p:sp>
      <p:sp>
        <p:nvSpPr>
          <p:cNvPr id="10" name="Shape 8"/>
          <p:cNvSpPr/>
          <p:nvPr/>
        </p:nvSpPr>
        <p:spPr>
          <a:xfrm>
            <a:off x="5867248" y="2148840"/>
            <a:ext cx="0" cy="2560320"/>
          </a:xfrm>
          <a:prstGeom prst="line">
            <a:avLst/>
          </a:prstGeom>
          <a:noFill/>
          <a:ln w="12700">
            <a:solidFill>
              <a:srgbClr val="F0F0EE"/>
            </a:solidFill>
            <a:prstDash val="solid"/>
          </a:ln>
        </p:spPr>
      </p:sp>
      <p:sp>
        <p:nvSpPr>
          <p:cNvPr id="11" name="Text 9"/>
          <p:cNvSpPr txBox="1"/>
          <p:nvPr/>
        </p:nvSpPr>
        <p:spPr>
          <a:xfrm>
            <a:off x="5592928"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0.3</a:t>
            </a:r>
            <a:endParaRPr lang="en-US" sz="950" dirty="0"/>
          </a:p>
        </p:txBody>
      </p:sp>
      <p:sp>
        <p:nvSpPr>
          <p:cNvPr id="12" name="Shape 10"/>
          <p:cNvSpPr/>
          <p:nvPr/>
        </p:nvSpPr>
        <p:spPr>
          <a:xfrm>
            <a:off x="6939077" y="2148840"/>
            <a:ext cx="0" cy="2560320"/>
          </a:xfrm>
          <a:prstGeom prst="line">
            <a:avLst/>
          </a:prstGeom>
          <a:noFill/>
          <a:ln w="12700">
            <a:solidFill>
              <a:srgbClr val="F0F0EE"/>
            </a:solidFill>
            <a:prstDash val="solid"/>
          </a:ln>
        </p:spPr>
      </p:sp>
      <p:sp>
        <p:nvSpPr>
          <p:cNvPr id="13" name="Text 11"/>
          <p:cNvSpPr txBox="1"/>
          <p:nvPr/>
        </p:nvSpPr>
        <p:spPr>
          <a:xfrm>
            <a:off x="6664757"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0.4</a:t>
            </a:r>
            <a:endParaRPr lang="en-US" sz="950" dirty="0"/>
          </a:p>
        </p:txBody>
      </p:sp>
      <p:sp>
        <p:nvSpPr>
          <p:cNvPr id="14" name="Shape 12"/>
          <p:cNvSpPr/>
          <p:nvPr/>
        </p:nvSpPr>
        <p:spPr>
          <a:xfrm>
            <a:off x="8010906" y="2148840"/>
            <a:ext cx="0" cy="2560320"/>
          </a:xfrm>
          <a:prstGeom prst="line">
            <a:avLst/>
          </a:prstGeom>
          <a:noFill/>
          <a:ln w="12700">
            <a:solidFill>
              <a:srgbClr val="F0F0EE"/>
            </a:solidFill>
            <a:prstDash val="solid"/>
          </a:ln>
        </p:spPr>
      </p:sp>
      <p:sp>
        <p:nvSpPr>
          <p:cNvPr id="15" name="Text 13"/>
          <p:cNvSpPr txBox="1"/>
          <p:nvPr/>
        </p:nvSpPr>
        <p:spPr>
          <a:xfrm>
            <a:off x="7736586"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0.5</a:t>
            </a:r>
            <a:endParaRPr lang="en-US" sz="950" dirty="0"/>
          </a:p>
        </p:txBody>
      </p:sp>
      <p:sp>
        <p:nvSpPr>
          <p:cNvPr id="16" name="Shape 14"/>
          <p:cNvSpPr/>
          <p:nvPr/>
        </p:nvSpPr>
        <p:spPr>
          <a:xfrm>
            <a:off x="9082735" y="2148840"/>
            <a:ext cx="0" cy="2560320"/>
          </a:xfrm>
          <a:prstGeom prst="line">
            <a:avLst/>
          </a:prstGeom>
          <a:noFill/>
          <a:ln w="12700">
            <a:solidFill>
              <a:srgbClr val="F0F0EE"/>
            </a:solidFill>
            <a:prstDash val="solid"/>
          </a:ln>
        </p:spPr>
      </p:sp>
      <p:sp>
        <p:nvSpPr>
          <p:cNvPr id="17" name="Text 15"/>
          <p:cNvSpPr txBox="1"/>
          <p:nvPr/>
        </p:nvSpPr>
        <p:spPr>
          <a:xfrm>
            <a:off x="8808415" y="47548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0.6</a:t>
            </a:r>
            <a:endParaRPr lang="en-US" sz="950" dirty="0"/>
          </a:p>
        </p:txBody>
      </p:sp>
      <p:sp>
        <p:nvSpPr>
          <p:cNvPr id="18" name="Text 16"/>
          <p:cNvSpPr txBox="1"/>
          <p:nvPr/>
        </p:nvSpPr>
        <p:spPr>
          <a:xfrm>
            <a:off x="2651760" y="4992624"/>
            <a:ext cx="5029200" cy="237744"/>
          </a:xfrm>
          <a:prstGeom prst="rect">
            <a:avLst/>
          </a:prstGeom>
          <a:noFill/>
          <a:ln/>
        </p:spPr>
        <p:txBody>
          <a:bodyPr wrap="square" lIns="0" tIns="0" rIns="0" bIns="0" rtlCol="0" anchor="ctr"/>
          <a:lstStyle/>
          <a:p>
            <a:pPr indent="0" marL="0">
              <a:buNone/>
            </a:pPr>
            <a:r>
              <a:rPr lang="en-US" sz="1000" dirty="0">
                <a:solidFill>
                  <a:srgbClr val="BDBDBD"/>
                </a:solidFill>
                <a:latin typeface="Inter" pitchFamily="34" charset="0"/>
                <a:ea typeface="Inter" pitchFamily="34" charset="-122"/>
                <a:cs typeface="Inter" pitchFamily="34" charset="-120"/>
              </a:rPr>
              <a:t>EER (%)  ·  Table 10, MFCC front-end, combined training</a:t>
            </a:r>
            <a:endParaRPr lang="en-US" sz="1000" dirty="0"/>
          </a:p>
        </p:txBody>
      </p:sp>
      <p:sp>
        <p:nvSpPr>
          <p:cNvPr id="19" name="Text 17"/>
          <p:cNvSpPr txBox="1"/>
          <p:nvPr/>
        </p:nvSpPr>
        <p:spPr>
          <a:xfrm>
            <a:off x="731520" y="2267712"/>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Chile</a:t>
            </a:r>
            <a:endParaRPr lang="en-US" sz="1300" dirty="0"/>
          </a:p>
        </p:txBody>
      </p:sp>
      <p:sp>
        <p:nvSpPr>
          <p:cNvPr id="20" name="Shape 18"/>
          <p:cNvSpPr/>
          <p:nvPr/>
        </p:nvSpPr>
        <p:spPr>
          <a:xfrm>
            <a:off x="2705351" y="2395728"/>
            <a:ext cx="578788" cy="0"/>
          </a:xfrm>
          <a:prstGeom prst="line">
            <a:avLst/>
          </a:prstGeom>
          <a:noFill/>
          <a:ln w="31750">
            <a:solidFill>
              <a:srgbClr val="E6E6E6"/>
            </a:solidFill>
            <a:prstDash val="solid"/>
          </a:ln>
        </p:spPr>
      </p:sp>
      <p:sp>
        <p:nvSpPr>
          <p:cNvPr id="21" name="Shape 19"/>
          <p:cNvSpPr/>
          <p:nvPr/>
        </p:nvSpPr>
        <p:spPr>
          <a:xfrm>
            <a:off x="3206415" y="2318004"/>
            <a:ext cx="155448" cy="155448"/>
          </a:xfrm>
          <a:prstGeom prst="ellipse">
            <a:avLst/>
          </a:prstGeom>
          <a:solidFill>
            <a:srgbClr val="FFFFFF"/>
          </a:solidFill>
          <a:ln w="22225">
            <a:solidFill>
              <a:srgbClr val="0D0D0D"/>
            </a:solidFill>
            <a:prstDash val="solid"/>
          </a:ln>
        </p:spPr>
      </p:sp>
      <p:sp>
        <p:nvSpPr>
          <p:cNvPr id="22" name="Shape 20"/>
          <p:cNvSpPr/>
          <p:nvPr/>
        </p:nvSpPr>
        <p:spPr>
          <a:xfrm>
            <a:off x="2627627" y="2318004"/>
            <a:ext cx="155448" cy="155448"/>
          </a:xfrm>
          <a:prstGeom prst="ellipse">
            <a:avLst/>
          </a:prstGeom>
          <a:solidFill>
            <a:srgbClr val="0D0D0D"/>
          </a:solidFill>
          <a:ln w="12700">
            <a:solidFill>
              <a:srgbClr val="0D0D0D"/>
            </a:solidFill>
            <a:prstDash val="solid"/>
          </a:ln>
        </p:spPr>
      </p:sp>
      <p:sp>
        <p:nvSpPr>
          <p:cNvPr id="23" name="Text 21"/>
          <p:cNvSpPr txBox="1"/>
          <p:nvPr/>
        </p:nvSpPr>
        <p:spPr>
          <a:xfrm>
            <a:off x="731520" y="2779776"/>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Peru</a:t>
            </a:r>
            <a:endParaRPr lang="en-US" sz="1300" dirty="0"/>
          </a:p>
        </p:txBody>
      </p:sp>
      <p:sp>
        <p:nvSpPr>
          <p:cNvPr id="24" name="Shape 22"/>
          <p:cNvSpPr/>
          <p:nvPr/>
        </p:nvSpPr>
        <p:spPr>
          <a:xfrm>
            <a:off x="2876844" y="2907792"/>
            <a:ext cx="685971" cy="0"/>
          </a:xfrm>
          <a:prstGeom prst="line">
            <a:avLst/>
          </a:prstGeom>
          <a:noFill/>
          <a:ln w="31750">
            <a:solidFill>
              <a:srgbClr val="E6E6E6"/>
            </a:solidFill>
            <a:prstDash val="solid"/>
          </a:ln>
        </p:spPr>
      </p:sp>
      <p:sp>
        <p:nvSpPr>
          <p:cNvPr id="25" name="Shape 23"/>
          <p:cNvSpPr/>
          <p:nvPr/>
        </p:nvSpPr>
        <p:spPr>
          <a:xfrm>
            <a:off x="3485091" y="2830068"/>
            <a:ext cx="155448" cy="155448"/>
          </a:xfrm>
          <a:prstGeom prst="ellipse">
            <a:avLst/>
          </a:prstGeom>
          <a:solidFill>
            <a:srgbClr val="FFFFFF"/>
          </a:solidFill>
          <a:ln w="22225">
            <a:solidFill>
              <a:srgbClr val="0D0D0D"/>
            </a:solidFill>
            <a:prstDash val="solid"/>
          </a:ln>
        </p:spPr>
      </p:sp>
      <p:sp>
        <p:nvSpPr>
          <p:cNvPr id="26" name="Shape 24"/>
          <p:cNvSpPr/>
          <p:nvPr/>
        </p:nvSpPr>
        <p:spPr>
          <a:xfrm>
            <a:off x="2799120" y="2830068"/>
            <a:ext cx="155448" cy="155448"/>
          </a:xfrm>
          <a:prstGeom prst="ellipse">
            <a:avLst/>
          </a:prstGeom>
          <a:solidFill>
            <a:srgbClr val="0D0D0D"/>
          </a:solidFill>
          <a:ln w="12700">
            <a:solidFill>
              <a:srgbClr val="0D0D0D"/>
            </a:solidFill>
            <a:prstDash val="solid"/>
          </a:ln>
        </p:spPr>
      </p:sp>
      <p:sp>
        <p:nvSpPr>
          <p:cNvPr id="27" name="Text 25"/>
          <p:cNvSpPr txBox="1"/>
          <p:nvPr/>
        </p:nvSpPr>
        <p:spPr>
          <a:xfrm>
            <a:off x="731520" y="3291840"/>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Argentina</a:t>
            </a:r>
            <a:endParaRPr lang="en-US" sz="1300" dirty="0"/>
          </a:p>
        </p:txBody>
      </p:sp>
      <p:sp>
        <p:nvSpPr>
          <p:cNvPr id="28" name="Shape 26"/>
          <p:cNvSpPr/>
          <p:nvPr/>
        </p:nvSpPr>
        <p:spPr>
          <a:xfrm>
            <a:off x="3755744" y="3419856"/>
            <a:ext cx="793154" cy="0"/>
          </a:xfrm>
          <a:prstGeom prst="line">
            <a:avLst/>
          </a:prstGeom>
          <a:noFill/>
          <a:ln w="31750">
            <a:solidFill>
              <a:srgbClr val="E6E6E6"/>
            </a:solidFill>
            <a:prstDash val="solid"/>
          </a:ln>
        </p:spPr>
      </p:sp>
      <p:sp>
        <p:nvSpPr>
          <p:cNvPr id="29" name="Shape 27"/>
          <p:cNvSpPr/>
          <p:nvPr/>
        </p:nvSpPr>
        <p:spPr>
          <a:xfrm>
            <a:off x="4471174" y="3342132"/>
            <a:ext cx="155448" cy="155448"/>
          </a:xfrm>
          <a:prstGeom prst="ellipse">
            <a:avLst/>
          </a:prstGeom>
          <a:solidFill>
            <a:srgbClr val="FFFFFF"/>
          </a:solidFill>
          <a:ln w="22225">
            <a:solidFill>
              <a:srgbClr val="0D0D0D"/>
            </a:solidFill>
            <a:prstDash val="solid"/>
          </a:ln>
        </p:spPr>
      </p:sp>
      <p:sp>
        <p:nvSpPr>
          <p:cNvPr id="30" name="Shape 28"/>
          <p:cNvSpPr/>
          <p:nvPr/>
        </p:nvSpPr>
        <p:spPr>
          <a:xfrm>
            <a:off x="3678020" y="3342132"/>
            <a:ext cx="155448" cy="155448"/>
          </a:xfrm>
          <a:prstGeom prst="ellipse">
            <a:avLst/>
          </a:prstGeom>
          <a:solidFill>
            <a:srgbClr val="0D0D0D"/>
          </a:solidFill>
          <a:ln w="12700">
            <a:solidFill>
              <a:srgbClr val="0D0D0D"/>
            </a:solidFill>
            <a:prstDash val="solid"/>
          </a:ln>
        </p:spPr>
      </p:sp>
      <p:sp>
        <p:nvSpPr>
          <p:cNvPr id="31" name="Text 29"/>
          <p:cNvSpPr txBox="1"/>
          <p:nvPr/>
        </p:nvSpPr>
        <p:spPr>
          <a:xfrm>
            <a:off x="731520" y="3803904"/>
            <a:ext cx="17373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Venezuela</a:t>
            </a:r>
            <a:endParaRPr lang="en-US" sz="1300" dirty="0"/>
          </a:p>
        </p:txBody>
      </p:sp>
      <p:sp>
        <p:nvSpPr>
          <p:cNvPr id="32" name="Shape 30"/>
          <p:cNvSpPr/>
          <p:nvPr/>
        </p:nvSpPr>
        <p:spPr>
          <a:xfrm>
            <a:off x="3348449" y="3931920"/>
            <a:ext cx="2207968" cy="0"/>
          </a:xfrm>
          <a:prstGeom prst="line">
            <a:avLst/>
          </a:prstGeom>
          <a:noFill/>
          <a:ln w="38100">
            <a:solidFill>
              <a:srgbClr val="8A6D00"/>
            </a:solidFill>
            <a:prstDash val="solid"/>
          </a:ln>
        </p:spPr>
      </p:sp>
      <p:sp>
        <p:nvSpPr>
          <p:cNvPr id="33" name="Shape 31"/>
          <p:cNvSpPr/>
          <p:nvPr/>
        </p:nvSpPr>
        <p:spPr>
          <a:xfrm>
            <a:off x="3270725" y="3854196"/>
            <a:ext cx="155448" cy="155448"/>
          </a:xfrm>
          <a:prstGeom prst="ellipse">
            <a:avLst/>
          </a:prstGeom>
          <a:solidFill>
            <a:srgbClr val="FFFFFF"/>
          </a:solidFill>
          <a:ln w="22225">
            <a:solidFill>
              <a:srgbClr val="0D0D0D"/>
            </a:solidFill>
            <a:prstDash val="solid"/>
          </a:ln>
        </p:spPr>
      </p:sp>
      <p:sp>
        <p:nvSpPr>
          <p:cNvPr id="34" name="Shape 32"/>
          <p:cNvSpPr/>
          <p:nvPr/>
        </p:nvSpPr>
        <p:spPr>
          <a:xfrm>
            <a:off x="5478693" y="3854196"/>
            <a:ext cx="155448" cy="155448"/>
          </a:xfrm>
          <a:prstGeom prst="ellipse">
            <a:avLst/>
          </a:prstGeom>
          <a:solidFill>
            <a:srgbClr val="0D0D0D"/>
          </a:solidFill>
          <a:ln w="12700">
            <a:solidFill>
              <a:srgbClr val="0D0D0D"/>
            </a:solidFill>
            <a:prstDash val="solid"/>
          </a:ln>
        </p:spPr>
      </p:sp>
      <p:sp>
        <p:nvSpPr>
          <p:cNvPr id="35" name="Text 33"/>
          <p:cNvSpPr txBox="1"/>
          <p:nvPr/>
        </p:nvSpPr>
        <p:spPr>
          <a:xfrm>
            <a:off x="731520" y="4315968"/>
            <a:ext cx="17373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Colombia</a:t>
            </a:r>
            <a:endParaRPr lang="en-US" sz="1300" dirty="0"/>
          </a:p>
        </p:txBody>
      </p:sp>
      <p:sp>
        <p:nvSpPr>
          <p:cNvPr id="36" name="Shape 34"/>
          <p:cNvSpPr/>
          <p:nvPr/>
        </p:nvSpPr>
        <p:spPr>
          <a:xfrm>
            <a:off x="2962590" y="4443984"/>
            <a:ext cx="5519920" cy="0"/>
          </a:xfrm>
          <a:prstGeom prst="line">
            <a:avLst/>
          </a:prstGeom>
          <a:noFill/>
          <a:ln w="38100">
            <a:solidFill>
              <a:srgbClr val="8A6D00"/>
            </a:solidFill>
            <a:prstDash val="solid"/>
          </a:ln>
        </p:spPr>
      </p:sp>
      <p:sp>
        <p:nvSpPr>
          <p:cNvPr id="37" name="Shape 35"/>
          <p:cNvSpPr/>
          <p:nvPr/>
        </p:nvSpPr>
        <p:spPr>
          <a:xfrm>
            <a:off x="2884866" y="4366260"/>
            <a:ext cx="155448" cy="155448"/>
          </a:xfrm>
          <a:prstGeom prst="ellipse">
            <a:avLst/>
          </a:prstGeom>
          <a:solidFill>
            <a:srgbClr val="FFFFFF"/>
          </a:solidFill>
          <a:ln w="22225">
            <a:solidFill>
              <a:srgbClr val="0D0D0D"/>
            </a:solidFill>
            <a:prstDash val="solid"/>
          </a:ln>
        </p:spPr>
      </p:sp>
      <p:sp>
        <p:nvSpPr>
          <p:cNvPr id="38" name="Shape 36"/>
          <p:cNvSpPr/>
          <p:nvPr/>
        </p:nvSpPr>
        <p:spPr>
          <a:xfrm>
            <a:off x="8404787" y="4366260"/>
            <a:ext cx="155448" cy="155448"/>
          </a:xfrm>
          <a:prstGeom prst="ellipse">
            <a:avLst/>
          </a:prstGeom>
          <a:solidFill>
            <a:srgbClr val="0D0D0D"/>
          </a:solidFill>
          <a:ln w="12700">
            <a:solidFill>
              <a:srgbClr val="0D0D0D"/>
            </a:solidFill>
            <a:prstDash val="solid"/>
          </a:ln>
        </p:spPr>
      </p:sp>
      <p:sp>
        <p:nvSpPr>
          <p:cNvPr id="39" name="Shape 37"/>
          <p:cNvSpPr/>
          <p:nvPr/>
        </p:nvSpPr>
        <p:spPr>
          <a:xfrm>
            <a:off x="2651760" y="1847088"/>
            <a:ext cx="155448" cy="155448"/>
          </a:xfrm>
          <a:prstGeom prst="ellipse">
            <a:avLst/>
          </a:prstGeom>
          <a:solidFill>
            <a:srgbClr val="FFFFFF"/>
          </a:solidFill>
          <a:ln w="22225">
            <a:solidFill>
              <a:srgbClr val="0D0D0D"/>
            </a:solidFill>
            <a:prstDash val="solid"/>
          </a:ln>
        </p:spPr>
      </p:sp>
      <p:sp>
        <p:nvSpPr>
          <p:cNvPr id="40" name="Text 38"/>
          <p:cNvSpPr txBox="1"/>
          <p:nvPr/>
        </p:nvSpPr>
        <p:spPr>
          <a:xfrm>
            <a:off x="2889504" y="1773936"/>
            <a:ext cx="91440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female</a:t>
            </a:r>
            <a:endParaRPr lang="en-US" sz="1100" dirty="0"/>
          </a:p>
        </p:txBody>
      </p:sp>
      <p:sp>
        <p:nvSpPr>
          <p:cNvPr id="41" name="Shape 39"/>
          <p:cNvSpPr/>
          <p:nvPr/>
        </p:nvSpPr>
        <p:spPr>
          <a:xfrm>
            <a:off x="3657600" y="1847088"/>
            <a:ext cx="155448" cy="155448"/>
          </a:xfrm>
          <a:prstGeom prst="ellipse">
            <a:avLst/>
          </a:prstGeom>
          <a:solidFill>
            <a:srgbClr val="0D0D0D"/>
          </a:solidFill>
          <a:ln w="12700">
            <a:solidFill>
              <a:srgbClr val="0D0D0D"/>
            </a:solidFill>
            <a:prstDash val="solid"/>
          </a:ln>
        </p:spPr>
      </p:sp>
      <p:sp>
        <p:nvSpPr>
          <p:cNvPr id="42" name="Text 40"/>
          <p:cNvSpPr txBox="1"/>
          <p:nvPr/>
        </p:nvSpPr>
        <p:spPr>
          <a:xfrm>
            <a:off x="3895344" y="1773936"/>
            <a:ext cx="91440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male</a:t>
            </a:r>
            <a:endParaRPr lang="en-US" sz="1100" dirty="0"/>
          </a:p>
        </p:txBody>
      </p:sp>
      <p:sp>
        <p:nvSpPr>
          <p:cNvPr id="43" name="Shape 41"/>
          <p:cNvSpPr/>
          <p:nvPr/>
        </p:nvSpPr>
        <p:spPr>
          <a:xfrm>
            <a:off x="9494215" y="4023360"/>
            <a:ext cx="1965960" cy="1005840"/>
          </a:xfrm>
          <a:prstGeom prst="roundRect">
            <a:avLst>
              <a:gd name="adj" fmla="val 5455"/>
            </a:avLst>
          </a:prstGeom>
          <a:solidFill>
            <a:srgbClr val="FFFBCC"/>
          </a:solidFill>
          <a:ln w="12700">
            <a:solidFill>
              <a:srgbClr val="FFE800"/>
            </a:solidFill>
            <a:prstDash val="solid"/>
          </a:ln>
        </p:spPr>
      </p:sp>
      <p:sp>
        <p:nvSpPr>
          <p:cNvPr id="44" name="Text 42"/>
          <p:cNvSpPr txBox="1"/>
          <p:nvPr/>
        </p:nvSpPr>
        <p:spPr>
          <a:xfrm>
            <a:off x="9631375" y="4023360"/>
            <a:ext cx="1691640" cy="1005840"/>
          </a:xfrm>
          <a:prstGeom prst="rect">
            <a:avLst/>
          </a:prstGeom>
          <a:noFill/>
          <a:ln/>
        </p:spPr>
        <p:txBody>
          <a:bodyPr wrap="square" lIns="0" tIns="0" rIns="0" bIns="0" rtlCol="0" anchor="ctr"/>
          <a:lstStyle/>
          <a:p>
            <a:pPr indent="0" marL="0">
              <a:lnSpc>
                <a:spcPct val="120000"/>
              </a:lnSpc>
              <a:buNone/>
            </a:pPr>
            <a:r>
              <a:rPr lang="en-US" sz="1200" b="1" dirty="0">
                <a:solidFill>
                  <a:srgbClr val="0D0D0D"/>
                </a:solidFill>
                <a:latin typeface="Inter" pitchFamily="34" charset="0"/>
                <a:ea typeface="Inter" pitchFamily="34" charset="-122"/>
                <a:cs typeface="Inter" pitchFamily="34" charset="-120"/>
              </a:rPr>
              <a:t>these two point the other way</a:t>
            </a:r>
            <a:endParaRPr lang="en-US" sz="1200" dirty="0"/>
          </a:p>
        </p:txBody>
      </p:sp>
      <p:sp>
        <p:nvSpPr>
          <p:cNvPr id="45" name="Text 43"/>
          <p:cNvSpPr txBox="1"/>
          <p:nvPr/>
        </p:nvSpPr>
        <p:spPr>
          <a:xfrm>
            <a:off x="731520" y="5321808"/>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Accent spread: under half a point.</a:t>
            </a:r>
            <a:pPr indent="0" marL="0">
              <a:buNone/>
            </a:pPr>
            <a:r>
              <a:rPr lang="en-US" sz="1500" dirty="0">
                <a:solidFill>
                  <a:srgbClr val="8C8C8C"/>
                </a:solidFill>
                <a:latin typeface="Inter" pitchFamily="34" charset="0"/>
                <a:ea typeface="Inter" pitchFamily="34" charset="-122"/>
                <a:cs typeface="Inter" pitchFamily="34" charset="-120"/>
              </a:rPr>
              <a:t> The gender gap is bigger — and it reverses between countries.</a:t>
            </a:r>
            <a:endParaRPr lang="en-US" sz="1500" dirty="0"/>
          </a:p>
        </p:txBody>
      </p:sp>
      <p:sp>
        <p:nvSpPr>
          <p:cNvPr id="46" name="Shape 44"/>
          <p:cNvSpPr/>
          <p:nvPr/>
        </p:nvSpPr>
        <p:spPr>
          <a:xfrm>
            <a:off x="731520" y="5650992"/>
            <a:ext cx="10728655" cy="0"/>
          </a:xfrm>
          <a:prstGeom prst="line">
            <a:avLst/>
          </a:prstGeom>
          <a:noFill/>
          <a:ln w="12700">
            <a:solidFill>
              <a:srgbClr val="E6E6E6"/>
            </a:solidFill>
            <a:prstDash val="solid"/>
          </a:ln>
        </p:spPr>
      </p:sp>
      <p:sp>
        <p:nvSpPr>
          <p:cNvPr id="47" name="Text 45"/>
          <p:cNvSpPr txBox="1"/>
          <p:nvPr/>
        </p:nvSpPr>
        <p:spPr>
          <a:xfrm>
            <a:off x="731520" y="5760720"/>
            <a:ext cx="10728655" cy="548640"/>
          </a:xfrm>
          <a:prstGeom prst="rect">
            <a:avLst/>
          </a:prstGeom>
          <a:noFill/>
          <a:ln/>
        </p:spPr>
        <p:txBody>
          <a:bodyPr wrap="square" lIns="0" tIns="0" rIns="0" bIns="0" rtlCol="0" anchor="ctr"/>
          <a:lstStyle/>
          <a:p>
            <a:pPr indent="0" marL="0">
              <a:lnSpc>
                <a:spcPct val="122000"/>
              </a:lnSpc>
              <a:buNone/>
            </a:pPr>
            <a:r>
              <a:rPr lang="en-US" sz="1050" b="1" dirty="0">
                <a:solidFill>
                  <a:srgbClr val="0D0D0D"/>
                </a:solidFill>
                <a:latin typeface="Inter" pitchFamily="34" charset="0"/>
                <a:ea typeface="Inter" pitchFamily="34" charset="-122"/>
                <a:cs typeface="Inter" pitchFamily="34" charset="-120"/>
              </a:rPr>
              <a:t>Colombia and Venezuela  </a:t>
            </a:r>
            <a:pPr indent="0" marL="0">
              <a:lnSpc>
                <a:spcPct val="122000"/>
              </a:lnSpc>
              <a:buNone/>
            </a:pPr>
            <a:r>
              <a:rPr lang="en-US" sz="1050" dirty="0">
                <a:solidFill>
                  <a:srgbClr val="8C8C8C"/>
                </a:solidFill>
                <a:latin typeface="Inter" pitchFamily="34" charset="0"/>
                <a:ea typeface="Inter" pitchFamily="34" charset="-122"/>
                <a:cs typeface="Inter" pitchFamily="34" charset="-120"/>
              </a:rPr>
              <a:t>are the two that reverse, and the Colombian gap accounts for essentially all of that country’s disadvantage. Because the direction is inconsistent across countries it cannot be a single bias in the front-end — the paper reads it as an interaction between speaker population and the generators used on each subset.</a:t>
            </a:r>
            <a:endParaRPr lang="en-US" sz="1050" dirty="0"/>
          </a:p>
        </p:txBody>
      </p:sp>
      <p:pic>
        <p:nvPicPr>
          <p:cNvPr id="48"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49" name="Text 46"/>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50" name="Text 47"/>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ONE SMALLER RESULT</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“Emphasise low frequencies”</a:t>
            </a:r>
            <a:pPr indent="0" marL="0">
              <a:buNone/>
            </a:pPr>
            <a:r>
              <a:rPr lang="en-US" sz="3600" b="1" dirty="0">
                <a:solidFill>
                  <a:srgbClr val="BDBDBD"/>
                </a:solidFill>
                <a:latin typeface="Inter" pitchFamily="34" charset="0"/>
                <a:ea typeface="Inter" pitchFamily="34" charset="-122"/>
                <a:cs typeface="Inter" pitchFamily="34" charset="-120"/>
              </a:rPr>
              <a:t> is only half true.</a:t>
            </a:r>
            <a:endParaRPr lang="en-US" sz="3600" dirty="0"/>
          </a:p>
        </p:txBody>
      </p:sp>
      <p:sp>
        <p:nvSpPr>
          <p:cNvPr id="4" name="Shape 2"/>
          <p:cNvSpPr/>
          <p:nvPr/>
        </p:nvSpPr>
        <p:spPr>
          <a:xfrm>
            <a:off x="731520" y="2194560"/>
            <a:ext cx="5181448" cy="2148840"/>
          </a:xfrm>
          <a:prstGeom prst="roundRect">
            <a:avLst>
              <a:gd name="adj" fmla="val 2553"/>
            </a:avLst>
          </a:prstGeom>
          <a:solidFill>
            <a:srgbClr val="FFFBCC"/>
          </a:solidFill>
          <a:ln w="12700">
            <a:solidFill>
              <a:srgbClr val="FFE800"/>
            </a:solidFill>
            <a:prstDash val="solid"/>
          </a:ln>
        </p:spPr>
      </p:sp>
      <p:sp>
        <p:nvSpPr>
          <p:cNvPr id="5" name="Text 3"/>
          <p:cNvSpPr txBox="1"/>
          <p:nvPr/>
        </p:nvSpPr>
        <p:spPr>
          <a:xfrm>
            <a:off x="1143000" y="2450592"/>
            <a:ext cx="4358488" cy="365760"/>
          </a:xfrm>
          <a:prstGeom prst="rect">
            <a:avLst/>
          </a:prstGeom>
          <a:noFill/>
          <a:ln/>
        </p:spPr>
        <p:txBody>
          <a:bodyPr wrap="square" lIns="0" tIns="0" rIns="0" bIns="0" rtlCol="0" anchor="ctr"/>
          <a:lstStyle/>
          <a:p>
            <a:pPr indent="0" marL="0">
              <a:buNone/>
            </a:pPr>
            <a:r>
              <a:rPr lang="en-US" sz="1700" b="1" dirty="0">
                <a:solidFill>
                  <a:srgbClr val="0D0D0D"/>
                </a:solidFill>
                <a:latin typeface="Inter" pitchFamily="34" charset="0"/>
                <a:ea typeface="Inter" pitchFamily="34" charset="-122"/>
                <a:cs typeface="Inter" pitchFamily="34" charset="-120"/>
              </a:rPr>
              <a:t>Mel-scale front-ends</a:t>
            </a:r>
            <a:endParaRPr lang="en-US" sz="1700" dirty="0"/>
          </a:p>
        </p:txBody>
      </p:sp>
      <p:sp>
        <p:nvSpPr>
          <p:cNvPr id="6" name="Text 4"/>
          <p:cNvSpPr txBox="1"/>
          <p:nvPr/>
        </p:nvSpPr>
        <p:spPr>
          <a:xfrm>
            <a:off x="1143000" y="2926080"/>
            <a:ext cx="4358488" cy="54864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TRUE</a:t>
            </a:r>
            <a:endParaRPr lang="en-US" sz="3400" dirty="0"/>
          </a:p>
        </p:txBody>
      </p:sp>
      <p:sp>
        <p:nvSpPr>
          <p:cNvPr id="7" name="Text 5"/>
          <p:cNvSpPr txBox="1"/>
          <p:nvPr/>
        </p:nvSpPr>
        <p:spPr>
          <a:xfrm>
            <a:off x="1143000" y="3566160"/>
            <a:ext cx="4312768" cy="64008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Descendant weighting gets the lowest median EER and wins 8 of 12 configurations.</a:t>
            </a:r>
            <a:endParaRPr lang="en-US" sz="1250" dirty="0"/>
          </a:p>
        </p:txBody>
      </p:sp>
      <p:sp>
        <p:nvSpPr>
          <p:cNvPr id="8" name="Shape 6"/>
          <p:cNvSpPr/>
          <p:nvPr/>
        </p:nvSpPr>
        <p:spPr>
          <a:xfrm>
            <a:off x="6278728" y="2194560"/>
            <a:ext cx="5181448" cy="2148840"/>
          </a:xfrm>
          <a:prstGeom prst="roundRect">
            <a:avLst>
              <a:gd name="adj" fmla="val 2553"/>
            </a:avLst>
          </a:prstGeom>
          <a:solidFill>
            <a:srgbClr val="F7F7F5"/>
          </a:solidFill>
          <a:ln w="12700">
            <a:solidFill>
              <a:srgbClr val="E6E6E6"/>
            </a:solidFill>
            <a:prstDash val="solid"/>
          </a:ln>
        </p:spPr>
      </p:sp>
      <p:sp>
        <p:nvSpPr>
          <p:cNvPr id="9" name="Text 7"/>
          <p:cNvSpPr txBox="1"/>
          <p:nvPr/>
        </p:nvSpPr>
        <p:spPr>
          <a:xfrm>
            <a:off x="6690208" y="2450592"/>
            <a:ext cx="4358488" cy="365760"/>
          </a:xfrm>
          <a:prstGeom prst="rect">
            <a:avLst/>
          </a:prstGeom>
          <a:noFill/>
          <a:ln/>
        </p:spPr>
        <p:txBody>
          <a:bodyPr wrap="square" lIns="0" tIns="0" rIns="0" bIns="0" rtlCol="0" anchor="ctr"/>
          <a:lstStyle/>
          <a:p>
            <a:pPr indent="0" marL="0">
              <a:buNone/>
            </a:pPr>
            <a:r>
              <a:rPr lang="en-US" sz="1700" b="1" dirty="0">
                <a:solidFill>
                  <a:srgbClr val="0D0D0D"/>
                </a:solidFill>
                <a:latin typeface="Inter" pitchFamily="34" charset="0"/>
                <a:ea typeface="Inter" pitchFamily="34" charset="-122"/>
                <a:cs typeface="Inter" pitchFamily="34" charset="-120"/>
              </a:rPr>
              <a:t>Linear-scale front-ends</a:t>
            </a:r>
            <a:endParaRPr lang="en-US" sz="1700" dirty="0"/>
          </a:p>
        </p:txBody>
      </p:sp>
      <p:sp>
        <p:nvSpPr>
          <p:cNvPr id="10" name="Text 8"/>
          <p:cNvSpPr txBox="1"/>
          <p:nvPr/>
        </p:nvSpPr>
        <p:spPr>
          <a:xfrm>
            <a:off x="6690208" y="2926080"/>
            <a:ext cx="4358488" cy="548640"/>
          </a:xfrm>
          <a:prstGeom prst="rect">
            <a:avLst/>
          </a:prstGeom>
          <a:noFill/>
          <a:ln/>
        </p:spPr>
        <p:txBody>
          <a:bodyPr wrap="square" lIns="0" tIns="0" rIns="0" bIns="0" rtlCol="0" anchor="ctr"/>
          <a:lstStyle/>
          <a:p>
            <a:pPr indent="0" marL="0">
              <a:buNone/>
            </a:pPr>
            <a:r>
              <a:rPr lang="en-US" sz="3400" b="1" dirty="0">
                <a:solidFill>
                  <a:srgbClr val="0D0D0D"/>
                </a:solidFill>
                <a:latin typeface="Inter" pitchFamily="34" charset="0"/>
                <a:ea typeface="Inter" pitchFamily="34" charset="-122"/>
                <a:cs typeface="Inter" pitchFamily="34" charset="-120"/>
              </a:rPr>
              <a:t>FALSE</a:t>
            </a:r>
            <a:endParaRPr lang="en-US" sz="3400" dirty="0"/>
          </a:p>
        </p:txBody>
      </p:sp>
      <p:sp>
        <p:nvSpPr>
          <p:cNvPr id="11" name="Text 9"/>
          <p:cNvSpPr txBox="1"/>
          <p:nvPr/>
        </p:nvSpPr>
        <p:spPr>
          <a:xfrm>
            <a:off x="6690208" y="3566160"/>
            <a:ext cx="4312768" cy="64008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The same weighting is the worst of the three scalings.</a:t>
            </a:r>
            <a:endParaRPr lang="en-US" sz="1250" dirty="0"/>
          </a:p>
        </p:txBody>
      </p:sp>
      <p:sp>
        <p:nvSpPr>
          <p:cNvPr id="12" name="Text 10"/>
          <p:cNvSpPr txBox="1"/>
          <p:nvPr/>
        </p:nvSpPr>
        <p:spPr>
          <a:xfrm>
            <a:off x="731520" y="4663440"/>
            <a:ext cx="10728655" cy="640080"/>
          </a:xfrm>
          <a:prstGeom prst="rect">
            <a:avLst/>
          </a:prstGeom>
          <a:noFill/>
          <a:ln/>
        </p:spPr>
        <p:txBody>
          <a:bodyPr wrap="square" lIns="0" tIns="0" rIns="0" bIns="0" rtlCol="0" anchor="ctr"/>
          <a:lstStyle/>
          <a:p>
            <a:pPr indent="0" marL="0">
              <a:lnSpc>
                <a:spcPct val="130000"/>
              </a:lnSpc>
              <a:buNone/>
            </a:pPr>
            <a:r>
              <a:rPr lang="en-US" sz="1300" dirty="0">
                <a:solidFill>
                  <a:srgbClr val="3F3F3F"/>
                </a:solidFill>
                <a:latin typeface="Inter" pitchFamily="34" charset="0"/>
                <a:ea typeface="Inter" pitchFamily="34" charset="-122"/>
                <a:cs typeface="Inter" pitchFamily="34" charset="-120"/>
              </a:rPr>
              <a:t>The usual justification is that the principal formants sit low in the spectrum. That holds for F1. F2 spans roughly 600–2500 Hz and does not cooperate.</a:t>
            </a:r>
            <a:endParaRPr lang="en-US" sz="1300" dirty="0"/>
          </a:p>
        </p:txBody>
      </p:sp>
      <p:sp>
        <p:nvSpPr>
          <p:cNvPr id="13" name="Text 11"/>
          <p:cNvSpPr txBox="1"/>
          <p:nvPr/>
        </p:nvSpPr>
        <p:spPr>
          <a:xfrm>
            <a:off x="731520" y="539496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Test both scalings,</a:t>
            </a:r>
            <a:pPr indent="0" marL="0">
              <a:buNone/>
            </a:pPr>
            <a:r>
              <a:rPr lang="en-US" sz="1500" dirty="0">
                <a:solidFill>
                  <a:srgbClr val="8C8C8C"/>
                </a:solidFill>
                <a:latin typeface="Inter" pitchFamily="34" charset="0"/>
                <a:ea typeface="Inter" pitchFamily="34" charset="-122"/>
                <a:cs typeface="Inter" pitchFamily="34" charset="-120"/>
              </a:rPr>
              <a:t> or you will report whichever one your front-end happened to be.</a:t>
            </a:r>
            <a:endParaRPr lang="en-US" sz="1500" dirty="0"/>
          </a:p>
        </p:txBody>
      </p:sp>
      <p:sp>
        <p:nvSpPr>
          <p:cNvPr id="14" name="Text 12"/>
          <p:cNvSpPr txBox="1"/>
          <p:nvPr/>
        </p:nvSpPr>
        <p:spPr>
          <a:xfrm>
            <a:off x="731520" y="576072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11 — full configuration grid, 72 runs per scale per family.</a:t>
            </a:r>
            <a:endParaRPr lang="en-US" sz="900" dirty="0"/>
          </a:p>
        </p:txBody>
      </p:sp>
      <p:pic>
        <p:nvPicPr>
          <p:cNvPr id="15"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6" name="Text 1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7" name="Text 1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BEFORE YOU ASK</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Three things</a:t>
            </a:r>
            <a:pPr indent="0" marL="0">
              <a:buNone/>
            </a:pPr>
            <a:r>
              <a:rPr lang="en-US" sz="3600" b="1" dirty="0">
                <a:solidFill>
                  <a:srgbClr val="BDBDBD"/>
                </a:solidFill>
                <a:latin typeface="Inter" pitchFamily="34" charset="0"/>
                <a:ea typeface="Inter" pitchFamily="34" charset="-122"/>
                <a:cs typeface="Inter" pitchFamily="34" charset="-120"/>
              </a:rPr>
              <a:t> I would rather say myself.</a:t>
            </a:r>
            <a:endParaRPr lang="en-US" sz="3600" dirty="0"/>
          </a:p>
        </p:txBody>
      </p:sp>
      <p:sp>
        <p:nvSpPr>
          <p:cNvPr id="4" name="Shape 2"/>
          <p:cNvSpPr/>
          <p:nvPr/>
        </p:nvSpPr>
        <p:spPr>
          <a:xfrm>
            <a:off x="731520" y="2194560"/>
            <a:ext cx="3393338" cy="2651760"/>
          </a:xfrm>
          <a:prstGeom prst="roundRect">
            <a:avLst>
              <a:gd name="adj" fmla="val 2069"/>
            </a:avLst>
          </a:prstGeom>
          <a:solidFill>
            <a:srgbClr val="F7F7F5"/>
          </a:solidFill>
          <a:ln w="12700">
            <a:solidFill>
              <a:srgbClr val="E6E6E6"/>
            </a:solidFill>
            <a:prstDash val="solid"/>
          </a:ln>
        </p:spPr>
      </p:sp>
      <p:sp>
        <p:nvSpPr>
          <p:cNvPr id="5" name="Text 3"/>
          <p:cNvSpPr txBox="1"/>
          <p:nvPr/>
        </p:nvSpPr>
        <p:spPr>
          <a:xfrm>
            <a:off x="1115568" y="2450592"/>
            <a:ext cx="914400" cy="411480"/>
          </a:xfrm>
          <a:prstGeom prst="rect">
            <a:avLst/>
          </a:prstGeom>
          <a:noFill/>
          <a:ln/>
        </p:spPr>
        <p:txBody>
          <a:bodyPr wrap="square" lIns="0" tIns="0" rIns="0" bIns="0" rtlCol="0" anchor="ctr"/>
          <a:lstStyle/>
          <a:p>
            <a:pPr indent="0" marL="0">
              <a:buNone/>
            </a:pPr>
            <a:r>
              <a:rPr lang="en-US" sz="2000" b="1" dirty="0">
                <a:solidFill>
                  <a:srgbClr val="8A6D00"/>
                </a:solidFill>
                <a:latin typeface="Consolas" pitchFamily="34" charset="0"/>
                <a:ea typeface="Consolas" pitchFamily="34" charset="-122"/>
                <a:cs typeface="Consolas" pitchFamily="34" charset="-120"/>
              </a:rPr>
              <a:t>01</a:t>
            </a:r>
            <a:endParaRPr lang="en-US" sz="2000" dirty="0"/>
          </a:p>
        </p:txBody>
      </p:sp>
      <p:sp>
        <p:nvSpPr>
          <p:cNvPr id="6" name="Text 4"/>
          <p:cNvSpPr txBox="1"/>
          <p:nvPr/>
        </p:nvSpPr>
        <p:spPr>
          <a:xfrm>
            <a:off x="1115568" y="2944368"/>
            <a:ext cx="2661818" cy="365760"/>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Small test partition</a:t>
            </a:r>
            <a:endParaRPr lang="en-US" sz="1600" dirty="0"/>
          </a:p>
        </p:txBody>
      </p:sp>
      <p:sp>
        <p:nvSpPr>
          <p:cNvPr id="7" name="Text 5"/>
          <p:cNvSpPr txBox="1"/>
          <p:nvPr/>
        </p:nvSpPr>
        <p:spPr>
          <a:xfrm>
            <a:off x="1115568" y="3429000"/>
            <a:ext cx="2625242" cy="1280160"/>
          </a:xfrm>
          <a:prstGeom prst="rect">
            <a:avLst/>
          </a:prstGeom>
          <a:noFill/>
          <a:ln/>
        </p:spPr>
        <p:txBody>
          <a:bodyPr wrap="square" lIns="0" tIns="0" rIns="0" bIns="0" rtlCol="0" anchor="ctr"/>
          <a:lstStyle/>
          <a:p>
            <a:pPr indent="0" marL="0">
              <a:lnSpc>
                <a:spcPct val="130000"/>
              </a:lnSpc>
              <a:buNone/>
            </a:pPr>
            <a:r>
              <a:rPr lang="en-US" sz="1200" dirty="0">
                <a:solidFill>
                  <a:srgbClr val="3F3F3F"/>
                </a:solidFill>
                <a:latin typeface="Inter" pitchFamily="34" charset="0"/>
                <a:ea typeface="Inter" pitchFamily="34" charset="-122"/>
                <a:cs typeface="Inter" pitchFamily="34" charset="-120"/>
              </a:rPr>
              <a:t>Under 5,000 Spanish utterances. A 0.1 % error rate is a handful of trials — read it as “very low”, not as a precise number.</a:t>
            </a:r>
            <a:endParaRPr lang="en-US" sz="1200" dirty="0"/>
          </a:p>
        </p:txBody>
      </p:sp>
      <p:sp>
        <p:nvSpPr>
          <p:cNvPr id="8" name="Shape 6"/>
          <p:cNvSpPr/>
          <p:nvPr/>
        </p:nvSpPr>
        <p:spPr>
          <a:xfrm>
            <a:off x="4399178" y="2194560"/>
            <a:ext cx="3393338" cy="2651760"/>
          </a:xfrm>
          <a:prstGeom prst="roundRect">
            <a:avLst>
              <a:gd name="adj" fmla="val 2069"/>
            </a:avLst>
          </a:prstGeom>
          <a:solidFill>
            <a:srgbClr val="F7F7F5"/>
          </a:solidFill>
          <a:ln w="12700">
            <a:solidFill>
              <a:srgbClr val="E6E6E6"/>
            </a:solidFill>
            <a:prstDash val="solid"/>
          </a:ln>
        </p:spPr>
      </p:sp>
      <p:sp>
        <p:nvSpPr>
          <p:cNvPr id="9" name="Text 7"/>
          <p:cNvSpPr txBox="1"/>
          <p:nvPr/>
        </p:nvSpPr>
        <p:spPr>
          <a:xfrm>
            <a:off x="4783226" y="2450592"/>
            <a:ext cx="914400" cy="411480"/>
          </a:xfrm>
          <a:prstGeom prst="rect">
            <a:avLst/>
          </a:prstGeom>
          <a:noFill/>
          <a:ln/>
        </p:spPr>
        <p:txBody>
          <a:bodyPr wrap="square" lIns="0" tIns="0" rIns="0" bIns="0" rtlCol="0" anchor="ctr"/>
          <a:lstStyle/>
          <a:p>
            <a:pPr indent="0" marL="0">
              <a:buNone/>
            </a:pPr>
            <a:r>
              <a:rPr lang="en-US" sz="2000" b="1" dirty="0">
                <a:solidFill>
                  <a:srgbClr val="8A6D00"/>
                </a:solidFill>
                <a:latin typeface="Consolas" pitchFamily="34" charset="0"/>
                <a:ea typeface="Consolas" pitchFamily="34" charset="-122"/>
                <a:cs typeface="Consolas" pitchFamily="34" charset="-120"/>
              </a:rPr>
              <a:t>02</a:t>
            </a:r>
            <a:endParaRPr lang="en-US" sz="2000" dirty="0"/>
          </a:p>
        </p:txBody>
      </p:sp>
      <p:sp>
        <p:nvSpPr>
          <p:cNvPr id="10" name="Text 8"/>
          <p:cNvSpPr txBox="1"/>
          <p:nvPr/>
        </p:nvSpPr>
        <p:spPr>
          <a:xfrm>
            <a:off x="4783226" y="2944368"/>
            <a:ext cx="2661818" cy="365760"/>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Shared target identities</a:t>
            </a:r>
            <a:endParaRPr lang="en-US" sz="1600" dirty="0"/>
          </a:p>
        </p:txBody>
      </p:sp>
      <p:sp>
        <p:nvSpPr>
          <p:cNvPr id="11" name="Text 9"/>
          <p:cNvSpPr txBox="1"/>
          <p:nvPr/>
        </p:nvSpPr>
        <p:spPr>
          <a:xfrm>
            <a:off x="4783226" y="3429000"/>
            <a:ext cx="2625242" cy="1280160"/>
          </a:xfrm>
          <a:prstGeom prst="rect">
            <a:avLst/>
          </a:prstGeom>
          <a:noFill/>
          <a:ln/>
        </p:spPr>
        <p:txBody>
          <a:bodyPr wrap="square" lIns="0" tIns="0" rIns="0" bIns="0" rtlCol="0" anchor="ctr"/>
          <a:lstStyle/>
          <a:p>
            <a:pPr indent="0" marL="0">
              <a:lnSpc>
                <a:spcPct val="130000"/>
              </a:lnSpc>
              <a:buNone/>
            </a:pPr>
            <a:r>
              <a:rPr lang="en-US" sz="1200" dirty="0">
                <a:solidFill>
                  <a:srgbClr val="3F3F3F"/>
                </a:solidFill>
                <a:latin typeface="Inter" pitchFamily="34" charset="0"/>
                <a:ea typeface="Inter" pitchFamily="34" charset="-122"/>
                <a:cs typeface="Inter" pitchFamily="34" charset="-120"/>
              </a:rPr>
              <a:t>The conversion attacks reuse target identities between train and test. Our Spanish numbers are an upper bound.</a:t>
            </a:r>
            <a:endParaRPr lang="en-US" sz="1200" dirty="0"/>
          </a:p>
        </p:txBody>
      </p:sp>
      <p:sp>
        <p:nvSpPr>
          <p:cNvPr id="12" name="Shape 10"/>
          <p:cNvSpPr/>
          <p:nvPr/>
        </p:nvSpPr>
        <p:spPr>
          <a:xfrm>
            <a:off x="8066837" y="2194560"/>
            <a:ext cx="3393338" cy="2651760"/>
          </a:xfrm>
          <a:prstGeom prst="roundRect">
            <a:avLst>
              <a:gd name="adj" fmla="val 2069"/>
            </a:avLst>
          </a:prstGeom>
          <a:solidFill>
            <a:srgbClr val="FFFFFF"/>
          </a:solidFill>
          <a:ln w="12700">
            <a:solidFill>
              <a:srgbClr val="0D0D0D"/>
            </a:solidFill>
            <a:prstDash val="solid"/>
          </a:ln>
        </p:spPr>
      </p:sp>
      <p:sp>
        <p:nvSpPr>
          <p:cNvPr id="13" name="Text 11"/>
          <p:cNvSpPr txBox="1"/>
          <p:nvPr/>
        </p:nvSpPr>
        <p:spPr>
          <a:xfrm>
            <a:off x="8450885" y="2450592"/>
            <a:ext cx="914400" cy="411480"/>
          </a:xfrm>
          <a:prstGeom prst="rect">
            <a:avLst/>
          </a:prstGeom>
          <a:noFill/>
          <a:ln/>
        </p:spPr>
        <p:txBody>
          <a:bodyPr wrap="square" lIns="0" tIns="0" rIns="0" bIns="0" rtlCol="0" anchor="ctr"/>
          <a:lstStyle/>
          <a:p>
            <a:pPr indent="0" marL="0">
              <a:buNone/>
            </a:pPr>
            <a:r>
              <a:rPr lang="en-US" sz="2000" b="1" dirty="0">
                <a:solidFill>
                  <a:srgbClr val="8A6D00"/>
                </a:solidFill>
                <a:latin typeface="Consolas" pitchFamily="34" charset="0"/>
                <a:ea typeface="Consolas" pitchFamily="34" charset="-122"/>
                <a:cs typeface="Consolas" pitchFamily="34" charset="-120"/>
              </a:rPr>
              <a:t>03</a:t>
            </a:r>
            <a:endParaRPr lang="en-US" sz="2000" dirty="0"/>
          </a:p>
        </p:txBody>
      </p:sp>
      <p:sp>
        <p:nvSpPr>
          <p:cNvPr id="14" name="Text 12"/>
          <p:cNvSpPr txBox="1"/>
          <p:nvPr/>
        </p:nvSpPr>
        <p:spPr>
          <a:xfrm>
            <a:off x="8450885" y="2944368"/>
            <a:ext cx="2661818" cy="365760"/>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Four attack families</a:t>
            </a:r>
            <a:endParaRPr lang="en-US" sz="1600" dirty="0"/>
          </a:p>
        </p:txBody>
      </p:sp>
      <p:sp>
        <p:nvSpPr>
          <p:cNvPr id="15" name="Text 13"/>
          <p:cNvSpPr txBox="1"/>
          <p:nvPr/>
        </p:nvSpPr>
        <p:spPr>
          <a:xfrm>
            <a:off x="8450885" y="3429000"/>
            <a:ext cx="2625242" cy="1280160"/>
          </a:xfrm>
          <a:prstGeom prst="rect">
            <a:avLst/>
          </a:prstGeom>
          <a:noFill/>
          <a:ln/>
        </p:spPr>
        <p:txBody>
          <a:bodyPr wrap="square" lIns="0" tIns="0" rIns="0" bIns="0" rtlCol="0" anchor="ctr"/>
          <a:lstStyle/>
          <a:p>
            <a:pPr indent="0" marL="0">
              <a:lnSpc>
                <a:spcPct val="130000"/>
              </a:lnSpc>
              <a:buNone/>
            </a:pPr>
            <a:r>
              <a:rPr lang="en-US" sz="1200" dirty="0">
                <a:solidFill>
                  <a:srgbClr val="3F3F3F"/>
                </a:solidFill>
                <a:latin typeface="Inter" pitchFamily="34" charset="0"/>
                <a:ea typeface="Inter" pitchFamily="34" charset="-122"/>
                <a:cs typeface="Inter" pitchFamily="34" charset="-120"/>
              </a:rPr>
              <a:t>HABLA gives us four attack families. We just showed that conclusions depend on which attacks a corpus contains — ours carry that same dependency.</a:t>
            </a:r>
            <a:endParaRPr lang="en-US" sz="1200" dirty="0"/>
          </a:p>
        </p:txBody>
      </p:sp>
      <p:sp>
        <p:nvSpPr>
          <p:cNvPr id="16" name="Text 14"/>
          <p:cNvSpPr txBox="1"/>
          <p:nvPr/>
        </p:nvSpPr>
        <p:spPr>
          <a:xfrm>
            <a:off x="731520" y="52120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Number three is what I am working on now.</a:t>
            </a:r>
            <a:pPr indent="0" marL="0">
              <a:buNone/>
            </a:pPr>
            <a:endParaRPr lang="en-US" sz="1500" dirty="0"/>
          </a:p>
        </p:txBody>
      </p:sp>
      <p:pic>
        <p:nvPicPr>
          <p:cNvPr id="17"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8" name="Text 15"/>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9" name="Text 16"/>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IF YOU REMEMBER ONE THING</a:t>
            </a:r>
            <a:endParaRPr lang="en-US" sz="1000" dirty="0"/>
          </a:p>
        </p:txBody>
      </p:sp>
      <p:sp>
        <p:nvSpPr>
          <p:cNvPr id="3" name="Text 1"/>
          <p:cNvSpPr txBox="1"/>
          <p:nvPr/>
        </p:nvSpPr>
        <p:spPr>
          <a:xfrm>
            <a:off x="731520" y="2148840"/>
            <a:ext cx="10424160" cy="685800"/>
          </a:xfrm>
          <a:prstGeom prst="rect">
            <a:avLst/>
          </a:prstGeom>
          <a:noFill/>
          <a:ln/>
        </p:spPr>
        <p:txBody>
          <a:bodyPr wrap="square" lIns="0" tIns="0" rIns="0" bIns="0" rtlCol="0" anchor="ctr"/>
          <a:lstStyle/>
          <a:p>
            <a:pPr indent="0" marL="0">
              <a:buNone/>
            </a:pPr>
            <a:r>
              <a:rPr lang="en-US" sz="4000" b="1" dirty="0">
                <a:solidFill>
                  <a:srgbClr val="0D0D0D"/>
                </a:solidFill>
                <a:latin typeface="Inter" pitchFamily="34" charset="0"/>
                <a:ea typeface="Inter" pitchFamily="34" charset="-122"/>
                <a:cs typeface="Inter" pitchFamily="34" charset="-120"/>
              </a:rPr>
              <a:t>The language gap is real.</a:t>
            </a:r>
            <a:endParaRPr lang="en-US" sz="4000" dirty="0"/>
          </a:p>
        </p:txBody>
      </p:sp>
      <p:sp>
        <p:nvSpPr>
          <p:cNvPr id="4" name="Shape 2"/>
          <p:cNvSpPr/>
          <p:nvPr/>
        </p:nvSpPr>
        <p:spPr>
          <a:xfrm>
            <a:off x="685800" y="3044952"/>
            <a:ext cx="6858000" cy="411480"/>
          </a:xfrm>
          <a:prstGeom prst="rect">
            <a:avLst/>
          </a:prstGeom>
          <a:solidFill>
            <a:srgbClr val="FFE800"/>
          </a:solidFill>
          <a:ln w="12700">
            <a:solidFill>
              <a:srgbClr val="FFE800"/>
            </a:solidFill>
            <a:prstDash val="solid"/>
          </a:ln>
        </p:spPr>
      </p:sp>
      <p:sp>
        <p:nvSpPr>
          <p:cNvPr id="5" name="Text 3"/>
          <p:cNvSpPr txBox="1"/>
          <p:nvPr/>
        </p:nvSpPr>
        <p:spPr>
          <a:xfrm>
            <a:off x="731520" y="2834640"/>
            <a:ext cx="10424160" cy="685800"/>
          </a:xfrm>
          <a:prstGeom prst="rect">
            <a:avLst/>
          </a:prstGeom>
          <a:noFill/>
          <a:ln/>
        </p:spPr>
        <p:txBody>
          <a:bodyPr wrap="square" lIns="0" tIns="0" rIns="0" bIns="0" rtlCol="0" anchor="ctr"/>
          <a:lstStyle/>
          <a:p>
            <a:pPr indent="0" marL="0">
              <a:buNone/>
            </a:pPr>
            <a:r>
              <a:rPr lang="en-US" sz="4000" b="1" dirty="0">
                <a:solidFill>
                  <a:srgbClr val="0D0D0D"/>
                </a:solidFill>
                <a:latin typeface="Inter" pitchFamily="34" charset="0"/>
                <a:ea typeface="Inter" pitchFamily="34" charset="-122"/>
                <a:cs typeface="Inter" pitchFamily="34" charset="-120"/>
              </a:rPr>
              <a:t>It lives in voice conversion.</a:t>
            </a:r>
            <a:endParaRPr lang="en-US" sz="4000" dirty="0"/>
          </a:p>
        </p:txBody>
      </p:sp>
      <p:sp>
        <p:nvSpPr>
          <p:cNvPr id="6" name="Text 4"/>
          <p:cNvSpPr txBox="1"/>
          <p:nvPr/>
        </p:nvSpPr>
        <p:spPr>
          <a:xfrm>
            <a:off x="731520" y="3520440"/>
            <a:ext cx="10424160" cy="685800"/>
          </a:xfrm>
          <a:prstGeom prst="rect">
            <a:avLst/>
          </a:prstGeom>
          <a:noFill/>
          <a:ln/>
        </p:spPr>
        <p:txBody>
          <a:bodyPr wrap="square" lIns="0" tIns="0" rIns="0" bIns="0" rtlCol="0" anchor="ctr"/>
          <a:lstStyle/>
          <a:p>
            <a:pPr indent="0" marL="0">
              <a:buNone/>
            </a:pPr>
            <a:r>
              <a:rPr lang="en-US" sz="4000" b="1" dirty="0">
                <a:solidFill>
                  <a:srgbClr val="BDBDBD"/>
                </a:solidFill>
                <a:latin typeface="Inter" pitchFamily="34" charset="0"/>
                <a:ea typeface="Inter" pitchFamily="34" charset="-122"/>
                <a:cs typeface="Inter" pitchFamily="34" charset="-120"/>
              </a:rPr>
              <a:t>One bilingual model closes it.</a:t>
            </a:r>
            <a:endParaRPr lang="en-US" sz="4000" dirty="0"/>
          </a:p>
        </p:txBody>
      </p:sp>
      <p:sp>
        <p:nvSpPr>
          <p:cNvPr id="7" name="Text 5"/>
          <p:cNvSpPr txBox="1"/>
          <p:nvPr/>
        </p:nvSpPr>
        <p:spPr>
          <a:xfrm>
            <a:off x="731520" y="4572000"/>
            <a:ext cx="9601200" cy="731520"/>
          </a:xfrm>
          <a:prstGeom prst="rect">
            <a:avLst/>
          </a:prstGeom>
          <a:noFill/>
          <a:ln/>
        </p:spPr>
        <p:txBody>
          <a:bodyPr wrap="square" lIns="0" tIns="0" rIns="0" bIns="0" rtlCol="0" anchor="ctr"/>
          <a:lstStyle/>
          <a:p>
            <a:pPr indent="0" marL="0">
              <a:lnSpc>
                <a:spcPct val="135000"/>
              </a:lnSpc>
              <a:buNone/>
            </a:pPr>
            <a:r>
              <a:rPr lang="en-US" sz="1500" dirty="0">
                <a:solidFill>
                  <a:srgbClr val="3F3F3F"/>
                </a:solidFill>
                <a:latin typeface="Inter" pitchFamily="34" charset="0"/>
                <a:ea typeface="Inter" pitchFamily="34" charset="-122"/>
                <a:cs typeface="Inter" pitchFamily="34" charset="-120"/>
              </a:rPr>
              <a:t>No architecture escapes the gap — we checked 48. And you do not need one detector per language.</a:t>
            </a:r>
            <a:endParaRPr lang="en-US" sz="1500" dirty="0"/>
          </a:p>
        </p:txBody>
      </p:sp>
      <p:pic>
        <p:nvPicPr>
          <p:cNvPr id="8"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9" name="Text 6"/>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0" name="Text 7"/>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1371600"/>
            <a:ext cx="10728655" cy="320040"/>
          </a:xfrm>
          <a:prstGeom prst="rect">
            <a:avLst/>
          </a:prstGeom>
          <a:noFill/>
          <a:ln/>
        </p:spPr>
        <p:txBody>
          <a:bodyPr wrap="square" lIns="0" tIns="0" rIns="0" bIns="0" rtlCol="0" anchor="ctr"/>
          <a:lstStyle/>
          <a:p>
            <a:pPr indent="0" marL="0">
              <a:buNone/>
            </a:pPr>
            <a:r>
              <a:rPr lang="en-US" sz="1000" b="1" spc="240" kern="0" dirty="0">
                <a:solidFill>
                  <a:srgbClr val="7A7A7A"/>
                </a:solidFill>
                <a:latin typeface="Inter" pitchFamily="34" charset="0"/>
                <a:ea typeface="Inter" pitchFamily="34" charset="-122"/>
                <a:cs typeface="Inter" pitchFamily="34" charset="-120"/>
              </a:rPr>
              <a:t>THANK YOU</a:t>
            </a:r>
            <a:endParaRPr lang="en-US" sz="1000" dirty="0"/>
          </a:p>
        </p:txBody>
      </p:sp>
      <p:sp>
        <p:nvSpPr>
          <p:cNvPr id="3" name="Text 1"/>
          <p:cNvSpPr txBox="1"/>
          <p:nvPr/>
        </p:nvSpPr>
        <p:spPr>
          <a:xfrm>
            <a:off x="731520" y="1828800"/>
            <a:ext cx="7315200" cy="1645920"/>
          </a:xfrm>
          <a:prstGeom prst="rect">
            <a:avLst/>
          </a:prstGeom>
          <a:noFill/>
          <a:ln/>
        </p:spPr>
        <p:txBody>
          <a:bodyPr wrap="square" lIns="0" tIns="0" rIns="0" bIns="0" rtlCol="0" anchor="ctr"/>
          <a:lstStyle/>
          <a:p>
            <a:pPr indent="0" marL="0">
              <a:lnSpc>
                <a:spcPct val="110000"/>
              </a:lnSpc>
              <a:buNone/>
            </a:pPr>
            <a:r>
              <a:rPr lang="en-US" sz="4600" b="1" dirty="0">
                <a:solidFill>
                  <a:srgbClr val="FFFFFF"/>
                </a:solidFill>
                <a:latin typeface="Inter" pitchFamily="34" charset="0"/>
                <a:ea typeface="Inter" pitchFamily="34" charset="-122"/>
                <a:cs typeface="Inter" pitchFamily="34" charset="-120"/>
              </a:rPr>
              <a:t>Questions</a:t>
            </a:r>
            <a:pPr indent="0" marL="0">
              <a:lnSpc>
                <a:spcPct val="110000"/>
              </a:lnSpc>
              <a:buNone/>
            </a:pPr>
            <a:r>
              <a:rPr lang="en-US" sz="4600" b="1" dirty="0">
                <a:solidFill>
                  <a:srgbClr val="FFE800"/>
                </a:solidFill>
                <a:latin typeface="Inter" pitchFamily="34" charset="0"/>
                <a:ea typeface="Inter" pitchFamily="34" charset="-122"/>
                <a:cs typeface="Inter" pitchFamily="34" charset="-120"/>
              </a:rPr>
              <a:t> —</a:t>
            </a:r>
            <a:endParaRPr lang="en-US" sz="4600" dirty="0"/>
          </a:p>
          <a:p>
            <a:pPr indent="0" marL="0">
              <a:lnSpc>
                <a:spcPct val="110000"/>
              </a:lnSpc>
              <a:buNone/>
            </a:pPr>
            <a:r>
              <a:rPr lang="en-US" sz="4600" b="1" dirty="0">
                <a:solidFill>
                  <a:srgbClr val="FFE800"/>
                </a:solidFill>
                <a:latin typeface="Inter" pitchFamily="34" charset="0"/>
                <a:ea typeface="Inter" pitchFamily="34" charset="-122"/>
                <a:cs typeface="Inter" pitchFamily="34" charset="-120"/>
              </a:rPr>
              <a:t>and what comes next</a:t>
            </a:r>
            <a:endParaRPr lang="en-US" sz="4600" dirty="0"/>
          </a:p>
        </p:txBody>
      </p:sp>
      <p:sp>
        <p:nvSpPr>
          <p:cNvPr id="4" name="Text 2"/>
          <p:cNvSpPr txBox="1"/>
          <p:nvPr/>
        </p:nvSpPr>
        <p:spPr>
          <a:xfrm>
            <a:off x="731520" y="3749040"/>
            <a:ext cx="6766560" cy="1280160"/>
          </a:xfrm>
          <a:prstGeom prst="rect">
            <a:avLst/>
          </a:prstGeom>
          <a:noFill/>
          <a:ln/>
        </p:spPr>
        <p:txBody>
          <a:bodyPr wrap="square" lIns="0" tIns="0" rIns="0" bIns="0" rtlCol="0" anchor="ctr"/>
          <a:lstStyle/>
          <a:p>
            <a:pPr indent="0" marL="0">
              <a:lnSpc>
                <a:spcPct val="135000"/>
              </a:lnSpc>
              <a:buNone/>
            </a:pPr>
            <a:r>
              <a:rPr lang="en-US" sz="1300" dirty="0">
                <a:solidFill>
                  <a:srgbClr val="9A9A9A"/>
                </a:solidFill>
                <a:latin typeface="Inter" pitchFamily="34" charset="0"/>
                <a:ea typeface="Inter" pitchFamily="34" charset="-122"/>
                <a:cs typeface="Inter" pitchFamily="34" charset="-120"/>
              </a:rPr>
              <a:t>MARSA — a multi-accent Spanish corpus that adds full-spoof attacks from six contemporary TTS systems, a partial-spoof tier where individual words are spliced into bona fide utterances, and an acoustic augmentation layer. That tier needs frame-level scoring, because an utterance-level error rate has no way to express “three words of this sentence were fake”.</a:t>
            </a:r>
            <a:endParaRPr lang="en-US" sz="1300" dirty="0"/>
          </a:p>
        </p:txBody>
      </p:sp>
      <p:sp>
        <p:nvSpPr>
          <p:cNvPr id="5" name="Shape 3"/>
          <p:cNvSpPr/>
          <p:nvPr/>
        </p:nvSpPr>
        <p:spPr>
          <a:xfrm>
            <a:off x="731520" y="5212080"/>
            <a:ext cx="6766560" cy="0"/>
          </a:xfrm>
          <a:prstGeom prst="line">
            <a:avLst/>
          </a:prstGeom>
          <a:noFill/>
          <a:ln w="12700">
            <a:solidFill>
              <a:srgbClr val="2E2E2E"/>
            </a:solidFill>
            <a:prstDash val="solid"/>
          </a:ln>
        </p:spPr>
      </p:sp>
      <p:sp>
        <p:nvSpPr>
          <p:cNvPr id="6" name="Text 4"/>
          <p:cNvSpPr txBox="1"/>
          <p:nvPr/>
        </p:nvSpPr>
        <p:spPr>
          <a:xfrm>
            <a:off x="731520" y="5394960"/>
            <a:ext cx="7772400" cy="32004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Tomás Acosta Bernal</a:t>
            </a:r>
            <a:pPr indent="0" marL="0">
              <a:buNone/>
            </a:pPr>
            <a:r>
              <a:rPr lang="en-US" sz="1200" dirty="0">
                <a:solidFill>
                  <a:srgbClr val="8A8A8A"/>
                </a:solidFill>
                <a:latin typeface="Inter" pitchFamily="34" charset="0"/>
                <a:ea typeface="Inter" pitchFamily="34" charset="-122"/>
                <a:cs typeface="Inter" pitchFamily="34" charset="-120"/>
              </a:rPr>
              <a:t>   ·   t.acosta@uniandes.edu.co   ·   FLAG Lab, Universidad de los Andes</a:t>
            </a:r>
            <a:endParaRPr lang="en-US" sz="1200" dirty="0"/>
          </a:p>
        </p:txBody>
      </p:sp>
      <p:sp>
        <p:nvSpPr>
          <p:cNvPr id="7" name="Shape 5"/>
          <p:cNvSpPr/>
          <p:nvPr/>
        </p:nvSpPr>
        <p:spPr>
          <a:xfrm>
            <a:off x="9448495" y="2194560"/>
            <a:ext cx="2011680" cy="2011680"/>
          </a:xfrm>
          <a:prstGeom prst="rect">
            <a:avLst/>
          </a:prstGeom>
          <a:solidFill>
            <a:srgbClr val="151515"/>
          </a:solidFill>
          <a:ln w="12700">
            <a:solidFill>
              <a:srgbClr val="3A3A3A"/>
            </a:solidFill>
            <a:prstDash val="dash"/>
          </a:ln>
        </p:spPr>
      </p:sp>
      <p:sp>
        <p:nvSpPr>
          <p:cNvPr id="8" name="Text 6"/>
          <p:cNvSpPr txBox="1"/>
          <p:nvPr/>
        </p:nvSpPr>
        <p:spPr>
          <a:xfrm>
            <a:off x="9448495" y="2194560"/>
            <a:ext cx="2011680" cy="2011680"/>
          </a:xfrm>
          <a:prstGeom prst="rect">
            <a:avLst/>
          </a:prstGeom>
          <a:noFill/>
          <a:ln/>
        </p:spPr>
        <p:txBody>
          <a:bodyPr wrap="square" lIns="0" tIns="0" rIns="0" bIns="0" rtlCol="0" anchor="ctr"/>
          <a:lstStyle/>
          <a:p>
            <a:pPr algn="ctr" indent="0" marL="0">
              <a:buNone/>
            </a:pPr>
            <a:r>
              <a:rPr lang="en-US" sz="900" b="1" spc="120" kern="0" dirty="0">
                <a:solidFill>
                  <a:srgbClr val="6E6E6E"/>
                </a:solidFill>
                <a:latin typeface="Inter" pitchFamily="34" charset="0"/>
                <a:ea typeface="Inter" pitchFamily="34" charset="-122"/>
                <a:cs typeface="Inter" pitchFamily="34" charset="-120"/>
              </a:rPr>
              <a:t>QR</a:t>
            </a:r>
            <a:endParaRPr lang="en-US" sz="900" dirty="0"/>
          </a:p>
          <a:p>
            <a:pPr algn="ctr" indent="0" marL="0">
              <a:buNone/>
            </a:pPr>
            <a:r>
              <a:rPr lang="en-US" sz="900" b="1" spc="120" kern="0" dirty="0">
                <a:solidFill>
                  <a:srgbClr val="6E6E6E"/>
                </a:solidFill>
                <a:latin typeface="Inter" pitchFamily="34" charset="0"/>
                <a:ea typeface="Inter" pitchFamily="34" charset="-122"/>
                <a:cs typeface="Inter" pitchFamily="34" charset="-120"/>
              </a:rPr>
              <a:t>paper · code · audio clips</a:t>
            </a:r>
            <a:endParaRPr lang="en-US" sz="900" dirty="0"/>
          </a:p>
        </p:txBody>
      </p:sp>
      <p:pic>
        <p:nvPicPr>
          <p:cNvPr id="9" name="Image 0" descr="/home/claude/logo_neg.png">    </p:cNvPr>
          <p:cNvPicPr>
            <a:picLocks noChangeAspect="1"/>
          </p:cNvPicPr>
          <p:nvPr/>
        </p:nvPicPr>
        <p:blipFill>
          <a:blip r:embed="rId1"/>
          <a:stretch>
            <a:fillRect/>
          </a:stretch>
        </p:blipFill>
        <p:spPr>
          <a:xfrm>
            <a:off x="9219895" y="4709160"/>
            <a:ext cx="2240280" cy="6720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Universidad de los Andes - FLAG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ICAI 2026 - Accent-Based Evaluation of Speech Anti-spoofing Countermeasures</dc:title>
  <dc:subject>PptxGenJS Presentation</dc:subject>
  <dc:creator>Tomas Acosta Bernal</dc:creator>
  <cp:lastModifiedBy>Tomas Acosta Bernal</cp:lastModifiedBy>
  <cp:revision>1</cp:revision>
  <dcterms:created xsi:type="dcterms:W3CDTF">2026-09-27T23:55:05Z</dcterms:created>
  <dcterms:modified xsi:type="dcterms:W3CDTF">2026-09-27T23:55:05Z</dcterms:modified>
</cp:coreProperties>
</file>