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English-trained</c:v>
                </c:pt>
              </c:strCache>
            </c:strRef>
          </c:tx>
          <c:spPr>
            <a:solidFill>
              <a:srgbClr val="0D0D0D"/>
            </a:solidFill>
            <a:effectLst/>
          </c:spPr>
          <c:invertIfNegative val="0"/>
          <c:dLbls>
            <c:numFmt formatCode="0.0" sourceLinked="0"/>
            <c:txPr>
              <a:bodyPr/>
              <a:lstStyle/>
              <a:p>
                <a:pPr>
                  <a:defRPr b="0" i="0" strike="noStrike" sz="1000" u="none">
                    <a:solidFill>
                      <a:srgbClr val="3F3F3F"/>
                    </a:solidFill>
                    <a:latin typeface="Consolas"/>
                  </a:defRPr>
                </a:pPr>
              </a:p>
            </c:txPr>
            <c:showLegendKey val="0"/>
            <c:showVal val="1"/>
            <c:showCatName val="0"/>
            <c:showSerName val="0"/>
            <c:showPercent val="0"/>
            <c:showBubbleSize val="0"/>
            <c:showLeaderLines val="0"/>
          </c:dLbls>
          <c:cat>
            <c:multiLvlStrRef>
              <c:f>Sheet1!$A$2:$A$5</c:f>
              <c:multiLvlStrCache>
                <c:ptCount val="4"/>
                <c:lvl>
                  <c:pt idx="0">
                    <c:v>CycleGAN</c:v>
                  </c:pt>
                  <c:pt idx="1">
                    <c:v>DiffVC</c:v>
                  </c:pt>
                  <c:pt idx="2">
                    <c:v>StarGAN</c:v>
                  </c:pt>
                  <c:pt idx="3">
                    <c:v>TTS</c:v>
                  </c:pt>
                </c:lvl>
              </c:multiLvlStrCache>
            </c:multiLvlStrRef>
          </c:cat>
          <c:val>
            <c:numRef>
              <c:f>Sheet1!$B$2:$B$5</c:f>
              <c:numCache>
                <c:formatCode>General</c:formatCode>
                <c:ptCount val="4"/>
                <c:pt idx="0">
                  <c:v>51.72</c:v>
                </c:pt>
                <c:pt idx="1">
                  <c:v>53.99</c:v>
                </c:pt>
                <c:pt idx="2">
                  <c:v>65.83</c:v>
                </c:pt>
                <c:pt idx="3">
                  <c:v>1.79</c:v>
                </c:pt>
              </c:numCache>
            </c:numRef>
          </c:val>
        </c:ser>
        <c:ser>
          <c:idx val="1"/>
          <c:order val="1"/>
          <c:tx>
            <c:strRef>
              <c:f>Sheet1!$C$1</c:f>
              <c:strCache>
                <c:ptCount val="1"/>
                <c:pt idx="0">
                  <c:v>Spanish-trained</c:v>
                </c:pt>
              </c:strCache>
            </c:strRef>
          </c:tx>
          <c:spPr>
            <a:solidFill>
              <a:srgbClr val="FFE800"/>
            </a:solidFill>
            <a:effectLst/>
          </c:spPr>
          <c:invertIfNegative val="0"/>
          <c:dLbls>
            <c:numFmt formatCode="0.0" sourceLinked="0"/>
            <c:txPr>
              <a:bodyPr/>
              <a:lstStyle/>
              <a:p>
                <a:pPr>
                  <a:defRPr b="0" i="0" strike="noStrike" sz="1000" u="none">
                    <a:solidFill>
                      <a:srgbClr val="3F3F3F"/>
                    </a:solidFill>
                    <a:latin typeface="Consolas"/>
                  </a:defRPr>
                </a:pPr>
              </a:p>
            </c:txPr>
            <c:showLegendKey val="0"/>
            <c:showVal val="1"/>
            <c:showCatName val="0"/>
            <c:showSerName val="0"/>
            <c:showPercent val="0"/>
            <c:showBubbleSize val="0"/>
            <c:showLeaderLines val="0"/>
          </c:dLbls>
          <c:cat>
            <c:multiLvlStrRef>
              <c:f>Sheet1!$A$2:$A$5</c:f>
              <c:multiLvlStrCache>
                <c:ptCount val="4"/>
                <c:lvl>
                  <c:pt idx="0">
                    <c:v>CycleGAN</c:v>
                  </c:pt>
                  <c:pt idx="1">
                    <c:v>DiffVC</c:v>
                  </c:pt>
                  <c:pt idx="2">
                    <c:v>StarGAN</c:v>
                  </c:pt>
                  <c:pt idx="3">
                    <c:v>TTS</c:v>
                  </c:pt>
                </c:lvl>
              </c:multiLvlStrCache>
            </c:multiLvlStrRef>
          </c:cat>
          <c:val>
            <c:numRef>
              <c:f>Sheet1!$C$2:$C$5</c:f>
              <c:numCache>
                <c:formatCode>General</c:formatCode>
                <c:ptCount val="4"/>
                <c:pt idx="0">
                  <c:v>0.01</c:v>
                </c:pt>
                <c:pt idx="1">
                  <c:v>0.01</c:v>
                </c:pt>
                <c:pt idx="2">
                  <c:v>0.01</c:v>
                </c:pt>
                <c:pt idx="3">
                  <c:v>0</c:v>
                </c:pt>
              </c:numCache>
            </c:numRef>
          </c:val>
        </c:ser>
        <c:dLbls>
          <c:numFmt formatCode="0.0" sourceLinked="0"/>
          <c:txPr>
            <a:bodyPr/>
            <a:lstStyle/>
            <a:p>
              <a:pPr>
                <a:defRPr b="0" i="0" strike="noStrike" sz="1000" u="none">
                  <a:solidFill>
                    <a:srgbClr val="3F3F3F"/>
                  </a:solidFill>
                  <a:latin typeface="Consolas"/>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F3F3F"/>
                </a:solidFill>
                <a:latin typeface="Inter"/>
              </a:defRPr>
            </a:pPr>
            <a:endParaRPr lang="en-US"/>
          </a:p>
        </c:txPr>
        <c:crossAx val="2094734552"/>
        <c:crosses val="autoZero"/>
        <c:auto val="1"/>
        <c:lblAlgn val="ctr"/>
        <c:noMultiLvlLbl val="1"/>
      </c:catAx>
      <c:valAx>
        <c:axId val="2094734552"/>
        <c:scaling>
          <c:orientation val="minMax"/>
          <c:max val="70"/>
        </c:scaling>
        <c:delete val="0"/>
        <c:axPos val="l"/>
        <c:majorGridlines>
          <c:spPr>
            <a:ln w="12700" cap="flat">
              <a:solidFill>
                <a:srgbClr val="EFEFEF"/>
              </a:solidFill>
              <a:prstDash val="solid"/>
              <a:round/>
            </a:ln>
          </c:spPr>
        </c:majorGridlines>
        <c:title>
          <c:tx>
            <c:rich>
              <a:bodyPr/>
              <a:lstStyle/>
              <a:p>
                <a:pPr>
                  <a:defRPr sz="1000" b="0" i="0" u="none" strike="noStrike">
                    <a:solidFill>
                      <a:srgbClr val="8C8C8C"/>
                    </a:solidFill>
                    <a:latin typeface="Inter"/>
                  </a:defRPr>
                </a:pPr>
                <a:r>
                  <a:rPr sz="1000" b="0" i="0" u="none" strike="noStrike">
                    <a:solidFill>
                      <a:srgbClr val="8C8C8C"/>
                    </a:solidFill>
                    <a:latin typeface="Inter"/>
                  </a:rPr>
                  <a:t>EER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Consolas"/>
              </a:defRPr>
            </a:pPr>
            <a:endParaRPr lang="en-US"/>
          </a:p>
        </c:txPr>
        <c:crossAx val="2094734554"/>
        <c:crosses val="autoZero"/>
        <c:crossBetween val="between"/>
        <c:majorUnit val="10"/>
      </c:valAx>
      <c:spPr>
        <a:noFill/>
        <a:ln w="12700" cap="flat">
          <a:solidFill>
            <a:srgbClr val="FFFFFF"/>
          </a:solidFill>
        </a:ln>
        <a:effectLst/>
      </c:spPr>
    </c:plotArea>
    <c:legend>
      <c:legendPos val="t"/>
      <c:overlay val="0"/>
      <c:txPr>
        <a:bodyPr/>
        <a:lstStyle/>
        <a:p>
          <a:pPr>
            <a:defRPr sz="1100">
              <a:solidFill>
                <a:srgbClr val="3F3F3F"/>
              </a:solidFill>
              <a:latin typeface="Inter"/>
              <a:cs typeface="Inter"/>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dark. Read the title, then get off it fast. Drop the real Uniandes lockup into the dashed slot (white/negative version). Yellow is used exactly once here, on the word that names the paper's object of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layout — one idea, huge type, nothing else on the slide. Use for the opening hook and for the single biggest finding. Deliver the line, then stay silent for 2 seconds before advancing. Max ~12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layout — 20 seconds, no more. Circle photo + three one-line roles. The closing line sets expectations: you are presenting Jaime's paper and extending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layout — 2x2. Four items maximum; the talk is 15 minutes. Numbers in deep amber so the yellow never has to carry text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dark, ghosted number, three-word subtitle. These are the breathing points: pause here, let the room reset. Four of these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GRID 3-up. Last card is the 'so what' card: white fill + black border instead of grey fill. Never more than ~25 words per card. Bold takeaway line at the bottom is a fixed element of this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layout — two halves, one number each. The right half carries the pale-yellow tint + yellow border: that is how this deck marks 'the problem'. Use for before/after, EN vs ES, baseline vs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CANVAS — the workhorse layout. Boxes on one horizontal line, arrows between, the varying stages get a white fill + black border and a yellow count above. Caption strip + bold takeaway underneath. This is where the complex figures (DET curves, the 48-grid, MARSA) will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layout — chart 60%, reading of the chart 40%. Colour grammar: black = the baseline / what fails, yellow = the fix. Never put a chart on a slide without the sentence that tells the room what to see in it. Source line in mono, bottom-left.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layout — one figure, one sentence, one qualifier. The yellow highlighter bar under the number is the deck's motif; use it sparingly (3-4 times in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layout — never paste a paper table whole. Five rows maximum, cells that carry the argument get the pale-yellow tint, and the right column tells the room what to look at. Mono digits so columns line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AUDIO DEMO layout — the interactive beat. Two cards, two clips, a show of hands. Audio gets embedded as real PowerPoint media (click-to-play) once we have the files: HABLA bona fide vs converted, or your own cloned voice. ALWAYS test speakers in the room before the session starts, and keep a spectrogram fallback slide in case audio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layout — the one sentence you want quoted. The second clause goes grey so the first one carries. Highlighter bar sits under the key noun phrase. Say this line twice in the talk: here, and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dark, mirrors the cover. Leave this on screen through the whole Q&amp;A: it holds your name, your email and the QR, which is what people photograph. The MARSA paragraph is your bridge to your own thesis if someone asks 'what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page. Delete before presenting, or keep it hidden. Uniandes official identity is black + yellow #FFFF00; #FFE800 is the screen tone used here to stop the pure yellow from vibrating on projectors.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640080"/>
            <a:ext cx="10728655" cy="274320"/>
          </a:xfrm>
          <a:prstGeom prst="rect">
            <a:avLst/>
          </a:prstGeom>
          <a:noFill/>
          <a:ln/>
        </p:spPr>
        <p:txBody>
          <a:bodyPr wrap="square" lIns="0" tIns="0" rIns="0" bIns="0" rtlCol="0" anchor="ctr"/>
          <a:lstStyle/>
          <a:p>
            <a:pPr indent="0" marL="0">
              <a:buNone/>
            </a:pPr>
            <a:r>
              <a:rPr lang="en-US" sz="1000" b="1" spc="220" kern="0" dirty="0">
                <a:solidFill>
                  <a:srgbClr val="7A7A7A"/>
                </a:solidFill>
                <a:latin typeface="Inter" pitchFamily="34" charset="0"/>
                <a:ea typeface="Inter" pitchFamily="34" charset="-122"/>
                <a:cs typeface="Inter" pitchFamily="34" charset="-120"/>
              </a:rPr>
              <a:t>ICAI 2026 · 9TH INTERNATIONAL CONFERENCE ON APPLIED INFORMATICS</a:t>
            </a:r>
            <a:endParaRPr lang="en-US" sz="1000" dirty="0"/>
          </a:p>
        </p:txBody>
      </p:sp>
      <p:sp>
        <p:nvSpPr>
          <p:cNvPr id="3" name="Text 1"/>
          <p:cNvSpPr txBox="1"/>
          <p:nvPr/>
        </p:nvSpPr>
        <p:spPr>
          <a:xfrm>
            <a:off x="731520" y="1737360"/>
            <a:ext cx="10241280" cy="237744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Inter" pitchFamily="34" charset="0"/>
                <a:ea typeface="Inter" pitchFamily="34" charset="-122"/>
                <a:cs typeface="Inter" pitchFamily="34" charset="-120"/>
              </a:rPr>
              <a:t>Accent-Based Evaluation of</a:t>
            </a:r>
            <a:endParaRPr lang="en-US" sz="4400" dirty="0"/>
          </a:p>
          <a:p>
            <a:pPr indent="0" marL="0">
              <a:lnSpc>
                <a:spcPct val="106000"/>
              </a:lnSpc>
              <a:buNone/>
            </a:pPr>
            <a:r>
              <a:rPr lang="en-US" sz="4400" b="1" dirty="0">
                <a:solidFill>
                  <a:srgbClr val="FFFFFF"/>
                </a:solidFill>
                <a:latin typeface="Inter" pitchFamily="34" charset="0"/>
                <a:ea typeface="Inter" pitchFamily="34" charset="-122"/>
                <a:cs typeface="Inter" pitchFamily="34" charset="-120"/>
              </a:rPr>
              <a:t>Speech Anti-spoofing </a:t>
            </a:r>
            <a:endParaRPr lang="en-US" sz="4400" dirty="0"/>
          </a:p>
          <a:p>
            <a:pPr indent="0" marL="0">
              <a:lnSpc>
                <a:spcPct val="106000"/>
              </a:lnSpc>
              <a:buNone/>
            </a:pPr>
            <a:r>
              <a:rPr lang="en-US" sz="4400" b="1" dirty="0">
                <a:solidFill>
                  <a:srgbClr val="FFE800"/>
                </a:solidFill>
                <a:latin typeface="Inter" pitchFamily="34" charset="0"/>
                <a:ea typeface="Inter" pitchFamily="34" charset="-122"/>
                <a:cs typeface="Inter" pitchFamily="34" charset="-120"/>
              </a:rPr>
              <a:t>Countermeasures</a:t>
            </a:r>
            <a:pPr indent="0" marL="0">
              <a:lnSpc>
                <a:spcPct val="106000"/>
              </a:lnSpc>
              <a:buNone/>
            </a:pPr>
            <a:endParaRPr lang="en-US" sz="4400" dirty="0"/>
          </a:p>
          <a:p>
            <a:pPr indent="0" marL="0">
              <a:lnSpc>
                <a:spcPct val="106000"/>
              </a:lnSpc>
              <a:buNone/>
            </a:pPr>
            <a:r>
              <a:rPr lang="en-US" sz="4400" b="1" dirty="0">
                <a:solidFill>
                  <a:srgbClr val="FFFFFF"/>
                </a:solidFill>
                <a:latin typeface="Inter" pitchFamily="34" charset="0"/>
                <a:ea typeface="Inter" pitchFamily="34" charset="-122"/>
                <a:cs typeface="Inter" pitchFamily="34" charset="-120"/>
              </a:rPr>
              <a:t>Across Multiple Languages</a:t>
            </a:r>
            <a:endParaRPr lang="en-US" sz="4400" dirty="0"/>
          </a:p>
        </p:txBody>
      </p:sp>
      <p:sp>
        <p:nvSpPr>
          <p:cNvPr id="4" name="Shape 2"/>
          <p:cNvSpPr/>
          <p:nvPr/>
        </p:nvSpPr>
        <p:spPr>
          <a:xfrm>
            <a:off x="731520" y="4572000"/>
            <a:ext cx="10728655" cy="0"/>
          </a:xfrm>
          <a:prstGeom prst="line">
            <a:avLst/>
          </a:prstGeom>
          <a:noFill/>
          <a:ln w="12700">
            <a:solidFill>
              <a:srgbClr val="E6E6E6"/>
            </a:solidFill>
            <a:prstDash val="solid"/>
          </a:ln>
        </p:spPr>
      </p:sp>
      <p:sp>
        <p:nvSpPr>
          <p:cNvPr id="5" name="Shape 3"/>
          <p:cNvSpPr/>
          <p:nvPr/>
        </p:nvSpPr>
        <p:spPr>
          <a:xfrm>
            <a:off x="731520" y="4572000"/>
            <a:ext cx="10728655" cy="0"/>
          </a:xfrm>
          <a:prstGeom prst="line">
            <a:avLst/>
          </a:prstGeom>
          <a:noFill/>
          <a:ln w="12700">
            <a:solidFill>
              <a:srgbClr val="2E2E2E"/>
            </a:solidFill>
            <a:prstDash val="solid"/>
          </a:ln>
        </p:spPr>
      </p:sp>
      <p:sp>
        <p:nvSpPr>
          <p:cNvPr id="6" name="Text 4"/>
          <p:cNvSpPr txBox="1"/>
          <p:nvPr/>
        </p:nvSpPr>
        <p:spPr>
          <a:xfrm>
            <a:off x="731520" y="4800600"/>
            <a:ext cx="8686800" cy="292608"/>
          </a:xfrm>
          <a:prstGeom prst="rect">
            <a:avLst/>
          </a:prstGeom>
          <a:noFill/>
          <a:ln/>
        </p:spPr>
        <p:txBody>
          <a:bodyPr wrap="square" lIns="0" tIns="0" rIns="0" bIns="0" rtlCol="0" anchor="ctr"/>
          <a:lstStyle/>
          <a:p>
            <a:pPr indent="0" marL="0">
              <a:buNone/>
            </a:pPr>
            <a:r>
              <a:rPr lang="en-US" sz="1400" dirty="0">
                <a:solidFill>
                  <a:srgbClr val="9A9A9A"/>
                </a:solidFill>
                <a:latin typeface="Inter" pitchFamily="34" charset="0"/>
                <a:ea typeface="Inter" pitchFamily="34" charset="-122"/>
                <a:cs typeface="Inter" pitchFamily="34" charset="-120"/>
              </a:rPr>
              <a:t>Jaime Arturo Hurtado Romero  ·  </a:t>
            </a:r>
            <a:pPr indent="0" marL="0">
              <a:buNone/>
            </a:pPr>
            <a:r>
              <a:rPr lang="en-US" sz="1400" b="1" dirty="0">
                <a:solidFill>
                  <a:srgbClr val="FFFFFF"/>
                </a:solidFill>
                <a:latin typeface="Inter" pitchFamily="34" charset="0"/>
                <a:ea typeface="Inter" pitchFamily="34" charset="-122"/>
                <a:cs typeface="Inter" pitchFamily="34" charset="-120"/>
              </a:rPr>
              <a:t>Tomás Acosta Bernal</a:t>
            </a:r>
            <a:pPr indent="0" marL="0">
              <a:buNone/>
            </a:pPr>
            <a:r>
              <a:rPr lang="en-US" sz="1400" dirty="0">
                <a:solidFill>
                  <a:srgbClr val="9A9A9A"/>
                </a:solidFill>
                <a:latin typeface="Inter" pitchFamily="34" charset="0"/>
                <a:ea typeface="Inter" pitchFamily="34" charset="-122"/>
                <a:cs typeface="Inter" pitchFamily="34" charset="-120"/>
              </a:rPr>
              <a:t>  ·  Rubén Francisco Manrique</a:t>
            </a:r>
            <a:endParaRPr lang="en-US" sz="1400" dirty="0"/>
          </a:p>
        </p:txBody>
      </p:sp>
      <p:sp>
        <p:nvSpPr>
          <p:cNvPr id="7" name="Text 5"/>
          <p:cNvSpPr txBox="1"/>
          <p:nvPr/>
        </p:nvSpPr>
        <p:spPr>
          <a:xfrm>
            <a:off x="731520" y="5166360"/>
            <a:ext cx="8686800" cy="274320"/>
          </a:xfrm>
          <a:prstGeom prst="rect">
            <a:avLst/>
          </a:prstGeom>
          <a:noFill/>
          <a:ln/>
        </p:spPr>
        <p:txBody>
          <a:bodyPr wrap="square" lIns="0" tIns="0" rIns="0" bIns="0" rtlCol="0" anchor="ctr"/>
          <a:lstStyle/>
          <a:p>
            <a:pPr indent="0" marL="0">
              <a:buNone/>
            </a:pPr>
            <a:r>
              <a:rPr lang="en-US" sz="1100" dirty="0">
                <a:solidFill>
                  <a:srgbClr val="7A7A7A"/>
                </a:solidFill>
                <a:latin typeface="Inter" pitchFamily="34" charset="0"/>
                <a:ea typeface="Inter" pitchFamily="34" charset="-122"/>
                <a:cs typeface="Inter" pitchFamily="34" charset="-120"/>
              </a:rPr>
              <a:t>FLAG Lab · Department of Systems and Computing Engineering · Universidad de los Andes, Bogotá, Colombia</a:t>
            </a:r>
            <a:endParaRPr lang="en-US" sz="1100" dirty="0"/>
          </a:p>
        </p:txBody>
      </p:sp>
      <p:sp>
        <p:nvSpPr>
          <p:cNvPr id="8" name="Text 6"/>
          <p:cNvSpPr txBox="1"/>
          <p:nvPr/>
        </p:nvSpPr>
        <p:spPr>
          <a:xfrm>
            <a:off x="731520" y="5504688"/>
            <a:ext cx="8686800" cy="274320"/>
          </a:xfrm>
          <a:prstGeom prst="rect">
            <a:avLst/>
          </a:prstGeom>
          <a:noFill/>
          <a:ln/>
        </p:spPr>
        <p:txBody>
          <a:bodyPr wrap="square" lIns="0" tIns="0" rIns="0" bIns="0" rtlCol="0" anchor="ctr"/>
          <a:lstStyle/>
          <a:p>
            <a:pPr indent="0" marL="0">
              <a:buNone/>
            </a:pPr>
            <a:r>
              <a:rPr lang="en-US" sz="1000" dirty="0">
                <a:solidFill>
                  <a:srgbClr val="6E6E6E"/>
                </a:solidFill>
                <a:latin typeface="Consolas" pitchFamily="34" charset="0"/>
                <a:ea typeface="Consolas" pitchFamily="34" charset="-122"/>
                <a:cs typeface="Consolas" pitchFamily="34" charset="-120"/>
              </a:rPr>
              <a:t>Orlando, FL · October 2026 · Springer CCIS</a:t>
            </a:r>
            <a:endParaRPr lang="en-US" sz="1000" dirty="0"/>
          </a:p>
        </p:txBody>
      </p:sp>
      <p:pic>
        <p:nvPicPr>
          <p:cNvPr id="9" name="Image 0" descr="/home/claude/logo_neg.png">    </p:cNvPr>
          <p:cNvPicPr>
            <a:picLocks noChangeAspect="1"/>
          </p:cNvPicPr>
          <p:nvPr/>
        </p:nvPicPr>
        <p:blipFill>
          <a:blip r:embed="rId1"/>
          <a:stretch>
            <a:fillRect/>
          </a:stretch>
        </p:blipFill>
        <p:spPr>
          <a:xfrm>
            <a:off x="9219895" y="4828032"/>
            <a:ext cx="2240280" cy="6720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640080"/>
            <a:ext cx="10728655" cy="274320"/>
          </a:xfrm>
          <a:prstGeom prst="rect">
            <a:avLst/>
          </a:prstGeom>
          <a:noFill/>
          <a:ln/>
        </p:spPr>
        <p:txBody>
          <a:bodyPr wrap="square" lIns="0" tIns="0" rIns="0" bIns="0" rtlCol="0" anchor="ctr"/>
          <a:lstStyle/>
          <a:p>
            <a:pPr indent="0" marL="0">
              <a:buNone/>
            </a:pPr>
            <a:r>
              <a:rPr lang="en-US" sz="1000" b="1" spc="220" kern="0" dirty="0">
                <a:solidFill>
                  <a:srgbClr val="7A7A7A"/>
                </a:solidFill>
                <a:latin typeface="Inter" pitchFamily="34" charset="0"/>
                <a:ea typeface="Inter" pitchFamily="34" charset="-122"/>
                <a:cs typeface="Inter" pitchFamily="34" charset="-120"/>
              </a:rPr>
              <a:t>THE HOOK · SAY IT, THEN PAUSE</a:t>
            </a:r>
            <a:endParaRPr lang="en-US" sz="1000" dirty="0"/>
          </a:p>
        </p:txBody>
      </p:sp>
      <p:sp>
        <p:nvSpPr>
          <p:cNvPr id="3" name="Text 1"/>
          <p:cNvSpPr txBox="1"/>
          <p:nvPr/>
        </p:nvSpPr>
        <p:spPr>
          <a:xfrm>
            <a:off x="731520" y="1600200"/>
            <a:ext cx="10058400" cy="3291840"/>
          </a:xfrm>
          <a:prstGeom prst="rect">
            <a:avLst/>
          </a:prstGeom>
          <a:noFill/>
          <a:ln/>
        </p:spPr>
        <p:txBody>
          <a:bodyPr wrap="square" lIns="0" tIns="0" rIns="0" bIns="0" rtlCol="0" anchor="ctr"/>
          <a:lstStyle/>
          <a:p>
            <a:pPr indent="0" marL="0">
              <a:lnSpc>
                <a:spcPct val="112000"/>
              </a:lnSpc>
              <a:buNone/>
            </a:pPr>
            <a:r>
              <a:rPr lang="en-US" sz="5000" b="1" dirty="0">
                <a:solidFill>
                  <a:srgbClr val="FFFFFF"/>
                </a:solidFill>
                <a:latin typeface="Inter" pitchFamily="34" charset="0"/>
                <a:ea typeface="Inter" pitchFamily="34" charset="-122"/>
                <a:cs typeface="Inter" pitchFamily="34" charset="-120"/>
              </a:rPr>
              <a:t>Your mother calls.</a:t>
            </a:r>
            <a:endParaRPr lang="en-US" sz="5000" dirty="0"/>
          </a:p>
          <a:p>
            <a:pPr indent="0" marL="0">
              <a:lnSpc>
                <a:spcPct val="112000"/>
              </a:lnSpc>
              <a:buNone/>
            </a:pPr>
            <a:r>
              <a:rPr lang="en-US" sz="5000" b="1" dirty="0">
                <a:solidFill>
                  <a:srgbClr val="FFFFFF"/>
                </a:solidFill>
                <a:latin typeface="Inter" pitchFamily="34" charset="0"/>
                <a:ea typeface="Inter" pitchFamily="34" charset="-122"/>
                <a:cs typeface="Inter" pitchFamily="34" charset="-120"/>
              </a:rPr>
              <a:t>She needs </a:t>
            </a:r>
            <a:endParaRPr lang="en-US" sz="5000" dirty="0"/>
          </a:p>
          <a:p>
            <a:pPr indent="0" marL="0">
              <a:lnSpc>
                <a:spcPct val="112000"/>
              </a:lnSpc>
              <a:buNone/>
            </a:pPr>
            <a:r>
              <a:rPr lang="en-US" sz="5000" b="1" dirty="0">
                <a:solidFill>
                  <a:srgbClr val="FFE800"/>
                </a:solidFill>
                <a:latin typeface="Inter" pitchFamily="34" charset="0"/>
                <a:ea typeface="Inter" pitchFamily="34" charset="-122"/>
                <a:cs typeface="Inter" pitchFamily="34" charset="-120"/>
              </a:rPr>
              <a:t>$1,500</a:t>
            </a:r>
            <a:pPr indent="0" marL="0">
              <a:lnSpc>
                <a:spcPct val="112000"/>
              </a:lnSpc>
              <a:buNone/>
            </a:pPr>
            <a:r>
              <a:rPr lang="en-US" sz="5000" b="1" dirty="0">
                <a:solidFill>
                  <a:srgbClr val="FFFFFF"/>
                </a:solidFill>
                <a:latin typeface="Inter" pitchFamily="34" charset="0"/>
                <a:ea typeface="Inter" pitchFamily="34" charset="-122"/>
                <a:cs typeface="Inter" pitchFamily="34" charset="-120"/>
              </a:rPr>
              <a:t>, now.</a:t>
            </a:r>
            <a:endParaRPr lang="en-US" sz="5000" dirty="0"/>
          </a:p>
          <a:p>
            <a:pPr indent="0" marL="0">
              <a:lnSpc>
                <a:spcPct val="112000"/>
              </a:lnSpc>
              <a:buNone/>
            </a:pPr>
            <a:r>
              <a:rPr lang="en-US" sz="5000" b="1" dirty="0">
                <a:solidFill>
                  <a:srgbClr val="FFFFFF"/>
                </a:solidFill>
                <a:latin typeface="Inter" pitchFamily="34" charset="0"/>
                <a:ea typeface="Inter" pitchFamily="34" charset="-122"/>
                <a:cs typeface="Inter" pitchFamily="34" charset="-120"/>
              </a:rPr>
              <a:t>It is her voice.</a:t>
            </a:r>
            <a:endParaRPr lang="en-US" sz="5000" dirty="0"/>
          </a:p>
        </p:txBody>
      </p:sp>
      <p:sp>
        <p:nvSpPr>
          <p:cNvPr id="4" name="Text 2"/>
          <p:cNvSpPr txBox="1"/>
          <p:nvPr/>
        </p:nvSpPr>
        <p:spPr>
          <a:xfrm>
            <a:off x="731520" y="5120640"/>
            <a:ext cx="7315200" cy="457200"/>
          </a:xfrm>
          <a:prstGeom prst="rect">
            <a:avLst/>
          </a:prstGeom>
          <a:noFill/>
          <a:ln/>
        </p:spPr>
        <p:txBody>
          <a:bodyPr wrap="square" lIns="0" tIns="0" rIns="0" bIns="0" rtlCol="0" anchor="ctr"/>
          <a:lstStyle/>
          <a:p>
            <a:pPr indent="0" marL="0">
              <a:buNone/>
            </a:pPr>
            <a:r>
              <a:rPr lang="en-US" sz="2000" i="1" dirty="0">
                <a:solidFill>
                  <a:srgbClr val="9A9A9A"/>
                </a:solidFill>
                <a:latin typeface="Inter" pitchFamily="34" charset="0"/>
                <a:ea typeface="Inter" pitchFamily="34" charset="-122"/>
                <a:cs typeface="Inter" pitchFamily="34" charset="-120"/>
              </a:rPr>
              <a:t>— and it is not her.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WHO IS TALKING</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Tomás Acosta Bernal</a:t>
            </a:r>
            <a:endParaRPr lang="en-US" sz="4000" dirty="0"/>
          </a:p>
        </p:txBody>
      </p:sp>
      <p:pic>
        <p:nvPicPr>
          <p:cNvPr id="4" name="Image 0" descr="/home/claude/headshot.png">    </p:cNvPr>
          <p:cNvPicPr>
            <a:picLocks noChangeAspect="1"/>
          </p:cNvPicPr>
          <p:nvPr/>
        </p:nvPicPr>
        <p:blipFill>
          <a:blip r:embed="rId1"/>
          <a:stretch>
            <a:fillRect/>
          </a:stretch>
        </p:blipFill>
        <p:spPr>
          <a:xfrm>
            <a:off x="731520" y="2011680"/>
            <a:ext cx="2377440" cy="2377440"/>
          </a:xfrm>
          <a:prstGeom prst="rect">
            <a:avLst/>
          </a:prstGeom>
        </p:spPr>
      </p:pic>
      <p:sp>
        <p:nvSpPr>
          <p:cNvPr id="5" name="Shape 2"/>
          <p:cNvSpPr/>
          <p:nvPr/>
        </p:nvSpPr>
        <p:spPr>
          <a:xfrm>
            <a:off x="3520440" y="2231136"/>
            <a:ext cx="100584" cy="100584"/>
          </a:xfrm>
          <a:prstGeom prst="rect">
            <a:avLst/>
          </a:prstGeom>
          <a:solidFill>
            <a:srgbClr val="FFE800"/>
          </a:solidFill>
          <a:ln w="12700">
            <a:solidFill>
              <a:srgbClr val="FFE800"/>
            </a:solidFill>
            <a:prstDash val="solid"/>
          </a:ln>
        </p:spPr>
      </p:sp>
      <p:sp>
        <p:nvSpPr>
          <p:cNvPr id="6" name="Text 3"/>
          <p:cNvSpPr txBox="1"/>
          <p:nvPr/>
        </p:nvSpPr>
        <p:spPr>
          <a:xfrm>
            <a:off x="3794760" y="2130552"/>
            <a:ext cx="6858000" cy="29260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AI Lead Engineer</a:t>
            </a:r>
            <a:endParaRPr lang="en-US" sz="1600" dirty="0"/>
          </a:p>
        </p:txBody>
      </p:sp>
      <p:sp>
        <p:nvSpPr>
          <p:cNvPr id="7" name="Text 4"/>
          <p:cNvSpPr txBox="1"/>
          <p:nvPr/>
        </p:nvSpPr>
        <p:spPr>
          <a:xfrm>
            <a:off x="3794760" y="2423160"/>
            <a:ext cx="6949440" cy="292608"/>
          </a:xfrm>
          <a:prstGeom prst="rect">
            <a:avLst/>
          </a:prstGeom>
          <a:noFill/>
          <a:ln/>
        </p:spPr>
        <p:txBody>
          <a:bodyPr wrap="square" lIns="0" tIns="0" rIns="0" bIns="0" rtlCol="0" anchor="ctr"/>
          <a:lstStyle/>
          <a:p>
            <a:pPr indent="0" marL="0">
              <a:buNone/>
            </a:pPr>
            <a:r>
              <a:rPr lang="en-US" sz="1350" dirty="0">
                <a:solidFill>
                  <a:srgbClr val="3F3F3F"/>
                </a:solidFill>
                <a:latin typeface="Inter" pitchFamily="34" charset="0"/>
                <a:ea typeface="Inter" pitchFamily="34" charset="-122"/>
                <a:cs typeface="Inter" pitchFamily="34" charset="-120"/>
              </a:rPr>
              <a:t>Konecto — voice agents, RAG and LLM systems in production</a:t>
            </a:r>
            <a:endParaRPr lang="en-US" sz="1350" dirty="0"/>
          </a:p>
        </p:txBody>
      </p:sp>
      <p:sp>
        <p:nvSpPr>
          <p:cNvPr id="8" name="Shape 5"/>
          <p:cNvSpPr/>
          <p:nvPr/>
        </p:nvSpPr>
        <p:spPr>
          <a:xfrm>
            <a:off x="3520440" y="3099816"/>
            <a:ext cx="100584" cy="100584"/>
          </a:xfrm>
          <a:prstGeom prst="rect">
            <a:avLst/>
          </a:prstGeom>
          <a:solidFill>
            <a:srgbClr val="FFE800"/>
          </a:solidFill>
          <a:ln w="12700">
            <a:solidFill>
              <a:srgbClr val="FFE800"/>
            </a:solidFill>
            <a:prstDash val="solid"/>
          </a:ln>
        </p:spPr>
      </p:sp>
      <p:sp>
        <p:nvSpPr>
          <p:cNvPr id="9" name="Text 6"/>
          <p:cNvSpPr txBox="1"/>
          <p:nvPr/>
        </p:nvSpPr>
        <p:spPr>
          <a:xfrm>
            <a:off x="3794760" y="2999232"/>
            <a:ext cx="6858000" cy="29260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Researcher</a:t>
            </a:r>
            <a:endParaRPr lang="en-US" sz="1600" dirty="0"/>
          </a:p>
        </p:txBody>
      </p:sp>
      <p:sp>
        <p:nvSpPr>
          <p:cNvPr id="10" name="Text 7"/>
          <p:cNvSpPr txBox="1"/>
          <p:nvPr/>
        </p:nvSpPr>
        <p:spPr>
          <a:xfrm>
            <a:off x="3794760" y="3291840"/>
            <a:ext cx="6949440" cy="292608"/>
          </a:xfrm>
          <a:prstGeom prst="rect">
            <a:avLst/>
          </a:prstGeom>
          <a:noFill/>
          <a:ln/>
        </p:spPr>
        <p:txBody>
          <a:bodyPr wrap="square" lIns="0" tIns="0" rIns="0" bIns="0" rtlCol="0" anchor="ctr"/>
          <a:lstStyle/>
          <a:p>
            <a:pPr indent="0" marL="0">
              <a:buNone/>
            </a:pPr>
            <a:r>
              <a:rPr lang="en-US" sz="1350" dirty="0">
                <a:solidFill>
                  <a:srgbClr val="3F3F3F"/>
                </a:solidFill>
                <a:latin typeface="Inter" pitchFamily="34" charset="0"/>
                <a:ea typeface="Inter" pitchFamily="34" charset="-122"/>
                <a:cs typeface="Inter" pitchFamily="34" charset="-120"/>
              </a:rPr>
              <a:t>FLAG Lab, Universidad de los Andes — speech anti-spoofing</a:t>
            </a:r>
            <a:endParaRPr lang="en-US" sz="1350" dirty="0"/>
          </a:p>
        </p:txBody>
      </p:sp>
      <p:sp>
        <p:nvSpPr>
          <p:cNvPr id="11" name="Shape 8"/>
          <p:cNvSpPr/>
          <p:nvPr/>
        </p:nvSpPr>
        <p:spPr>
          <a:xfrm>
            <a:off x="3520440" y="3968496"/>
            <a:ext cx="100584" cy="100584"/>
          </a:xfrm>
          <a:prstGeom prst="rect">
            <a:avLst/>
          </a:prstGeom>
          <a:solidFill>
            <a:srgbClr val="FFE800"/>
          </a:solidFill>
          <a:ln w="12700">
            <a:solidFill>
              <a:srgbClr val="FFE800"/>
            </a:solidFill>
            <a:prstDash val="solid"/>
          </a:ln>
        </p:spPr>
      </p:sp>
      <p:sp>
        <p:nvSpPr>
          <p:cNvPr id="12" name="Text 9"/>
          <p:cNvSpPr txBox="1"/>
          <p:nvPr/>
        </p:nvSpPr>
        <p:spPr>
          <a:xfrm>
            <a:off x="3794760" y="3867912"/>
            <a:ext cx="6858000" cy="292608"/>
          </a:xfrm>
          <a:prstGeom prst="rect">
            <a:avLst/>
          </a:prstGeom>
          <a:noFill/>
          <a:ln/>
        </p:spPr>
        <p:txBody>
          <a:bodyPr wrap="square" lIns="0" tIns="0" rIns="0" bIns="0" rtlCol="0" anchor="ctr"/>
          <a:lstStyle/>
          <a:p>
            <a:pPr indent="0" marL="0">
              <a:buNone/>
            </a:pPr>
            <a:r>
              <a:rPr lang="en-US" sz="1600" b="1" dirty="0">
                <a:solidFill>
                  <a:srgbClr val="0D0D0D"/>
                </a:solidFill>
                <a:latin typeface="Inter" pitchFamily="34" charset="0"/>
                <a:ea typeface="Inter" pitchFamily="34" charset="-122"/>
                <a:cs typeface="Inter" pitchFamily="34" charset="-120"/>
              </a:rPr>
              <a:t>Teaching assistant</a:t>
            </a:r>
            <a:endParaRPr lang="en-US" sz="1600" dirty="0"/>
          </a:p>
        </p:txBody>
      </p:sp>
      <p:sp>
        <p:nvSpPr>
          <p:cNvPr id="13" name="Text 10"/>
          <p:cNvSpPr txBox="1"/>
          <p:nvPr/>
        </p:nvSpPr>
        <p:spPr>
          <a:xfrm>
            <a:off x="3794760" y="4160520"/>
            <a:ext cx="6949440" cy="292608"/>
          </a:xfrm>
          <a:prstGeom prst="rect">
            <a:avLst/>
          </a:prstGeom>
          <a:noFill/>
          <a:ln/>
        </p:spPr>
        <p:txBody>
          <a:bodyPr wrap="square" lIns="0" tIns="0" rIns="0" bIns="0" rtlCol="0" anchor="ctr"/>
          <a:lstStyle/>
          <a:p>
            <a:pPr indent="0" marL="0">
              <a:buNone/>
            </a:pPr>
            <a:r>
              <a:rPr lang="en-US" sz="1350" dirty="0">
                <a:solidFill>
                  <a:srgbClr val="3F3F3F"/>
                </a:solidFill>
                <a:latin typeface="Inter" pitchFamily="34" charset="0"/>
                <a:ea typeface="Inter" pitchFamily="34" charset="-122"/>
                <a:cs typeface="Inter" pitchFamily="34" charset="-120"/>
              </a:rPr>
              <a:t>Natural Language Processing, Universidad de los Andes</a:t>
            </a:r>
            <a:endParaRPr lang="en-US" sz="1350" dirty="0"/>
          </a:p>
        </p:txBody>
      </p:sp>
      <p:sp>
        <p:nvSpPr>
          <p:cNvPr id="14" name="Shape 11"/>
          <p:cNvSpPr/>
          <p:nvPr/>
        </p:nvSpPr>
        <p:spPr>
          <a:xfrm>
            <a:off x="3520440" y="5029200"/>
            <a:ext cx="7939735" cy="0"/>
          </a:xfrm>
          <a:prstGeom prst="line">
            <a:avLst/>
          </a:prstGeom>
          <a:noFill/>
          <a:ln w="12700">
            <a:solidFill>
              <a:srgbClr val="E6E6E6"/>
            </a:solidFill>
            <a:prstDash val="solid"/>
          </a:ln>
        </p:spPr>
      </p:sp>
      <p:sp>
        <p:nvSpPr>
          <p:cNvPr id="15" name="Text 12"/>
          <p:cNvSpPr txBox="1"/>
          <p:nvPr/>
        </p:nvSpPr>
        <p:spPr>
          <a:xfrm>
            <a:off x="3520440" y="5212080"/>
            <a:ext cx="7315200" cy="320040"/>
          </a:xfrm>
          <a:prstGeom prst="rect">
            <a:avLst/>
          </a:prstGeom>
          <a:noFill/>
          <a:ln/>
        </p:spPr>
        <p:txBody>
          <a:bodyPr wrap="square" lIns="0" tIns="0" rIns="0" bIns="0" rtlCol="0" anchor="ctr"/>
          <a:lstStyle/>
          <a:p>
            <a:pPr indent="0" marL="0">
              <a:buNone/>
            </a:pPr>
            <a:r>
              <a:rPr lang="en-US" sz="1200" i="1" dirty="0">
                <a:solidFill>
                  <a:srgbClr val="8C8C8C"/>
                </a:solidFill>
                <a:latin typeface="Inter" pitchFamily="34" charset="0"/>
                <a:ea typeface="Inter" pitchFamily="34" charset="-122"/>
                <a:cs typeface="Inter" pitchFamily="34" charset="-120"/>
              </a:rPr>
              <a:t>This talk is the first author's work. I present it, and I build on it.</a:t>
            </a:r>
            <a:endParaRPr lang="en-US" sz="1200" dirty="0"/>
          </a:p>
        </p:txBody>
      </p:sp>
      <p:pic>
        <p:nvPicPr>
          <p:cNvPr id="16" name="Image 1" descr="/home/claude/logo_pos.png">    </p:cNvPr>
          <p:cNvPicPr>
            <a:picLocks noChangeAspect="1"/>
          </p:cNvPicPr>
          <p:nvPr/>
        </p:nvPicPr>
        <p:blipFill>
          <a:blip r:embed="rId2"/>
          <a:stretch>
            <a:fillRect/>
          </a:stretch>
        </p:blipFill>
        <p:spPr>
          <a:xfrm>
            <a:off x="9357055" y="402336"/>
            <a:ext cx="2103120" cy="630936"/>
          </a:xfrm>
          <a:prstGeom prst="rect">
            <a:avLst/>
          </a:prstGeom>
        </p:spPr>
      </p:pic>
      <p:pic>
        <p:nvPicPr>
          <p:cNvPr id="17" name="Image 2" descr="/home/claude/shield.png">    </p:cNvPr>
          <p:cNvPicPr>
            <a:picLocks noChangeAspect="1"/>
          </p:cNvPicPr>
          <p:nvPr/>
        </p:nvPicPr>
        <p:blipFill>
          <a:blip r:embed="rId3"/>
          <a:stretch>
            <a:fillRect/>
          </a:stretch>
        </p:blipFill>
        <p:spPr>
          <a:xfrm>
            <a:off x="731520" y="6309360"/>
            <a:ext cx="256032" cy="256032"/>
          </a:xfrm>
          <a:prstGeom prst="rect">
            <a:avLst/>
          </a:prstGeom>
        </p:spPr>
      </p:pic>
      <p:sp>
        <p:nvSpPr>
          <p:cNvPr id="18" name="Text 13"/>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9" name="Text 14"/>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WHAT WE WILL DO IN 15 MINUTES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Four moves,</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one conclusion</a:t>
            </a:r>
            <a:endParaRPr lang="en-US" sz="4000" dirty="0"/>
          </a:p>
        </p:txBody>
      </p:sp>
      <p:sp>
        <p:nvSpPr>
          <p:cNvPr id="4" name="Text 2"/>
          <p:cNvSpPr txBox="1"/>
          <p:nvPr/>
        </p:nvSpPr>
        <p:spPr>
          <a:xfrm>
            <a:off x="731520" y="2148840"/>
            <a:ext cx="777240" cy="548640"/>
          </a:xfrm>
          <a:prstGeom prst="rect">
            <a:avLst/>
          </a:prstGeom>
          <a:noFill/>
          <a:ln/>
        </p:spPr>
        <p:txBody>
          <a:bodyPr wrap="square" lIns="0" tIns="0" rIns="0" bIns="0" rtlCol="0" anchor="ctr"/>
          <a:lstStyle/>
          <a:p>
            <a:pPr indent="0" marL="0">
              <a:buNone/>
            </a:pPr>
            <a:r>
              <a:rPr lang="en-US" sz="2600" b="1" dirty="0">
                <a:solidFill>
                  <a:srgbClr val="8A6D00"/>
                </a:solidFill>
                <a:latin typeface="Consolas" pitchFamily="34" charset="0"/>
                <a:ea typeface="Consolas" pitchFamily="34" charset="-122"/>
                <a:cs typeface="Consolas" pitchFamily="34" charset="-120"/>
              </a:rPr>
              <a:t>01</a:t>
            </a:r>
            <a:endParaRPr lang="en-US" sz="2600" dirty="0"/>
          </a:p>
        </p:txBody>
      </p:sp>
      <p:sp>
        <p:nvSpPr>
          <p:cNvPr id="5" name="Text 3"/>
          <p:cNvSpPr txBox="1"/>
          <p:nvPr/>
        </p:nvSpPr>
        <p:spPr>
          <a:xfrm>
            <a:off x="1600200" y="2167128"/>
            <a:ext cx="4114800"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The attack</a:t>
            </a:r>
            <a:endParaRPr lang="en-US" sz="1900" dirty="0"/>
          </a:p>
        </p:txBody>
      </p:sp>
      <p:sp>
        <p:nvSpPr>
          <p:cNvPr id="6" name="Text 4"/>
          <p:cNvSpPr txBox="1"/>
          <p:nvPr/>
        </p:nvSpPr>
        <p:spPr>
          <a:xfrm>
            <a:off x="1600200" y="2569464"/>
            <a:ext cx="4206240" cy="640080"/>
          </a:xfrm>
          <a:prstGeom prst="rect">
            <a:avLst/>
          </a:prstGeom>
          <a:noFill/>
          <a:ln/>
        </p:spPr>
        <p:txBody>
          <a:bodyPr wrap="square" lIns="0" tIns="0" rIns="0" bIns="0" rtlCol="0" anchor="ctr"/>
          <a:lstStyle/>
          <a:p>
            <a:pPr indent="0" marL="0">
              <a:lnSpc>
                <a:spcPct val="125000"/>
              </a:lnSpc>
              <a:buNone/>
            </a:pPr>
            <a:r>
              <a:rPr lang="en-US" sz="1350" dirty="0">
                <a:solidFill>
                  <a:srgbClr val="3F3F3F"/>
                </a:solidFill>
                <a:latin typeface="Inter" pitchFamily="34" charset="0"/>
                <a:ea typeface="Inter" pitchFamily="34" charset="-122"/>
                <a:cs typeface="Inter" pitchFamily="34" charset="-120"/>
              </a:rPr>
              <a:t>What a voice deepfake actually is, and the two ways to build one</a:t>
            </a:r>
            <a:endParaRPr lang="en-US" sz="1350" dirty="0"/>
          </a:p>
        </p:txBody>
      </p:sp>
      <p:sp>
        <p:nvSpPr>
          <p:cNvPr id="7" name="Text 5"/>
          <p:cNvSpPr txBox="1"/>
          <p:nvPr/>
        </p:nvSpPr>
        <p:spPr>
          <a:xfrm>
            <a:off x="6278728" y="2148840"/>
            <a:ext cx="777240" cy="548640"/>
          </a:xfrm>
          <a:prstGeom prst="rect">
            <a:avLst/>
          </a:prstGeom>
          <a:noFill/>
          <a:ln/>
        </p:spPr>
        <p:txBody>
          <a:bodyPr wrap="square" lIns="0" tIns="0" rIns="0" bIns="0" rtlCol="0" anchor="ctr"/>
          <a:lstStyle/>
          <a:p>
            <a:pPr indent="0" marL="0">
              <a:buNone/>
            </a:pPr>
            <a:r>
              <a:rPr lang="en-US" sz="2600" b="1" dirty="0">
                <a:solidFill>
                  <a:srgbClr val="8A6D00"/>
                </a:solidFill>
                <a:latin typeface="Consolas" pitchFamily="34" charset="0"/>
                <a:ea typeface="Consolas" pitchFamily="34" charset="-122"/>
                <a:cs typeface="Consolas" pitchFamily="34" charset="-120"/>
              </a:rPr>
              <a:t>02</a:t>
            </a:r>
            <a:endParaRPr lang="en-US" sz="2600" dirty="0"/>
          </a:p>
        </p:txBody>
      </p:sp>
      <p:sp>
        <p:nvSpPr>
          <p:cNvPr id="8" name="Text 6"/>
          <p:cNvSpPr txBox="1"/>
          <p:nvPr/>
        </p:nvSpPr>
        <p:spPr>
          <a:xfrm>
            <a:off x="7147408" y="2167128"/>
            <a:ext cx="4114800"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The collapse</a:t>
            </a:r>
            <a:endParaRPr lang="en-US" sz="1900" dirty="0"/>
          </a:p>
        </p:txBody>
      </p:sp>
      <p:sp>
        <p:nvSpPr>
          <p:cNvPr id="9" name="Text 7"/>
          <p:cNvSpPr txBox="1"/>
          <p:nvPr/>
        </p:nvSpPr>
        <p:spPr>
          <a:xfrm>
            <a:off x="7147408" y="2569464"/>
            <a:ext cx="4206240" cy="640080"/>
          </a:xfrm>
          <a:prstGeom prst="rect">
            <a:avLst/>
          </a:prstGeom>
          <a:noFill/>
          <a:ln/>
        </p:spPr>
        <p:txBody>
          <a:bodyPr wrap="square" lIns="0" tIns="0" rIns="0" bIns="0" rtlCol="0" anchor="ctr"/>
          <a:lstStyle/>
          <a:p>
            <a:pPr indent="0" marL="0">
              <a:lnSpc>
                <a:spcPct val="125000"/>
              </a:lnSpc>
              <a:buNone/>
            </a:pPr>
            <a:r>
              <a:rPr lang="en-US" sz="1350" dirty="0">
                <a:solidFill>
                  <a:srgbClr val="3F3F3F"/>
                </a:solidFill>
                <a:latin typeface="Inter" pitchFamily="34" charset="0"/>
                <a:ea typeface="Inter" pitchFamily="34" charset="-122"/>
                <a:cs typeface="Inter" pitchFamily="34" charset="-120"/>
              </a:rPr>
              <a:t>English-trained detectors meet Spanish speech</a:t>
            </a:r>
            <a:endParaRPr lang="en-US" sz="1350" dirty="0"/>
          </a:p>
        </p:txBody>
      </p:sp>
      <p:sp>
        <p:nvSpPr>
          <p:cNvPr id="10" name="Text 8"/>
          <p:cNvSpPr txBox="1"/>
          <p:nvPr/>
        </p:nvSpPr>
        <p:spPr>
          <a:xfrm>
            <a:off x="731520" y="3840480"/>
            <a:ext cx="777240" cy="548640"/>
          </a:xfrm>
          <a:prstGeom prst="rect">
            <a:avLst/>
          </a:prstGeom>
          <a:noFill/>
          <a:ln/>
        </p:spPr>
        <p:txBody>
          <a:bodyPr wrap="square" lIns="0" tIns="0" rIns="0" bIns="0" rtlCol="0" anchor="ctr"/>
          <a:lstStyle/>
          <a:p>
            <a:pPr indent="0" marL="0">
              <a:buNone/>
            </a:pPr>
            <a:r>
              <a:rPr lang="en-US" sz="2600" b="1" dirty="0">
                <a:solidFill>
                  <a:srgbClr val="8A6D00"/>
                </a:solidFill>
                <a:latin typeface="Consolas" pitchFamily="34" charset="0"/>
                <a:ea typeface="Consolas" pitchFamily="34" charset="-122"/>
                <a:cs typeface="Consolas" pitchFamily="34" charset="-120"/>
              </a:rPr>
              <a:t>03</a:t>
            </a:r>
            <a:endParaRPr lang="en-US" sz="2600" dirty="0"/>
          </a:p>
        </p:txBody>
      </p:sp>
      <p:sp>
        <p:nvSpPr>
          <p:cNvPr id="11" name="Text 9"/>
          <p:cNvSpPr txBox="1"/>
          <p:nvPr/>
        </p:nvSpPr>
        <p:spPr>
          <a:xfrm>
            <a:off x="1600200" y="3858768"/>
            <a:ext cx="4114800"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The culprit</a:t>
            </a:r>
            <a:endParaRPr lang="en-US" sz="1900" dirty="0"/>
          </a:p>
        </p:txBody>
      </p:sp>
      <p:sp>
        <p:nvSpPr>
          <p:cNvPr id="12" name="Text 10"/>
          <p:cNvSpPr txBox="1"/>
          <p:nvPr/>
        </p:nvSpPr>
        <p:spPr>
          <a:xfrm>
            <a:off x="1600200" y="4261104"/>
            <a:ext cx="4206240" cy="640080"/>
          </a:xfrm>
          <a:prstGeom prst="rect">
            <a:avLst/>
          </a:prstGeom>
          <a:noFill/>
          <a:ln/>
        </p:spPr>
        <p:txBody>
          <a:bodyPr wrap="square" lIns="0" tIns="0" rIns="0" bIns="0" rtlCol="0" anchor="ctr"/>
          <a:lstStyle/>
          <a:p>
            <a:pPr indent="0" marL="0">
              <a:lnSpc>
                <a:spcPct val="125000"/>
              </a:lnSpc>
              <a:buNone/>
            </a:pPr>
            <a:r>
              <a:rPr lang="en-US" sz="1350" dirty="0">
                <a:solidFill>
                  <a:srgbClr val="3F3F3F"/>
                </a:solidFill>
                <a:latin typeface="Inter" pitchFamily="34" charset="0"/>
                <a:ea typeface="Inter" pitchFamily="34" charset="-122"/>
                <a:cs typeface="Inter" pitchFamily="34" charset="-120"/>
              </a:rPr>
              <a:t>Decomposing the failure by attack family</a:t>
            </a:r>
            <a:endParaRPr lang="en-US" sz="1350" dirty="0"/>
          </a:p>
        </p:txBody>
      </p:sp>
      <p:sp>
        <p:nvSpPr>
          <p:cNvPr id="13" name="Text 11"/>
          <p:cNvSpPr txBox="1"/>
          <p:nvPr/>
        </p:nvSpPr>
        <p:spPr>
          <a:xfrm>
            <a:off x="6278728" y="3840480"/>
            <a:ext cx="777240" cy="548640"/>
          </a:xfrm>
          <a:prstGeom prst="rect">
            <a:avLst/>
          </a:prstGeom>
          <a:noFill/>
          <a:ln/>
        </p:spPr>
        <p:txBody>
          <a:bodyPr wrap="square" lIns="0" tIns="0" rIns="0" bIns="0" rtlCol="0" anchor="ctr"/>
          <a:lstStyle/>
          <a:p>
            <a:pPr indent="0" marL="0">
              <a:buNone/>
            </a:pPr>
            <a:r>
              <a:rPr lang="en-US" sz="2600" b="1" dirty="0">
                <a:solidFill>
                  <a:srgbClr val="8A6D00"/>
                </a:solidFill>
                <a:latin typeface="Consolas" pitchFamily="34" charset="0"/>
                <a:ea typeface="Consolas" pitchFamily="34" charset="-122"/>
                <a:cs typeface="Consolas" pitchFamily="34" charset="-120"/>
              </a:rPr>
              <a:t>04</a:t>
            </a:r>
            <a:endParaRPr lang="en-US" sz="2600" dirty="0"/>
          </a:p>
        </p:txBody>
      </p:sp>
      <p:sp>
        <p:nvSpPr>
          <p:cNvPr id="14" name="Text 12"/>
          <p:cNvSpPr txBox="1"/>
          <p:nvPr/>
        </p:nvSpPr>
        <p:spPr>
          <a:xfrm>
            <a:off x="7147408" y="3858768"/>
            <a:ext cx="4114800"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What survives</a:t>
            </a:r>
            <a:endParaRPr lang="en-US" sz="1900" dirty="0"/>
          </a:p>
        </p:txBody>
      </p:sp>
      <p:sp>
        <p:nvSpPr>
          <p:cNvPr id="15" name="Text 13"/>
          <p:cNvSpPr txBox="1"/>
          <p:nvPr/>
        </p:nvSpPr>
        <p:spPr>
          <a:xfrm>
            <a:off x="7147408" y="4261104"/>
            <a:ext cx="4206240" cy="640080"/>
          </a:xfrm>
          <a:prstGeom prst="rect">
            <a:avLst/>
          </a:prstGeom>
          <a:noFill/>
          <a:ln/>
        </p:spPr>
        <p:txBody>
          <a:bodyPr wrap="square" lIns="0" tIns="0" rIns="0" bIns="0" rtlCol="0" anchor="ctr"/>
          <a:lstStyle/>
          <a:p>
            <a:pPr indent="0" marL="0">
              <a:lnSpc>
                <a:spcPct val="125000"/>
              </a:lnSpc>
              <a:buNone/>
            </a:pPr>
            <a:r>
              <a:rPr lang="en-US" sz="1350" dirty="0">
                <a:solidFill>
                  <a:srgbClr val="3F3F3F"/>
                </a:solidFill>
                <a:latin typeface="Inter" pitchFamily="34" charset="0"/>
                <a:ea typeface="Inter" pitchFamily="34" charset="-122"/>
                <a:cs typeface="Inter" pitchFamily="34" charset="-120"/>
              </a:rPr>
              <a:t>Bilingual training, and what is left after it</a:t>
            </a:r>
            <a:endParaRPr lang="en-US" sz="1350" dirty="0"/>
          </a:p>
        </p:txBody>
      </p:sp>
      <p:pic>
        <p:nvPicPr>
          <p:cNvPr id="16"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7" name="Text 14"/>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8" name="Text 15"/>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1417320"/>
            <a:ext cx="4572000" cy="2194560"/>
          </a:xfrm>
          <a:prstGeom prst="rect">
            <a:avLst/>
          </a:prstGeom>
          <a:noFill/>
          <a:ln/>
        </p:spPr>
        <p:txBody>
          <a:bodyPr wrap="square" lIns="0" tIns="0" rIns="0" bIns="0" rtlCol="0" anchor="ctr"/>
          <a:lstStyle/>
          <a:p>
            <a:pPr indent="0" marL="0">
              <a:buNone/>
            </a:pPr>
            <a:r>
              <a:rPr lang="en-US" sz="15000" b="1" dirty="0">
                <a:solidFill>
                  <a:srgbClr val="1F1F1F"/>
                </a:solidFill>
                <a:latin typeface="Inter" pitchFamily="34" charset="0"/>
                <a:ea typeface="Inter" pitchFamily="34" charset="-122"/>
                <a:cs typeface="Inter" pitchFamily="34" charset="-120"/>
              </a:rPr>
              <a:t>01</a:t>
            </a:r>
            <a:endParaRPr lang="en-US" sz="15000" dirty="0"/>
          </a:p>
        </p:txBody>
      </p:sp>
      <p:sp>
        <p:nvSpPr>
          <p:cNvPr id="3" name="Text 1"/>
          <p:cNvSpPr txBox="1"/>
          <p:nvPr/>
        </p:nvSpPr>
        <p:spPr>
          <a:xfrm>
            <a:off x="731520" y="3703320"/>
            <a:ext cx="7315200" cy="731520"/>
          </a:xfrm>
          <a:prstGeom prst="rect">
            <a:avLst/>
          </a:prstGeom>
          <a:noFill/>
          <a:ln/>
        </p:spPr>
        <p:txBody>
          <a:bodyPr wrap="square" lIns="0" tIns="0" rIns="0" bIns="0" rtlCol="0" anchor="ctr"/>
          <a:lstStyle/>
          <a:p>
            <a:pPr indent="0" marL="0">
              <a:buNone/>
            </a:pPr>
            <a:r>
              <a:rPr lang="en-US" sz="4400" b="1" dirty="0">
                <a:solidFill>
                  <a:srgbClr val="FFFFFF"/>
                </a:solidFill>
                <a:latin typeface="Inter" pitchFamily="34" charset="0"/>
                <a:ea typeface="Inter" pitchFamily="34" charset="-122"/>
                <a:cs typeface="Inter" pitchFamily="34" charset="-120"/>
              </a:rPr>
              <a:t>The </a:t>
            </a:r>
            <a:pPr indent="0" marL="0">
              <a:buNone/>
            </a:pPr>
            <a:r>
              <a:rPr lang="en-US" sz="4400" b="1" dirty="0">
                <a:solidFill>
                  <a:srgbClr val="FFE800"/>
                </a:solidFill>
                <a:latin typeface="Inter" pitchFamily="34" charset="0"/>
                <a:ea typeface="Inter" pitchFamily="34" charset="-122"/>
                <a:cs typeface="Inter" pitchFamily="34" charset="-120"/>
              </a:rPr>
              <a:t>attack</a:t>
            </a:r>
            <a:endParaRPr lang="en-US" sz="4400" dirty="0"/>
          </a:p>
        </p:txBody>
      </p:sp>
      <p:sp>
        <p:nvSpPr>
          <p:cNvPr id="4" name="Text 2"/>
          <p:cNvSpPr txBox="1"/>
          <p:nvPr/>
        </p:nvSpPr>
        <p:spPr>
          <a:xfrm>
            <a:off x="731520" y="4526280"/>
            <a:ext cx="8229600" cy="365760"/>
          </a:xfrm>
          <a:prstGeom prst="rect">
            <a:avLst/>
          </a:prstGeom>
          <a:noFill/>
          <a:ln/>
        </p:spPr>
        <p:txBody>
          <a:bodyPr wrap="square" lIns="0" tIns="0" rIns="0" bIns="0" rtlCol="0" anchor="ctr"/>
          <a:lstStyle/>
          <a:p>
            <a:pPr indent="0" marL="0">
              <a:buNone/>
            </a:pPr>
            <a:r>
              <a:rPr lang="en-US" sz="1300" dirty="0">
                <a:solidFill>
                  <a:srgbClr val="8A8A8A"/>
                </a:solidFill>
                <a:latin typeface="Inter" pitchFamily="34" charset="0"/>
                <a:ea typeface="Inter" pitchFamily="34" charset="-122"/>
                <a:cs typeface="Inter" pitchFamily="34" charset="-120"/>
              </a:rPr>
              <a:t>text-to-speech  ·  voice conversion  ·  why one of them is the dangerous one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BLOCK 01 · THE ATTACK</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Two ways to fake</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a voice</a:t>
            </a:r>
            <a:endParaRPr lang="en-US" sz="4000" dirty="0"/>
          </a:p>
        </p:txBody>
      </p:sp>
      <p:sp>
        <p:nvSpPr>
          <p:cNvPr id="4" name="Shape 2"/>
          <p:cNvSpPr/>
          <p:nvPr/>
        </p:nvSpPr>
        <p:spPr>
          <a:xfrm>
            <a:off x="731520" y="2103120"/>
            <a:ext cx="3393338" cy="2834640"/>
          </a:xfrm>
          <a:prstGeom prst="roundRect">
            <a:avLst>
              <a:gd name="adj" fmla="val 1935"/>
            </a:avLst>
          </a:prstGeom>
          <a:solidFill>
            <a:srgbClr val="F7F7F5"/>
          </a:solidFill>
          <a:ln w="12700">
            <a:solidFill>
              <a:srgbClr val="E6E6E6"/>
            </a:solidFill>
            <a:prstDash val="solid"/>
          </a:ln>
        </p:spPr>
      </p:sp>
      <p:sp>
        <p:nvSpPr>
          <p:cNvPr id="5" name="Text 3"/>
          <p:cNvSpPr txBox="1"/>
          <p:nvPr/>
        </p:nvSpPr>
        <p:spPr>
          <a:xfrm>
            <a:off x="1115568" y="2395728"/>
            <a:ext cx="2661818" cy="457200"/>
          </a:xfrm>
          <a:prstGeom prst="rect">
            <a:avLst/>
          </a:prstGeom>
          <a:noFill/>
          <a:ln/>
        </p:spPr>
        <p:txBody>
          <a:bodyPr wrap="square" lIns="0" tIns="0" rIns="0" bIns="0" rtlCol="0" anchor="ctr"/>
          <a:lstStyle/>
          <a:p>
            <a:pPr indent="0" marL="0">
              <a:buNone/>
            </a:pPr>
            <a:r>
              <a:rPr lang="en-US" sz="2200" b="1" dirty="0">
                <a:solidFill>
                  <a:srgbClr val="8C8C8C"/>
                </a:solidFill>
                <a:latin typeface="Consolas" pitchFamily="34" charset="0"/>
                <a:ea typeface="Consolas" pitchFamily="34" charset="-122"/>
                <a:cs typeface="Consolas" pitchFamily="34" charset="-120"/>
              </a:rPr>
              <a:t>TTS</a:t>
            </a:r>
            <a:endParaRPr lang="en-US" sz="2200" dirty="0"/>
          </a:p>
        </p:txBody>
      </p:sp>
      <p:sp>
        <p:nvSpPr>
          <p:cNvPr id="6" name="Text 4"/>
          <p:cNvSpPr txBox="1"/>
          <p:nvPr/>
        </p:nvSpPr>
        <p:spPr>
          <a:xfrm>
            <a:off x="1115568" y="2971800"/>
            <a:ext cx="2661818"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Text-to-speech</a:t>
            </a:r>
            <a:endParaRPr lang="en-US" sz="1900" dirty="0"/>
          </a:p>
        </p:txBody>
      </p:sp>
      <p:sp>
        <p:nvSpPr>
          <p:cNvPr id="7" name="Text 5"/>
          <p:cNvSpPr txBox="1"/>
          <p:nvPr/>
        </p:nvSpPr>
        <p:spPr>
          <a:xfrm>
            <a:off x="1115568" y="3456432"/>
            <a:ext cx="2625242" cy="1188720"/>
          </a:xfrm>
          <a:prstGeom prst="rect">
            <a:avLst/>
          </a:prstGeom>
          <a:noFill/>
          <a:ln/>
        </p:spPr>
        <p:txBody>
          <a:bodyPr wrap="square" lIns="0" tIns="0" rIns="0" bIns="0" rtlCol="0" anchor="ctr"/>
          <a:lstStyle/>
          <a:p>
            <a:pPr indent="0" marL="0">
              <a:lnSpc>
                <a:spcPct val="130000"/>
              </a:lnSpc>
              <a:buNone/>
            </a:pPr>
            <a:r>
              <a:rPr lang="en-US" sz="1350" dirty="0">
                <a:solidFill>
                  <a:srgbClr val="3F3F3F"/>
                </a:solidFill>
                <a:latin typeface="Inter" pitchFamily="34" charset="0"/>
                <a:ea typeface="Inter" pitchFamily="34" charset="-122"/>
                <a:cs typeface="Inter" pitchFamily="34" charset="-120"/>
              </a:rPr>
              <a:t>Writes the waveform from text. The speaker never said it — the vocoder invented it.</a:t>
            </a:r>
            <a:endParaRPr lang="en-US" sz="1350" dirty="0"/>
          </a:p>
        </p:txBody>
      </p:sp>
      <p:sp>
        <p:nvSpPr>
          <p:cNvPr id="8" name="Shape 6"/>
          <p:cNvSpPr/>
          <p:nvPr/>
        </p:nvSpPr>
        <p:spPr>
          <a:xfrm>
            <a:off x="4399178" y="2103120"/>
            <a:ext cx="3393338" cy="2834640"/>
          </a:xfrm>
          <a:prstGeom prst="roundRect">
            <a:avLst>
              <a:gd name="adj" fmla="val 1935"/>
            </a:avLst>
          </a:prstGeom>
          <a:solidFill>
            <a:srgbClr val="F7F7F5"/>
          </a:solidFill>
          <a:ln w="12700">
            <a:solidFill>
              <a:srgbClr val="E6E6E6"/>
            </a:solidFill>
            <a:prstDash val="solid"/>
          </a:ln>
        </p:spPr>
      </p:sp>
      <p:sp>
        <p:nvSpPr>
          <p:cNvPr id="9" name="Text 7"/>
          <p:cNvSpPr txBox="1"/>
          <p:nvPr/>
        </p:nvSpPr>
        <p:spPr>
          <a:xfrm>
            <a:off x="4783226" y="2395728"/>
            <a:ext cx="2661818" cy="457200"/>
          </a:xfrm>
          <a:prstGeom prst="rect">
            <a:avLst/>
          </a:prstGeom>
          <a:noFill/>
          <a:ln/>
        </p:spPr>
        <p:txBody>
          <a:bodyPr wrap="square" lIns="0" tIns="0" rIns="0" bIns="0" rtlCol="0" anchor="ctr"/>
          <a:lstStyle/>
          <a:p>
            <a:pPr indent="0" marL="0">
              <a:buNone/>
            </a:pPr>
            <a:r>
              <a:rPr lang="en-US" sz="2200" b="1" dirty="0">
                <a:solidFill>
                  <a:srgbClr val="8C8C8C"/>
                </a:solidFill>
                <a:latin typeface="Consolas" pitchFamily="34" charset="0"/>
                <a:ea typeface="Consolas" pitchFamily="34" charset="-122"/>
                <a:cs typeface="Consolas" pitchFamily="34" charset="-120"/>
              </a:rPr>
              <a:t>VC</a:t>
            </a:r>
            <a:endParaRPr lang="en-US" sz="2200" dirty="0"/>
          </a:p>
        </p:txBody>
      </p:sp>
      <p:sp>
        <p:nvSpPr>
          <p:cNvPr id="10" name="Text 8"/>
          <p:cNvSpPr txBox="1"/>
          <p:nvPr/>
        </p:nvSpPr>
        <p:spPr>
          <a:xfrm>
            <a:off x="4783226" y="2971800"/>
            <a:ext cx="2661818"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Voice conversion</a:t>
            </a:r>
            <a:endParaRPr lang="en-US" sz="1900" dirty="0"/>
          </a:p>
        </p:txBody>
      </p:sp>
      <p:sp>
        <p:nvSpPr>
          <p:cNvPr id="11" name="Text 9"/>
          <p:cNvSpPr txBox="1"/>
          <p:nvPr/>
        </p:nvSpPr>
        <p:spPr>
          <a:xfrm>
            <a:off x="4783226" y="3456432"/>
            <a:ext cx="2625242" cy="1188720"/>
          </a:xfrm>
          <a:prstGeom prst="rect">
            <a:avLst/>
          </a:prstGeom>
          <a:noFill/>
          <a:ln/>
        </p:spPr>
        <p:txBody>
          <a:bodyPr wrap="square" lIns="0" tIns="0" rIns="0" bIns="0" rtlCol="0" anchor="ctr"/>
          <a:lstStyle/>
          <a:p>
            <a:pPr indent="0" marL="0">
              <a:lnSpc>
                <a:spcPct val="130000"/>
              </a:lnSpc>
              <a:buNone/>
            </a:pPr>
            <a:r>
              <a:rPr lang="en-US" sz="1350" dirty="0">
                <a:solidFill>
                  <a:srgbClr val="3F3F3F"/>
                </a:solidFill>
                <a:latin typeface="Inter" pitchFamily="34" charset="0"/>
                <a:ea typeface="Inter" pitchFamily="34" charset="-122"/>
                <a:cs typeface="Inter" pitchFamily="34" charset="-120"/>
              </a:rPr>
              <a:t>Takes a real recording and rewrites who is speaking. The words are real; the identity is not.</a:t>
            </a:r>
            <a:endParaRPr lang="en-US" sz="1350" dirty="0"/>
          </a:p>
        </p:txBody>
      </p:sp>
      <p:sp>
        <p:nvSpPr>
          <p:cNvPr id="12" name="Shape 10"/>
          <p:cNvSpPr/>
          <p:nvPr/>
        </p:nvSpPr>
        <p:spPr>
          <a:xfrm>
            <a:off x="8066837" y="2103120"/>
            <a:ext cx="3393338" cy="2834640"/>
          </a:xfrm>
          <a:prstGeom prst="roundRect">
            <a:avLst>
              <a:gd name="adj" fmla="val 1935"/>
            </a:avLst>
          </a:prstGeom>
          <a:solidFill>
            <a:srgbClr val="FFFFFF"/>
          </a:solidFill>
          <a:ln w="12700">
            <a:solidFill>
              <a:srgbClr val="0D0D0D"/>
            </a:solidFill>
            <a:prstDash val="solid"/>
          </a:ln>
        </p:spPr>
      </p:sp>
      <p:sp>
        <p:nvSpPr>
          <p:cNvPr id="13" name="Text 11"/>
          <p:cNvSpPr txBox="1"/>
          <p:nvPr/>
        </p:nvSpPr>
        <p:spPr>
          <a:xfrm>
            <a:off x="8450885" y="2395728"/>
            <a:ext cx="2661818" cy="457200"/>
          </a:xfrm>
          <a:prstGeom prst="rect">
            <a:avLst/>
          </a:prstGeom>
          <a:noFill/>
          <a:ln/>
        </p:spPr>
        <p:txBody>
          <a:bodyPr wrap="square" lIns="0" tIns="0" rIns="0" bIns="0" rtlCol="0" anchor="ctr"/>
          <a:lstStyle/>
          <a:p>
            <a:pPr indent="0" marL="0">
              <a:buNone/>
            </a:pPr>
            <a:r>
              <a:rPr lang="en-US" sz="2200" b="1" dirty="0">
                <a:solidFill>
                  <a:srgbClr val="8A6D00"/>
                </a:solidFill>
                <a:latin typeface="Consolas" pitchFamily="34" charset="0"/>
                <a:ea typeface="Consolas" pitchFamily="34" charset="-122"/>
                <a:cs typeface="Consolas" pitchFamily="34" charset="-120"/>
              </a:rPr>
              <a:t>?</a:t>
            </a:r>
            <a:endParaRPr lang="en-US" sz="2200" dirty="0"/>
          </a:p>
        </p:txBody>
      </p:sp>
      <p:sp>
        <p:nvSpPr>
          <p:cNvPr id="14" name="Text 12"/>
          <p:cNvSpPr txBox="1"/>
          <p:nvPr/>
        </p:nvSpPr>
        <p:spPr>
          <a:xfrm>
            <a:off x="8450885" y="2971800"/>
            <a:ext cx="2661818" cy="365760"/>
          </a:xfrm>
          <a:prstGeom prst="rect">
            <a:avLst/>
          </a:prstGeom>
          <a:noFill/>
          <a:ln/>
        </p:spPr>
        <p:txBody>
          <a:bodyPr wrap="square" lIns="0" tIns="0" rIns="0" bIns="0" rtlCol="0" anchor="ctr"/>
          <a:lstStyle/>
          <a:p>
            <a:pPr indent="0" marL="0">
              <a:buNone/>
            </a:pPr>
            <a:r>
              <a:rPr lang="en-US" sz="1900" b="1" dirty="0">
                <a:solidFill>
                  <a:srgbClr val="0D0D0D"/>
                </a:solidFill>
                <a:latin typeface="Inter" pitchFamily="34" charset="0"/>
                <a:ea typeface="Inter" pitchFamily="34" charset="-122"/>
                <a:cs typeface="Inter" pitchFamily="34" charset="-120"/>
              </a:rPr>
              <a:t>Why it matters</a:t>
            </a:r>
            <a:endParaRPr lang="en-US" sz="1900" dirty="0"/>
          </a:p>
        </p:txBody>
      </p:sp>
      <p:sp>
        <p:nvSpPr>
          <p:cNvPr id="15" name="Text 13"/>
          <p:cNvSpPr txBox="1"/>
          <p:nvPr/>
        </p:nvSpPr>
        <p:spPr>
          <a:xfrm>
            <a:off x="8450885" y="3456432"/>
            <a:ext cx="2625242" cy="1188720"/>
          </a:xfrm>
          <a:prstGeom prst="rect">
            <a:avLst/>
          </a:prstGeom>
          <a:noFill/>
          <a:ln/>
        </p:spPr>
        <p:txBody>
          <a:bodyPr wrap="square" lIns="0" tIns="0" rIns="0" bIns="0" rtlCol="0" anchor="ctr"/>
          <a:lstStyle/>
          <a:p>
            <a:pPr indent="0" marL="0">
              <a:lnSpc>
                <a:spcPct val="130000"/>
              </a:lnSpc>
              <a:buNone/>
            </a:pPr>
            <a:r>
              <a:rPr lang="en-US" sz="1350" dirty="0">
                <a:solidFill>
                  <a:srgbClr val="3F3F3F"/>
                </a:solidFill>
                <a:latin typeface="Inter" pitchFamily="34" charset="0"/>
                <a:ea typeface="Inter" pitchFamily="34" charset="-122"/>
                <a:cs typeface="Inter" pitchFamily="34" charset="-120"/>
              </a:rPr>
              <a:t>They leave different fingerprints — and only one of them survives a change of language.</a:t>
            </a:r>
            <a:endParaRPr lang="en-US" sz="1350" dirty="0"/>
          </a:p>
        </p:txBody>
      </p:sp>
      <p:sp>
        <p:nvSpPr>
          <p:cNvPr id="16" name="Text 14"/>
          <p:cNvSpPr txBox="1"/>
          <p:nvPr/>
        </p:nvSpPr>
        <p:spPr>
          <a:xfrm>
            <a:off x="731520" y="534924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One line of takeaway lives here. </a:t>
            </a:r>
            <a:pPr indent="0" marL="0">
              <a:buNone/>
            </a:pPr>
            <a:r>
              <a:rPr lang="en-US" sz="1500" dirty="0">
                <a:solidFill>
                  <a:srgbClr val="8C8C8C"/>
                </a:solidFill>
                <a:latin typeface="Inter" pitchFamily="34" charset="0"/>
                <a:ea typeface="Inter" pitchFamily="34" charset="-122"/>
                <a:cs typeface="Inter" pitchFamily="34" charset="-120"/>
              </a:rPr>
              <a:t>The supporting half of the sentence goes in grey.</a:t>
            </a:r>
            <a:endParaRPr lang="en-US" sz="1500" dirty="0"/>
          </a:p>
        </p:txBody>
      </p:sp>
      <p:pic>
        <p:nvPicPr>
          <p:cNvPr id="17"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8" name="Text 15"/>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9" name="Text 16"/>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BLOCK 02 · THE COLLAPSE</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Same model,</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different language</a:t>
            </a:r>
            <a:endParaRPr lang="en-US" sz="4000" dirty="0"/>
          </a:p>
        </p:txBody>
      </p:sp>
      <p:sp>
        <p:nvSpPr>
          <p:cNvPr id="4" name="Shape 2"/>
          <p:cNvSpPr/>
          <p:nvPr/>
        </p:nvSpPr>
        <p:spPr>
          <a:xfrm>
            <a:off x="731520" y="2103120"/>
            <a:ext cx="5181448" cy="3017520"/>
          </a:xfrm>
          <a:prstGeom prst="roundRect">
            <a:avLst>
              <a:gd name="adj" fmla="val 1818"/>
            </a:avLst>
          </a:prstGeom>
          <a:solidFill>
            <a:srgbClr val="F7F7F5"/>
          </a:solidFill>
          <a:ln w="12700">
            <a:solidFill>
              <a:srgbClr val="E6E6E6"/>
            </a:solidFill>
            <a:prstDash val="solid"/>
          </a:ln>
        </p:spPr>
      </p:sp>
      <p:sp>
        <p:nvSpPr>
          <p:cNvPr id="5" name="Text 3"/>
          <p:cNvSpPr txBox="1"/>
          <p:nvPr/>
        </p:nvSpPr>
        <p:spPr>
          <a:xfrm>
            <a:off x="1143000" y="2395728"/>
            <a:ext cx="4358488" cy="274320"/>
          </a:xfrm>
          <a:prstGeom prst="rect">
            <a:avLst/>
          </a:prstGeom>
          <a:noFill/>
          <a:ln/>
        </p:spPr>
        <p:txBody>
          <a:bodyPr wrap="square" lIns="0" tIns="0" rIns="0" bIns="0" rtlCol="0" anchor="ctr"/>
          <a:lstStyle/>
          <a:p>
            <a:pPr indent="0" marL="0">
              <a:buNone/>
            </a:pPr>
            <a:r>
              <a:rPr lang="en-US" sz="950" b="1" spc="140" kern="0" dirty="0">
                <a:solidFill>
                  <a:srgbClr val="8C8C8C"/>
                </a:solidFill>
                <a:latin typeface="Inter" pitchFamily="34" charset="0"/>
                <a:ea typeface="Inter" pitchFamily="34" charset="-122"/>
                <a:cs typeface="Inter" pitchFamily="34" charset="-120"/>
              </a:rPr>
              <a:t>TRAINED ON ENGLISH, TESTED ON ENGLISH</a:t>
            </a:r>
            <a:endParaRPr lang="en-US" sz="950" dirty="0"/>
          </a:p>
        </p:txBody>
      </p:sp>
      <p:sp>
        <p:nvSpPr>
          <p:cNvPr id="6" name="Text 4"/>
          <p:cNvSpPr txBox="1"/>
          <p:nvPr/>
        </p:nvSpPr>
        <p:spPr>
          <a:xfrm>
            <a:off x="1143000" y="2834640"/>
            <a:ext cx="4358488" cy="1005840"/>
          </a:xfrm>
          <a:prstGeom prst="rect">
            <a:avLst/>
          </a:prstGeom>
          <a:noFill/>
          <a:ln/>
        </p:spPr>
        <p:txBody>
          <a:bodyPr wrap="square" lIns="0" tIns="0" rIns="0" bIns="0" rtlCol="0" anchor="ctr"/>
          <a:lstStyle/>
          <a:p>
            <a:pPr indent="0" marL="0">
              <a:buNone/>
            </a:pPr>
            <a:r>
              <a:rPr lang="en-US" sz="6400" b="1" dirty="0">
                <a:solidFill>
                  <a:srgbClr val="0D0D0D"/>
                </a:solidFill>
                <a:latin typeface="Inter" pitchFamily="34" charset="0"/>
                <a:ea typeface="Inter" pitchFamily="34" charset="-122"/>
                <a:cs typeface="Inter" pitchFamily="34" charset="-120"/>
              </a:rPr>
              <a:t>2.67 %</a:t>
            </a:r>
            <a:endParaRPr lang="en-US" sz="6400" dirty="0"/>
          </a:p>
        </p:txBody>
      </p:sp>
      <p:sp>
        <p:nvSpPr>
          <p:cNvPr id="7" name="Text 5"/>
          <p:cNvSpPr txBox="1"/>
          <p:nvPr/>
        </p:nvSpPr>
        <p:spPr>
          <a:xfrm>
            <a:off x="1143000" y="3931920"/>
            <a:ext cx="4358488" cy="274320"/>
          </a:xfrm>
          <a:prstGeom prst="rect">
            <a:avLst/>
          </a:prstGeom>
          <a:noFill/>
          <a:ln/>
        </p:spPr>
        <p:txBody>
          <a:bodyPr wrap="square" lIns="0" tIns="0" rIns="0" bIns="0" rtlCol="0" anchor="ctr"/>
          <a:lstStyle/>
          <a:p>
            <a:pPr indent="0" marL="0">
              <a:buNone/>
            </a:pPr>
            <a:r>
              <a:rPr lang="en-US" sz="1100" dirty="0">
                <a:solidFill>
                  <a:srgbClr val="3F3F3F"/>
                </a:solidFill>
                <a:latin typeface="Consolas" pitchFamily="34" charset="0"/>
                <a:ea typeface="Consolas" pitchFamily="34" charset="-122"/>
                <a:cs typeface="Consolas" pitchFamily="34" charset="-120"/>
              </a:rPr>
              <a:t>EER · best configuration</a:t>
            </a:r>
            <a:endParaRPr lang="en-US" sz="1100" dirty="0"/>
          </a:p>
        </p:txBody>
      </p:sp>
      <p:sp>
        <p:nvSpPr>
          <p:cNvPr id="8" name="Text 6"/>
          <p:cNvSpPr txBox="1"/>
          <p:nvPr/>
        </p:nvSpPr>
        <p:spPr>
          <a:xfrm>
            <a:off x="1143000" y="4370832"/>
            <a:ext cx="4312768" cy="548640"/>
          </a:xfrm>
          <a:prstGeom prst="rect">
            <a:avLst/>
          </a:prstGeom>
          <a:noFill/>
          <a:ln/>
        </p:spPr>
        <p:txBody>
          <a:bodyPr wrap="square" lIns="0" tIns="0" rIns="0" bIns="0" rtlCol="0" anchor="ctr"/>
          <a:lstStyle/>
          <a:p>
            <a:pPr indent="0" marL="0">
              <a:lnSpc>
                <a:spcPct val="130000"/>
              </a:lnSpc>
              <a:buNone/>
            </a:pPr>
            <a:r>
              <a:rPr lang="en-US" sz="1350" dirty="0">
                <a:solidFill>
                  <a:srgbClr val="3F3F3F"/>
                </a:solidFill>
                <a:latin typeface="Inter" pitchFamily="34" charset="0"/>
                <a:ea typeface="Inter" pitchFamily="34" charset="-122"/>
                <a:cs typeface="Inter" pitchFamily="34" charset="-120"/>
              </a:rPr>
              <a:t>Works. This is a solved problem — in English.</a:t>
            </a:r>
            <a:endParaRPr lang="en-US" sz="1350" dirty="0"/>
          </a:p>
        </p:txBody>
      </p:sp>
      <p:sp>
        <p:nvSpPr>
          <p:cNvPr id="9" name="Shape 7"/>
          <p:cNvSpPr/>
          <p:nvPr/>
        </p:nvSpPr>
        <p:spPr>
          <a:xfrm>
            <a:off x="6278728" y="2103120"/>
            <a:ext cx="5181448" cy="3017520"/>
          </a:xfrm>
          <a:prstGeom prst="roundRect">
            <a:avLst>
              <a:gd name="adj" fmla="val 1818"/>
            </a:avLst>
          </a:prstGeom>
          <a:solidFill>
            <a:srgbClr val="FFFBCC"/>
          </a:solidFill>
          <a:ln w="12700">
            <a:solidFill>
              <a:srgbClr val="FFE800"/>
            </a:solidFill>
            <a:prstDash val="solid"/>
          </a:ln>
        </p:spPr>
      </p:sp>
      <p:sp>
        <p:nvSpPr>
          <p:cNvPr id="10" name="Text 8"/>
          <p:cNvSpPr txBox="1"/>
          <p:nvPr/>
        </p:nvSpPr>
        <p:spPr>
          <a:xfrm>
            <a:off x="6690208" y="2395728"/>
            <a:ext cx="4358488" cy="274320"/>
          </a:xfrm>
          <a:prstGeom prst="rect">
            <a:avLst/>
          </a:prstGeom>
          <a:noFill/>
          <a:ln/>
        </p:spPr>
        <p:txBody>
          <a:bodyPr wrap="square" lIns="0" tIns="0" rIns="0" bIns="0" rtlCol="0" anchor="ctr"/>
          <a:lstStyle/>
          <a:p>
            <a:pPr indent="0" marL="0">
              <a:buNone/>
            </a:pPr>
            <a:r>
              <a:rPr lang="en-US" sz="950" b="1" spc="140" kern="0" dirty="0">
                <a:solidFill>
                  <a:srgbClr val="8C8C8C"/>
                </a:solidFill>
                <a:latin typeface="Inter" pitchFamily="34" charset="0"/>
                <a:ea typeface="Inter" pitchFamily="34" charset="-122"/>
                <a:cs typeface="Inter" pitchFamily="34" charset="-120"/>
              </a:rPr>
              <a:t>TRAINED ON ENGLISH, TESTED ON SPANISH</a:t>
            </a:r>
            <a:endParaRPr lang="en-US" sz="950" dirty="0"/>
          </a:p>
        </p:txBody>
      </p:sp>
      <p:sp>
        <p:nvSpPr>
          <p:cNvPr id="11" name="Text 9"/>
          <p:cNvSpPr txBox="1"/>
          <p:nvPr/>
        </p:nvSpPr>
        <p:spPr>
          <a:xfrm>
            <a:off x="6690208" y="2834640"/>
            <a:ext cx="4358488" cy="1005840"/>
          </a:xfrm>
          <a:prstGeom prst="rect">
            <a:avLst/>
          </a:prstGeom>
          <a:noFill/>
          <a:ln/>
        </p:spPr>
        <p:txBody>
          <a:bodyPr wrap="square" lIns="0" tIns="0" rIns="0" bIns="0" rtlCol="0" anchor="ctr"/>
          <a:lstStyle/>
          <a:p>
            <a:pPr indent="0" marL="0">
              <a:buNone/>
            </a:pPr>
            <a:r>
              <a:rPr lang="en-US" sz="6400" b="1" dirty="0">
                <a:solidFill>
                  <a:srgbClr val="0D0D0D"/>
                </a:solidFill>
                <a:latin typeface="Inter" pitchFamily="34" charset="0"/>
                <a:ea typeface="Inter" pitchFamily="34" charset="-122"/>
                <a:cs typeface="Inter" pitchFamily="34" charset="-120"/>
              </a:rPr>
              <a:t>&gt; 30 %</a:t>
            </a:r>
            <a:endParaRPr lang="en-US" sz="6400" dirty="0"/>
          </a:p>
        </p:txBody>
      </p:sp>
      <p:sp>
        <p:nvSpPr>
          <p:cNvPr id="12" name="Text 10"/>
          <p:cNvSpPr txBox="1"/>
          <p:nvPr/>
        </p:nvSpPr>
        <p:spPr>
          <a:xfrm>
            <a:off x="6690208" y="3931920"/>
            <a:ext cx="4358488" cy="274320"/>
          </a:xfrm>
          <a:prstGeom prst="rect">
            <a:avLst/>
          </a:prstGeom>
          <a:noFill/>
          <a:ln/>
        </p:spPr>
        <p:txBody>
          <a:bodyPr wrap="square" lIns="0" tIns="0" rIns="0" bIns="0" rtlCol="0" anchor="ctr"/>
          <a:lstStyle/>
          <a:p>
            <a:pPr indent="0" marL="0">
              <a:buNone/>
            </a:pPr>
            <a:r>
              <a:rPr lang="en-US" sz="1100" dirty="0">
                <a:solidFill>
                  <a:srgbClr val="3F3F3F"/>
                </a:solidFill>
                <a:latin typeface="Consolas" pitchFamily="34" charset="0"/>
                <a:ea typeface="Consolas" pitchFamily="34" charset="-122"/>
                <a:cs typeface="Consolas" pitchFamily="34" charset="-120"/>
              </a:rPr>
              <a:t>EER · all 48 configurations</a:t>
            </a:r>
            <a:endParaRPr lang="en-US" sz="1100" dirty="0"/>
          </a:p>
        </p:txBody>
      </p:sp>
      <p:sp>
        <p:nvSpPr>
          <p:cNvPr id="13" name="Text 11"/>
          <p:cNvSpPr txBox="1"/>
          <p:nvPr/>
        </p:nvSpPr>
        <p:spPr>
          <a:xfrm>
            <a:off x="6690208" y="4370832"/>
            <a:ext cx="4312768" cy="548640"/>
          </a:xfrm>
          <a:prstGeom prst="rect">
            <a:avLst/>
          </a:prstGeom>
          <a:noFill/>
          <a:ln/>
        </p:spPr>
        <p:txBody>
          <a:bodyPr wrap="square" lIns="0" tIns="0" rIns="0" bIns="0" rtlCol="0" anchor="ctr"/>
          <a:lstStyle/>
          <a:p>
            <a:pPr indent="0" marL="0">
              <a:lnSpc>
                <a:spcPct val="130000"/>
              </a:lnSpc>
              <a:buNone/>
            </a:pPr>
            <a:r>
              <a:rPr lang="en-US" sz="1350" dirty="0">
                <a:solidFill>
                  <a:srgbClr val="3F3F3F"/>
                </a:solidFill>
                <a:latin typeface="Inter" pitchFamily="34" charset="0"/>
                <a:ea typeface="Inter" pitchFamily="34" charset="-122"/>
                <a:cs typeface="Inter" pitchFamily="34" charset="-120"/>
              </a:rPr>
              <a:t>Chance. Every single architecture we trained.</a:t>
            </a:r>
            <a:endParaRPr lang="en-US" sz="1350" dirty="0"/>
          </a:p>
        </p:txBody>
      </p:sp>
      <p:sp>
        <p:nvSpPr>
          <p:cNvPr id="14" name="Text 12"/>
          <p:cNvSpPr txBox="1"/>
          <p:nvPr/>
        </p:nvSpPr>
        <p:spPr>
          <a:xfrm>
            <a:off x="731520" y="54406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Tamayo et al. (2023) reported this. We went looking for why.</a:t>
            </a:r>
            <a:endParaRPr lang="en-US" sz="1500" dirty="0"/>
          </a:p>
        </p:txBody>
      </p:sp>
      <p:pic>
        <p:nvPicPr>
          <p:cNvPr id="15"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6" name="Text 13"/>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7" name="Text 14"/>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BLOCK 01 · WHAT WE TESTED</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48 detectors,</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one pipeline</a:t>
            </a:r>
            <a:endParaRPr lang="en-US" sz="4000" dirty="0"/>
          </a:p>
        </p:txBody>
      </p:sp>
      <p:sp>
        <p:nvSpPr>
          <p:cNvPr id="4" name="Shape 2"/>
          <p:cNvSpPr/>
          <p:nvPr/>
        </p:nvSpPr>
        <p:spPr>
          <a:xfrm>
            <a:off x="731520" y="2880360"/>
            <a:ext cx="1234440" cy="960120"/>
          </a:xfrm>
          <a:prstGeom prst="roundRect">
            <a:avLst>
              <a:gd name="adj" fmla="val 5714"/>
            </a:avLst>
          </a:prstGeom>
          <a:solidFill>
            <a:srgbClr val="F7F7F5"/>
          </a:solidFill>
          <a:ln w="12700">
            <a:solidFill>
              <a:srgbClr val="E6E6E6"/>
            </a:solidFill>
            <a:prstDash val="solid"/>
          </a:ln>
        </p:spPr>
      </p:sp>
      <p:sp>
        <p:nvSpPr>
          <p:cNvPr id="5" name="Text 3"/>
          <p:cNvSpPr txBox="1"/>
          <p:nvPr/>
        </p:nvSpPr>
        <p:spPr>
          <a:xfrm>
            <a:off x="731520" y="3008376"/>
            <a:ext cx="1234440" cy="274320"/>
          </a:xfrm>
          <a:prstGeom prst="rect">
            <a:avLst/>
          </a:prstGeom>
          <a:noFill/>
          <a:ln/>
        </p:spPr>
        <p:txBody>
          <a:bodyPr wrap="square" lIns="0" tIns="0" rIns="0" bIns="0" rtlCol="0" anchor="ctr"/>
          <a:lstStyle/>
          <a:p>
            <a:pPr algn="ctr" indent="0" marL="0">
              <a:buNone/>
            </a:pPr>
            <a:r>
              <a:rPr lang="en-US" sz="1100" b="1" spc="140" kern="0" dirty="0">
                <a:solidFill>
                  <a:srgbClr val="8C8C8C"/>
                </a:solidFill>
                <a:latin typeface="Inter" pitchFamily="34" charset="0"/>
                <a:ea typeface="Inter" pitchFamily="34" charset="-122"/>
                <a:cs typeface="Inter" pitchFamily="34" charset="-120"/>
              </a:rPr>
              <a:t>AUDIO</a:t>
            </a:r>
            <a:endParaRPr lang="en-US" sz="1100" dirty="0"/>
          </a:p>
        </p:txBody>
      </p:sp>
      <p:sp>
        <p:nvSpPr>
          <p:cNvPr id="6" name="Text 4"/>
          <p:cNvSpPr txBox="1"/>
          <p:nvPr/>
        </p:nvSpPr>
        <p:spPr>
          <a:xfrm>
            <a:off x="804672" y="3300984"/>
            <a:ext cx="1088136" cy="457200"/>
          </a:xfrm>
          <a:prstGeom prst="rect">
            <a:avLst/>
          </a:prstGeom>
          <a:noFill/>
          <a:ln/>
        </p:spPr>
        <p:txBody>
          <a:bodyPr wrap="square" lIns="0" tIns="0" rIns="0" bIns="0" rtlCol="0" anchor="t"/>
          <a:lstStyle/>
          <a:p>
            <a:pPr algn="ctr" indent="0" marL="0">
              <a:buNone/>
            </a:pPr>
            <a:r>
              <a:rPr lang="en-US" sz="1000" dirty="0">
                <a:solidFill>
                  <a:srgbClr val="3F3F3F"/>
                </a:solidFill>
                <a:latin typeface="Inter" pitchFamily="34" charset="0"/>
                <a:ea typeface="Inter" pitchFamily="34" charset="-122"/>
                <a:cs typeface="Inter" pitchFamily="34" charset="-120"/>
              </a:rPr>
              <a:t>16 kHz waveform</a:t>
            </a:r>
            <a:endParaRPr lang="en-US" sz="1000" dirty="0"/>
          </a:p>
        </p:txBody>
      </p:sp>
      <p:sp>
        <p:nvSpPr>
          <p:cNvPr id="7" name="Shape 5"/>
          <p:cNvSpPr/>
          <p:nvPr/>
        </p:nvSpPr>
        <p:spPr>
          <a:xfrm>
            <a:off x="2011680" y="3360420"/>
            <a:ext cx="182880" cy="0"/>
          </a:xfrm>
          <a:prstGeom prst="line">
            <a:avLst/>
          </a:prstGeom>
          <a:noFill/>
          <a:ln w="15875">
            <a:solidFill>
              <a:srgbClr val="BDBDBD"/>
            </a:solidFill>
            <a:prstDash val="solid"/>
            <a:tailEnd type="triangle"/>
          </a:ln>
        </p:spPr>
      </p:sp>
      <p:sp>
        <p:nvSpPr>
          <p:cNvPr id="8" name="Shape 6"/>
          <p:cNvSpPr/>
          <p:nvPr/>
        </p:nvSpPr>
        <p:spPr>
          <a:xfrm>
            <a:off x="2240280" y="2880360"/>
            <a:ext cx="2514600" cy="960120"/>
          </a:xfrm>
          <a:prstGeom prst="roundRect">
            <a:avLst>
              <a:gd name="adj" fmla="val 5714"/>
            </a:avLst>
          </a:prstGeom>
          <a:solidFill>
            <a:srgbClr val="FFFFFF"/>
          </a:solidFill>
          <a:ln w="12700">
            <a:solidFill>
              <a:srgbClr val="0D0D0D"/>
            </a:solidFill>
            <a:prstDash val="solid"/>
          </a:ln>
        </p:spPr>
      </p:sp>
      <p:sp>
        <p:nvSpPr>
          <p:cNvPr id="9" name="Text 7"/>
          <p:cNvSpPr txBox="1"/>
          <p:nvPr/>
        </p:nvSpPr>
        <p:spPr>
          <a:xfrm>
            <a:off x="2240280" y="3008376"/>
            <a:ext cx="2514600" cy="274320"/>
          </a:xfrm>
          <a:prstGeom prst="rect">
            <a:avLst/>
          </a:prstGeom>
          <a:noFill/>
          <a:ln/>
        </p:spPr>
        <p:txBody>
          <a:bodyPr wrap="square" lIns="0" tIns="0" rIns="0" bIns="0" rtlCol="0" anchor="ctr"/>
          <a:lstStyle/>
          <a:p>
            <a:pPr algn="ctr" indent="0" marL="0">
              <a:buNone/>
            </a:pPr>
            <a:r>
              <a:rPr lang="en-US" sz="1100" b="1" spc="140" kern="0" dirty="0">
                <a:solidFill>
                  <a:srgbClr val="0D0D0D"/>
                </a:solidFill>
                <a:latin typeface="Inter" pitchFamily="34" charset="0"/>
                <a:ea typeface="Inter" pitchFamily="34" charset="-122"/>
                <a:cs typeface="Inter" pitchFamily="34" charset="-120"/>
              </a:rPr>
              <a:t>FRONT-END</a:t>
            </a:r>
            <a:endParaRPr lang="en-US" sz="1100" dirty="0"/>
          </a:p>
        </p:txBody>
      </p:sp>
      <p:sp>
        <p:nvSpPr>
          <p:cNvPr id="10" name="Text 8"/>
          <p:cNvSpPr txBox="1"/>
          <p:nvPr/>
        </p:nvSpPr>
        <p:spPr>
          <a:xfrm>
            <a:off x="2313432" y="3300984"/>
            <a:ext cx="2368296" cy="457200"/>
          </a:xfrm>
          <a:prstGeom prst="rect">
            <a:avLst/>
          </a:prstGeom>
          <a:noFill/>
          <a:ln/>
        </p:spPr>
        <p:txBody>
          <a:bodyPr wrap="square" lIns="0" tIns="0" rIns="0" bIns="0" rtlCol="0" anchor="t"/>
          <a:lstStyle/>
          <a:p>
            <a:pPr algn="ctr" indent="0" marL="0">
              <a:buNone/>
            </a:pPr>
            <a:r>
              <a:rPr lang="en-US" sz="1000" dirty="0">
                <a:solidFill>
                  <a:srgbClr val="3F3F3F"/>
                </a:solidFill>
                <a:latin typeface="Inter" pitchFamily="34" charset="0"/>
                <a:ea typeface="Inter" pitchFamily="34" charset="-122"/>
                <a:cs typeface="Inter" pitchFamily="34" charset="-120"/>
              </a:rPr>
              <a:t>MFCC · LFCC · CQCC · Spectrogram</a:t>
            </a:r>
            <a:endParaRPr lang="en-US" sz="1000" dirty="0"/>
          </a:p>
        </p:txBody>
      </p:sp>
      <p:sp>
        <p:nvSpPr>
          <p:cNvPr id="11" name="Text 9"/>
          <p:cNvSpPr txBox="1"/>
          <p:nvPr/>
        </p:nvSpPr>
        <p:spPr>
          <a:xfrm>
            <a:off x="3223260" y="2313432"/>
            <a:ext cx="548640" cy="411480"/>
          </a:xfrm>
          <a:prstGeom prst="rect">
            <a:avLst/>
          </a:prstGeom>
          <a:noFill/>
          <a:ln/>
        </p:spPr>
        <p:txBody>
          <a:bodyPr wrap="square" lIns="0" tIns="0" rIns="0" bIns="0" rtlCol="0" anchor="ctr"/>
          <a:lstStyle/>
          <a:p>
            <a:pPr algn="ctr" indent="0" marL="0">
              <a:buNone/>
            </a:pPr>
            <a:r>
              <a:rPr lang="en-US" sz="2400" b="1" dirty="0">
                <a:solidFill>
                  <a:srgbClr val="8A6D00"/>
                </a:solidFill>
                <a:latin typeface="Inter" pitchFamily="34" charset="0"/>
                <a:ea typeface="Inter" pitchFamily="34" charset="-122"/>
                <a:cs typeface="Inter" pitchFamily="34" charset="-120"/>
              </a:rPr>
              <a:t>4</a:t>
            </a:r>
            <a:endParaRPr lang="en-US" sz="2400" dirty="0"/>
          </a:p>
        </p:txBody>
      </p:sp>
      <p:sp>
        <p:nvSpPr>
          <p:cNvPr id="12" name="Shape 10"/>
          <p:cNvSpPr/>
          <p:nvPr/>
        </p:nvSpPr>
        <p:spPr>
          <a:xfrm>
            <a:off x="4800600" y="3360420"/>
            <a:ext cx="182880" cy="0"/>
          </a:xfrm>
          <a:prstGeom prst="line">
            <a:avLst/>
          </a:prstGeom>
          <a:noFill/>
          <a:ln w="15875">
            <a:solidFill>
              <a:srgbClr val="BDBDBD"/>
            </a:solidFill>
            <a:prstDash val="solid"/>
            <a:tailEnd type="triangle"/>
          </a:ln>
        </p:spPr>
      </p:sp>
      <p:sp>
        <p:nvSpPr>
          <p:cNvPr id="13" name="Shape 11"/>
          <p:cNvSpPr/>
          <p:nvPr/>
        </p:nvSpPr>
        <p:spPr>
          <a:xfrm>
            <a:off x="5029200" y="2880360"/>
            <a:ext cx="2514600" cy="960120"/>
          </a:xfrm>
          <a:prstGeom prst="roundRect">
            <a:avLst>
              <a:gd name="adj" fmla="val 5714"/>
            </a:avLst>
          </a:prstGeom>
          <a:solidFill>
            <a:srgbClr val="FFFFFF"/>
          </a:solidFill>
          <a:ln w="12700">
            <a:solidFill>
              <a:srgbClr val="0D0D0D"/>
            </a:solidFill>
            <a:prstDash val="solid"/>
          </a:ln>
        </p:spPr>
      </p:sp>
      <p:sp>
        <p:nvSpPr>
          <p:cNvPr id="14" name="Text 12"/>
          <p:cNvSpPr txBox="1"/>
          <p:nvPr/>
        </p:nvSpPr>
        <p:spPr>
          <a:xfrm>
            <a:off x="5029200" y="3008376"/>
            <a:ext cx="2514600" cy="274320"/>
          </a:xfrm>
          <a:prstGeom prst="rect">
            <a:avLst/>
          </a:prstGeom>
          <a:noFill/>
          <a:ln/>
        </p:spPr>
        <p:txBody>
          <a:bodyPr wrap="square" lIns="0" tIns="0" rIns="0" bIns="0" rtlCol="0" anchor="ctr"/>
          <a:lstStyle/>
          <a:p>
            <a:pPr algn="ctr" indent="0" marL="0">
              <a:buNone/>
            </a:pPr>
            <a:r>
              <a:rPr lang="en-US" sz="1100" b="1" spc="140" kern="0" dirty="0">
                <a:solidFill>
                  <a:srgbClr val="0D0D0D"/>
                </a:solidFill>
                <a:latin typeface="Inter" pitchFamily="34" charset="0"/>
                <a:ea typeface="Inter" pitchFamily="34" charset="-122"/>
                <a:cs typeface="Inter" pitchFamily="34" charset="-120"/>
              </a:rPr>
              <a:t>BACK-END</a:t>
            </a:r>
            <a:endParaRPr lang="en-US" sz="1100" dirty="0"/>
          </a:p>
        </p:txBody>
      </p:sp>
      <p:sp>
        <p:nvSpPr>
          <p:cNvPr id="15" name="Text 13"/>
          <p:cNvSpPr txBox="1"/>
          <p:nvPr/>
        </p:nvSpPr>
        <p:spPr>
          <a:xfrm>
            <a:off x="5102352" y="3300984"/>
            <a:ext cx="2368296" cy="457200"/>
          </a:xfrm>
          <a:prstGeom prst="rect">
            <a:avLst/>
          </a:prstGeom>
          <a:noFill/>
          <a:ln/>
        </p:spPr>
        <p:txBody>
          <a:bodyPr wrap="square" lIns="0" tIns="0" rIns="0" bIns="0" rtlCol="0" anchor="t"/>
          <a:lstStyle/>
          <a:p>
            <a:pPr algn="ctr" indent="0" marL="0">
              <a:buNone/>
            </a:pPr>
            <a:r>
              <a:rPr lang="en-US" sz="1000" dirty="0">
                <a:solidFill>
                  <a:srgbClr val="3F3F3F"/>
                </a:solidFill>
                <a:latin typeface="Inter" pitchFamily="34" charset="0"/>
                <a:ea typeface="Inter" pitchFamily="34" charset="-122"/>
                <a:cs typeface="Inter" pitchFamily="34" charset="-120"/>
              </a:rPr>
              <a:t>attention · trim-pad · LSTM-sum</a:t>
            </a:r>
            <a:endParaRPr lang="en-US" sz="1000" dirty="0"/>
          </a:p>
        </p:txBody>
      </p:sp>
      <p:sp>
        <p:nvSpPr>
          <p:cNvPr id="16" name="Text 14"/>
          <p:cNvSpPr txBox="1"/>
          <p:nvPr/>
        </p:nvSpPr>
        <p:spPr>
          <a:xfrm>
            <a:off x="6012180" y="2313432"/>
            <a:ext cx="548640" cy="411480"/>
          </a:xfrm>
          <a:prstGeom prst="rect">
            <a:avLst/>
          </a:prstGeom>
          <a:noFill/>
          <a:ln/>
        </p:spPr>
        <p:txBody>
          <a:bodyPr wrap="square" lIns="0" tIns="0" rIns="0" bIns="0" rtlCol="0" anchor="ctr"/>
          <a:lstStyle/>
          <a:p>
            <a:pPr algn="ctr" indent="0" marL="0">
              <a:buNone/>
            </a:pPr>
            <a:r>
              <a:rPr lang="en-US" sz="2400" b="1" dirty="0">
                <a:solidFill>
                  <a:srgbClr val="8A6D00"/>
                </a:solidFill>
                <a:latin typeface="Inter" pitchFamily="34" charset="0"/>
                <a:ea typeface="Inter" pitchFamily="34" charset="-122"/>
                <a:cs typeface="Inter" pitchFamily="34" charset="-120"/>
              </a:rPr>
              <a:t>3</a:t>
            </a:r>
            <a:endParaRPr lang="en-US" sz="2400" dirty="0"/>
          </a:p>
        </p:txBody>
      </p:sp>
      <p:sp>
        <p:nvSpPr>
          <p:cNvPr id="17" name="Shape 15"/>
          <p:cNvSpPr/>
          <p:nvPr/>
        </p:nvSpPr>
        <p:spPr>
          <a:xfrm>
            <a:off x="7589520" y="3360420"/>
            <a:ext cx="182880" cy="0"/>
          </a:xfrm>
          <a:prstGeom prst="line">
            <a:avLst/>
          </a:prstGeom>
          <a:noFill/>
          <a:ln w="15875">
            <a:solidFill>
              <a:srgbClr val="BDBDBD"/>
            </a:solidFill>
            <a:prstDash val="solid"/>
            <a:tailEnd type="triangle"/>
          </a:ln>
        </p:spPr>
      </p:sp>
      <p:sp>
        <p:nvSpPr>
          <p:cNvPr id="18" name="Shape 16"/>
          <p:cNvSpPr/>
          <p:nvPr/>
        </p:nvSpPr>
        <p:spPr>
          <a:xfrm>
            <a:off x="7818120" y="2880360"/>
            <a:ext cx="2057400" cy="960120"/>
          </a:xfrm>
          <a:prstGeom prst="roundRect">
            <a:avLst>
              <a:gd name="adj" fmla="val 5714"/>
            </a:avLst>
          </a:prstGeom>
          <a:solidFill>
            <a:srgbClr val="FFFFFF"/>
          </a:solidFill>
          <a:ln w="12700">
            <a:solidFill>
              <a:srgbClr val="0D0D0D"/>
            </a:solidFill>
            <a:prstDash val="solid"/>
          </a:ln>
        </p:spPr>
      </p:sp>
      <p:sp>
        <p:nvSpPr>
          <p:cNvPr id="19" name="Text 17"/>
          <p:cNvSpPr txBox="1"/>
          <p:nvPr/>
        </p:nvSpPr>
        <p:spPr>
          <a:xfrm>
            <a:off x="7818120" y="3008376"/>
            <a:ext cx="2057400" cy="274320"/>
          </a:xfrm>
          <a:prstGeom prst="rect">
            <a:avLst/>
          </a:prstGeom>
          <a:noFill/>
          <a:ln/>
        </p:spPr>
        <p:txBody>
          <a:bodyPr wrap="square" lIns="0" tIns="0" rIns="0" bIns="0" rtlCol="0" anchor="ctr"/>
          <a:lstStyle/>
          <a:p>
            <a:pPr algn="ctr" indent="0" marL="0">
              <a:buNone/>
            </a:pPr>
            <a:r>
              <a:rPr lang="en-US" sz="1100" b="1" spc="140" kern="0" dirty="0">
                <a:solidFill>
                  <a:srgbClr val="0D0D0D"/>
                </a:solidFill>
                <a:latin typeface="Inter" pitchFamily="34" charset="0"/>
                <a:ea typeface="Inter" pitchFamily="34" charset="-122"/>
                <a:cs typeface="Inter" pitchFamily="34" charset="-120"/>
              </a:rPr>
              <a:t>LOSS</a:t>
            </a:r>
            <a:endParaRPr lang="en-US" sz="1100" dirty="0"/>
          </a:p>
        </p:txBody>
      </p:sp>
      <p:sp>
        <p:nvSpPr>
          <p:cNvPr id="20" name="Text 18"/>
          <p:cNvSpPr txBox="1"/>
          <p:nvPr/>
        </p:nvSpPr>
        <p:spPr>
          <a:xfrm>
            <a:off x="7891272" y="3300984"/>
            <a:ext cx="1911096" cy="457200"/>
          </a:xfrm>
          <a:prstGeom prst="rect">
            <a:avLst/>
          </a:prstGeom>
          <a:noFill/>
          <a:ln/>
        </p:spPr>
        <p:txBody>
          <a:bodyPr wrap="square" lIns="0" tIns="0" rIns="0" bIns="0" rtlCol="0" anchor="t"/>
          <a:lstStyle/>
          <a:p>
            <a:pPr algn="ctr" indent="0" marL="0">
              <a:buNone/>
            </a:pPr>
            <a:r>
              <a:rPr lang="en-US" sz="1000" dirty="0">
                <a:solidFill>
                  <a:srgbClr val="3F3F3F"/>
                </a:solidFill>
                <a:latin typeface="Inter" pitchFamily="34" charset="0"/>
                <a:ea typeface="Inter" pitchFamily="34" charset="-122"/>
                <a:cs typeface="Inter" pitchFamily="34" charset="-120"/>
              </a:rPr>
              <a:t>AM · OC · P2S-Grad · Sigmoid</a:t>
            </a:r>
            <a:endParaRPr lang="en-US" sz="1000" dirty="0"/>
          </a:p>
        </p:txBody>
      </p:sp>
      <p:sp>
        <p:nvSpPr>
          <p:cNvPr id="21" name="Text 19"/>
          <p:cNvSpPr txBox="1"/>
          <p:nvPr/>
        </p:nvSpPr>
        <p:spPr>
          <a:xfrm>
            <a:off x="8572500" y="2313432"/>
            <a:ext cx="548640" cy="411480"/>
          </a:xfrm>
          <a:prstGeom prst="rect">
            <a:avLst/>
          </a:prstGeom>
          <a:noFill/>
          <a:ln/>
        </p:spPr>
        <p:txBody>
          <a:bodyPr wrap="square" lIns="0" tIns="0" rIns="0" bIns="0" rtlCol="0" anchor="ctr"/>
          <a:lstStyle/>
          <a:p>
            <a:pPr algn="ctr" indent="0" marL="0">
              <a:buNone/>
            </a:pPr>
            <a:r>
              <a:rPr lang="en-US" sz="2400" b="1" dirty="0">
                <a:solidFill>
                  <a:srgbClr val="8A6D00"/>
                </a:solidFill>
                <a:latin typeface="Inter" pitchFamily="34" charset="0"/>
                <a:ea typeface="Inter" pitchFamily="34" charset="-122"/>
                <a:cs typeface="Inter" pitchFamily="34" charset="-120"/>
              </a:rPr>
              <a:t>4</a:t>
            </a:r>
            <a:endParaRPr lang="en-US" sz="2400" dirty="0"/>
          </a:p>
        </p:txBody>
      </p:sp>
      <p:sp>
        <p:nvSpPr>
          <p:cNvPr id="22" name="Shape 20"/>
          <p:cNvSpPr/>
          <p:nvPr/>
        </p:nvSpPr>
        <p:spPr>
          <a:xfrm>
            <a:off x="9921240" y="3360420"/>
            <a:ext cx="182880" cy="0"/>
          </a:xfrm>
          <a:prstGeom prst="line">
            <a:avLst/>
          </a:prstGeom>
          <a:noFill/>
          <a:ln w="15875">
            <a:solidFill>
              <a:srgbClr val="BDBDBD"/>
            </a:solidFill>
            <a:prstDash val="solid"/>
            <a:tailEnd type="triangle"/>
          </a:ln>
        </p:spPr>
      </p:sp>
      <p:sp>
        <p:nvSpPr>
          <p:cNvPr id="23" name="Shape 21"/>
          <p:cNvSpPr/>
          <p:nvPr/>
        </p:nvSpPr>
        <p:spPr>
          <a:xfrm>
            <a:off x="10149840" y="2880360"/>
            <a:ext cx="1280160" cy="960120"/>
          </a:xfrm>
          <a:prstGeom prst="roundRect">
            <a:avLst>
              <a:gd name="adj" fmla="val 5714"/>
            </a:avLst>
          </a:prstGeom>
          <a:solidFill>
            <a:srgbClr val="F7F7F5"/>
          </a:solidFill>
          <a:ln w="12700">
            <a:solidFill>
              <a:srgbClr val="E6E6E6"/>
            </a:solidFill>
            <a:prstDash val="solid"/>
          </a:ln>
        </p:spPr>
      </p:sp>
      <p:sp>
        <p:nvSpPr>
          <p:cNvPr id="24" name="Text 22"/>
          <p:cNvSpPr txBox="1"/>
          <p:nvPr/>
        </p:nvSpPr>
        <p:spPr>
          <a:xfrm>
            <a:off x="10149840" y="3008376"/>
            <a:ext cx="1280160" cy="274320"/>
          </a:xfrm>
          <a:prstGeom prst="rect">
            <a:avLst/>
          </a:prstGeom>
          <a:noFill/>
          <a:ln/>
        </p:spPr>
        <p:txBody>
          <a:bodyPr wrap="square" lIns="0" tIns="0" rIns="0" bIns="0" rtlCol="0" anchor="ctr"/>
          <a:lstStyle/>
          <a:p>
            <a:pPr algn="ctr" indent="0" marL="0">
              <a:buNone/>
            </a:pPr>
            <a:r>
              <a:rPr lang="en-US" sz="1100" b="1" spc="140" kern="0" dirty="0">
                <a:solidFill>
                  <a:srgbClr val="8C8C8C"/>
                </a:solidFill>
                <a:latin typeface="Inter" pitchFamily="34" charset="0"/>
                <a:ea typeface="Inter" pitchFamily="34" charset="-122"/>
                <a:cs typeface="Inter" pitchFamily="34" charset="-120"/>
              </a:rPr>
              <a:t>SCORE</a:t>
            </a:r>
            <a:endParaRPr lang="en-US" sz="1100" dirty="0"/>
          </a:p>
        </p:txBody>
      </p:sp>
      <p:sp>
        <p:nvSpPr>
          <p:cNvPr id="25" name="Text 23"/>
          <p:cNvSpPr txBox="1"/>
          <p:nvPr/>
        </p:nvSpPr>
        <p:spPr>
          <a:xfrm>
            <a:off x="10222992" y="3300984"/>
            <a:ext cx="1133856" cy="457200"/>
          </a:xfrm>
          <a:prstGeom prst="rect">
            <a:avLst/>
          </a:prstGeom>
          <a:noFill/>
          <a:ln/>
        </p:spPr>
        <p:txBody>
          <a:bodyPr wrap="square" lIns="0" tIns="0" rIns="0" bIns="0" rtlCol="0" anchor="t"/>
          <a:lstStyle/>
          <a:p>
            <a:pPr algn="ctr" indent="0" marL="0">
              <a:buNone/>
            </a:pPr>
            <a:r>
              <a:rPr lang="en-US" sz="1000" dirty="0">
                <a:solidFill>
                  <a:srgbClr val="3F3F3F"/>
                </a:solidFill>
                <a:latin typeface="Inter" pitchFamily="34" charset="0"/>
                <a:ea typeface="Inter" pitchFamily="34" charset="-122"/>
                <a:cs typeface="Inter" pitchFamily="34" charset="-120"/>
              </a:rPr>
              <a:t>bona fide / spoof</a:t>
            </a:r>
            <a:endParaRPr lang="en-US" sz="1000" dirty="0"/>
          </a:p>
        </p:txBody>
      </p:sp>
      <p:sp>
        <p:nvSpPr>
          <p:cNvPr id="26" name="Text 24"/>
          <p:cNvSpPr txBox="1"/>
          <p:nvPr/>
        </p:nvSpPr>
        <p:spPr>
          <a:xfrm>
            <a:off x="731520" y="4434840"/>
            <a:ext cx="10728655" cy="365760"/>
          </a:xfrm>
          <a:prstGeom prst="rect">
            <a:avLst/>
          </a:prstGeom>
          <a:noFill/>
          <a:ln/>
        </p:spPr>
        <p:txBody>
          <a:bodyPr wrap="square" lIns="0" tIns="0" rIns="0" bIns="0" rtlCol="0" anchor="ctr"/>
          <a:lstStyle/>
          <a:p>
            <a:pPr algn="ctr" indent="0" marL="0">
              <a:buNone/>
            </a:pPr>
            <a:r>
              <a:rPr lang="en-US" sz="1300" dirty="0">
                <a:solidFill>
                  <a:srgbClr val="0D0D0D"/>
                </a:solidFill>
                <a:latin typeface="Consolas" pitchFamily="34" charset="0"/>
                <a:ea typeface="Consolas" pitchFamily="34" charset="-122"/>
                <a:cs typeface="Consolas" pitchFamily="34" charset="-120"/>
              </a:rPr>
              <a:t>4  ×  3  ×  4  =  48 architectures  ×  3 data conditions  ×  6 seeds  =  864 trained models</a:t>
            </a:r>
            <a:endParaRPr lang="en-US" sz="1300" dirty="0"/>
          </a:p>
        </p:txBody>
      </p:sp>
      <p:sp>
        <p:nvSpPr>
          <p:cNvPr id="27" name="Shape 25"/>
          <p:cNvSpPr/>
          <p:nvPr/>
        </p:nvSpPr>
        <p:spPr>
          <a:xfrm>
            <a:off x="731520" y="4983480"/>
            <a:ext cx="10728655" cy="0"/>
          </a:xfrm>
          <a:prstGeom prst="line">
            <a:avLst/>
          </a:prstGeom>
          <a:noFill/>
          <a:ln w="12700">
            <a:solidFill>
              <a:srgbClr val="E6E6E6"/>
            </a:solidFill>
            <a:prstDash val="solid"/>
          </a:ln>
        </p:spPr>
      </p:sp>
      <p:sp>
        <p:nvSpPr>
          <p:cNvPr id="28" name="Text 26"/>
          <p:cNvSpPr txBox="1"/>
          <p:nvPr/>
        </p:nvSpPr>
        <p:spPr>
          <a:xfrm>
            <a:off x="731520" y="516636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Every box that varies is counted. Nothing here is a single lucky run.</a:t>
            </a:r>
            <a:endParaRPr lang="en-US" sz="1500" dirty="0"/>
          </a:p>
        </p:txBody>
      </p:sp>
      <p:pic>
        <p:nvPicPr>
          <p:cNvPr id="29"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30" name="Text 27"/>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31" name="Text 28"/>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BLOCK 03 · THE CULPRIT</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The gap is not uniform.</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It is voice conversion.</a:t>
            </a:r>
            <a:endParaRPr lang="en-US" sz="4000" dirty="0"/>
          </a:p>
        </p:txBody>
      </p:sp>
      <p:graphicFrame>
        <p:nvGraphicFramePr>
          <p:cNvPr id="4" name="Chart 0" descr=""/>
          <p:cNvGraphicFramePr/>
          <p:nvPr/>
        </p:nvGraphicFramePr>
        <p:xfrm>
          <a:off x="731520" y="2148840"/>
          <a:ext cx="722376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275320" y="2240280"/>
            <a:ext cx="3200400" cy="320040"/>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50 % = a coin flip</a:t>
            </a:r>
            <a:endParaRPr lang="en-US" sz="1200" dirty="0"/>
          </a:p>
        </p:txBody>
      </p:sp>
      <p:sp>
        <p:nvSpPr>
          <p:cNvPr id="6" name="Text 3"/>
          <p:cNvSpPr txBox="1"/>
          <p:nvPr/>
        </p:nvSpPr>
        <p:spPr>
          <a:xfrm>
            <a:off x="8275320" y="2697480"/>
            <a:ext cx="3154680" cy="1463040"/>
          </a:xfrm>
          <a:prstGeom prst="rect">
            <a:avLst/>
          </a:prstGeom>
          <a:noFill/>
          <a:ln/>
        </p:spPr>
        <p:txBody>
          <a:bodyPr wrap="square" lIns="0" tIns="0" rIns="0" bIns="0" rtlCol="0" anchor="ctr"/>
          <a:lstStyle/>
          <a:p>
            <a:pPr indent="0" marL="0">
              <a:lnSpc>
                <a:spcPct val="132000"/>
              </a:lnSpc>
              <a:buNone/>
            </a:pPr>
            <a:r>
              <a:rPr lang="en-US" sz="1400" dirty="0">
                <a:solidFill>
                  <a:srgbClr val="3F3F3F"/>
                </a:solidFill>
                <a:latin typeface="Inter" pitchFamily="34" charset="0"/>
                <a:ea typeface="Inter" pitchFamily="34" charset="-122"/>
                <a:cs typeface="Inter" pitchFamily="34" charset="-120"/>
              </a:rPr>
              <a:t>English-trained models are at or below chance on converted speech — </a:t>
            </a:r>
            <a:pPr indent="0" marL="0">
              <a:lnSpc>
                <a:spcPct val="132000"/>
              </a:lnSpc>
              <a:buNone/>
            </a:pPr>
            <a:r>
              <a:rPr lang="en-US" sz="1400" b="1" dirty="0">
                <a:solidFill>
                  <a:srgbClr val="0D0D0D"/>
                </a:solidFill>
                <a:latin typeface="Inter" pitchFamily="34" charset="0"/>
                <a:ea typeface="Inter" pitchFamily="34" charset="-122"/>
                <a:cs typeface="Inter" pitchFamily="34" charset="-120"/>
              </a:rPr>
              <a:t>and still catch Spanish TTS at 1.79 %.</a:t>
            </a:r>
            <a:endParaRPr lang="en-US" sz="1400" dirty="0"/>
          </a:p>
        </p:txBody>
      </p:sp>
      <p:sp>
        <p:nvSpPr>
          <p:cNvPr id="7" name="Shape 4"/>
          <p:cNvSpPr/>
          <p:nvPr/>
        </p:nvSpPr>
        <p:spPr>
          <a:xfrm>
            <a:off x="8275320" y="4343400"/>
            <a:ext cx="3154680" cy="0"/>
          </a:xfrm>
          <a:prstGeom prst="line">
            <a:avLst/>
          </a:prstGeom>
          <a:noFill/>
          <a:ln w="12700">
            <a:solidFill>
              <a:srgbClr val="E6E6E6"/>
            </a:solidFill>
            <a:prstDash val="solid"/>
          </a:ln>
        </p:spPr>
      </p:sp>
      <p:sp>
        <p:nvSpPr>
          <p:cNvPr id="8" name="Text 5"/>
          <p:cNvSpPr txBox="1"/>
          <p:nvPr/>
        </p:nvSpPr>
        <p:spPr>
          <a:xfrm>
            <a:off x="8275320" y="4526280"/>
            <a:ext cx="3154680" cy="1188720"/>
          </a:xfrm>
          <a:prstGeom prst="rect">
            <a:avLst/>
          </a:prstGeom>
          <a:noFill/>
          <a:ln/>
        </p:spPr>
        <p:txBody>
          <a:bodyPr wrap="square" lIns="0" tIns="0" rIns="0" bIns="0" rtlCol="0" anchor="ctr"/>
          <a:lstStyle/>
          <a:p>
            <a:pPr indent="0" marL="0">
              <a:lnSpc>
                <a:spcPct val="130000"/>
              </a:lnSpc>
              <a:buNone/>
            </a:pPr>
            <a:r>
              <a:rPr lang="en-US" sz="1200" dirty="0">
                <a:solidFill>
                  <a:srgbClr val="3F3F3F"/>
                </a:solidFill>
                <a:latin typeface="Inter" pitchFamily="34" charset="0"/>
                <a:ea typeface="Inter" pitchFamily="34" charset="-122"/>
                <a:cs typeface="Inter" pitchFamily="34" charset="-120"/>
              </a:rPr>
              <a:t>Vocoder artefacts survive the change of language. Conversion artefacts do not — they are entangled with the speaker.</a:t>
            </a:r>
            <a:endParaRPr lang="en-US" sz="1200" dirty="0"/>
          </a:p>
        </p:txBody>
      </p:sp>
      <p:sp>
        <p:nvSpPr>
          <p:cNvPr id="9" name="Text 6"/>
          <p:cNvSpPr txBox="1"/>
          <p:nvPr/>
        </p:nvSpPr>
        <p:spPr>
          <a:xfrm>
            <a:off x="731520" y="5715000"/>
            <a:ext cx="7223760"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6 · LCNN-LSTM-sum · P2S-Grad</a:t>
            </a:r>
            <a:endParaRPr lang="en-US" sz="900" dirty="0"/>
          </a:p>
        </p:txBody>
      </p:sp>
      <p:pic>
        <p:nvPicPr>
          <p:cNvPr id="10" name="Image 0" descr="/home/claude/shield.png">    </p:cNvPr>
          <p:cNvPicPr>
            <a:picLocks noChangeAspect="1"/>
          </p:cNvPicPr>
          <p:nvPr/>
        </p:nvPicPr>
        <p:blipFill>
          <a:blip r:embed="rId2"/>
          <a:stretch>
            <a:fillRect/>
          </a:stretch>
        </p:blipFill>
        <p:spPr>
          <a:xfrm>
            <a:off x="731520" y="6309360"/>
            <a:ext cx="256032" cy="256032"/>
          </a:xfrm>
          <a:prstGeom prst="rect">
            <a:avLst/>
          </a:prstGeom>
        </p:spPr>
      </p:pic>
      <p:sp>
        <p:nvSpPr>
          <p:cNvPr id="11" name="Text 7"/>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2" name="Text 8"/>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THE NUMBER TO REMEMBER</a:t>
            </a:r>
            <a:endParaRPr lang="en-US" sz="1000" dirty="0"/>
          </a:p>
        </p:txBody>
      </p:sp>
      <p:sp>
        <p:nvSpPr>
          <p:cNvPr id="3" name="Shape 1"/>
          <p:cNvSpPr/>
          <p:nvPr/>
        </p:nvSpPr>
        <p:spPr>
          <a:xfrm>
            <a:off x="685800" y="2761488"/>
            <a:ext cx="6035040" cy="566928"/>
          </a:xfrm>
          <a:prstGeom prst="rect">
            <a:avLst/>
          </a:prstGeom>
          <a:solidFill>
            <a:srgbClr val="FFE800"/>
          </a:solidFill>
          <a:ln w="12700">
            <a:solidFill>
              <a:srgbClr val="FFE800"/>
            </a:solidFill>
            <a:prstDash val="solid"/>
          </a:ln>
        </p:spPr>
      </p:sp>
      <p:sp>
        <p:nvSpPr>
          <p:cNvPr id="4" name="Text 2"/>
          <p:cNvSpPr txBox="1"/>
          <p:nvPr/>
        </p:nvSpPr>
        <p:spPr>
          <a:xfrm>
            <a:off x="731520" y="1554480"/>
            <a:ext cx="7772400" cy="2011680"/>
          </a:xfrm>
          <a:prstGeom prst="rect">
            <a:avLst/>
          </a:prstGeom>
          <a:noFill/>
          <a:ln/>
        </p:spPr>
        <p:txBody>
          <a:bodyPr wrap="square" lIns="0" tIns="0" rIns="0" bIns="0" rtlCol="0" anchor="ctr"/>
          <a:lstStyle/>
          <a:p>
            <a:pPr indent="0" marL="0">
              <a:buNone/>
            </a:pPr>
            <a:r>
              <a:rPr lang="en-US" sz="15000" b="1" dirty="0">
                <a:solidFill>
                  <a:srgbClr val="0D0D0D"/>
                </a:solidFill>
                <a:latin typeface="Inter" pitchFamily="34" charset="0"/>
                <a:ea typeface="Inter" pitchFamily="34" charset="-122"/>
                <a:cs typeface="Inter" pitchFamily="34" charset="-120"/>
              </a:rPr>
              <a:t>1.79 %</a:t>
            </a:r>
            <a:endParaRPr lang="en-US" sz="15000" dirty="0"/>
          </a:p>
        </p:txBody>
      </p:sp>
      <p:sp>
        <p:nvSpPr>
          <p:cNvPr id="5" name="Text 3"/>
          <p:cNvSpPr txBox="1"/>
          <p:nvPr/>
        </p:nvSpPr>
        <p:spPr>
          <a:xfrm>
            <a:off x="731520" y="3840480"/>
            <a:ext cx="8412480" cy="822960"/>
          </a:xfrm>
          <a:prstGeom prst="rect">
            <a:avLst/>
          </a:prstGeom>
          <a:noFill/>
          <a:ln/>
        </p:spPr>
        <p:txBody>
          <a:bodyPr wrap="square" lIns="0" tIns="0" rIns="0" bIns="0" rtlCol="0" anchor="ctr"/>
          <a:lstStyle/>
          <a:p>
            <a:pPr indent="0" marL="0">
              <a:lnSpc>
                <a:spcPct val="125000"/>
              </a:lnSpc>
              <a:buNone/>
            </a:pPr>
            <a:r>
              <a:rPr lang="en-US" sz="2400" dirty="0">
                <a:solidFill>
                  <a:srgbClr val="0D0D0D"/>
                </a:solidFill>
                <a:latin typeface="Inter" pitchFamily="34" charset="0"/>
                <a:ea typeface="Inter" pitchFamily="34" charset="-122"/>
                <a:cs typeface="Inter" pitchFamily="34" charset="-120"/>
              </a:rPr>
              <a:t>EER on Spanish TTS attacks — from a model that never saw a word of Spanish.</a:t>
            </a:r>
            <a:endParaRPr lang="en-US" sz="2400" dirty="0"/>
          </a:p>
        </p:txBody>
      </p:sp>
      <p:sp>
        <p:nvSpPr>
          <p:cNvPr id="6" name="Text 4"/>
          <p:cNvSpPr txBox="1"/>
          <p:nvPr/>
        </p:nvSpPr>
        <p:spPr>
          <a:xfrm>
            <a:off x="731520" y="4892040"/>
            <a:ext cx="8412480" cy="457200"/>
          </a:xfrm>
          <a:prstGeom prst="rect">
            <a:avLst/>
          </a:prstGeom>
          <a:noFill/>
          <a:ln/>
        </p:spPr>
        <p:txBody>
          <a:bodyPr wrap="square" lIns="0" tIns="0" rIns="0" bIns="0" rtlCol="0" anchor="ctr"/>
          <a:lstStyle/>
          <a:p>
            <a:pPr indent="0" marL="0">
              <a:buNone/>
            </a:pPr>
            <a:r>
              <a:rPr lang="en-US" sz="1400" dirty="0">
                <a:solidFill>
                  <a:srgbClr val="8C8C8C"/>
                </a:solidFill>
                <a:latin typeface="Inter" pitchFamily="34" charset="0"/>
                <a:ea typeface="Inter" pitchFamily="34" charset="-122"/>
                <a:cs typeface="Inter" pitchFamily="34" charset="-120"/>
              </a:rPr>
              <a:t>The same model scores 43–66 % on voice conversion. That gap is the paper.</a:t>
            </a:r>
            <a:endParaRPr lang="en-US" sz="1400" dirty="0"/>
          </a:p>
        </p:txBody>
      </p:sp>
      <p:pic>
        <p:nvPicPr>
          <p:cNvPr id="7"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8" name="Text 5"/>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9" name="Text 6"/>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BLOCK 04 · WHAT SURVIVES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Accent barely moves it.</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Gender does.</a:t>
            </a:r>
            <a:endParaRPr lang="en-US" sz="4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2194560"/>
          <a:ext cx="6675120" cy="914400"/>
        </p:xfrm>
        <a:graphic>
          <a:graphicData uri="http://schemas.openxmlformats.org/drawingml/2006/table">
            <a:tbl>
              <a:tblPr/>
              <a:tblGrid>
                <a:gridCol w="2286000"/>
                <a:gridCol w="1463040"/>
                <a:gridCol w="1463040"/>
                <a:gridCol w="1463040"/>
              </a:tblGrid>
              <a:tr h="384048">
                <a:tc>
                  <a:txBody>
                    <a:bodyPr/>
                    <a:lstStyle/>
                    <a:p>
                      <a:pPr algn="l" indent="0" marL="0">
                        <a:buNone/>
                      </a:pPr>
                      <a:r>
                        <a:rPr lang="en-US" sz="1200" b="1" dirty="0">
                          <a:solidFill>
                            <a:srgbClr val="0D0D0D"/>
                          </a:solidFill>
                          <a:latin typeface="Inter" pitchFamily="34" charset="0"/>
                          <a:ea typeface="Inter" pitchFamily="34" charset="-122"/>
                          <a:cs typeface="Inter" pitchFamily="34" charset="-120"/>
                        </a:rPr>
                        <a:t>Country</a:t>
                      </a:r>
                      <a:endParaRPr lang="en-US" sz="12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D0D0D"/>
                          </a:solidFill>
                          <a:latin typeface="Inter" pitchFamily="34" charset="0"/>
                          <a:ea typeface="Inter" pitchFamily="34" charset="-122"/>
                          <a:cs typeface="Inter" pitchFamily="34" charset="-120"/>
                        </a:rPr>
                        <a:t>Overall</a:t>
                      </a:r>
                      <a:endParaRPr lang="en-US" sz="12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D0D0D"/>
                          </a:solidFill>
                          <a:latin typeface="Inter" pitchFamily="34" charset="0"/>
                          <a:ea typeface="Inter" pitchFamily="34" charset="-122"/>
                          <a:cs typeface="Inter" pitchFamily="34" charset="-120"/>
                        </a:rPr>
                        <a:t>Female</a:t>
                      </a:r>
                      <a:endParaRPr lang="en-US" sz="12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D0D0D"/>
                          </a:solidFill>
                          <a:latin typeface="Inter" pitchFamily="34" charset="0"/>
                          <a:ea typeface="Inter" pitchFamily="34" charset="-122"/>
                          <a:cs typeface="Inter" pitchFamily="34" charset="-120"/>
                        </a:rPr>
                        <a:t>Male</a:t>
                      </a:r>
                      <a:endParaRPr lang="en-US" sz="12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3F3F3F"/>
                          </a:solidFill>
                          <a:latin typeface="Inter" pitchFamily="34" charset="0"/>
                          <a:ea typeface="Inter" pitchFamily="34" charset="-122"/>
                          <a:cs typeface="Inter" pitchFamily="34" charset="-120"/>
                        </a:rPr>
                        <a:t>Chile</a:t>
                      </a:r>
                      <a:endParaRPr lang="en-US" sz="13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0.032</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0.059</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0.005</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3F3F3F"/>
                          </a:solidFill>
                          <a:latin typeface="Inter" pitchFamily="34" charset="0"/>
                          <a:ea typeface="Inter" pitchFamily="34" charset="-122"/>
                          <a:cs typeface="Inter" pitchFamily="34" charset="-120"/>
                        </a:rPr>
                        <a:t>Peru</a:t>
                      </a:r>
                      <a:endParaRPr lang="en-US" sz="13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0.053</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0.085</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0.021</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3F3F3F"/>
                          </a:solidFill>
                          <a:latin typeface="Inter" pitchFamily="34" charset="0"/>
                          <a:ea typeface="Inter" pitchFamily="34" charset="-122"/>
                          <a:cs typeface="Inter" pitchFamily="34" charset="-120"/>
                        </a:rPr>
                        <a:t>Argentina</a:t>
                      </a:r>
                      <a:endParaRPr lang="en-US" sz="13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0.140</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0.177</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0.103</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3F3F3F"/>
                          </a:solidFill>
                          <a:latin typeface="Inter" pitchFamily="34" charset="0"/>
                          <a:ea typeface="Inter" pitchFamily="34" charset="-122"/>
                          <a:cs typeface="Inter" pitchFamily="34" charset="-120"/>
                        </a:rPr>
                        <a:t>Venezuela</a:t>
                      </a:r>
                      <a:endParaRPr lang="en-US" sz="13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0.168</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0.065</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D0D0D"/>
                          </a:solidFill>
                          <a:latin typeface="Consolas" pitchFamily="34" charset="0"/>
                          <a:ea typeface="Consolas" pitchFamily="34" charset="-122"/>
                          <a:cs typeface="Consolas" pitchFamily="34" charset="-120"/>
                        </a:rPr>
                        <a:t>0.271</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BCC"/>
                    </a:solidFill>
                  </a:tcPr>
                </a:tc>
              </a:tr>
              <a:tr h="384048">
                <a:tc>
                  <a:txBody>
                    <a:bodyPr/>
                    <a:lstStyle/>
                    <a:p>
                      <a:pPr algn="l" indent="0" marL="0">
                        <a:buNone/>
                      </a:pPr>
                      <a:r>
                        <a:rPr lang="en-US" sz="1300" dirty="0">
                          <a:solidFill>
                            <a:srgbClr val="3F3F3F"/>
                          </a:solidFill>
                          <a:latin typeface="Inter" pitchFamily="34" charset="0"/>
                          <a:ea typeface="Inter" pitchFamily="34" charset="-122"/>
                          <a:cs typeface="Inter" pitchFamily="34" charset="-120"/>
                        </a:rPr>
                        <a:t>Colombia</a:t>
                      </a:r>
                      <a:endParaRPr lang="en-US" sz="1300" dirty="0">
                        <a:latin typeface="Inter" charset="0"/>
                        <a:ea typeface="Inter" charset="0"/>
                        <a:cs typeface="Inter"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0.287</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dirty="0">
                          <a:solidFill>
                            <a:srgbClr val="3F3F3F"/>
                          </a:solidFill>
                          <a:latin typeface="Consolas" pitchFamily="34" charset="0"/>
                          <a:ea typeface="Consolas" pitchFamily="34" charset="-122"/>
                          <a:cs typeface="Consolas" pitchFamily="34" charset="-120"/>
                        </a:rPr>
                        <a:t>0.029</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0D0D0D"/>
                          </a:solidFill>
                          <a:latin typeface="Consolas" pitchFamily="34" charset="0"/>
                          <a:ea typeface="Consolas" pitchFamily="34" charset="-122"/>
                          <a:cs typeface="Consolas" pitchFamily="34" charset="-120"/>
                        </a:rPr>
                        <a:t>0.544</a:t>
                      </a:r>
                      <a:endParaRPr lang="en-US" sz="1300" dirty="0">
                        <a:latin typeface="Consolas" charset="0"/>
                        <a:ea typeface="Consolas" charset="0"/>
                        <a:cs typeface="Consolas" charset="0"/>
                      </a:endParaRPr>
                    </a:p>
                  </a:txBody>
                  <a:tcPr marL="127000" marR="1270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BCC"/>
                    </a:solidFill>
                  </a:tcPr>
                </a:tc>
              </a:tr>
            </a:tbl>
          </a:graphicData>
        </a:graphic>
      </p:graphicFrame>
      <p:sp>
        <p:nvSpPr>
          <p:cNvPr id="5" name="Text 2"/>
          <p:cNvSpPr txBox="1"/>
          <p:nvPr/>
        </p:nvSpPr>
        <p:spPr>
          <a:xfrm>
            <a:off x="7863840" y="2194560"/>
            <a:ext cx="3383280" cy="320040"/>
          </a:xfrm>
          <a:prstGeom prst="rect">
            <a:avLst/>
          </a:prstGeom>
          <a:noFill/>
          <a:ln/>
        </p:spPr>
        <p:txBody>
          <a:bodyPr wrap="square" lIns="0" tIns="0" rIns="0" bIns="0" rtlCol="0" anchor="ctr"/>
          <a:lstStyle/>
          <a:p>
            <a:pPr indent="0" marL="0">
              <a:buNone/>
            </a:pPr>
            <a:r>
              <a:rPr lang="en-US" sz="1200" b="1" spc="120" kern="0" dirty="0">
                <a:solidFill>
                  <a:srgbClr val="8C8C8C"/>
                </a:solidFill>
                <a:latin typeface="Inter" pitchFamily="34" charset="0"/>
                <a:ea typeface="Inter" pitchFamily="34" charset="-122"/>
                <a:cs typeface="Inter" pitchFamily="34" charset="-120"/>
              </a:rPr>
              <a:t>Two things to see</a:t>
            </a:r>
            <a:endParaRPr lang="en-US" sz="1200" dirty="0"/>
          </a:p>
        </p:txBody>
      </p:sp>
      <p:sp>
        <p:nvSpPr>
          <p:cNvPr id="6" name="Shape 3"/>
          <p:cNvSpPr/>
          <p:nvPr/>
        </p:nvSpPr>
        <p:spPr>
          <a:xfrm>
            <a:off x="7863840" y="2770632"/>
            <a:ext cx="100584" cy="100584"/>
          </a:xfrm>
          <a:prstGeom prst="rect">
            <a:avLst/>
          </a:prstGeom>
          <a:solidFill>
            <a:srgbClr val="FFE800"/>
          </a:solidFill>
          <a:ln w="12700">
            <a:solidFill>
              <a:srgbClr val="FFE800"/>
            </a:solidFill>
            <a:prstDash val="solid"/>
          </a:ln>
        </p:spPr>
      </p:sp>
      <p:sp>
        <p:nvSpPr>
          <p:cNvPr id="7" name="Text 4"/>
          <p:cNvSpPr txBox="1"/>
          <p:nvPr/>
        </p:nvSpPr>
        <p:spPr>
          <a:xfrm>
            <a:off x="8119872" y="2697480"/>
            <a:ext cx="3108960" cy="292608"/>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Accent spread</a:t>
            </a:r>
            <a:endParaRPr lang="en-US" sz="1500" dirty="0"/>
          </a:p>
        </p:txBody>
      </p:sp>
      <p:sp>
        <p:nvSpPr>
          <p:cNvPr id="8" name="Text 5"/>
          <p:cNvSpPr txBox="1"/>
          <p:nvPr/>
        </p:nvSpPr>
        <p:spPr>
          <a:xfrm>
            <a:off x="8119872" y="3026664"/>
            <a:ext cx="3108960" cy="731520"/>
          </a:xfrm>
          <a:prstGeom prst="rect">
            <a:avLst/>
          </a:prstGeom>
          <a:noFill/>
          <a:ln/>
        </p:spPr>
        <p:txBody>
          <a:bodyPr wrap="square" lIns="0" tIns="0" rIns="0" bIns="0" rtlCol="0" anchor="ctr"/>
          <a:lstStyle/>
          <a:p>
            <a:pPr indent="0" marL="0">
              <a:lnSpc>
                <a:spcPct val="130000"/>
              </a:lnSpc>
              <a:buNone/>
            </a:pPr>
            <a:r>
              <a:rPr lang="en-US" sz="1250" dirty="0">
                <a:solidFill>
                  <a:srgbClr val="3F3F3F"/>
                </a:solidFill>
                <a:latin typeface="Inter" pitchFamily="34" charset="0"/>
                <a:ea typeface="Inter" pitchFamily="34" charset="-122"/>
                <a:cs typeface="Inter" pitchFamily="34" charset="-120"/>
              </a:rPr>
              <a:t>Below half a percentage point across all five countries.</a:t>
            </a:r>
            <a:endParaRPr lang="en-US" sz="1250" dirty="0"/>
          </a:p>
        </p:txBody>
      </p:sp>
      <p:sp>
        <p:nvSpPr>
          <p:cNvPr id="9" name="Shape 6"/>
          <p:cNvSpPr/>
          <p:nvPr/>
        </p:nvSpPr>
        <p:spPr>
          <a:xfrm>
            <a:off x="7863840" y="4005072"/>
            <a:ext cx="100584" cy="100584"/>
          </a:xfrm>
          <a:prstGeom prst="rect">
            <a:avLst/>
          </a:prstGeom>
          <a:solidFill>
            <a:srgbClr val="FFE800"/>
          </a:solidFill>
          <a:ln w="12700">
            <a:solidFill>
              <a:srgbClr val="FFE800"/>
            </a:solidFill>
            <a:prstDash val="solid"/>
          </a:ln>
        </p:spPr>
      </p:sp>
      <p:sp>
        <p:nvSpPr>
          <p:cNvPr id="10" name="Text 7"/>
          <p:cNvSpPr txBox="1"/>
          <p:nvPr/>
        </p:nvSpPr>
        <p:spPr>
          <a:xfrm>
            <a:off x="8119872" y="3931920"/>
            <a:ext cx="3108960" cy="292608"/>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Gender gap</a:t>
            </a:r>
            <a:endParaRPr lang="en-US" sz="1500" dirty="0"/>
          </a:p>
        </p:txBody>
      </p:sp>
      <p:sp>
        <p:nvSpPr>
          <p:cNvPr id="11" name="Text 8"/>
          <p:cNvSpPr txBox="1"/>
          <p:nvPr/>
        </p:nvSpPr>
        <p:spPr>
          <a:xfrm>
            <a:off x="8119872" y="4261104"/>
            <a:ext cx="3108960" cy="731520"/>
          </a:xfrm>
          <a:prstGeom prst="rect">
            <a:avLst/>
          </a:prstGeom>
          <a:noFill/>
          <a:ln/>
        </p:spPr>
        <p:txBody>
          <a:bodyPr wrap="square" lIns="0" tIns="0" rIns="0" bIns="0" rtlCol="0" anchor="ctr"/>
          <a:lstStyle/>
          <a:p>
            <a:pPr indent="0" marL="0">
              <a:lnSpc>
                <a:spcPct val="130000"/>
              </a:lnSpc>
              <a:buNone/>
            </a:pPr>
            <a:r>
              <a:rPr lang="en-US" sz="1250" dirty="0">
                <a:solidFill>
                  <a:srgbClr val="3F3F3F"/>
                </a:solidFill>
                <a:latin typeface="Inter" pitchFamily="34" charset="0"/>
                <a:ea typeface="Inter" pitchFamily="34" charset="-122"/>
                <a:cs typeface="Inter" pitchFamily="34" charset="-120"/>
              </a:rPr>
              <a:t>Larger — and it reverses direction between countries.</a:t>
            </a:r>
            <a:endParaRPr lang="en-US" sz="1250" dirty="0"/>
          </a:p>
        </p:txBody>
      </p:sp>
      <p:sp>
        <p:nvSpPr>
          <p:cNvPr id="12" name="Text 9"/>
          <p:cNvSpPr txBox="1"/>
          <p:nvPr/>
        </p:nvSpPr>
        <p:spPr>
          <a:xfrm>
            <a:off x="731520" y="4681728"/>
            <a:ext cx="6675120" cy="274320"/>
          </a:xfrm>
          <a:prstGeom prst="rect">
            <a:avLst/>
          </a:prstGeom>
          <a:noFill/>
          <a:ln/>
        </p:spPr>
        <p:txBody>
          <a:bodyPr wrap="square" lIns="0" tIns="0" rIns="0" bIns="0" rtlCol="0" anchor="ctr"/>
          <a:lstStyle/>
          <a:p>
            <a:pPr indent="0" marL="0">
              <a:buNone/>
            </a:pPr>
            <a:r>
              <a:rPr lang="en-US" sz="900" dirty="0">
                <a:solidFill>
                  <a:srgbClr val="BDBDBD"/>
                </a:solidFill>
                <a:latin typeface="Consolas" pitchFamily="34" charset="0"/>
                <a:ea typeface="Consolas" pitchFamily="34" charset="-122"/>
                <a:cs typeface="Consolas" pitchFamily="34" charset="-120"/>
              </a:rPr>
              <a:t>Table 10 · MFCC front-end · combined training</a:t>
            </a:r>
            <a:endParaRPr lang="en-US" sz="900" dirty="0"/>
          </a:p>
        </p:txBody>
      </p:sp>
      <p:sp>
        <p:nvSpPr>
          <p:cNvPr id="13" name="Text 10"/>
          <p:cNvSpPr txBox="1"/>
          <p:nvPr/>
        </p:nvSpPr>
        <p:spPr>
          <a:xfrm>
            <a:off x="731520" y="5440680"/>
            <a:ext cx="10728655" cy="365760"/>
          </a:xfrm>
          <a:prstGeom prst="rect">
            <a:avLst/>
          </a:prstGeom>
          <a:noFill/>
          <a:ln/>
        </p:spPr>
        <p:txBody>
          <a:bodyPr wrap="square" lIns="0" tIns="0" rIns="0" bIns="0" rtlCol="0" anchor="ctr"/>
          <a:lstStyle/>
          <a:p>
            <a:pPr indent="0" marL="0">
              <a:buNone/>
            </a:pPr>
            <a:r>
              <a:rPr lang="en-US" sz="1500" b="1" dirty="0">
                <a:solidFill>
                  <a:srgbClr val="0D0D0D"/>
                </a:solidFill>
                <a:latin typeface="Inter" pitchFamily="34" charset="0"/>
                <a:ea typeface="Inter" pitchFamily="34" charset="-122"/>
                <a:cs typeface="Inter" pitchFamily="34" charset="-120"/>
              </a:rPr>
              <a:t>The paper is titled 'accent-based'. Its answer about accent is: not much.</a:t>
            </a:r>
            <a:endParaRPr lang="en-US" sz="1500" dirty="0"/>
          </a:p>
        </p:txBody>
      </p:sp>
      <p:pic>
        <p:nvPicPr>
          <p:cNvPr id="14"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15" name="Text 11"/>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6" name="Text 12"/>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YOUR TURN · 60 SECONDS</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4000" b="1" dirty="0">
                <a:solidFill>
                  <a:srgbClr val="0D0D0D"/>
                </a:solidFill>
                <a:latin typeface="Inter" pitchFamily="34" charset="0"/>
                <a:ea typeface="Inter" pitchFamily="34" charset="-122"/>
                <a:cs typeface="Inter" pitchFamily="34" charset="-120"/>
              </a:rPr>
              <a:t>One of these is me.</a:t>
            </a:r>
            <a:pPr indent="0" marL="0">
              <a:lnSpc>
                <a:spcPct val="100000"/>
              </a:lnSpc>
              <a:buNone/>
            </a:pPr>
            <a:r>
              <a:rPr lang="en-US" sz="4000" b="1" dirty="0">
                <a:solidFill>
                  <a:srgbClr val="BDBDBD"/>
                </a:solidFill>
                <a:latin typeface="Inter" pitchFamily="34" charset="0"/>
                <a:ea typeface="Inter" pitchFamily="34" charset="-122"/>
                <a:cs typeface="Inter" pitchFamily="34" charset="-120"/>
              </a:rPr>
              <a:t> Which one?</a:t>
            </a:r>
            <a:endParaRPr lang="en-US" sz="4000" dirty="0"/>
          </a:p>
        </p:txBody>
      </p:sp>
      <p:sp>
        <p:nvSpPr>
          <p:cNvPr id="4" name="Shape 2"/>
          <p:cNvSpPr/>
          <p:nvPr/>
        </p:nvSpPr>
        <p:spPr>
          <a:xfrm>
            <a:off x="731520" y="2240280"/>
            <a:ext cx="5135728" cy="2286000"/>
          </a:xfrm>
          <a:prstGeom prst="roundRect">
            <a:avLst>
              <a:gd name="adj" fmla="val 2400"/>
            </a:avLst>
          </a:prstGeom>
          <a:solidFill>
            <a:srgbClr val="FFFFFF"/>
          </a:solidFill>
          <a:ln w="12700">
            <a:solidFill>
              <a:srgbClr val="0D0D0D"/>
            </a:solidFill>
            <a:prstDash val="solid"/>
          </a:ln>
        </p:spPr>
      </p:sp>
      <p:sp>
        <p:nvSpPr>
          <p:cNvPr id="5" name="Text 3"/>
          <p:cNvSpPr txBox="1"/>
          <p:nvPr/>
        </p:nvSpPr>
        <p:spPr>
          <a:xfrm>
            <a:off x="1188720" y="2560320"/>
            <a:ext cx="914400" cy="731520"/>
          </a:xfrm>
          <a:prstGeom prst="rect">
            <a:avLst/>
          </a:prstGeom>
          <a:noFill/>
          <a:ln/>
        </p:spPr>
        <p:txBody>
          <a:bodyPr wrap="square" lIns="0" tIns="0" rIns="0" bIns="0" rtlCol="0" anchor="ctr"/>
          <a:lstStyle/>
          <a:p>
            <a:pPr indent="0" marL="0">
              <a:buNone/>
            </a:pPr>
            <a:r>
              <a:rPr lang="en-US" sz="4800" b="1" dirty="0">
                <a:solidFill>
                  <a:srgbClr val="0D0D0D"/>
                </a:solidFill>
                <a:latin typeface="Inter" pitchFamily="34" charset="0"/>
                <a:ea typeface="Inter" pitchFamily="34" charset="-122"/>
                <a:cs typeface="Inter" pitchFamily="34" charset="-120"/>
              </a:rPr>
              <a:t>A</a:t>
            </a:r>
            <a:endParaRPr lang="en-US" sz="4800" dirty="0"/>
          </a:p>
        </p:txBody>
      </p:sp>
      <p:sp>
        <p:nvSpPr>
          <p:cNvPr id="6" name="Shape 4"/>
          <p:cNvSpPr/>
          <p:nvPr/>
        </p:nvSpPr>
        <p:spPr>
          <a:xfrm>
            <a:off x="4495648" y="2606040"/>
            <a:ext cx="868680" cy="868680"/>
          </a:xfrm>
          <a:prstGeom prst="ellipse">
            <a:avLst/>
          </a:prstGeom>
          <a:solidFill>
            <a:srgbClr val="FFE800"/>
          </a:solidFill>
          <a:ln w="12700">
            <a:solidFill>
              <a:srgbClr val="FFE800"/>
            </a:solidFill>
            <a:prstDash val="solid"/>
          </a:ln>
        </p:spPr>
      </p:sp>
      <p:sp>
        <p:nvSpPr>
          <p:cNvPr id="7" name="Shape 5"/>
          <p:cNvSpPr/>
          <p:nvPr/>
        </p:nvSpPr>
        <p:spPr>
          <a:xfrm rot="5400000">
            <a:off x="4833976" y="2843784"/>
            <a:ext cx="292608" cy="384048"/>
          </a:xfrm>
          <a:prstGeom prst="triangle">
            <a:avLst/>
          </a:prstGeom>
          <a:solidFill>
            <a:srgbClr val="0D0D0D"/>
          </a:solidFill>
          <a:ln w="12700">
            <a:solidFill>
              <a:srgbClr val="0D0D0D"/>
            </a:solidFill>
            <a:prstDash val="solid"/>
          </a:ln>
        </p:spPr>
      </p:sp>
      <p:sp>
        <p:nvSpPr>
          <p:cNvPr id="8" name="Text 6"/>
          <p:cNvSpPr txBox="1"/>
          <p:nvPr/>
        </p:nvSpPr>
        <p:spPr>
          <a:xfrm>
            <a:off x="1188720" y="3520440"/>
            <a:ext cx="4221328" cy="320040"/>
          </a:xfrm>
          <a:prstGeom prst="rect">
            <a:avLst/>
          </a:prstGeom>
          <a:noFill/>
          <a:ln/>
        </p:spPr>
        <p:txBody>
          <a:bodyPr wrap="square" lIns="0" tIns="0" rIns="0" bIns="0" rtlCol="0" anchor="ctr"/>
          <a:lstStyle/>
          <a:p>
            <a:pPr indent="0" marL="0">
              <a:buNone/>
            </a:pPr>
            <a:r>
              <a:rPr lang="en-US" sz="1050" dirty="0">
                <a:solidFill>
                  <a:srgbClr val="8C8C8C"/>
                </a:solidFill>
                <a:latin typeface="Consolas" pitchFamily="34" charset="0"/>
                <a:ea typeface="Consolas" pitchFamily="34" charset="-122"/>
                <a:cs typeface="Consolas" pitchFamily="34" charset="-120"/>
              </a:rPr>
              <a:t>[ audio placeholder — embed .wav here ]</a:t>
            </a:r>
            <a:endParaRPr lang="en-US" sz="1050" dirty="0"/>
          </a:p>
        </p:txBody>
      </p:sp>
      <p:sp>
        <p:nvSpPr>
          <p:cNvPr id="9" name="Shape 7"/>
          <p:cNvSpPr/>
          <p:nvPr/>
        </p:nvSpPr>
        <p:spPr>
          <a:xfrm>
            <a:off x="1188720" y="4187952"/>
            <a:ext cx="50292" cy="73152"/>
          </a:xfrm>
          <a:prstGeom prst="rect">
            <a:avLst/>
          </a:prstGeom>
          <a:solidFill>
            <a:srgbClr val="0D0D0D"/>
          </a:solidFill>
          <a:ln w="12700">
            <a:solidFill>
              <a:srgbClr val="FFFFFF"/>
            </a:solidFill>
            <a:prstDash val="solid"/>
          </a:ln>
        </p:spPr>
      </p:sp>
      <p:sp>
        <p:nvSpPr>
          <p:cNvPr id="10" name="Shape 8"/>
          <p:cNvSpPr/>
          <p:nvPr/>
        </p:nvSpPr>
        <p:spPr>
          <a:xfrm>
            <a:off x="1293876" y="4064247"/>
            <a:ext cx="50292" cy="320563"/>
          </a:xfrm>
          <a:prstGeom prst="rect">
            <a:avLst/>
          </a:prstGeom>
          <a:solidFill>
            <a:srgbClr val="BDBDBD"/>
          </a:solidFill>
          <a:ln w="12700">
            <a:solidFill>
              <a:srgbClr val="FFFFFF"/>
            </a:solidFill>
            <a:prstDash val="solid"/>
          </a:ln>
        </p:spPr>
      </p:sp>
      <p:sp>
        <p:nvSpPr>
          <p:cNvPr id="11" name="Shape 9"/>
          <p:cNvSpPr/>
          <p:nvPr/>
        </p:nvSpPr>
        <p:spPr>
          <a:xfrm>
            <a:off x="1399032" y="3998722"/>
            <a:ext cx="50292" cy="451612"/>
          </a:xfrm>
          <a:prstGeom prst="rect">
            <a:avLst/>
          </a:prstGeom>
          <a:solidFill>
            <a:srgbClr val="BDBDBD"/>
          </a:solidFill>
          <a:ln w="12700">
            <a:solidFill>
              <a:srgbClr val="FFFFFF"/>
            </a:solidFill>
            <a:prstDash val="solid"/>
          </a:ln>
        </p:spPr>
      </p:sp>
      <p:sp>
        <p:nvSpPr>
          <p:cNvPr id="12" name="Shape 10"/>
          <p:cNvSpPr/>
          <p:nvPr/>
        </p:nvSpPr>
        <p:spPr>
          <a:xfrm>
            <a:off x="1504188" y="4022195"/>
            <a:ext cx="50292" cy="404666"/>
          </a:xfrm>
          <a:prstGeom prst="rect">
            <a:avLst/>
          </a:prstGeom>
          <a:solidFill>
            <a:srgbClr val="0D0D0D"/>
          </a:solidFill>
          <a:ln w="12700">
            <a:solidFill>
              <a:srgbClr val="FFFFFF"/>
            </a:solidFill>
            <a:prstDash val="solid"/>
          </a:ln>
        </p:spPr>
      </p:sp>
      <p:sp>
        <p:nvSpPr>
          <p:cNvPr id="13" name="Shape 11"/>
          <p:cNvSpPr/>
          <p:nvPr/>
        </p:nvSpPr>
        <p:spPr>
          <a:xfrm>
            <a:off x="1609344" y="4123626"/>
            <a:ext cx="50292" cy="201804"/>
          </a:xfrm>
          <a:prstGeom prst="rect">
            <a:avLst/>
          </a:prstGeom>
          <a:solidFill>
            <a:srgbClr val="BDBDBD"/>
          </a:solidFill>
          <a:ln w="12700">
            <a:solidFill>
              <a:srgbClr val="FFFFFF"/>
            </a:solidFill>
            <a:prstDash val="solid"/>
          </a:ln>
        </p:spPr>
      </p:sp>
      <p:sp>
        <p:nvSpPr>
          <p:cNvPr id="14" name="Shape 12"/>
          <p:cNvSpPr/>
          <p:nvPr/>
        </p:nvSpPr>
        <p:spPr>
          <a:xfrm>
            <a:off x="1714500" y="4120593"/>
            <a:ext cx="50292" cy="207870"/>
          </a:xfrm>
          <a:prstGeom prst="rect">
            <a:avLst/>
          </a:prstGeom>
          <a:solidFill>
            <a:srgbClr val="BDBDBD"/>
          </a:solidFill>
          <a:ln w="12700">
            <a:solidFill>
              <a:srgbClr val="FFFFFF"/>
            </a:solidFill>
            <a:prstDash val="solid"/>
          </a:ln>
        </p:spPr>
      </p:sp>
      <p:sp>
        <p:nvSpPr>
          <p:cNvPr id="15" name="Shape 13"/>
          <p:cNvSpPr/>
          <p:nvPr/>
        </p:nvSpPr>
        <p:spPr>
          <a:xfrm>
            <a:off x="1819656" y="4020589"/>
            <a:ext cx="50292" cy="407879"/>
          </a:xfrm>
          <a:prstGeom prst="rect">
            <a:avLst/>
          </a:prstGeom>
          <a:solidFill>
            <a:srgbClr val="0D0D0D"/>
          </a:solidFill>
          <a:ln w="12700">
            <a:solidFill>
              <a:srgbClr val="FFFFFF"/>
            </a:solidFill>
            <a:prstDash val="solid"/>
          </a:ln>
        </p:spPr>
      </p:sp>
      <p:sp>
        <p:nvSpPr>
          <p:cNvPr id="16" name="Shape 14"/>
          <p:cNvSpPr/>
          <p:nvPr/>
        </p:nvSpPr>
        <p:spPr>
          <a:xfrm>
            <a:off x="1924812" y="3999298"/>
            <a:ext cx="50292" cy="450461"/>
          </a:xfrm>
          <a:prstGeom prst="rect">
            <a:avLst/>
          </a:prstGeom>
          <a:solidFill>
            <a:srgbClr val="BDBDBD"/>
          </a:solidFill>
          <a:ln w="12700">
            <a:solidFill>
              <a:srgbClr val="FFFFFF"/>
            </a:solidFill>
            <a:prstDash val="solid"/>
          </a:ln>
        </p:spPr>
      </p:sp>
      <p:sp>
        <p:nvSpPr>
          <p:cNvPr id="17" name="Shape 15"/>
          <p:cNvSpPr/>
          <p:nvPr/>
        </p:nvSpPr>
        <p:spPr>
          <a:xfrm>
            <a:off x="2029968" y="4066734"/>
            <a:ext cx="50292" cy="315589"/>
          </a:xfrm>
          <a:prstGeom prst="rect">
            <a:avLst/>
          </a:prstGeom>
          <a:solidFill>
            <a:srgbClr val="BDBDBD"/>
          </a:solidFill>
          <a:ln w="12700">
            <a:solidFill>
              <a:srgbClr val="FFFFFF"/>
            </a:solidFill>
            <a:prstDash val="solid"/>
          </a:ln>
        </p:spPr>
      </p:sp>
      <p:sp>
        <p:nvSpPr>
          <p:cNvPr id="18" name="Shape 16"/>
          <p:cNvSpPr/>
          <p:nvPr/>
        </p:nvSpPr>
        <p:spPr>
          <a:xfrm>
            <a:off x="2135124" y="4184723"/>
            <a:ext cx="50292" cy="79609"/>
          </a:xfrm>
          <a:prstGeom prst="rect">
            <a:avLst/>
          </a:prstGeom>
          <a:solidFill>
            <a:srgbClr val="0D0D0D"/>
          </a:solidFill>
          <a:ln w="12700">
            <a:solidFill>
              <a:srgbClr val="FFFFFF"/>
            </a:solidFill>
            <a:prstDash val="solid"/>
          </a:ln>
        </p:spPr>
      </p:sp>
      <p:sp>
        <p:nvSpPr>
          <p:cNvPr id="19" name="Shape 17"/>
          <p:cNvSpPr/>
          <p:nvPr/>
        </p:nvSpPr>
        <p:spPr>
          <a:xfrm>
            <a:off x="2240280" y="4061795"/>
            <a:ext cx="50292" cy="325466"/>
          </a:xfrm>
          <a:prstGeom prst="rect">
            <a:avLst/>
          </a:prstGeom>
          <a:solidFill>
            <a:srgbClr val="BDBDBD"/>
          </a:solidFill>
          <a:ln w="12700">
            <a:solidFill>
              <a:srgbClr val="FFFFFF"/>
            </a:solidFill>
            <a:prstDash val="solid"/>
          </a:ln>
        </p:spPr>
      </p:sp>
      <p:sp>
        <p:nvSpPr>
          <p:cNvPr id="20" name="Shape 18"/>
          <p:cNvSpPr/>
          <p:nvPr/>
        </p:nvSpPr>
        <p:spPr>
          <a:xfrm>
            <a:off x="2345436" y="3998200"/>
            <a:ext cx="50292" cy="452656"/>
          </a:xfrm>
          <a:prstGeom prst="rect">
            <a:avLst/>
          </a:prstGeom>
          <a:solidFill>
            <a:srgbClr val="BDBDBD"/>
          </a:solidFill>
          <a:ln w="12700">
            <a:solidFill>
              <a:srgbClr val="FFFFFF"/>
            </a:solidFill>
            <a:prstDash val="solid"/>
          </a:ln>
        </p:spPr>
      </p:sp>
      <p:sp>
        <p:nvSpPr>
          <p:cNvPr id="21" name="Shape 19"/>
          <p:cNvSpPr/>
          <p:nvPr/>
        </p:nvSpPr>
        <p:spPr>
          <a:xfrm>
            <a:off x="2450592" y="4023848"/>
            <a:ext cx="50292" cy="401359"/>
          </a:xfrm>
          <a:prstGeom prst="rect">
            <a:avLst/>
          </a:prstGeom>
          <a:solidFill>
            <a:srgbClr val="0D0D0D"/>
          </a:solidFill>
          <a:ln w="12700">
            <a:solidFill>
              <a:srgbClr val="FFFFFF"/>
            </a:solidFill>
            <a:prstDash val="solid"/>
          </a:ln>
        </p:spPr>
      </p:sp>
      <p:sp>
        <p:nvSpPr>
          <p:cNvPr id="22" name="Shape 20"/>
          <p:cNvSpPr/>
          <p:nvPr/>
        </p:nvSpPr>
        <p:spPr>
          <a:xfrm>
            <a:off x="2555748" y="4126677"/>
            <a:ext cx="50292" cy="195701"/>
          </a:xfrm>
          <a:prstGeom prst="rect">
            <a:avLst/>
          </a:prstGeom>
          <a:solidFill>
            <a:srgbClr val="BDBDBD"/>
          </a:solidFill>
          <a:ln w="12700">
            <a:solidFill>
              <a:srgbClr val="FFFFFF"/>
            </a:solidFill>
            <a:prstDash val="solid"/>
          </a:ln>
        </p:spPr>
      </p:sp>
      <p:sp>
        <p:nvSpPr>
          <p:cNvPr id="23" name="Shape 21"/>
          <p:cNvSpPr/>
          <p:nvPr/>
        </p:nvSpPr>
        <p:spPr>
          <a:xfrm>
            <a:off x="2660904" y="4117579"/>
            <a:ext cx="50292" cy="213898"/>
          </a:xfrm>
          <a:prstGeom prst="rect">
            <a:avLst/>
          </a:prstGeom>
          <a:solidFill>
            <a:srgbClr val="BDBDBD"/>
          </a:solidFill>
          <a:ln w="12700">
            <a:solidFill>
              <a:srgbClr val="FFFFFF"/>
            </a:solidFill>
            <a:prstDash val="solid"/>
          </a:ln>
        </p:spPr>
      </p:sp>
      <p:sp>
        <p:nvSpPr>
          <p:cNvPr id="24" name="Shape 22"/>
          <p:cNvSpPr/>
          <p:nvPr/>
        </p:nvSpPr>
        <p:spPr>
          <a:xfrm>
            <a:off x="2766060" y="4019029"/>
            <a:ext cx="50292" cy="410997"/>
          </a:xfrm>
          <a:prstGeom prst="rect">
            <a:avLst/>
          </a:prstGeom>
          <a:solidFill>
            <a:srgbClr val="0D0D0D"/>
          </a:solidFill>
          <a:ln w="12700">
            <a:solidFill>
              <a:srgbClr val="FFFFFF"/>
            </a:solidFill>
            <a:prstDash val="solid"/>
          </a:ln>
        </p:spPr>
      </p:sp>
      <p:sp>
        <p:nvSpPr>
          <p:cNvPr id="25" name="Shape 23"/>
          <p:cNvSpPr/>
          <p:nvPr/>
        </p:nvSpPr>
        <p:spPr>
          <a:xfrm>
            <a:off x="2871216" y="3999926"/>
            <a:ext cx="50292" cy="449203"/>
          </a:xfrm>
          <a:prstGeom prst="rect">
            <a:avLst/>
          </a:prstGeom>
          <a:solidFill>
            <a:srgbClr val="BDBDBD"/>
          </a:solidFill>
          <a:ln w="12700">
            <a:solidFill>
              <a:srgbClr val="FFFFFF"/>
            </a:solidFill>
            <a:prstDash val="solid"/>
          </a:ln>
        </p:spPr>
      </p:sp>
      <p:sp>
        <p:nvSpPr>
          <p:cNvPr id="26" name="Shape 24"/>
          <p:cNvSpPr/>
          <p:nvPr/>
        </p:nvSpPr>
        <p:spPr>
          <a:xfrm>
            <a:off x="2976372" y="4069255"/>
            <a:ext cx="50292" cy="310546"/>
          </a:xfrm>
          <a:prstGeom prst="rect">
            <a:avLst/>
          </a:prstGeom>
          <a:solidFill>
            <a:srgbClr val="BDBDBD"/>
          </a:solidFill>
          <a:ln w="12700">
            <a:solidFill>
              <a:srgbClr val="FFFFFF"/>
            </a:solidFill>
            <a:prstDash val="solid"/>
          </a:ln>
        </p:spPr>
      </p:sp>
      <p:sp>
        <p:nvSpPr>
          <p:cNvPr id="27" name="Shape 25"/>
          <p:cNvSpPr/>
          <p:nvPr/>
        </p:nvSpPr>
        <p:spPr>
          <a:xfrm>
            <a:off x="3081528" y="4181496"/>
            <a:ext cx="50292" cy="86065"/>
          </a:xfrm>
          <a:prstGeom prst="rect">
            <a:avLst/>
          </a:prstGeom>
          <a:solidFill>
            <a:srgbClr val="0D0D0D"/>
          </a:solidFill>
          <a:ln w="12700">
            <a:solidFill>
              <a:srgbClr val="FFFFFF"/>
            </a:solidFill>
            <a:prstDash val="solid"/>
          </a:ln>
        </p:spPr>
      </p:sp>
      <p:sp>
        <p:nvSpPr>
          <p:cNvPr id="28" name="Shape 26"/>
          <p:cNvSpPr/>
          <p:nvPr/>
        </p:nvSpPr>
        <p:spPr>
          <a:xfrm>
            <a:off x="3186684" y="4059379"/>
            <a:ext cx="50292" cy="330299"/>
          </a:xfrm>
          <a:prstGeom prst="rect">
            <a:avLst/>
          </a:prstGeom>
          <a:solidFill>
            <a:srgbClr val="BDBDBD"/>
          </a:solidFill>
          <a:ln w="12700">
            <a:solidFill>
              <a:srgbClr val="FFFFFF"/>
            </a:solidFill>
            <a:prstDash val="solid"/>
          </a:ln>
        </p:spPr>
      </p:sp>
      <p:sp>
        <p:nvSpPr>
          <p:cNvPr id="29" name="Shape 27"/>
          <p:cNvSpPr/>
          <p:nvPr/>
        </p:nvSpPr>
        <p:spPr>
          <a:xfrm>
            <a:off x="3291840" y="3997732"/>
            <a:ext cx="50292" cy="453593"/>
          </a:xfrm>
          <a:prstGeom prst="rect">
            <a:avLst/>
          </a:prstGeom>
          <a:solidFill>
            <a:srgbClr val="BDBDBD"/>
          </a:solidFill>
          <a:ln w="12700">
            <a:solidFill>
              <a:srgbClr val="FFFFFF"/>
            </a:solidFill>
            <a:prstDash val="solid"/>
          </a:ln>
        </p:spPr>
      </p:sp>
      <p:sp>
        <p:nvSpPr>
          <p:cNvPr id="30" name="Shape 28"/>
          <p:cNvSpPr/>
          <p:nvPr/>
        </p:nvSpPr>
        <p:spPr>
          <a:xfrm>
            <a:off x="3396996" y="4025548"/>
            <a:ext cx="50292" cy="397959"/>
          </a:xfrm>
          <a:prstGeom prst="rect">
            <a:avLst/>
          </a:prstGeom>
          <a:solidFill>
            <a:srgbClr val="0D0D0D"/>
          </a:solidFill>
          <a:ln w="12700">
            <a:solidFill>
              <a:srgbClr val="FFFFFF"/>
            </a:solidFill>
            <a:prstDash val="solid"/>
          </a:ln>
        </p:spPr>
      </p:sp>
      <p:sp>
        <p:nvSpPr>
          <p:cNvPr id="31" name="Shape 29"/>
          <p:cNvSpPr/>
          <p:nvPr/>
        </p:nvSpPr>
        <p:spPr>
          <a:xfrm>
            <a:off x="3502152" y="4129746"/>
            <a:ext cx="50292" cy="189564"/>
          </a:xfrm>
          <a:prstGeom prst="rect">
            <a:avLst/>
          </a:prstGeom>
          <a:solidFill>
            <a:srgbClr val="BDBDBD"/>
          </a:solidFill>
          <a:ln w="12700">
            <a:solidFill>
              <a:srgbClr val="FFFFFF"/>
            </a:solidFill>
            <a:prstDash val="solid"/>
          </a:ln>
        </p:spPr>
      </p:sp>
      <p:sp>
        <p:nvSpPr>
          <p:cNvPr id="32" name="Shape 30"/>
          <p:cNvSpPr/>
          <p:nvPr/>
        </p:nvSpPr>
        <p:spPr>
          <a:xfrm>
            <a:off x="3607308" y="4114585"/>
            <a:ext cx="50292" cy="219886"/>
          </a:xfrm>
          <a:prstGeom prst="rect">
            <a:avLst/>
          </a:prstGeom>
          <a:solidFill>
            <a:srgbClr val="BDBDBD"/>
          </a:solidFill>
          <a:ln w="12700">
            <a:solidFill>
              <a:srgbClr val="FFFFFF"/>
            </a:solidFill>
            <a:prstDash val="solid"/>
          </a:ln>
        </p:spPr>
      </p:sp>
      <p:sp>
        <p:nvSpPr>
          <p:cNvPr id="33" name="Shape 31"/>
          <p:cNvSpPr/>
          <p:nvPr/>
        </p:nvSpPr>
        <p:spPr>
          <a:xfrm>
            <a:off x="3712464" y="4017518"/>
            <a:ext cx="50292" cy="414020"/>
          </a:xfrm>
          <a:prstGeom prst="rect">
            <a:avLst/>
          </a:prstGeom>
          <a:solidFill>
            <a:srgbClr val="0D0D0D"/>
          </a:solidFill>
          <a:ln w="12700">
            <a:solidFill>
              <a:srgbClr val="FFFFFF"/>
            </a:solidFill>
            <a:prstDash val="solid"/>
          </a:ln>
        </p:spPr>
      </p:sp>
      <p:sp>
        <p:nvSpPr>
          <p:cNvPr id="34" name="Shape 32"/>
          <p:cNvSpPr/>
          <p:nvPr/>
        </p:nvSpPr>
        <p:spPr>
          <a:xfrm>
            <a:off x="3817620" y="4000608"/>
            <a:ext cx="50292" cy="447839"/>
          </a:xfrm>
          <a:prstGeom prst="rect">
            <a:avLst/>
          </a:prstGeom>
          <a:solidFill>
            <a:srgbClr val="BDBDBD"/>
          </a:solidFill>
          <a:ln w="12700">
            <a:solidFill>
              <a:srgbClr val="FFFFFF"/>
            </a:solidFill>
            <a:prstDash val="solid"/>
          </a:ln>
        </p:spPr>
      </p:sp>
      <p:sp>
        <p:nvSpPr>
          <p:cNvPr id="35" name="Shape 33"/>
          <p:cNvSpPr/>
          <p:nvPr/>
        </p:nvSpPr>
        <p:spPr>
          <a:xfrm>
            <a:off x="3922776" y="4071810"/>
            <a:ext cx="50292" cy="305437"/>
          </a:xfrm>
          <a:prstGeom prst="rect">
            <a:avLst/>
          </a:prstGeom>
          <a:solidFill>
            <a:srgbClr val="BDBDBD"/>
          </a:solidFill>
          <a:ln w="12700">
            <a:solidFill>
              <a:srgbClr val="FFFFFF"/>
            </a:solidFill>
            <a:prstDash val="solid"/>
          </a:ln>
        </p:spPr>
      </p:sp>
      <p:sp>
        <p:nvSpPr>
          <p:cNvPr id="36" name="Shape 34"/>
          <p:cNvSpPr/>
          <p:nvPr/>
        </p:nvSpPr>
        <p:spPr>
          <a:xfrm>
            <a:off x="4027932" y="4178270"/>
            <a:ext cx="50292" cy="92517"/>
          </a:xfrm>
          <a:prstGeom prst="rect">
            <a:avLst/>
          </a:prstGeom>
          <a:solidFill>
            <a:srgbClr val="0D0D0D"/>
          </a:solidFill>
          <a:ln w="12700">
            <a:solidFill>
              <a:srgbClr val="FFFFFF"/>
            </a:solidFill>
            <a:prstDash val="solid"/>
          </a:ln>
        </p:spPr>
      </p:sp>
      <p:sp>
        <p:nvSpPr>
          <p:cNvPr id="37" name="Shape 35"/>
          <p:cNvSpPr/>
          <p:nvPr/>
        </p:nvSpPr>
        <p:spPr>
          <a:xfrm>
            <a:off x="4133088" y="4056999"/>
            <a:ext cx="50292" cy="335059"/>
          </a:xfrm>
          <a:prstGeom prst="rect">
            <a:avLst/>
          </a:prstGeom>
          <a:solidFill>
            <a:srgbClr val="BDBDBD"/>
          </a:solidFill>
          <a:ln w="12700">
            <a:solidFill>
              <a:srgbClr val="FFFFFF"/>
            </a:solidFill>
            <a:prstDash val="solid"/>
          </a:ln>
        </p:spPr>
      </p:sp>
      <p:sp>
        <p:nvSpPr>
          <p:cNvPr id="38" name="Shape 36"/>
          <p:cNvSpPr/>
          <p:nvPr/>
        </p:nvSpPr>
        <p:spPr>
          <a:xfrm>
            <a:off x="4238244" y="3997317"/>
            <a:ext cx="50292" cy="454422"/>
          </a:xfrm>
          <a:prstGeom prst="rect">
            <a:avLst/>
          </a:prstGeom>
          <a:solidFill>
            <a:srgbClr val="BDBDBD"/>
          </a:solidFill>
          <a:ln w="12700">
            <a:solidFill>
              <a:srgbClr val="FFFFFF"/>
            </a:solidFill>
            <a:prstDash val="solid"/>
          </a:ln>
        </p:spPr>
      </p:sp>
      <p:sp>
        <p:nvSpPr>
          <p:cNvPr id="39" name="Shape 37"/>
          <p:cNvSpPr/>
          <p:nvPr/>
        </p:nvSpPr>
        <p:spPr>
          <a:xfrm>
            <a:off x="4343400" y="4027294"/>
            <a:ext cx="50292" cy="394468"/>
          </a:xfrm>
          <a:prstGeom prst="rect">
            <a:avLst/>
          </a:prstGeom>
          <a:solidFill>
            <a:srgbClr val="0D0D0D"/>
          </a:solidFill>
          <a:ln w="12700">
            <a:solidFill>
              <a:srgbClr val="FFFFFF"/>
            </a:solidFill>
            <a:prstDash val="solid"/>
          </a:ln>
        </p:spPr>
      </p:sp>
      <p:sp>
        <p:nvSpPr>
          <p:cNvPr id="40" name="Shape 38"/>
          <p:cNvSpPr/>
          <p:nvPr/>
        </p:nvSpPr>
        <p:spPr>
          <a:xfrm>
            <a:off x="4448556" y="4132831"/>
            <a:ext cx="50292" cy="183394"/>
          </a:xfrm>
          <a:prstGeom prst="rect">
            <a:avLst/>
          </a:prstGeom>
          <a:solidFill>
            <a:srgbClr val="BDBDBD"/>
          </a:solidFill>
          <a:ln w="12700">
            <a:solidFill>
              <a:srgbClr val="FFFFFF"/>
            </a:solidFill>
            <a:prstDash val="solid"/>
          </a:ln>
        </p:spPr>
      </p:sp>
      <p:sp>
        <p:nvSpPr>
          <p:cNvPr id="41" name="Shape 39"/>
          <p:cNvSpPr/>
          <p:nvPr/>
        </p:nvSpPr>
        <p:spPr>
          <a:xfrm>
            <a:off x="4553712" y="4111612"/>
            <a:ext cx="50292" cy="225832"/>
          </a:xfrm>
          <a:prstGeom prst="rect">
            <a:avLst/>
          </a:prstGeom>
          <a:solidFill>
            <a:srgbClr val="BDBDBD"/>
          </a:solidFill>
          <a:ln w="12700">
            <a:solidFill>
              <a:srgbClr val="FFFFFF"/>
            </a:solidFill>
            <a:prstDash val="solid"/>
          </a:ln>
        </p:spPr>
      </p:sp>
      <p:sp>
        <p:nvSpPr>
          <p:cNvPr id="42" name="Shape 40"/>
          <p:cNvSpPr/>
          <p:nvPr/>
        </p:nvSpPr>
        <p:spPr>
          <a:xfrm>
            <a:off x="4658868" y="4016055"/>
            <a:ext cx="50292" cy="416947"/>
          </a:xfrm>
          <a:prstGeom prst="rect">
            <a:avLst/>
          </a:prstGeom>
          <a:solidFill>
            <a:srgbClr val="0D0D0D"/>
          </a:solidFill>
          <a:ln w="12700">
            <a:solidFill>
              <a:srgbClr val="FFFFFF"/>
            </a:solidFill>
            <a:prstDash val="solid"/>
          </a:ln>
        </p:spPr>
      </p:sp>
      <p:sp>
        <p:nvSpPr>
          <p:cNvPr id="43" name="Shape 41"/>
          <p:cNvSpPr/>
          <p:nvPr/>
        </p:nvSpPr>
        <p:spPr>
          <a:xfrm>
            <a:off x="6324448" y="2240280"/>
            <a:ext cx="5135728" cy="2286000"/>
          </a:xfrm>
          <a:prstGeom prst="roundRect">
            <a:avLst>
              <a:gd name="adj" fmla="val 2400"/>
            </a:avLst>
          </a:prstGeom>
          <a:solidFill>
            <a:srgbClr val="FFFFFF"/>
          </a:solidFill>
          <a:ln w="12700">
            <a:solidFill>
              <a:srgbClr val="0D0D0D"/>
            </a:solidFill>
            <a:prstDash val="solid"/>
          </a:ln>
        </p:spPr>
      </p:sp>
      <p:sp>
        <p:nvSpPr>
          <p:cNvPr id="44" name="Text 42"/>
          <p:cNvSpPr txBox="1"/>
          <p:nvPr/>
        </p:nvSpPr>
        <p:spPr>
          <a:xfrm>
            <a:off x="6781648" y="2560320"/>
            <a:ext cx="914400" cy="731520"/>
          </a:xfrm>
          <a:prstGeom prst="rect">
            <a:avLst/>
          </a:prstGeom>
          <a:noFill/>
          <a:ln/>
        </p:spPr>
        <p:txBody>
          <a:bodyPr wrap="square" lIns="0" tIns="0" rIns="0" bIns="0" rtlCol="0" anchor="ctr"/>
          <a:lstStyle/>
          <a:p>
            <a:pPr indent="0" marL="0">
              <a:buNone/>
            </a:pPr>
            <a:r>
              <a:rPr lang="en-US" sz="4800" b="1" dirty="0">
                <a:solidFill>
                  <a:srgbClr val="0D0D0D"/>
                </a:solidFill>
                <a:latin typeface="Inter" pitchFamily="34" charset="0"/>
                <a:ea typeface="Inter" pitchFamily="34" charset="-122"/>
                <a:cs typeface="Inter" pitchFamily="34" charset="-120"/>
              </a:rPr>
              <a:t>B</a:t>
            </a:r>
            <a:endParaRPr lang="en-US" sz="4800" dirty="0"/>
          </a:p>
        </p:txBody>
      </p:sp>
      <p:sp>
        <p:nvSpPr>
          <p:cNvPr id="45" name="Shape 43"/>
          <p:cNvSpPr/>
          <p:nvPr/>
        </p:nvSpPr>
        <p:spPr>
          <a:xfrm>
            <a:off x="10088575" y="2606040"/>
            <a:ext cx="868680" cy="868680"/>
          </a:xfrm>
          <a:prstGeom prst="ellipse">
            <a:avLst/>
          </a:prstGeom>
          <a:solidFill>
            <a:srgbClr val="FFE800"/>
          </a:solidFill>
          <a:ln w="12700">
            <a:solidFill>
              <a:srgbClr val="FFE800"/>
            </a:solidFill>
            <a:prstDash val="solid"/>
          </a:ln>
        </p:spPr>
      </p:sp>
      <p:sp>
        <p:nvSpPr>
          <p:cNvPr id="46" name="Shape 44"/>
          <p:cNvSpPr/>
          <p:nvPr/>
        </p:nvSpPr>
        <p:spPr>
          <a:xfrm rot="5400000">
            <a:off x="10426903" y="2843784"/>
            <a:ext cx="292608" cy="384048"/>
          </a:xfrm>
          <a:prstGeom prst="triangle">
            <a:avLst/>
          </a:prstGeom>
          <a:solidFill>
            <a:srgbClr val="0D0D0D"/>
          </a:solidFill>
          <a:ln w="12700">
            <a:solidFill>
              <a:srgbClr val="0D0D0D"/>
            </a:solidFill>
            <a:prstDash val="solid"/>
          </a:ln>
        </p:spPr>
      </p:sp>
      <p:sp>
        <p:nvSpPr>
          <p:cNvPr id="47" name="Text 45"/>
          <p:cNvSpPr txBox="1"/>
          <p:nvPr/>
        </p:nvSpPr>
        <p:spPr>
          <a:xfrm>
            <a:off x="6781648" y="3520440"/>
            <a:ext cx="4221328" cy="320040"/>
          </a:xfrm>
          <a:prstGeom prst="rect">
            <a:avLst/>
          </a:prstGeom>
          <a:noFill/>
          <a:ln/>
        </p:spPr>
        <p:txBody>
          <a:bodyPr wrap="square" lIns="0" tIns="0" rIns="0" bIns="0" rtlCol="0" anchor="ctr"/>
          <a:lstStyle/>
          <a:p>
            <a:pPr indent="0" marL="0">
              <a:buNone/>
            </a:pPr>
            <a:r>
              <a:rPr lang="en-US" sz="1050" dirty="0">
                <a:solidFill>
                  <a:srgbClr val="8C8C8C"/>
                </a:solidFill>
                <a:latin typeface="Consolas" pitchFamily="34" charset="0"/>
                <a:ea typeface="Consolas" pitchFamily="34" charset="-122"/>
                <a:cs typeface="Consolas" pitchFamily="34" charset="-120"/>
              </a:rPr>
              <a:t>[ audio placeholder — embed .wav here ]</a:t>
            </a:r>
            <a:endParaRPr lang="en-US" sz="1050" dirty="0"/>
          </a:p>
        </p:txBody>
      </p:sp>
      <p:sp>
        <p:nvSpPr>
          <p:cNvPr id="48" name="Shape 46"/>
          <p:cNvSpPr/>
          <p:nvPr/>
        </p:nvSpPr>
        <p:spPr>
          <a:xfrm>
            <a:off x="6781648" y="4026369"/>
            <a:ext cx="50292" cy="396317"/>
          </a:xfrm>
          <a:prstGeom prst="rect">
            <a:avLst/>
          </a:prstGeom>
          <a:solidFill>
            <a:srgbClr val="0D0D0D"/>
          </a:solidFill>
          <a:ln w="12700">
            <a:solidFill>
              <a:srgbClr val="FFFFFF"/>
            </a:solidFill>
            <a:prstDash val="solid"/>
          </a:ln>
        </p:spPr>
      </p:sp>
      <p:sp>
        <p:nvSpPr>
          <p:cNvPr id="49" name="Shape 47"/>
          <p:cNvSpPr/>
          <p:nvPr/>
        </p:nvSpPr>
        <p:spPr>
          <a:xfrm>
            <a:off x="6886804" y="3997529"/>
            <a:ext cx="50292" cy="453999"/>
          </a:xfrm>
          <a:prstGeom prst="rect">
            <a:avLst/>
          </a:prstGeom>
          <a:solidFill>
            <a:srgbClr val="BDBDBD"/>
          </a:solidFill>
          <a:ln w="12700">
            <a:solidFill>
              <a:srgbClr val="FFFFFF"/>
            </a:solidFill>
            <a:prstDash val="solid"/>
          </a:ln>
        </p:spPr>
      </p:sp>
      <p:sp>
        <p:nvSpPr>
          <p:cNvPr id="50" name="Shape 48"/>
          <p:cNvSpPr/>
          <p:nvPr/>
        </p:nvSpPr>
        <p:spPr>
          <a:xfrm>
            <a:off x="6991960" y="4058247"/>
            <a:ext cx="50292" cy="332562"/>
          </a:xfrm>
          <a:prstGeom prst="rect">
            <a:avLst/>
          </a:prstGeom>
          <a:solidFill>
            <a:srgbClr val="BDBDBD"/>
          </a:solidFill>
          <a:ln w="12700">
            <a:solidFill>
              <a:srgbClr val="FFFFFF"/>
            </a:solidFill>
            <a:prstDash val="solid"/>
          </a:ln>
        </p:spPr>
      </p:sp>
      <p:sp>
        <p:nvSpPr>
          <p:cNvPr id="51" name="Shape 49"/>
          <p:cNvSpPr/>
          <p:nvPr/>
        </p:nvSpPr>
        <p:spPr>
          <a:xfrm>
            <a:off x="7097116" y="4179968"/>
            <a:ext cx="50292" cy="89121"/>
          </a:xfrm>
          <a:prstGeom prst="rect">
            <a:avLst/>
          </a:prstGeom>
          <a:solidFill>
            <a:srgbClr val="0D0D0D"/>
          </a:solidFill>
          <a:ln w="12700">
            <a:solidFill>
              <a:srgbClr val="FFFFFF"/>
            </a:solidFill>
            <a:prstDash val="solid"/>
          </a:ln>
        </p:spPr>
      </p:sp>
      <p:sp>
        <p:nvSpPr>
          <p:cNvPr id="52" name="Shape 50"/>
          <p:cNvSpPr/>
          <p:nvPr/>
        </p:nvSpPr>
        <p:spPr>
          <a:xfrm>
            <a:off x="7202272" y="4070461"/>
            <a:ext cx="50292" cy="308135"/>
          </a:xfrm>
          <a:prstGeom prst="rect">
            <a:avLst/>
          </a:prstGeom>
          <a:solidFill>
            <a:srgbClr val="BDBDBD"/>
          </a:solidFill>
          <a:ln w="12700">
            <a:solidFill>
              <a:srgbClr val="FFFFFF"/>
            </a:solidFill>
            <a:prstDash val="solid"/>
          </a:ln>
        </p:spPr>
      </p:sp>
      <p:sp>
        <p:nvSpPr>
          <p:cNvPr id="53" name="Shape 51"/>
          <p:cNvSpPr/>
          <p:nvPr/>
        </p:nvSpPr>
        <p:spPr>
          <a:xfrm>
            <a:off x="7307428" y="4000243"/>
            <a:ext cx="50292" cy="448570"/>
          </a:xfrm>
          <a:prstGeom prst="rect">
            <a:avLst/>
          </a:prstGeom>
          <a:solidFill>
            <a:srgbClr val="BDBDBD"/>
          </a:solidFill>
          <a:ln w="12700">
            <a:solidFill>
              <a:srgbClr val="FFFFFF"/>
            </a:solidFill>
            <a:prstDash val="solid"/>
          </a:ln>
        </p:spPr>
      </p:sp>
      <p:sp>
        <p:nvSpPr>
          <p:cNvPr id="54" name="Shape 52"/>
          <p:cNvSpPr/>
          <p:nvPr/>
        </p:nvSpPr>
        <p:spPr>
          <a:xfrm>
            <a:off x="7412584" y="4018308"/>
            <a:ext cx="50292" cy="412441"/>
          </a:xfrm>
          <a:prstGeom prst="rect">
            <a:avLst/>
          </a:prstGeom>
          <a:solidFill>
            <a:srgbClr val="0D0D0D"/>
          </a:solidFill>
          <a:ln w="12700">
            <a:solidFill>
              <a:srgbClr val="FFFFFF"/>
            </a:solidFill>
            <a:prstDash val="solid"/>
          </a:ln>
        </p:spPr>
      </p:sp>
      <p:sp>
        <p:nvSpPr>
          <p:cNvPr id="55" name="Shape 53"/>
          <p:cNvSpPr/>
          <p:nvPr/>
        </p:nvSpPr>
        <p:spPr>
          <a:xfrm>
            <a:off x="7517740" y="4116159"/>
            <a:ext cx="50292" cy="216739"/>
          </a:xfrm>
          <a:prstGeom prst="rect">
            <a:avLst/>
          </a:prstGeom>
          <a:solidFill>
            <a:srgbClr val="BDBDBD"/>
          </a:solidFill>
          <a:ln w="12700">
            <a:solidFill>
              <a:srgbClr val="FFFFFF"/>
            </a:solidFill>
            <a:prstDash val="solid"/>
          </a:ln>
        </p:spPr>
      </p:sp>
      <p:sp>
        <p:nvSpPr>
          <p:cNvPr id="56" name="Shape 54"/>
          <p:cNvSpPr/>
          <p:nvPr/>
        </p:nvSpPr>
        <p:spPr>
          <a:xfrm>
            <a:off x="7622896" y="4128129"/>
            <a:ext cx="50292" cy="192799"/>
          </a:xfrm>
          <a:prstGeom prst="rect">
            <a:avLst/>
          </a:prstGeom>
          <a:solidFill>
            <a:srgbClr val="BDBDBD"/>
          </a:solidFill>
          <a:ln w="12700">
            <a:solidFill>
              <a:srgbClr val="FFFFFF"/>
            </a:solidFill>
            <a:prstDash val="solid"/>
          </a:ln>
        </p:spPr>
      </p:sp>
      <p:sp>
        <p:nvSpPr>
          <p:cNvPr id="57" name="Shape 55"/>
          <p:cNvSpPr/>
          <p:nvPr/>
        </p:nvSpPr>
        <p:spPr>
          <a:xfrm>
            <a:off x="7728052" y="4024648"/>
            <a:ext cx="50292" cy="399760"/>
          </a:xfrm>
          <a:prstGeom prst="rect">
            <a:avLst/>
          </a:prstGeom>
          <a:solidFill>
            <a:srgbClr val="0D0D0D"/>
          </a:solidFill>
          <a:ln w="12700">
            <a:solidFill>
              <a:srgbClr val="FFFFFF"/>
            </a:solidFill>
            <a:prstDash val="solid"/>
          </a:ln>
        </p:spPr>
      </p:sp>
      <p:sp>
        <p:nvSpPr>
          <p:cNvPr id="58" name="Shape 56"/>
          <p:cNvSpPr/>
          <p:nvPr/>
        </p:nvSpPr>
        <p:spPr>
          <a:xfrm>
            <a:off x="7833208" y="3997971"/>
            <a:ext cx="50292" cy="453113"/>
          </a:xfrm>
          <a:prstGeom prst="rect">
            <a:avLst/>
          </a:prstGeom>
          <a:solidFill>
            <a:srgbClr val="BDBDBD"/>
          </a:solidFill>
          <a:ln w="12700">
            <a:solidFill>
              <a:srgbClr val="FFFFFF"/>
            </a:solidFill>
            <a:prstDash val="solid"/>
          </a:ln>
        </p:spPr>
      </p:sp>
      <p:sp>
        <p:nvSpPr>
          <p:cNvPr id="59" name="Shape 57"/>
          <p:cNvSpPr/>
          <p:nvPr/>
        </p:nvSpPr>
        <p:spPr>
          <a:xfrm>
            <a:off x="7938364" y="4060646"/>
            <a:ext cx="50292" cy="327764"/>
          </a:xfrm>
          <a:prstGeom prst="rect">
            <a:avLst/>
          </a:prstGeom>
          <a:solidFill>
            <a:srgbClr val="BDBDBD"/>
          </a:solidFill>
          <a:ln w="12700">
            <a:solidFill>
              <a:srgbClr val="FFFFFF"/>
            </a:solidFill>
            <a:prstDash val="solid"/>
          </a:ln>
        </p:spPr>
      </p:sp>
      <p:sp>
        <p:nvSpPr>
          <p:cNvPr id="60" name="Shape 58"/>
          <p:cNvSpPr/>
          <p:nvPr/>
        </p:nvSpPr>
        <p:spPr>
          <a:xfrm>
            <a:off x="8043520" y="4183195"/>
            <a:ext cx="50292" cy="82667"/>
          </a:xfrm>
          <a:prstGeom prst="rect">
            <a:avLst/>
          </a:prstGeom>
          <a:solidFill>
            <a:srgbClr val="0D0D0D"/>
          </a:solidFill>
          <a:ln w="12700">
            <a:solidFill>
              <a:srgbClr val="FFFFFF"/>
            </a:solidFill>
            <a:prstDash val="solid"/>
          </a:ln>
        </p:spPr>
      </p:sp>
      <p:sp>
        <p:nvSpPr>
          <p:cNvPr id="61" name="Shape 59"/>
          <p:cNvSpPr/>
          <p:nvPr/>
        </p:nvSpPr>
        <p:spPr>
          <a:xfrm>
            <a:off x="8148676" y="4067923"/>
            <a:ext cx="50292" cy="313209"/>
          </a:xfrm>
          <a:prstGeom prst="rect">
            <a:avLst/>
          </a:prstGeom>
          <a:solidFill>
            <a:srgbClr val="BDBDBD"/>
          </a:solidFill>
          <a:ln w="12700">
            <a:solidFill>
              <a:srgbClr val="FFFFFF"/>
            </a:solidFill>
            <a:prstDash val="solid"/>
          </a:ln>
        </p:spPr>
      </p:sp>
      <p:sp>
        <p:nvSpPr>
          <p:cNvPr id="62" name="Shape 60"/>
          <p:cNvSpPr/>
          <p:nvPr/>
        </p:nvSpPr>
        <p:spPr>
          <a:xfrm>
            <a:off x="8253832" y="3999589"/>
            <a:ext cx="50292" cy="449879"/>
          </a:xfrm>
          <a:prstGeom prst="rect">
            <a:avLst/>
          </a:prstGeom>
          <a:solidFill>
            <a:srgbClr val="BDBDBD"/>
          </a:solidFill>
          <a:ln w="12700">
            <a:solidFill>
              <a:srgbClr val="FFFFFF"/>
            </a:solidFill>
            <a:prstDash val="solid"/>
          </a:ln>
        </p:spPr>
      </p:sp>
      <p:sp>
        <p:nvSpPr>
          <p:cNvPr id="63" name="Shape 61"/>
          <p:cNvSpPr/>
          <p:nvPr/>
        </p:nvSpPr>
        <p:spPr>
          <a:xfrm>
            <a:off x="8358988" y="4019844"/>
            <a:ext cx="50292" cy="409368"/>
          </a:xfrm>
          <a:prstGeom prst="rect">
            <a:avLst/>
          </a:prstGeom>
          <a:solidFill>
            <a:srgbClr val="0D0D0D"/>
          </a:solidFill>
          <a:ln w="12700">
            <a:solidFill>
              <a:srgbClr val="FFFFFF"/>
            </a:solidFill>
            <a:prstDash val="solid"/>
          </a:ln>
        </p:spPr>
      </p:sp>
      <p:sp>
        <p:nvSpPr>
          <p:cNvPr id="64" name="Shape 62"/>
          <p:cNvSpPr/>
          <p:nvPr/>
        </p:nvSpPr>
        <p:spPr>
          <a:xfrm>
            <a:off x="8464144" y="4119163"/>
            <a:ext cx="50292" cy="210729"/>
          </a:xfrm>
          <a:prstGeom prst="rect">
            <a:avLst/>
          </a:prstGeom>
          <a:solidFill>
            <a:srgbClr val="BDBDBD"/>
          </a:solidFill>
          <a:ln w="12700">
            <a:solidFill>
              <a:srgbClr val="FFFFFF"/>
            </a:solidFill>
            <a:prstDash val="solid"/>
          </a:ln>
        </p:spPr>
      </p:sp>
      <p:sp>
        <p:nvSpPr>
          <p:cNvPr id="65" name="Shape 63"/>
          <p:cNvSpPr/>
          <p:nvPr/>
        </p:nvSpPr>
        <p:spPr>
          <a:xfrm>
            <a:off x="8569300" y="4125069"/>
            <a:ext cx="50292" cy="198918"/>
          </a:xfrm>
          <a:prstGeom prst="rect">
            <a:avLst/>
          </a:prstGeom>
          <a:solidFill>
            <a:srgbClr val="BDBDBD"/>
          </a:solidFill>
          <a:ln w="12700">
            <a:solidFill>
              <a:srgbClr val="FFFFFF"/>
            </a:solidFill>
            <a:prstDash val="solid"/>
          </a:ln>
        </p:spPr>
      </p:sp>
      <p:sp>
        <p:nvSpPr>
          <p:cNvPr id="66" name="Shape 64"/>
          <p:cNvSpPr/>
          <p:nvPr/>
        </p:nvSpPr>
        <p:spPr>
          <a:xfrm>
            <a:off x="8674456" y="4022972"/>
            <a:ext cx="50292" cy="403111"/>
          </a:xfrm>
          <a:prstGeom prst="rect">
            <a:avLst/>
          </a:prstGeom>
          <a:solidFill>
            <a:srgbClr val="0D0D0D"/>
          </a:solidFill>
          <a:ln w="12700">
            <a:solidFill>
              <a:srgbClr val="FFFFFF"/>
            </a:solidFill>
            <a:prstDash val="solid"/>
          </a:ln>
        </p:spPr>
      </p:sp>
      <p:sp>
        <p:nvSpPr>
          <p:cNvPr id="67" name="Shape 65"/>
          <p:cNvSpPr/>
          <p:nvPr/>
        </p:nvSpPr>
        <p:spPr>
          <a:xfrm>
            <a:off x="8779612" y="3998468"/>
            <a:ext cx="50292" cy="452120"/>
          </a:xfrm>
          <a:prstGeom prst="rect">
            <a:avLst/>
          </a:prstGeom>
          <a:solidFill>
            <a:srgbClr val="BDBDBD"/>
          </a:solidFill>
          <a:ln w="12700">
            <a:solidFill>
              <a:srgbClr val="FFFFFF"/>
            </a:solidFill>
            <a:prstDash val="solid"/>
          </a:ln>
        </p:spPr>
      </p:sp>
      <p:sp>
        <p:nvSpPr>
          <p:cNvPr id="68" name="Shape 66"/>
          <p:cNvSpPr/>
          <p:nvPr/>
        </p:nvSpPr>
        <p:spPr>
          <a:xfrm>
            <a:off x="8884768" y="4063081"/>
            <a:ext cx="50292" cy="322894"/>
          </a:xfrm>
          <a:prstGeom prst="rect">
            <a:avLst/>
          </a:prstGeom>
          <a:solidFill>
            <a:srgbClr val="BDBDBD"/>
          </a:solidFill>
          <a:ln w="12700">
            <a:solidFill>
              <a:srgbClr val="FFFFFF"/>
            </a:solidFill>
            <a:prstDash val="solid"/>
          </a:ln>
        </p:spPr>
      </p:sp>
      <p:sp>
        <p:nvSpPr>
          <p:cNvPr id="69" name="Shape 67"/>
          <p:cNvSpPr/>
          <p:nvPr/>
        </p:nvSpPr>
        <p:spPr>
          <a:xfrm>
            <a:off x="8989924" y="4186423"/>
            <a:ext cx="50292" cy="76210"/>
          </a:xfrm>
          <a:prstGeom prst="rect">
            <a:avLst/>
          </a:prstGeom>
          <a:solidFill>
            <a:srgbClr val="0D0D0D"/>
          </a:solidFill>
          <a:ln w="12700">
            <a:solidFill>
              <a:srgbClr val="FFFFFF"/>
            </a:solidFill>
            <a:prstDash val="solid"/>
          </a:ln>
        </p:spPr>
      </p:sp>
      <p:sp>
        <p:nvSpPr>
          <p:cNvPr id="70" name="Shape 68"/>
          <p:cNvSpPr/>
          <p:nvPr/>
        </p:nvSpPr>
        <p:spPr>
          <a:xfrm>
            <a:off x="9095080" y="4065420"/>
            <a:ext cx="50292" cy="318216"/>
          </a:xfrm>
          <a:prstGeom prst="rect">
            <a:avLst/>
          </a:prstGeom>
          <a:solidFill>
            <a:srgbClr val="BDBDBD"/>
          </a:solidFill>
          <a:ln w="12700">
            <a:solidFill>
              <a:srgbClr val="FFFFFF"/>
            </a:solidFill>
            <a:prstDash val="solid"/>
          </a:ln>
        </p:spPr>
      </p:sp>
      <p:sp>
        <p:nvSpPr>
          <p:cNvPr id="71" name="Shape 69"/>
          <p:cNvSpPr/>
          <p:nvPr/>
        </p:nvSpPr>
        <p:spPr>
          <a:xfrm>
            <a:off x="9200236" y="3998988"/>
            <a:ext cx="50292" cy="451080"/>
          </a:xfrm>
          <a:prstGeom prst="rect">
            <a:avLst/>
          </a:prstGeom>
          <a:solidFill>
            <a:srgbClr val="BDBDBD"/>
          </a:solidFill>
          <a:ln w="12700">
            <a:solidFill>
              <a:srgbClr val="FFFFFF"/>
            </a:solidFill>
            <a:prstDash val="solid"/>
          </a:ln>
        </p:spPr>
      </p:sp>
      <p:sp>
        <p:nvSpPr>
          <p:cNvPr id="72" name="Shape 70"/>
          <p:cNvSpPr/>
          <p:nvPr/>
        </p:nvSpPr>
        <p:spPr>
          <a:xfrm>
            <a:off x="9305392" y="4021428"/>
            <a:ext cx="50292" cy="406199"/>
          </a:xfrm>
          <a:prstGeom prst="rect">
            <a:avLst/>
          </a:prstGeom>
          <a:solidFill>
            <a:srgbClr val="0D0D0D"/>
          </a:solidFill>
          <a:ln w="12700">
            <a:solidFill>
              <a:srgbClr val="FFFFFF"/>
            </a:solidFill>
            <a:prstDash val="solid"/>
          </a:ln>
        </p:spPr>
      </p:sp>
      <p:sp>
        <p:nvSpPr>
          <p:cNvPr id="73" name="Shape 71"/>
          <p:cNvSpPr/>
          <p:nvPr/>
        </p:nvSpPr>
        <p:spPr>
          <a:xfrm>
            <a:off x="9410548" y="4122188"/>
            <a:ext cx="50292" cy="204681"/>
          </a:xfrm>
          <a:prstGeom prst="rect">
            <a:avLst/>
          </a:prstGeom>
          <a:solidFill>
            <a:srgbClr val="BDBDBD"/>
          </a:solidFill>
          <a:ln w="12700">
            <a:solidFill>
              <a:srgbClr val="FFFFFF"/>
            </a:solidFill>
            <a:prstDash val="solid"/>
          </a:ln>
        </p:spPr>
      </p:sp>
      <p:sp>
        <p:nvSpPr>
          <p:cNvPr id="74" name="Shape 72"/>
          <p:cNvSpPr/>
          <p:nvPr/>
        </p:nvSpPr>
        <p:spPr>
          <a:xfrm>
            <a:off x="9515704" y="4122027"/>
            <a:ext cx="50292" cy="205001"/>
          </a:xfrm>
          <a:prstGeom prst="rect">
            <a:avLst/>
          </a:prstGeom>
          <a:solidFill>
            <a:srgbClr val="BDBDBD"/>
          </a:solidFill>
          <a:ln w="12700">
            <a:solidFill>
              <a:srgbClr val="FFFFFF"/>
            </a:solidFill>
            <a:prstDash val="solid"/>
          </a:ln>
        </p:spPr>
      </p:sp>
      <p:sp>
        <p:nvSpPr>
          <p:cNvPr id="75" name="Shape 73"/>
          <p:cNvSpPr/>
          <p:nvPr/>
        </p:nvSpPr>
        <p:spPr>
          <a:xfrm>
            <a:off x="9620860" y="4021344"/>
            <a:ext cx="50292" cy="406369"/>
          </a:xfrm>
          <a:prstGeom prst="rect">
            <a:avLst/>
          </a:prstGeom>
          <a:solidFill>
            <a:srgbClr val="0D0D0D"/>
          </a:solidFill>
          <a:ln w="12700">
            <a:solidFill>
              <a:srgbClr val="FFFFFF"/>
            </a:solidFill>
            <a:prstDash val="solid"/>
          </a:ln>
        </p:spPr>
      </p:sp>
      <p:sp>
        <p:nvSpPr>
          <p:cNvPr id="76" name="Shape 74"/>
          <p:cNvSpPr/>
          <p:nvPr/>
        </p:nvSpPr>
        <p:spPr>
          <a:xfrm>
            <a:off x="9726016" y="3999018"/>
            <a:ext cx="50292" cy="451019"/>
          </a:xfrm>
          <a:prstGeom prst="rect">
            <a:avLst/>
          </a:prstGeom>
          <a:solidFill>
            <a:srgbClr val="BDBDBD"/>
          </a:solidFill>
          <a:ln w="12700">
            <a:solidFill>
              <a:srgbClr val="FFFFFF"/>
            </a:solidFill>
            <a:prstDash val="solid"/>
          </a:ln>
        </p:spPr>
      </p:sp>
      <p:sp>
        <p:nvSpPr>
          <p:cNvPr id="77" name="Shape 75"/>
          <p:cNvSpPr/>
          <p:nvPr/>
        </p:nvSpPr>
        <p:spPr>
          <a:xfrm>
            <a:off x="9831172" y="4065552"/>
            <a:ext cx="50292" cy="317953"/>
          </a:xfrm>
          <a:prstGeom prst="rect">
            <a:avLst/>
          </a:prstGeom>
          <a:solidFill>
            <a:srgbClr val="BDBDBD"/>
          </a:solidFill>
          <a:ln w="12700">
            <a:solidFill>
              <a:srgbClr val="FFFFFF"/>
            </a:solidFill>
            <a:prstDash val="solid"/>
          </a:ln>
        </p:spPr>
      </p:sp>
      <p:sp>
        <p:nvSpPr>
          <p:cNvPr id="78" name="Shape 76"/>
          <p:cNvSpPr/>
          <p:nvPr/>
        </p:nvSpPr>
        <p:spPr>
          <a:xfrm>
            <a:off x="9936328" y="4186252"/>
            <a:ext cx="50292" cy="76551"/>
          </a:xfrm>
          <a:prstGeom prst="rect">
            <a:avLst/>
          </a:prstGeom>
          <a:solidFill>
            <a:srgbClr val="0D0D0D"/>
          </a:solidFill>
          <a:ln w="12700">
            <a:solidFill>
              <a:srgbClr val="FFFFFF"/>
            </a:solidFill>
            <a:prstDash val="solid"/>
          </a:ln>
        </p:spPr>
      </p:sp>
      <p:sp>
        <p:nvSpPr>
          <p:cNvPr id="79" name="Shape 77"/>
          <p:cNvSpPr/>
          <p:nvPr/>
        </p:nvSpPr>
        <p:spPr>
          <a:xfrm>
            <a:off x="10041484" y="4062952"/>
            <a:ext cx="50292" cy="323153"/>
          </a:xfrm>
          <a:prstGeom prst="rect">
            <a:avLst/>
          </a:prstGeom>
          <a:solidFill>
            <a:srgbClr val="BDBDBD"/>
          </a:solidFill>
          <a:ln w="12700">
            <a:solidFill>
              <a:srgbClr val="FFFFFF"/>
            </a:solidFill>
            <a:prstDash val="solid"/>
          </a:ln>
        </p:spPr>
      </p:sp>
      <p:sp>
        <p:nvSpPr>
          <p:cNvPr id="80" name="Shape 78"/>
          <p:cNvSpPr/>
          <p:nvPr/>
        </p:nvSpPr>
        <p:spPr>
          <a:xfrm>
            <a:off x="10146640" y="3998441"/>
            <a:ext cx="50292" cy="452175"/>
          </a:xfrm>
          <a:prstGeom prst="rect">
            <a:avLst/>
          </a:prstGeom>
          <a:solidFill>
            <a:srgbClr val="BDBDBD"/>
          </a:solidFill>
          <a:ln w="12700">
            <a:solidFill>
              <a:srgbClr val="FFFFFF"/>
            </a:solidFill>
            <a:prstDash val="solid"/>
          </a:ln>
        </p:spPr>
      </p:sp>
      <p:sp>
        <p:nvSpPr>
          <p:cNvPr id="81" name="Shape 79"/>
          <p:cNvSpPr/>
          <p:nvPr/>
        </p:nvSpPr>
        <p:spPr>
          <a:xfrm>
            <a:off x="10251796" y="4023060"/>
            <a:ext cx="50292" cy="402937"/>
          </a:xfrm>
          <a:prstGeom prst="rect">
            <a:avLst/>
          </a:prstGeom>
          <a:solidFill>
            <a:srgbClr val="0D0D0D"/>
          </a:solidFill>
          <a:ln w="12700">
            <a:solidFill>
              <a:srgbClr val="FFFFFF"/>
            </a:solidFill>
            <a:prstDash val="solid"/>
          </a:ln>
        </p:spPr>
      </p:sp>
      <p:sp>
        <p:nvSpPr>
          <p:cNvPr id="82" name="Text 80"/>
          <p:cNvSpPr txBox="1"/>
          <p:nvPr/>
        </p:nvSpPr>
        <p:spPr>
          <a:xfrm>
            <a:off x="731520" y="4937760"/>
            <a:ext cx="10728655" cy="411480"/>
          </a:xfrm>
          <a:prstGeom prst="rect">
            <a:avLst/>
          </a:prstGeom>
          <a:noFill/>
          <a:ln/>
        </p:spPr>
        <p:txBody>
          <a:bodyPr wrap="square" lIns="0" tIns="0" rIns="0" bIns="0" rtlCol="0" anchor="ctr"/>
          <a:lstStyle/>
          <a:p>
            <a:pPr algn="ctr" indent="0" marL="0">
              <a:buNone/>
            </a:pPr>
            <a:r>
              <a:rPr lang="en-US" sz="2000" b="1" dirty="0">
                <a:solidFill>
                  <a:srgbClr val="0D0D0D"/>
                </a:solidFill>
                <a:latin typeface="Inter" pitchFamily="34" charset="0"/>
                <a:ea typeface="Inter" pitchFamily="34" charset="-122"/>
                <a:cs typeface="Inter" pitchFamily="34" charset="-120"/>
              </a:rPr>
              <a:t>Hands up for A   ·   hands up for B</a:t>
            </a:r>
            <a:endParaRPr lang="en-US" sz="2000" dirty="0"/>
          </a:p>
        </p:txBody>
      </p:sp>
      <p:sp>
        <p:nvSpPr>
          <p:cNvPr id="83" name="Text 81"/>
          <p:cNvSpPr txBox="1"/>
          <p:nvPr/>
        </p:nvSpPr>
        <p:spPr>
          <a:xfrm>
            <a:off x="731520" y="5394960"/>
            <a:ext cx="10728655" cy="320040"/>
          </a:xfrm>
          <a:prstGeom prst="rect">
            <a:avLst/>
          </a:prstGeom>
          <a:noFill/>
          <a:ln/>
        </p:spPr>
        <p:txBody>
          <a:bodyPr wrap="square" lIns="0" tIns="0" rIns="0" bIns="0" rtlCol="0" anchor="ctr"/>
          <a:lstStyle/>
          <a:p>
            <a:pPr algn="ctr" indent="0" marL="0">
              <a:buNone/>
            </a:pPr>
            <a:r>
              <a:rPr lang="en-US" sz="1200" i="1" dirty="0">
                <a:solidFill>
                  <a:srgbClr val="8C8C8C"/>
                </a:solidFill>
                <a:latin typeface="Inter" pitchFamily="34" charset="0"/>
                <a:ea typeface="Inter" pitchFamily="34" charset="-122"/>
                <a:cs typeface="Inter" pitchFamily="34" charset="-120"/>
              </a:rPr>
              <a:t>Then tell them the answer on the next slide — not this one.</a:t>
            </a:r>
            <a:endParaRPr lang="en-US" sz="1200" dirty="0"/>
          </a:p>
        </p:txBody>
      </p:sp>
      <p:pic>
        <p:nvPicPr>
          <p:cNvPr id="84"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85" name="Text 82"/>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86" name="Text 83"/>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IF YOU REMEMBER ONE THING</a:t>
            </a:r>
            <a:endParaRPr lang="en-US" sz="1000" dirty="0"/>
          </a:p>
        </p:txBody>
      </p:sp>
      <p:sp>
        <p:nvSpPr>
          <p:cNvPr id="3" name="Text 1"/>
          <p:cNvSpPr txBox="1"/>
          <p:nvPr/>
        </p:nvSpPr>
        <p:spPr>
          <a:xfrm>
            <a:off x="731520" y="2148840"/>
            <a:ext cx="10424160" cy="685800"/>
          </a:xfrm>
          <a:prstGeom prst="rect">
            <a:avLst/>
          </a:prstGeom>
          <a:noFill/>
          <a:ln/>
        </p:spPr>
        <p:txBody>
          <a:bodyPr wrap="square" lIns="0" tIns="0" rIns="0" bIns="0" rtlCol="0" anchor="ctr"/>
          <a:lstStyle/>
          <a:p>
            <a:pPr indent="0" marL="0">
              <a:buNone/>
            </a:pPr>
            <a:r>
              <a:rPr lang="en-US" sz="4000" b="1" dirty="0">
                <a:solidFill>
                  <a:srgbClr val="0D0D0D"/>
                </a:solidFill>
                <a:latin typeface="Inter" pitchFamily="34" charset="0"/>
                <a:ea typeface="Inter" pitchFamily="34" charset="-122"/>
                <a:cs typeface="Inter" pitchFamily="34" charset="-120"/>
              </a:rPr>
              <a:t>The language gap is real.</a:t>
            </a:r>
            <a:endParaRPr lang="en-US" sz="4000" dirty="0"/>
          </a:p>
        </p:txBody>
      </p:sp>
      <p:sp>
        <p:nvSpPr>
          <p:cNvPr id="4" name="Shape 2"/>
          <p:cNvSpPr/>
          <p:nvPr/>
        </p:nvSpPr>
        <p:spPr>
          <a:xfrm>
            <a:off x="685800" y="3044952"/>
            <a:ext cx="6858000" cy="411480"/>
          </a:xfrm>
          <a:prstGeom prst="rect">
            <a:avLst/>
          </a:prstGeom>
          <a:solidFill>
            <a:srgbClr val="FFE800"/>
          </a:solidFill>
          <a:ln w="12700">
            <a:solidFill>
              <a:srgbClr val="FFE800"/>
            </a:solidFill>
            <a:prstDash val="solid"/>
          </a:ln>
        </p:spPr>
      </p:sp>
      <p:sp>
        <p:nvSpPr>
          <p:cNvPr id="5" name="Text 3"/>
          <p:cNvSpPr txBox="1"/>
          <p:nvPr/>
        </p:nvSpPr>
        <p:spPr>
          <a:xfrm>
            <a:off x="731520" y="2834640"/>
            <a:ext cx="10424160" cy="685800"/>
          </a:xfrm>
          <a:prstGeom prst="rect">
            <a:avLst/>
          </a:prstGeom>
          <a:noFill/>
          <a:ln/>
        </p:spPr>
        <p:txBody>
          <a:bodyPr wrap="square" lIns="0" tIns="0" rIns="0" bIns="0" rtlCol="0" anchor="ctr"/>
          <a:lstStyle/>
          <a:p>
            <a:pPr indent="0" marL="0">
              <a:buNone/>
            </a:pPr>
            <a:r>
              <a:rPr lang="en-US" sz="4000" b="1" dirty="0">
                <a:solidFill>
                  <a:srgbClr val="0D0D0D"/>
                </a:solidFill>
                <a:latin typeface="Inter" pitchFamily="34" charset="0"/>
                <a:ea typeface="Inter" pitchFamily="34" charset="-122"/>
                <a:cs typeface="Inter" pitchFamily="34" charset="-120"/>
              </a:rPr>
              <a:t>It lives in voice conversion.</a:t>
            </a:r>
            <a:endParaRPr lang="en-US" sz="4000" dirty="0"/>
          </a:p>
        </p:txBody>
      </p:sp>
      <p:sp>
        <p:nvSpPr>
          <p:cNvPr id="6" name="Text 4"/>
          <p:cNvSpPr txBox="1"/>
          <p:nvPr/>
        </p:nvSpPr>
        <p:spPr>
          <a:xfrm>
            <a:off x="731520" y="3520440"/>
            <a:ext cx="10424160" cy="685800"/>
          </a:xfrm>
          <a:prstGeom prst="rect">
            <a:avLst/>
          </a:prstGeom>
          <a:noFill/>
          <a:ln/>
        </p:spPr>
        <p:txBody>
          <a:bodyPr wrap="square" lIns="0" tIns="0" rIns="0" bIns="0" rtlCol="0" anchor="ctr"/>
          <a:lstStyle/>
          <a:p>
            <a:pPr indent="0" marL="0">
              <a:buNone/>
            </a:pPr>
            <a:r>
              <a:rPr lang="en-US" sz="4000" b="1" dirty="0">
                <a:solidFill>
                  <a:srgbClr val="BDBDBD"/>
                </a:solidFill>
                <a:latin typeface="Inter" pitchFamily="34" charset="0"/>
                <a:ea typeface="Inter" pitchFamily="34" charset="-122"/>
                <a:cs typeface="Inter" pitchFamily="34" charset="-120"/>
              </a:rPr>
              <a:t>One bilingual model closes it.</a:t>
            </a:r>
            <a:endParaRPr lang="en-US" sz="4000" dirty="0"/>
          </a:p>
        </p:txBody>
      </p:sp>
      <p:sp>
        <p:nvSpPr>
          <p:cNvPr id="7" name="Text 5"/>
          <p:cNvSpPr txBox="1"/>
          <p:nvPr/>
        </p:nvSpPr>
        <p:spPr>
          <a:xfrm>
            <a:off x="731520" y="4572000"/>
            <a:ext cx="9601200" cy="731520"/>
          </a:xfrm>
          <a:prstGeom prst="rect">
            <a:avLst/>
          </a:prstGeom>
          <a:noFill/>
          <a:ln/>
        </p:spPr>
        <p:txBody>
          <a:bodyPr wrap="square" lIns="0" tIns="0" rIns="0" bIns="0" rtlCol="0" anchor="ctr"/>
          <a:lstStyle/>
          <a:p>
            <a:pPr indent="0" marL="0">
              <a:lnSpc>
                <a:spcPct val="135000"/>
              </a:lnSpc>
              <a:buNone/>
            </a:pPr>
            <a:r>
              <a:rPr lang="en-US" sz="1500" dirty="0">
                <a:solidFill>
                  <a:srgbClr val="3F3F3F"/>
                </a:solidFill>
                <a:latin typeface="Inter" pitchFamily="34" charset="0"/>
                <a:ea typeface="Inter" pitchFamily="34" charset="-122"/>
                <a:cs typeface="Inter" pitchFamily="34" charset="-120"/>
              </a:rPr>
              <a:t>No architecture escapes the gap — we checked 48. And you do not need one detector per language.</a:t>
            </a:r>
            <a:endParaRPr lang="en-US" sz="1500" dirty="0"/>
          </a:p>
        </p:txBody>
      </p:sp>
      <p:pic>
        <p:nvPicPr>
          <p:cNvPr id="8"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9" name="Text 6"/>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10" name="Text 7"/>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p:bgPr>
    </p:bg>
    <p:spTree>
      <p:nvGrpSpPr>
        <p:cNvPr id="1" name=""/>
        <p:cNvGrpSpPr/>
        <p:nvPr/>
      </p:nvGrpSpPr>
      <p:grpSpPr>
        <a:xfrm>
          <a:off x="0" y="0"/>
          <a:ext cx="0" cy="0"/>
          <a:chOff x="0" y="0"/>
          <a:chExt cx="0" cy="0"/>
        </a:xfrm>
      </p:grpSpPr>
      <p:sp>
        <p:nvSpPr>
          <p:cNvPr id="2" name="Text 0"/>
          <p:cNvSpPr txBox="1"/>
          <p:nvPr/>
        </p:nvSpPr>
        <p:spPr>
          <a:xfrm>
            <a:off x="731520" y="1371600"/>
            <a:ext cx="10728655" cy="320040"/>
          </a:xfrm>
          <a:prstGeom prst="rect">
            <a:avLst/>
          </a:prstGeom>
          <a:noFill/>
          <a:ln/>
        </p:spPr>
        <p:txBody>
          <a:bodyPr wrap="square" lIns="0" tIns="0" rIns="0" bIns="0" rtlCol="0" anchor="ctr"/>
          <a:lstStyle/>
          <a:p>
            <a:pPr indent="0" marL="0">
              <a:buNone/>
            </a:pPr>
            <a:r>
              <a:rPr lang="en-US" sz="1000" b="1" spc="240" kern="0" dirty="0">
                <a:solidFill>
                  <a:srgbClr val="7A7A7A"/>
                </a:solidFill>
                <a:latin typeface="Inter" pitchFamily="34" charset="0"/>
                <a:ea typeface="Inter" pitchFamily="34" charset="-122"/>
                <a:cs typeface="Inter" pitchFamily="34" charset="-120"/>
              </a:rPr>
              <a:t>THANK YOU</a:t>
            </a:r>
            <a:endParaRPr lang="en-US" sz="1000" dirty="0"/>
          </a:p>
        </p:txBody>
      </p:sp>
      <p:sp>
        <p:nvSpPr>
          <p:cNvPr id="3" name="Text 1"/>
          <p:cNvSpPr txBox="1"/>
          <p:nvPr/>
        </p:nvSpPr>
        <p:spPr>
          <a:xfrm>
            <a:off x="731520" y="1828800"/>
            <a:ext cx="7315200" cy="1645920"/>
          </a:xfrm>
          <a:prstGeom prst="rect">
            <a:avLst/>
          </a:prstGeom>
          <a:noFill/>
          <a:ln/>
        </p:spPr>
        <p:txBody>
          <a:bodyPr wrap="square" lIns="0" tIns="0" rIns="0" bIns="0" rtlCol="0" anchor="ctr"/>
          <a:lstStyle/>
          <a:p>
            <a:pPr indent="0" marL="0">
              <a:lnSpc>
                <a:spcPct val="110000"/>
              </a:lnSpc>
              <a:buNone/>
            </a:pPr>
            <a:r>
              <a:rPr lang="en-US" sz="4600" b="1" dirty="0">
                <a:solidFill>
                  <a:srgbClr val="FFFFFF"/>
                </a:solidFill>
                <a:latin typeface="Inter" pitchFamily="34" charset="0"/>
                <a:ea typeface="Inter" pitchFamily="34" charset="-122"/>
                <a:cs typeface="Inter" pitchFamily="34" charset="-120"/>
              </a:rPr>
              <a:t>Questions</a:t>
            </a:r>
            <a:pPr indent="0" marL="0">
              <a:lnSpc>
                <a:spcPct val="110000"/>
              </a:lnSpc>
              <a:buNone/>
            </a:pPr>
            <a:r>
              <a:rPr lang="en-US" sz="4600" b="1" dirty="0">
                <a:solidFill>
                  <a:srgbClr val="FFE800"/>
                </a:solidFill>
                <a:latin typeface="Inter" pitchFamily="34" charset="0"/>
                <a:ea typeface="Inter" pitchFamily="34" charset="-122"/>
                <a:cs typeface="Inter" pitchFamily="34" charset="-120"/>
              </a:rPr>
              <a:t> —</a:t>
            </a:r>
            <a:endParaRPr lang="en-US" sz="4600" dirty="0"/>
          </a:p>
          <a:p>
            <a:pPr indent="0" marL="0">
              <a:lnSpc>
                <a:spcPct val="110000"/>
              </a:lnSpc>
              <a:buNone/>
            </a:pPr>
            <a:r>
              <a:rPr lang="en-US" sz="4600" b="1" dirty="0">
                <a:solidFill>
                  <a:srgbClr val="FFE800"/>
                </a:solidFill>
                <a:latin typeface="Inter" pitchFamily="34" charset="0"/>
                <a:ea typeface="Inter" pitchFamily="34" charset="-122"/>
                <a:cs typeface="Inter" pitchFamily="34" charset="-120"/>
              </a:rPr>
              <a:t>and what comes next</a:t>
            </a:r>
            <a:endParaRPr lang="en-US" sz="4600" dirty="0"/>
          </a:p>
        </p:txBody>
      </p:sp>
      <p:sp>
        <p:nvSpPr>
          <p:cNvPr id="4" name="Text 2"/>
          <p:cNvSpPr txBox="1"/>
          <p:nvPr/>
        </p:nvSpPr>
        <p:spPr>
          <a:xfrm>
            <a:off x="731520" y="3794760"/>
            <a:ext cx="6766560" cy="1097280"/>
          </a:xfrm>
          <a:prstGeom prst="rect">
            <a:avLst/>
          </a:prstGeom>
          <a:noFill/>
          <a:ln/>
        </p:spPr>
        <p:txBody>
          <a:bodyPr wrap="square" lIns="0" tIns="0" rIns="0" bIns="0" rtlCol="0" anchor="ctr"/>
          <a:lstStyle/>
          <a:p>
            <a:pPr indent="0" marL="0">
              <a:lnSpc>
                <a:spcPct val="135000"/>
              </a:lnSpc>
              <a:buNone/>
            </a:pPr>
            <a:r>
              <a:rPr lang="en-US" sz="1400" dirty="0">
                <a:solidFill>
                  <a:srgbClr val="9A9A9A"/>
                </a:solidFill>
                <a:latin typeface="Inter" pitchFamily="34" charset="0"/>
                <a:ea typeface="Inter" pitchFamily="34" charset="-122"/>
                <a:cs typeface="Inter" pitchFamily="34" charset="-120"/>
              </a:rPr>
              <a:t>MARSA — a multi-accent Spanish corpus with six TTS systems, a partial-spoof tier, and an acoustic augmentation layer. Frame-level scoring, because utterance-level EER cannot express it.</a:t>
            </a:r>
            <a:endParaRPr lang="en-US" sz="1400" dirty="0"/>
          </a:p>
        </p:txBody>
      </p:sp>
      <p:sp>
        <p:nvSpPr>
          <p:cNvPr id="5" name="Shape 3"/>
          <p:cNvSpPr/>
          <p:nvPr/>
        </p:nvSpPr>
        <p:spPr>
          <a:xfrm>
            <a:off x="731520" y="5120640"/>
            <a:ext cx="6766560" cy="0"/>
          </a:xfrm>
          <a:prstGeom prst="line">
            <a:avLst/>
          </a:prstGeom>
          <a:noFill/>
          <a:ln w="12700">
            <a:solidFill>
              <a:srgbClr val="2E2E2E"/>
            </a:solidFill>
            <a:prstDash val="solid"/>
          </a:ln>
        </p:spPr>
      </p:sp>
      <p:sp>
        <p:nvSpPr>
          <p:cNvPr id="6" name="Text 4"/>
          <p:cNvSpPr txBox="1"/>
          <p:nvPr/>
        </p:nvSpPr>
        <p:spPr>
          <a:xfrm>
            <a:off x="731520" y="5303520"/>
            <a:ext cx="7772400" cy="320040"/>
          </a:xfrm>
          <a:prstGeom prst="rect">
            <a:avLst/>
          </a:prstGeom>
          <a:noFill/>
          <a:ln/>
        </p:spPr>
        <p:txBody>
          <a:bodyPr wrap="square" lIns="0" tIns="0" rIns="0" bIns="0" rtlCol="0" anchor="ctr"/>
          <a:lstStyle/>
          <a:p>
            <a:pPr indent="0" marL="0">
              <a:buNone/>
            </a:pPr>
            <a:r>
              <a:rPr lang="en-US" sz="1200" b="1" dirty="0">
                <a:solidFill>
                  <a:srgbClr val="FFFFFF"/>
                </a:solidFill>
                <a:latin typeface="Inter" pitchFamily="34" charset="0"/>
                <a:ea typeface="Inter" pitchFamily="34" charset="-122"/>
                <a:cs typeface="Inter" pitchFamily="34" charset="-120"/>
              </a:rPr>
              <a:t>Tomás Acosta Bernal</a:t>
            </a:r>
            <a:pPr indent="0" marL="0">
              <a:buNone/>
            </a:pPr>
            <a:r>
              <a:rPr lang="en-US" sz="1200" dirty="0">
                <a:solidFill>
                  <a:srgbClr val="8A8A8A"/>
                </a:solidFill>
                <a:latin typeface="Inter" pitchFamily="34" charset="0"/>
                <a:ea typeface="Inter" pitchFamily="34" charset="-122"/>
                <a:cs typeface="Inter" pitchFamily="34" charset="-120"/>
              </a:rPr>
              <a:t>   ·   t.acosta@uniandes.edu.co   ·   FLAG Lab, Universidad de los Andes</a:t>
            </a:r>
            <a:endParaRPr lang="en-US" sz="1200" dirty="0"/>
          </a:p>
        </p:txBody>
      </p:sp>
      <p:sp>
        <p:nvSpPr>
          <p:cNvPr id="7" name="Shape 5"/>
          <p:cNvSpPr/>
          <p:nvPr/>
        </p:nvSpPr>
        <p:spPr>
          <a:xfrm>
            <a:off x="9448495" y="2194560"/>
            <a:ext cx="2011680" cy="2011680"/>
          </a:xfrm>
          <a:prstGeom prst="rect">
            <a:avLst/>
          </a:prstGeom>
          <a:solidFill>
            <a:srgbClr val="151515"/>
          </a:solidFill>
          <a:ln w="12700">
            <a:solidFill>
              <a:srgbClr val="3A3A3A"/>
            </a:solidFill>
            <a:prstDash val="dash"/>
          </a:ln>
        </p:spPr>
      </p:sp>
      <p:sp>
        <p:nvSpPr>
          <p:cNvPr id="8" name="Text 6"/>
          <p:cNvSpPr txBox="1"/>
          <p:nvPr/>
        </p:nvSpPr>
        <p:spPr>
          <a:xfrm>
            <a:off x="9448495" y="2194560"/>
            <a:ext cx="2011680" cy="2011680"/>
          </a:xfrm>
          <a:prstGeom prst="rect">
            <a:avLst/>
          </a:prstGeom>
          <a:noFill/>
          <a:ln/>
        </p:spPr>
        <p:txBody>
          <a:bodyPr wrap="square" lIns="0" tIns="0" rIns="0" bIns="0" rtlCol="0" anchor="ctr"/>
          <a:lstStyle/>
          <a:p>
            <a:pPr algn="ctr" indent="0" marL="0">
              <a:buNone/>
            </a:pPr>
            <a:r>
              <a:rPr lang="en-US" sz="900" b="1" spc="120" kern="0" dirty="0">
                <a:solidFill>
                  <a:srgbClr val="6E6E6E"/>
                </a:solidFill>
                <a:latin typeface="Inter" pitchFamily="34" charset="0"/>
                <a:ea typeface="Inter" pitchFamily="34" charset="-122"/>
                <a:cs typeface="Inter" pitchFamily="34" charset="-120"/>
              </a:rPr>
              <a:t>QR</a:t>
            </a:r>
            <a:endParaRPr lang="en-US" sz="900" dirty="0"/>
          </a:p>
          <a:p>
            <a:pPr algn="ctr" indent="0" marL="0">
              <a:buNone/>
            </a:pPr>
            <a:r>
              <a:rPr lang="en-US" sz="900" b="1" spc="120" kern="0" dirty="0">
                <a:solidFill>
                  <a:srgbClr val="6E6E6E"/>
                </a:solidFill>
                <a:latin typeface="Inter" pitchFamily="34" charset="0"/>
                <a:ea typeface="Inter" pitchFamily="34" charset="-122"/>
                <a:cs typeface="Inter" pitchFamily="34" charset="-120"/>
              </a:rPr>
              <a:t>paper / code</a:t>
            </a:r>
            <a:endParaRPr lang="en-US" sz="900" dirty="0"/>
          </a:p>
        </p:txBody>
      </p:sp>
      <p:pic>
        <p:nvPicPr>
          <p:cNvPr id="9" name="Image 0" descr="/home/claude/logo_neg.png">    </p:cNvPr>
          <p:cNvPicPr>
            <a:picLocks noChangeAspect="1"/>
          </p:cNvPicPr>
          <p:nvPr/>
        </p:nvPicPr>
        <p:blipFill>
          <a:blip r:embed="rId1"/>
          <a:stretch>
            <a:fillRect/>
          </a:stretch>
        </p:blipFill>
        <p:spPr>
          <a:xfrm>
            <a:off x="9219895" y="4709160"/>
            <a:ext cx="2240280" cy="6720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20624"/>
            <a:ext cx="10728655" cy="237744"/>
          </a:xfrm>
          <a:prstGeom prst="rect">
            <a:avLst/>
          </a:prstGeom>
          <a:noFill/>
          <a:ln/>
        </p:spPr>
        <p:txBody>
          <a:bodyPr wrap="square" lIns="0" tIns="0" rIns="0" bIns="0" rtlCol="0" anchor="ctr"/>
          <a:lstStyle/>
          <a:p>
            <a:pPr indent="0" marL="0">
              <a:buNone/>
            </a:pPr>
            <a:r>
              <a:rPr lang="en-US" sz="1000" b="1" spc="220" kern="0" dirty="0">
                <a:solidFill>
                  <a:srgbClr val="8C8C8C"/>
                </a:solidFill>
                <a:latin typeface="Inter" pitchFamily="34" charset="0"/>
                <a:ea typeface="Inter" pitchFamily="34" charset="-122"/>
                <a:cs typeface="Inter" pitchFamily="34" charset="-120"/>
              </a:rPr>
              <a:t>INTERNAL REFERENCE · DO NOT PRESENT</a:t>
            </a:r>
            <a:endParaRPr lang="en-US" sz="1000" dirty="0"/>
          </a:p>
        </p:txBody>
      </p:sp>
      <p:sp>
        <p:nvSpPr>
          <p:cNvPr id="3" name="Text 1"/>
          <p:cNvSpPr txBox="1"/>
          <p:nvPr/>
        </p:nvSpPr>
        <p:spPr>
          <a:xfrm>
            <a:off x="731520" y="749808"/>
            <a:ext cx="10728655" cy="868680"/>
          </a:xfrm>
          <a:prstGeom prst="rect">
            <a:avLst/>
          </a:prstGeom>
          <a:noFill/>
          <a:ln/>
        </p:spPr>
        <p:txBody>
          <a:bodyPr wrap="square" lIns="0" tIns="0" rIns="0" bIns="0" rtlCol="0" anchor="t"/>
          <a:lstStyle/>
          <a:p>
            <a:pPr indent="0" marL="0">
              <a:lnSpc>
                <a:spcPct val="100000"/>
              </a:lnSpc>
              <a:buNone/>
            </a:pPr>
            <a:r>
              <a:rPr lang="en-US" sz="3400" b="1" dirty="0">
                <a:solidFill>
                  <a:srgbClr val="0D0D0D"/>
                </a:solidFill>
                <a:latin typeface="Inter" pitchFamily="34" charset="0"/>
                <a:ea typeface="Inter" pitchFamily="34" charset="-122"/>
                <a:cs typeface="Inter" pitchFamily="34" charset="-120"/>
              </a:rPr>
              <a:t>The system</a:t>
            </a:r>
            <a:pPr indent="0" marL="0">
              <a:lnSpc>
                <a:spcPct val="100000"/>
              </a:lnSpc>
              <a:buNone/>
            </a:pPr>
            <a:r>
              <a:rPr lang="en-US" sz="3400" b="1" dirty="0">
                <a:solidFill>
                  <a:srgbClr val="BDBDBD"/>
                </a:solidFill>
                <a:latin typeface="Inter" pitchFamily="34" charset="0"/>
                <a:ea typeface="Inter" pitchFamily="34" charset="-122"/>
                <a:cs typeface="Inter" pitchFamily="34" charset="-120"/>
              </a:rPr>
              <a:t> in one page</a:t>
            </a:r>
            <a:endParaRPr lang="en-US" sz="3400" dirty="0"/>
          </a:p>
        </p:txBody>
      </p:sp>
      <p:sp>
        <p:nvSpPr>
          <p:cNvPr id="4" name="Shape 2"/>
          <p:cNvSpPr/>
          <p:nvPr/>
        </p:nvSpPr>
        <p:spPr>
          <a:xfrm>
            <a:off x="731520" y="1965960"/>
            <a:ext cx="1298448" cy="914400"/>
          </a:xfrm>
          <a:prstGeom prst="roundRect">
            <a:avLst>
              <a:gd name="adj" fmla="val 5000"/>
            </a:avLst>
          </a:prstGeom>
          <a:solidFill>
            <a:srgbClr val="0D0D0D"/>
          </a:solidFill>
          <a:ln w="12700">
            <a:solidFill>
              <a:srgbClr val="E6E6E6"/>
            </a:solidFill>
            <a:prstDash val="solid"/>
          </a:ln>
        </p:spPr>
      </p:sp>
      <p:sp>
        <p:nvSpPr>
          <p:cNvPr id="5" name="Text 3"/>
          <p:cNvSpPr txBox="1"/>
          <p:nvPr/>
        </p:nvSpPr>
        <p:spPr>
          <a:xfrm>
            <a:off x="731520"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Ink</a:t>
            </a:r>
            <a:endParaRPr lang="en-US" sz="1100" dirty="0"/>
          </a:p>
        </p:txBody>
      </p:sp>
      <p:sp>
        <p:nvSpPr>
          <p:cNvPr id="6" name="Text 4"/>
          <p:cNvSpPr txBox="1"/>
          <p:nvPr/>
        </p:nvSpPr>
        <p:spPr>
          <a:xfrm>
            <a:off x="731520"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#0D0D0D</a:t>
            </a:r>
            <a:endParaRPr lang="en-US" sz="850" dirty="0"/>
          </a:p>
        </p:txBody>
      </p:sp>
      <p:sp>
        <p:nvSpPr>
          <p:cNvPr id="7" name="Text 5"/>
          <p:cNvSpPr txBox="1"/>
          <p:nvPr/>
        </p:nvSpPr>
        <p:spPr>
          <a:xfrm>
            <a:off x="731520"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text, dark slides</a:t>
            </a:r>
            <a:endParaRPr lang="en-US" sz="900" dirty="0"/>
          </a:p>
        </p:txBody>
      </p:sp>
      <p:sp>
        <p:nvSpPr>
          <p:cNvPr id="8" name="Shape 6"/>
          <p:cNvSpPr/>
          <p:nvPr/>
        </p:nvSpPr>
        <p:spPr>
          <a:xfrm>
            <a:off x="2212848" y="1965960"/>
            <a:ext cx="1298448" cy="914400"/>
          </a:xfrm>
          <a:prstGeom prst="roundRect">
            <a:avLst>
              <a:gd name="adj" fmla="val 5000"/>
            </a:avLst>
          </a:prstGeom>
          <a:solidFill>
            <a:srgbClr val="3F3F3F"/>
          </a:solidFill>
          <a:ln w="12700">
            <a:solidFill>
              <a:srgbClr val="E6E6E6"/>
            </a:solidFill>
            <a:prstDash val="solid"/>
          </a:ln>
        </p:spPr>
      </p:sp>
      <p:sp>
        <p:nvSpPr>
          <p:cNvPr id="9" name="Text 7"/>
          <p:cNvSpPr txBox="1"/>
          <p:nvPr/>
        </p:nvSpPr>
        <p:spPr>
          <a:xfrm>
            <a:off x="2212848"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Graphite</a:t>
            </a:r>
            <a:endParaRPr lang="en-US" sz="1100" dirty="0"/>
          </a:p>
        </p:txBody>
      </p:sp>
      <p:sp>
        <p:nvSpPr>
          <p:cNvPr id="10" name="Text 8"/>
          <p:cNvSpPr txBox="1"/>
          <p:nvPr/>
        </p:nvSpPr>
        <p:spPr>
          <a:xfrm>
            <a:off x="2212848"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#3F3F3F</a:t>
            </a:r>
            <a:endParaRPr lang="en-US" sz="850" dirty="0"/>
          </a:p>
        </p:txBody>
      </p:sp>
      <p:sp>
        <p:nvSpPr>
          <p:cNvPr id="11" name="Text 9"/>
          <p:cNvSpPr txBox="1"/>
          <p:nvPr/>
        </p:nvSpPr>
        <p:spPr>
          <a:xfrm>
            <a:off x="2212848"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secondary text</a:t>
            </a:r>
            <a:endParaRPr lang="en-US" sz="900" dirty="0"/>
          </a:p>
        </p:txBody>
      </p:sp>
      <p:sp>
        <p:nvSpPr>
          <p:cNvPr id="12" name="Shape 10"/>
          <p:cNvSpPr/>
          <p:nvPr/>
        </p:nvSpPr>
        <p:spPr>
          <a:xfrm>
            <a:off x="3694176" y="1965960"/>
            <a:ext cx="1298448" cy="914400"/>
          </a:xfrm>
          <a:prstGeom prst="roundRect">
            <a:avLst>
              <a:gd name="adj" fmla="val 5000"/>
            </a:avLst>
          </a:prstGeom>
          <a:solidFill>
            <a:srgbClr val="8C8C8C"/>
          </a:solidFill>
          <a:ln w="12700">
            <a:solidFill>
              <a:srgbClr val="E6E6E6"/>
            </a:solidFill>
            <a:prstDash val="solid"/>
          </a:ln>
        </p:spPr>
      </p:sp>
      <p:sp>
        <p:nvSpPr>
          <p:cNvPr id="13" name="Text 11"/>
          <p:cNvSpPr txBox="1"/>
          <p:nvPr/>
        </p:nvSpPr>
        <p:spPr>
          <a:xfrm>
            <a:off x="3694176"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Grey</a:t>
            </a:r>
            <a:endParaRPr lang="en-US" sz="1100" dirty="0"/>
          </a:p>
        </p:txBody>
      </p:sp>
      <p:sp>
        <p:nvSpPr>
          <p:cNvPr id="14" name="Text 12"/>
          <p:cNvSpPr txBox="1"/>
          <p:nvPr/>
        </p:nvSpPr>
        <p:spPr>
          <a:xfrm>
            <a:off x="3694176"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#8C8C8C</a:t>
            </a:r>
            <a:endParaRPr lang="en-US" sz="850" dirty="0"/>
          </a:p>
        </p:txBody>
      </p:sp>
      <p:sp>
        <p:nvSpPr>
          <p:cNvPr id="15" name="Text 13"/>
          <p:cNvSpPr txBox="1"/>
          <p:nvPr/>
        </p:nvSpPr>
        <p:spPr>
          <a:xfrm>
            <a:off x="3694176"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captions, muted</a:t>
            </a:r>
            <a:endParaRPr lang="en-US" sz="900" dirty="0"/>
          </a:p>
        </p:txBody>
      </p:sp>
      <p:sp>
        <p:nvSpPr>
          <p:cNvPr id="16" name="Shape 14"/>
          <p:cNvSpPr/>
          <p:nvPr/>
        </p:nvSpPr>
        <p:spPr>
          <a:xfrm>
            <a:off x="5175504" y="1965960"/>
            <a:ext cx="1298448" cy="914400"/>
          </a:xfrm>
          <a:prstGeom prst="roundRect">
            <a:avLst>
              <a:gd name="adj" fmla="val 5000"/>
            </a:avLst>
          </a:prstGeom>
          <a:solidFill>
            <a:srgbClr val="E6E6E6"/>
          </a:solidFill>
          <a:ln w="12700">
            <a:solidFill>
              <a:srgbClr val="E6E6E6"/>
            </a:solidFill>
            <a:prstDash val="solid"/>
          </a:ln>
        </p:spPr>
      </p:sp>
      <p:sp>
        <p:nvSpPr>
          <p:cNvPr id="17" name="Text 15"/>
          <p:cNvSpPr txBox="1"/>
          <p:nvPr/>
        </p:nvSpPr>
        <p:spPr>
          <a:xfrm>
            <a:off x="5175504"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Hairline</a:t>
            </a:r>
            <a:endParaRPr lang="en-US" sz="1100" dirty="0"/>
          </a:p>
        </p:txBody>
      </p:sp>
      <p:sp>
        <p:nvSpPr>
          <p:cNvPr id="18" name="Text 16"/>
          <p:cNvSpPr txBox="1"/>
          <p:nvPr/>
        </p:nvSpPr>
        <p:spPr>
          <a:xfrm>
            <a:off x="5175504"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#E6E6E6</a:t>
            </a:r>
            <a:endParaRPr lang="en-US" sz="850" dirty="0"/>
          </a:p>
        </p:txBody>
      </p:sp>
      <p:sp>
        <p:nvSpPr>
          <p:cNvPr id="19" name="Text 17"/>
          <p:cNvSpPr txBox="1"/>
          <p:nvPr/>
        </p:nvSpPr>
        <p:spPr>
          <a:xfrm>
            <a:off x="5175504"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borders</a:t>
            </a:r>
            <a:endParaRPr lang="en-US" sz="900" dirty="0"/>
          </a:p>
        </p:txBody>
      </p:sp>
      <p:sp>
        <p:nvSpPr>
          <p:cNvPr id="20" name="Shape 18"/>
          <p:cNvSpPr/>
          <p:nvPr/>
        </p:nvSpPr>
        <p:spPr>
          <a:xfrm>
            <a:off x="6656832" y="1965960"/>
            <a:ext cx="1298448" cy="914400"/>
          </a:xfrm>
          <a:prstGeom prst="roundRect">
            <a:avLst>
              <a:gd name="adj" fmla="val 5000"/>
            </a:avLst>
          </a:prstGeom>
          <a:solidFill>
            <a:srgbClr val="F7F7F5"/>
          </a:solidFill>
          <a:ln w="12700">
            <a:solidFill>
              <a:srgbClr val="E6E6E6"/>
            </a:solidFill>
            <a:prstDash val="solid"/>
          </a:ln>
        </p:spPr>
      </p:sp>
      <p:sp>
        <p:nvSpPr>
          <p:cNvPr id="21" name="Text 19"/>
          <p:cNvSpPr txBox="1"/>
          <p:nvPr/>
        </p:nvSpPr>
        <p:spPr>
          <a:xfrm>
            <a:off x="6656832"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Mist</a:t>
            </a:r>
            <a:endParaRPr lang="en-US" sz="1100" dirty="0"/>
          </a:p>
        </p:txBody>
      </p:sp>
      <p:sp>
        <p:nvSpPr>
          <p:cNvPr id="22" name="Text 20"/>
          <p:cNvSpPr txBox="1"/>
          <p:nvPr/>
        </p:nvSpPr>
        <p:spPr>
          <a:xfrm>
            <a:off x="6656832"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#F7F7F5</a:t>
            </a:r>
            <a:endParaRPr lang="en-US" sz="850" dirty="0"/>
          </a:p>
        </p:txBody>
      </p:sp>
      <p:sp>
        <p:nvSpPr>
          <p:cNvPr id="23" name="Text 21"/>
          <p:cNvSpPr txBox="1"/>
          <p:nvPr/>
        </p:nvSpPr>
        <p:spPr>
          <a:xfrm>
            <a:off x="6656832"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card fill</a:t>
            </a:r>
            <a:endParaRPr lang="en-US" sz="900" dirty="0"/>
          </a:p>
        </p:txBody>
      </p:sp>
      <p:sp>
        <p:nvSpPr>
          <p:cNvPr id="24" name="Shape 22"/>
          <p:cNvSpPr/>
          <p:nvPr/>
        </p:nvSpPr>
        <p:spPr>
          <a:xfrm>
            <a:off x="8138160" y="1965960"/>
            <a:ext cx="1298448" cy="914400"/>
          </a:xfrm>
          <a:prstGeom prst="roundRect">
            <a:avLst>
              <a:gd name="adj" fmla="val 5000"/>
            </a:avLst>
          </a:prstGeom>
          <a:solidFill>
            <a:srgbClr val="FFE800"/>
          </a:solidFill>
          <a:ln w="12700">
            <a:solidFill>
              <a:srgbClr val="E6E6E6"/>
            </a:solidFill>
            <a:prstDash val="solid"/>
          </a:ln>
        </p:spPr>
      </p:sp>
      <p:sp>
        <p:nvSpPr>
          <p:cNvPr id="25" name="Text 23"/>
          <p:cNvSpPr txBox="1"/>
          <p:nvPr/>
        </p:nvSpPr>
        <p:spPr>
          <a:xfrm>
            <a:off x="8138160"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Uniandes</a:t>
            </a:r>
            <a:endParaRPr lang="en-US" sz="1100" dirty="0"/>
          </a:p>
        </p:txBody>
      </p:sp>
      <p:sp>
        <p:nvSpPr>
          <p:cNvPr id="26" name="Text 24"/>
          <p:cNvSpPr txBox="1"/>
          <p:nvPr/>
        </p:nvSpPr>
        <p:spPr>
          <a:xfrm>
            <a:off x="8138160"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#FFE800</a:t>
            </a:r>
            <a:endParaRPr lang="en-US" sz="850" dirty="0"/>
          </a:p>
        </p:txBody>
      </p:sp>
      <p:sp>
        <p:nvSpPr>
          <p:cNvPr id="27" name="Text 25"/>
          <p:cNvSpPr txBox="1"/>
          <p:nvPr/>
        </p:nvSpPr>
        <p:spPr>
          <a:xfrm>
            <a:off x="8138160"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accent only</a:t>
            </a:r>
            <a:endParaRPr lang="en-US" sz="900" dirty="0"/>
          </a:p>
        </p:txBody>
      </p:sp>
      <p:sp>
        <p:nvSpPr>
          <p:cNvPr id="28" name="Shape 26"/>
          <p:cNvSpPr/>
          <p:nvPr/>
        </p:nvSpPr>
        <p:spPr>
          <a:xfrm>
            <a:off x="9619488" y="1965960"/>
            <a:ext cx="1298448" cy="914400"/>
          </a:xfrm>
          <a:prstGeom prst="roundRect">
            <a:avLst>
              <a:gd name="adj" fmla="val 5000"/>
            </a:avLst>
          </a:prstGeom>
          <a:solidFill>
            <a:srgbClr val="8A6D00"/>
          </a:solidFill>
          <a:ln w="12700">
            <a:solidFill>
              <a:srgbClr val="E6E6E6"/>
            </a:solidFill>
            <a:prstDash val="solid"/>
          </a:ln>
        </p:spPr>
      </p:sp>
      <p:sp>
        <p:nvSpPr>
          <p:cNvPr id="29" name="Text 27"/>
          <p:cNvSpPr txBox="1"/>
          <p:nvPr/>
        </p:nvSpPr>
        <p:spPr>
          <a:xfrm>
            <a:off x="9619488" y="2944368"/>
            <a:ext cx="1298448" cy="256032"/>
          </a:xfrm>
          <a:prstGeom prst="rect">
            <a:avLst/>
          </a:prstGeom>
          <a:noFill/>
          <a:ln/>
        </p:spPr>
        <p:txBody>
          <a:bodyPr wrap="square" lIns="0" tIns="0" rIns="0" bIns="0" rtlCol="0" anchor="ctr"/>
          <a:lstStyle/>
          <a:p>
            <a:pPr indent="0" marL="0">
              <a:buNone/>
            </a:pPr>
            <a:r>
              <a:rPr lang="en-US" sz="1100" b="1" dirty="0">
                <a:solidFill>
                  <a:srgbClr val="0D0D0D"/>
                </a:solidFill>
                <a:latin typeface="Inter" pitchFamily="34" charset="0"/>
                <a:ea typeface="Inter" pitchFamily="34" charset="-122"/>
                <a:cs typeface="Inter" pitchFamily="34" charset="-120"/>
              </a:rPr>
              <a:t>Amber</a:t>
            </a:r>
            <a:endParaRPr lang="en-US" sz="1100" dirty="0"/>
          </a:p>
        </p:txBody>
      </p:sp>
      <p:sp>
        <p:nvSpPr>
          <p:cNvPr id="30" name="Text 28"/>
          <p:cNvSpPr txBox="1"/>
          <p:nvPr/>
        </p:nvSpPr>
        <p:spPr>
          <a:xfrm>
            <a:off x="9619488" y="3163824"/>
            <a:ext cx="1298448" cy="228600"/>
          </a:xfrm>
          <a:prstGeom prst="rect">
            <a:avLst/>
          </a:prstGeom>
          <a:noFill/>
          <a:ln/>
        </p:spPr>
        <p:txBody>
          <a:bodyPr wrap="square" lIns="0" tIns="0" rIns="0" bIns="0" rtlCol="0" anchor="ctr"/>
          <a:lstStyle/>
          <a:p>
            <a:pPr indent="0" marL="0">
              <a:buNone/>
            </a:pPr>
            <a:r>
              <a:rPr lang="en-US" sz="850" dirty="0">
                <a:solidFill>
                  <a:srgbClr val="8C8C8C"/>
                </a:solidFill>
                <a:latin typeface="Consolas" pitchFamily="34" charset="0"/>
                <a:ea typeface="Consolas" pitchFamily="34" charset="-122"/>
                <a:cs typeface="Consolas" pitchFamily="34" charset="-120"/>
              </a:rPr>
              <a:t>#8A6D00</a:t>
            </a:r>
            <a:endParaRPr lang="en-US" sz="850" dirty="0"/>
          </a:p>
        </p:txBody>
      </p:sp>
      <p:sp>
        <p:nvSpPr>
          <p:cNvPr id="31" name="Text 29"/>
          <p:cNvSpPr txBox="1"/>
          <p:nvPr/>
        </p:nvSpPr>
        <p:spPr>
          <a:xfrm>
            <a:off x="9619488" y="3364992"/>
            <a:ext cx="1371600" cy="228600"/>
          </a:xfrm>
          <a:prstGeom prst="rect">
            <a:avLst/>
          </a:prstGeom>
          <a:noFill/>
          <a:ln/>
        </p:spPr>
        <p:txBody>
          <a:bodyPr wrap="square" lIns="0" tIns="0" rIns="0" bIns="0" rtlCol="0" anchor="ctr"/>
          <a:lstStyle/>
          <a:p>
            <a:pPr indent="0" marL="0">
              <a:buNone/>
            </a:pPr>
            <a:r>
              <a:rPr lang="en-US" sz="900" dirty="0">
                <a:solidFill>
                  <a:srgbClr val="BDBDBD"/>
                </a:solidFill>
                <a:latin typeface="Inter" pitchFamily="34" charset="0"/>
                <a:ea typeface="Inter" pitchFamily="34" charset="-122"/>
                <a:cs typeface="Inter" pitchFamily="34" charset="-120"/>
              </a:rPr>
              <a:t>yellow as text</a:t>
            </a:r>
            <a:endParaRPr lang="en-US" sz="900" dirty="0"/>
          </a:p>
        </p:txBody>
      </p:sp>
      <p:sp>
        <p:nvSpPr>
          <p:cNvPr id="32" name="Shape 30"/>
          <p:cNvSpPr/>
          <p:nvPr/>
        </p:nvSpPr>
        <p:spPr>
          <a:xfrm>
            <a:off x="731520" y="3840480"/>
            <a:ext cx="10728655" cy="0"/>
          </a:xfrm>
          <a:prstGeom prst="line">
            <a:avLst/>
          </a:prstGeom>
          <a:noFill/>
          <a:ln w="12700">
            <a:solidFill>
              <a:srgbClr val="E6E6E6"/>
            </a:solidFill>
            <a:prstDash val="solid"/>
          </a:ln>
        </p:spPr>
      </p:sp>
      <p:sp>
        <p:nvSpPr>
          <p:cNvPr id="33" name="Text 31"/>
          <p:cNvSpPr txBox="1"/>
          <p:nvPr/>
        </p:nvSpPr>
        <p:spPr>
          <a:xfrm>
            <a:off x="731520" y="4023360"/>
            <a:ext cx="1280160" cy="320040"/>
          </a:xfrm>
          <a:prstGeom prst="rect">
            <a:avLst/>
          </a:prstGeom>
          <a:noFill/>
          <a:ln/>
        </p:spPr>
        <p:txBody>
          <a:bodyPr wrap="square" lIns="0" tIns="0" rIns="0" bIns="0" rtlCol="0" anchor="ctr"/>
          <a:lstStyle/>
          <a:p>
            <a:pPr indent="0" marL="0">
              <a:buNone/>
            </a:pPr>
            <a:r>
              <a:rPr lang="en-US" sz="1200" b="1" dirty="0">
                <a:solidFill>
                  <a:srgbClr val="0D0D0D"/>
                </a:solidFill>
                <a:latin typeface="Inter" pitchFamily="34" charset="0"/>
                <a:ea typeface="Inter" pitchFamily="34" charset="-122"/>
                <a:cs typeface="Inter" pitchFamily="34" charset="-120"/>
              </a:rPr>
              <a:t>Type</a:t>
            </a:r>
            <a:endParaRPr lang="en-US" sz="1200" dirty="0"/>
          </a:p>
        </p:txBody>
      </p:sp>
      <p:sp>
        <p:nvSpPr>
          <p:cNvPr id="34" name="Text 32"/>
          <p:cNvSpPr txBox="1"/>
          <p:nvPr/>
        </p:nvSpPr>
        <p:spPr>
          <a:xfrm>
            <a:off x="2103120" y="4023360"/>
            <a:ext cx="9357055" cy="320040"/>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Inter throughout. Title 40 / section 20 / body 13.5 / caption 10.5 / mono Consolas for numbers and sources.</a:t>
            </a:r>
            <a:endParaRPr lang="en-US" sz="1200" dirty="0"/>
          </a:p>
        </p:txBody>
      </p:sp>
      <p:sp>
        <p:nvSpPr>
          <p:cNvPr id="35" name="Text 33"/>
          <p:cNvSpPr txBox="1"/>
          <p:nvPr/>
        </p:nvSpPr>
        <p:spPr>
          <a:xfrm>
            <a:off x="731520" y="4480560"/>
            <a:ext cx="1280160" cy="320040"/>
          </a:xfrm>
          <a:prstGeom prst="rect">
            <a:avLst/>
          </a:prstGeom>
          <a:noFill/>
          <a:ln/>
        </p:spPr>
        <p:txBody>
          <a:bodyPr wrap="square" lIns="0" tIns="0" rIns="0" bIns="0" rtlCol="0" anchor="ctr"/>
          <a:lstStyle/>
          <a:p>
            <a:pPr indent="0" marL="0">
              <a:buNone/>
            </a:pPr>
            <a:r>
              <a:rPr lang="en-US" sz="1200" b="1" dirty="0">
                <a:solidFill>
                  <a:srgbClr val="0D0D0D"/>
                </a:solidFill>
                <a:latin typeface="Inter" pitchFamily="34" charset="0"/>
                <a:ea typeface="Inter" pitchFamily="34" charset="-122"/>
                <a:cs typeface="Inter" pitchFamily="34" charset="-120"/>
              </a:rPr>
              <a:t>Yellow</a:t>
            </a:r>
            <a:endParaRPr lang="en-US" sz="1200" dirty="0"/>
          </a:p>
        </p:txBody>
      </p:sp>
      <p:sp>
        <p:nvSpPr>
          <p:cNvPr id="36" name="Text 34"/>
          <p:cNvSpPr txBox="1"/>
          <p:nvPr/>
        </p:nvSpPr>
        <p:spPr>
          <a:xfrm>
            <a:off x="2103120" y="4480560"/>
            <a:ext cx="9357055" cy="320040"/>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Accent only, never body text. On white, yellow that must be read becomes amber #8A6D00.</a:t>
            </a:r>
            <a:endParaRPr lang="en-US" sz="1200" dirty="0"/>
          </a:p>
        </p:txBody>
      </p:sp>
      <p:sp>
        <p:nvSpPr>
          <p:cNvPr id="37" name="Text 35"/>
          <p:cNvSpPr txBox="1"/>
          <p:nvPr/>
        </p:nvSpPr>
        <p:spPr>
          <a:xfrm>
            <a:off x="731520" y="4937760"/>
            <a:ext cx="1280160" cy="320040"/>
          </a:xfrm>
          <a:prstGeom prst="rect">
            <a:avLst/>
          </a:prstGeom>
          <a:noFill/>
          <a:ln/>
        </p:spPr>
        <p:txBody>
          <a:bodyPr wrap="square" lIns="0" tIns="0" rIns="0" bIns="0" rtlCol="0" anchor="ctr"/>
          <a:lstStyle/>
          <a:p>
            <a:pPr indent="0" marL="0">
              <a:buNone/>
            </a:pPr>
            <a:r>
              <a:rPr lang="en-US" sz="1200" b="1" dirty="0">
                <a:solidFill>
                  <a:srgbClr val="0D0D0D"/>
                </a:solidFill>
                <a:latin typeface="Inter" pitchFamily="34" charset="0"/>
                <a:ea typeface="Inter" pitchFamily="34" charset="-122"/>
                <a:cs typeface="Inter" pitchFamily="34" charset="-120"/>
              </a:rPr>
              <a:t>Motif</a:t>
            </a:r>
            <a:endParaRPr lang="en-US" sz="1200" dirty="0"/>
          </a:p>
        </p:txBody>
      </p:sp>
      <p:sp>
        <p:nvSpPr>
          <p:cNvPr id="38" name="Text 36"/>
          <p:cNvSpPr txBox="1"/>
          <p:nvPr/>
        </p:nvSpPr>
        <p:spPr>
          <a:xfrm>
            <a:off x="2103120" y="4937760"/>
            <a:ext cx="9357055" cy="320040"/>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The highlighter bar. Three or four appearances in the whole deck, never two on one slide.</a:t>
            </a:r>
            <a:endParaRPr lang="en-US" sz="1200" dirty="0"/>
          </a:p>
        </p:txBody>
      </p:sp>
      <p:sp>
        <p:nvSpPr>
          <p:cNvPr id="39" name="Text 37"/>
          <p:cNvSpPr txBox="1"/>
          <p:nvPr/>
        </p:nvSpPr>
        <p:spPr>
          <a:xfrm>
            <a:off x="731520" y="5394960"/>
            <a:ext cx="1280160" cy="320040"/>
          </a:xfrm>
          <a:prstGeom prst="rect">
            <a:avLst/>
          </a:prstGeom>
          <a:noFill/>
          <a:ln/>
        </p:spPr>
        <p:txBody>
          <a:bodyPr wrap="square" lIns="0" tIns="0" rIns="0" bIns="0" rtlCol="0" anchor="ctr"/>
          <a:lstStyle/>
          <a:p>
            <a:pPr indent="0" marL="0">
              <a:buNone/>
            </a:pPr>
            <a:r>
              <a:rPr lang="en-US" sz="1200" b="1" dirty="0">
                <a:solidFill>
                  <a:srgbClr val="0D0D0D"/>
                </a:solidFill>
                <a:latin typeface="Inter" pitchFamily="34" charset="0"/>
                <a:ea typeface="Inter" pitchFamily="34" charset="-122"/>
                <a:cs typeface="Inter" pitchFamily="34" charset="-120"/>
              </a:rPr>
              <a:t>Grid</a:t>
            </a:r>
            <a:endParaRPr lang="en-US" sz="1200" dirty="0"/>
          </a:p>
        </p:txBody>
      </p:sp>
      <p:sp>
        <p:nvSpPr>
          <p:cNvPr id="40" name="Text 38"/>
          <p:cNvSpPr txBox="1"/>
          <p:nvPr/>
        </p:nvSpPr>
        <p:spPr>
          <a:xfrm>
            <a:off x="2103120" y="5394960"/>
            <a:ext cx="9357055" cy="320040"/>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0.8" margins, 0.3" gutters, everything hangs from one left edge.</a:t>
            </a:r>
            <a:endParaRPr lang="en-US" sz="1200" dirty="0"/>
          </a:p>
        </p:txBody>
      </p:sp>
      <p:sp>
        <p:nvSpPr>
          <p:cNvPr id="41" name="Text 39"/>
          <p:cNvSpPr txBox="1"/>
          <p:nvPr/>
        </p:nvSpPr>
        <p:spPr>
          <a:xfrm>
            <a:off x="731520" y="5852160"/>
            <a:ext cx="1280160" cy="320040"/>
          </a:xfrm>
          <a:prstGeom prst="rect">
            <a:avLst/>
          </a:prstGeom>
          <a:noFill/>
          <a:ln/>
        </p:spPr>
        <p:txBody>
          <a:bodyPr wrap="square" lIns="0" tIns="0" rIns="0" bIns="0" rtlCol="0" anchor="ctr"/>
          <a:lstStyle/>
          <a:p>
            <a:pPr indent="0" marL="0">
              <a:buNone/>
            </a:pPr>
            <a:r>
              <a:rPr lang="en-US" sz="1200" b="1" dirty="0">
                <a:solidFill>
                  <a:srgbClr val="0D0D0D"/>
                </a:solidFill>
                <a:latin typeface="Inter" pitchFamily="34" charset="0"/>
                <a:ea typeface="Inter" pitchFamily="34" charset="-122"/>
                <a:cs typeface="Inter" pitchFamily="34" charset="-120"/>
              </a:rPr>
              <a:t>Rule</a:t>
            </a:r>
            <a:endParaRPr lang="en-US" sz="1200" dirty="0"/>
          </a:p>
        </p:txBody>
      </p:sp>
      <p:sp>
        <p:nvSpPr>
          <p:cNvPr id="42" name="Text 40"/>
          <p:cNvSpPr txBox="1"/>
          <p:nvPr/>
        </p:nvSpPr>
        <p:spPr>
          <a:xfrm>
            <a:off x="2103120" y="5852160"/>
            <a:ext cx="9357055" cy="320040"/>
          </a:xfrm>
          <a:prstGeom prst="rect">
            <a:avLst/>
          </a:prstGeom>
          <a:noFill/>
          <a:ln/>
        </p:spPr>
        <p:txBody>
          <a:bodyPr wrap="square" lIns="0" tIns="0" rIns="0" bIns="0" rtlCol="0" anchor="ctr"/>
          <a:lstStyle/>
          <a:p>
            <a:pPr indent="0" marL="0">
              <a:buNone/>
            </a:pPr>
            <a:r>
              <a:rPr lang="en-US" sz="1200" dirty="0">
                <a:solidFill>
                  <a:srgbClr val="3F3F3F"/>
                </a:solidFill>
                <a:latin typeface="Inter" pitchFamily="34" charset="0"/>
                <a:ea typeface="Inter" pitchFamily="34" charset="-122"/>
                <a:cs typeface="Inter" pitchFamily="34" charset="-120"/>
              </a:rPr>
              <a:t>Every slide states its takeaway in one bold sentence. If you cannot write that sentence, cut the slide.</a:t>
            </a:r>
            <a:endParaRPr lang="en-US" sz="1200" dirty="0"/>
          </a:p>
        </p:txBody>
      </p:sp>
      <p:pic>
        <p:nvPicPr>
          <p:cNvPr id="43" name="Image 0" descr="/home/claude/shield.png">    </p:cNvPr>
          <p:cNvPicPr>
            <a:picLocks noChangeAspect="1"/>
          </p:cNvPicPr>
          <p:nvPr/>
        </p:nvPicPr>
        <p:blipFill>
          <a:blip r:embed="rId1"/>
          <a:stretch>
            <a:fillRect/>
          </a:stretch>
        </p:blipFill>
        <p:spPr>
          <a:xfrm>
            <a:off x="731520" y="6309360"/>
            <a:ext cx="256032" cy="256032"/>
          </a:xfrm>
          <a:prstGeom prst="rect">
            <a:avLst/>
          </a:prstGeom>
        </p:spPr>
      </p:pic>
      <p:sp>
        <p:nvSpPr>
          <p:cNvPr id="44" name="Text 41"/>
          <p:cNvSpPr txBox="1"/>
          <p:nvPr/>
        </p:nvSpPr>
        <p:spPr>
          <a:xfrm>
            <a:off x="1097280" y="6336792"/>
            <a:ext cx="5486400" cy="274320"/>
          </a:xfrm>
          <a:prstGeom prst="rect">
            <a:avLst/>
          </a:prstGeom>
          <a:noFill/>
          <a:ln/>
        </p:spPr>
        <p:txBody>
          <a:bodyPr wrap="square" lIns="0" tIns="0" rIns="0" bIns="0" rtlCol="0" anchor="ctr"/>
          <a:lstStyle/>
          <a:p>
            <a:pPr indent="0" marL="0">
              <a:buNone/>
            </a:pPr>
            <a:r>
              <a:rPr lang="en-US" sz="850" b="1" spc="160" kern="0" dirty="0">
                <a:solidFill>
                  <a:srgbClr val="8C8C8C"/>
                </a:solidFill>
                <a:latin typeface="Inter" pitchFamily="34" charset="0"/>
                <a:ea typeface="Inter" pitchFamily="34" charset="-122"/>
                <a:cs typeface="Inter" pitchFamily="34" charset="-120"/>
              </a:rPr>
              <a:t>UNIVERSIDAD DE LOS ANDES · FLAG LAB</a:t>
            </a:r>
            <a:endParaRPr lang="en-US" sz="850" dirty="0"/>
          </a:p>
        </p:txBody>
      </p:sp>
      <p:sp>
        <p:nvSpPr>
          <p:cNvPr id="45" name="Text 42"/>
          <p:cNvSpPr txBox="1"/>
          <p:nvPr/>
        </p:nvSpPr>
        <p:spPr>
          <a:xfrm>
            <a:off x="10545775" y="6336792"/>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Consolas" pitchFamily="34" charset="0"/>
                <a:ea typeface="Consolas" pitchFamily="34" charset="-122"/>
                <a:cs typeface="Consolas"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Universidad de los Andes - FLAG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ICAI 2026 - Template</dc:title>
  <dc:subject>PptxGenJS Presentation</dc:subject>
  <dc:creator>Tomas Acosta Bernal</dc:creator>
  <cp:lastModifiedBy>Tomas Acosta Bernal</cp:lastModifiedBy>
  <cp:revision>1</cp:revision>
  <dcterms:created xsi:type="dcterms:W3CDTF">2026-09-23T01:37:11Z</dcterms:created>
  <dcterms:modified xsi:type="dcterms:W3CDTF">2026-09-23T01:37:11Z</dcterms:modified>
</cp:coreProperties>
</file>